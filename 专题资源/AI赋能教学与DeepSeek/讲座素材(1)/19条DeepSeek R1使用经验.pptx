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8"/>
          <p:cNvSpPr txBox="1"/>
          <p:nvPr/>
        </p:nvSpPr>
        <p:spPr>
          <a:xfrm>
            <a:off x="1407033" y="825014"/>
            <a:ext cx="21026316" cy="10362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70681">
              <a:lnSpc>
                <a:spcPct val="100000"/>
              </a:lnSpc>
            </a:pPr>
            <a:r>
              <a:rPr lang="zh-CN" altLang="en-US" sz="8000" b="1" spc="780" dirty="0">
                <a:solidFill>
                  <a:srgbClr val="5268F4"/>
                </a:solidFill>
                <a:latin typeface="宋体"/>
                <a:ea typeface="宋体"/>
              </a:rPr>
              <a:t>Dee</a:t>
            </a:r>
            <a:r>
              <a:rPr lang="zh-CN" altLang="en-US" sz="8000" b="1" spc="775" dirty="0">
                <a:solidFill>
                  <a:srgbClr val="5268F4"/>
                </a:solidFill>
                <a:latin typeface="宋体"/>
                <a:ea typeface="宋体"/>
              </a:rPr>
              <a:t>pSeek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6000" b="1" spc="-25" dirty="0">
                <a:solidFill>
                  <a:srgbClr val="000000"/>
                </a:solidFill>
                <a:latin typeface="宋体"/>
                <a:ea typeface="宋体"/>
              </a:rPr>
              <a:t>你不再需要那么多的提示词技巧，但是还有两点</a:t>
            </a:r>
            <a:r>
              <a:rPr lang="zh-CN" altLang="en-US" sz="6000" b="1" spc="-10" dirty="0">
                <a:solidFill>
                  <a:srgbClr val="000000"/>
                </a:solidFill>
                <a:latin typeface="宋体"/>
                <a:ea typeface="宋体"/>
              </a:rPr>
              <a:t>⾮</a:t>
            </a:r>
            <a:r>
              <a:rPr lang="zh-CN" altLang="en-US" sz="6000" b="1" spc="-30" dirty="0">
                <a:solidFill>
                  <a:srgbClr val="000000"/>
                </a:solidFill>
                <a:latin typeface="宋体"/>
                <a:ea typeface="宋体"/>
              </a:rPr>
              <a:t>常关</a:t>
            </a:r>
            <a:r>
              <a:rPr lang="zh-CN" altLang="en-US" sz="6000" b="1" spc="-20" dirty="0">
                <a:solidFill>
                  <a:srgbClr val="000000"/>
                </a:solidFill>
                <a:latin typeface="宋体"/>
                <a:ea typeface="宋体"/>
              </a:rPr>
              <a:t>键：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6000" spc="-10" dirty="0">
                <a:solidFill>
                  <a:srgbClr val="51565E"/>
                </a:solidFill>
                <a:latin typeface="宋体"/>
                <a:ea typeface="宋体"/>
              </a:rPr>
              <a:t>•</a:t>
            </a:r>
            <a:r>
              <a:rPr lang="zh-CN" altLang="en-US" sz="6000" spc="-630" dirty="0">
                <a:solidFill>
                  <a:srgbClr val="51565E"/>
                </a:solidFill>
                <a:latin typeface="宋体"/>
                <a:cs typeface="宋体"/>
              </a:rPr>
              <a:t> </a:t>
            </a:r>
            <a:r>
              <a:rPr lang="zh-CN" altLang="en-US" sz="6000" spc="-20" dirty="0">
                <a:solidFill>
                  <a:srgbClr val="51565E"/>
                </a:solidFill>
                <a:latin typeface="宋体"/>
                <a:ea typeface="宋体"/>
              </a:rPr>
              <a:t>1）你需要理解</a:t>
            </a:r>
            <a:r>
              <a:rPr lang="zh-CN" altLang="en-US" sz="6000" spc="-30" dirty="0">
                <a:solidFill>
                  <a:srgbClr val="51565E"/>
                </a:solidFill>
                <a:latin typeface="宋体"/>
                <a:ea typeface="宋体"/>
              </a:rPr>
              <a:t>⼤</a:t>
            </a:r>
            <a:r>
              <a:rPr lang="zh-CN" altLang="en-US" sz="6000" spc="-20" dirty="0">
                <a:solidFill>
                  <a:srgbClr val="51565E"/>
                </a:solidFill>
                <a:latin typeface="宋体"/>
                <a:ea typeface="宋体"/>
              </a:rPr>
              <a:t>语</a:t>
            </a:r>
            <a:r>
              <a:rPr lang="zh-CN" altLang="en-US" sz="6000" spc="-25" dirty="0">
                <a:solidFill>
                  <a:srgbClr val="51565E"/>
                </a:solidFill>
                <a:latin typeface="宋体"/>
                <a:ea typeface="宋体"/>
              </a:rPr>
              <a:t>⾔</a:t>
            </a:r>
            <a:r>
              <a:rPr lang="zh-CN" altLang="en-US" sz="6000" spc="-20" dirty="0">
                <a:solidFill>
                  <a:srgbClr val="51565E"/>
                </a:solidFill>
                <a:latin typeface="宋体"/>
                <a:ea typeface="宋体"/>
              </a:rPr>
              <a:t>模型的</a:t>
            </a:r>
            <a:r>
              <a:rPr lang="zh-CN" altLang="en-US" sz="6000" spc="-30" dirty="0">
                <a:solidFill>
                  <a:srgbClr val="51565E"/>
                </a:solidFill>
                <a:latin typeface="宋体"/>
                <a:ea typeface="宋体"/>
              </a:rPr>
              <a:t>⼯</a:t>
            </a:r>
            <a:r>
              <a:rPr lang="zh-CN" altLang="en-US" sz="6000" spc="-20" dirty="0">
                <a:solidFill>
                  <a:srgbClr val="51565E"/>
                </a:solidFill>
                <a:latin typeface="宋体"/>
                <a:ea typeface="宋体"/>
              </a:rPr>
              <a:t>作原理与局限，这能帮助你更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00"/>
              </a:lnSpc>
            </a:pPr>
            <a:endParaRPr lang="en-US" dirty="0"/>
          </a:p>
          <a:p>
            <a:pPr marL="0" indent="685799">
              <a:lnSpc>
                <a:spcPct val="100000"/>
              </a:lnSpc>
            </a:pPr>
            <a:r>
              <a:rPr lang="zh-CN" altLang="en-US" sz="6000" spc="-45" dirty="0">
                <a:solidFill>
                  <a:srgbClr val="51565E"/>
                </a:solidFill>
                <a:latin typeface="宋体"/>
                <a:ea typeface="宋体"/>
              </a:rPr>
              <a:t>好的知道AI可完成任</a:t>
            </a:r>
            <a:r>
              <a:rPr lang="zh-CN" altLang="en-US" sz="6000" spc="-40" dirty="0">
                <a:solidFill>
                  <a:srgbClr val="51565E"/>
                </a:solidFill>
                <a:latin typeface="宋体"/>
                <a:ea typeface="宋体"/>
              </a:rPr>
              <a:t>务的边界；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6000" spc="15" dirty="0">
                <a:solidFill>
                  <a:srgbClr val="51565E"/>
                </a:solidFill>
                <a:latin typeface="宋体"/>
                <a:ea typeface="宋体"/>
              </a:rPr>
              <a:t>•</a:t>
            </a:r>
            <a:r>
              <a:rPr lang="zh-CN" altLang="en-US" sz="6000" spc="-545" dirty="0">
                <a:solidFill>
                  <a:srgbClr val="51565E"/>
                </a:solidFill>
                <a:latin typeface="宋体"/>
                <a:cs typeface="宋体"/>
              </a:rPr>
              <a:t> </a:t>
            </a:r>
            <a:r>
              <a:rPr lang="zh-CN" altLang="en-US" sz="6000" spc="34" dirty="0">
                <a:solidFill>
                  <a:srgbClr val="51565E"/>
                </a:solidFill>
                <a:latin typeface="宋体"/>
                <a:ea typeface="宋体"/>
              </a:rPr>
              <a:t>2）在和R1合作时，你最好有管理者的思维和经验，你需要知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00"/>
              </a:lnSpc>
            </a:pPr>
            <a:endParaRPr lang="en-US" dirty="0"/>
          </a:p>
          <a:p>
            <a:pPr marL="0" indent="685799">
              <a:lnSpc>
                <a:spcPct val="100000"/>
              </a:lnSpc>
            </a:pPr>
            <a:r>
              <a:rPr lang="zh-CN" altLang="en-US" sz="6000" spc="15" dirty="0">
                <a:solidFill>
                  <a:srgbClr val="51565E"/>
                </a:solidFill>
                <a:latin typeface="宋体"/>
                <a:ea typeface="宋体"/>
              </a:rPr>
              <a:t>道如何向R1这个聪明程度</a:t>
            </a:r>
            <a:r>
              <a:rPr lang="zh-CN" altLang="en-US" sz="6000" spc="25" dirty="0">
                <a:solidFill>
                  <a:srgbClr val="51565E"/>
                </a:solidFill>
                <a:latin typeface="宋体"/>
                <a:ea typeface="宋体"/>
              </a:rPr>
              <a:t>⽐</a:t>
            </a:r>
            <a:r>
              <a:rPr lang="zh-CN" altLang="en-US" sz="6000" spc="20" dirty="0">
                <a:solidFill>
                  <a:srgbClr val="51565E"/>
                </a:solidFill>
                <a:latin typeface="宋体"/>
                <a:ea typeface="宋体"/>
              </a:rPr>
              <a:t>你</a:t>
            </a:r>
            <a:r>
              <a:rPr lang="zh-CN" altLang="en-US" sz="6000" spc="15" dirty="0">
                <a:solidFill>
                  <a:srgbClr val="51565E"/>
                </a:solidFill>
                <a:latin typeface="宋体"/>
                <a:ea typeface="宋体"/>
              </a:rPr>
              <a:t>⾼</a:t>
            </a:r>
            <a:r>
              <a:rPr lang="zh-CN" altLang="en-US" sz="6000" spc="20" dirty="0">
                <a:solidFill>
                  <a:srgbClr val="51565E"/>
                </a:solidFill>
                <a:latin typeface="宋体"/>
                <a:ea typeface="宋体"/>
              </a:rPr>
              <a:t>很多的下属布置</a:t>
            </a:r>
            <a:r>
              <a:rPr lang="zh-CN" altLang="en-US" sz="6000" spc="15" dirty="0">
                <a:solidFill>
                  <a:srgbClr val="51565E"/>
                </a:solidFill>
                <a:latin typeface="宋体"/>
                <a:ea typeface="宋体"/>
              </a:rPr>
              <a:t>你的任务。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10"/>
          <p:cNvSpPr txBox="1"/>
          <p:nvPr/>
        </p:nvSpPr>
        <p:spPr>
          <a:xfrm>
            <a:off x="1407033" y="825014"/>
            <a:ext cx="6925527" cy="4034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70681">
              <a:lnSpc>
                <a:spcPct val="100000"/>
              </a:lnSpc>
            </a:pPr>
            <a:r>
              <a:rPr lang="zh-CN" altLang="en-US" sz="8000" b="1" spc="780" dirty="0">
                <a:solidFill>
                  <a:srgbClr val="5268F4"/>
                </a:solidFill>
                <a:latin typeface="宋体"/>
                <a:ea typeface="宋体"/>
              </a:rPr>
              <a:t>Dee</a:t>
            </a:r>
            <a:r>
              <a:rPr lang="zh-CN" altLang="en-US" sz="8000" b="1" spc="775" dirty="0">
                <a:solidFill>
                  <a:srgbClr val="5268F4"/>
                </a:solidFill>
                <a:latin typeface="宋体"/>
                <a:ea typeface="宋体"/>
              </a:rPr>
              <a:t>pSeek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6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8000" b="1" spc="570" dirty="0">
                <a:solidFill>
                  <a:srgbClr val="000000"/>
                </a:solidFill>
                <a:latin typeface="宋体"/>
                <a:ea typeface="宋体"/>
              </a:rPr>
              <a:t>19条</a:t>
            </a:r>
            <a:r>
              <a:rPr lang="zh-CN" altLang="en-US" sz="8000" b="1" spc="565" dirty="0">
                <a:solidFill>
                  <a:srgbClr val="000000"/>
                </a:solidFill>
                <a:latin typeface="宋体"/>
                <a:ea typeface="宋体"/>
              </a:rPr>
              <a:t>DeepSeek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58225" y="3640284"/>
            <a:ext cx="9265334" cy="121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8000" b="1" spc="40" dirty="0">
                <a:solidFill>
                  <a:srgbClr val="000000"/>
                </a:solidFill>
                <a:latin typeface="宋体"/>
                <a:ea typeface="宋体"/>
              </a:rPr>
              <a:t>R1使</a:t>
            </a:r>
            <a:r>
              <a:rPr lang="zh-CN" altLang="en-US" sz="8000" b="1" spc="64" dirty="0">
                <a:solidFill>
                  <a:srgbClr val="000000"/>
                </a:solidFill>
                <a:latin typeface="宋体"/>
                <a:ea typeface="宋体"/>
              </a:rPr>
              <a:t>⽤</a:t>
            </a:r>
            <a:r>
              <a:rPr lang="zh-CN" altLang="en-US" sz="8000" b="1" spc="65" dirty="0">
                <a:solidFill>
                  <a:srgbClr val="000000"/>
                </a:solidFill>
                <a:latin typeface="宋体"/>
                <a:ea typeface="宋体"/>
              </a:rPr>
              <a:t>经验，</a:t>
            </a:r>
            <a:r>
              <a:rPr lang="zh-CN" altLang="en-US" sz="8000" b="1" spc="60" dirty="0">
                <a:solidFill>
                  <a:srgbClr val="000000"/>
                </a:solidFill>
                <a:latin typeface="宋体"/>
                <a:ea typeface="宋体"/>
              </a:rPr>
              <a:t>包括：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7033" y="5773884"/>
            <a:ext cx="16722774" cy="5486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8000" spc="34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8000" spc="-78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8000" spc="60" dirty="0">
                <a:solidFill>
                  <a:srgbClr val="000000"/>
                </a:solidFill>
                <a:latin typeface="宋体"/>
                <a:ea typeface="宋体"/>
              </a:rPr>
              <a:t>5个</a:t>
            </a:r>
            <a:r>
              <a:rPr lang="zh-CN" altLang="en-US" sz="8000" spc="80" dirty="0">
                <a:solidFill>
                  <a:srgbClr val="000000"/>
                </a:solidFill>
                <a:latin typeface="宋体"/>
                <a:ea typeface="宋体"/>
              </a:rPr>
              <a:t>⼤语</a:t>
            </a:r>
            <a:r>
              <a:rPr lang="zh-CN" altLang="en-US" sz="8000" spc="75" dirty="0">
                <a:solidFill>
                  <a:srgbClr val="000000"/>
                </a:solidFill>
                <a:latin typeface="宋体"/>
                <a:ea typeface="宋体"/>
              </a:rPr>
              <a:t>⾔模型的特点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8000" spc="5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8000" spc="-77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8000" spc="89" dirty="0">
                <a:solidFill>
                  <a:srgbClr val="000000"/>
                </a:solidFill>
                <a:latin typeface="宋体"/>
                <a:ea typeface="宋体"/>
              </a:rPr>
              <a:t>7项与R1对话的技巧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8000" spc="1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8000" spc="-76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8000" spc="20" dirty="0">
                <a:solidFill>
                  <a:srgbClr val="000000"/>
                </a:solidFill>
                <a:latin typeface="宋体"/>
                <a:ea typeface="宋体"/>
              </a:rPr>
              <a:t>7种验证⽆效你可以舍弃的提示策略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14"/>
          <p:cNvSpPr txBox="1"/>
          <p:nvPr/>
        </p:nvSpPr>
        <p:spPr>
          <a:xfrm>
            <a:off x="1407033" y="825014"/>
            <a:ext cx="16776593" cy="125452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70681">
              <a:lnSpc>
                <a:spcPct val="100000"/>
              </a:lnSpc>
            </a:pPr>
            <a:r>
              <a:rPr lang="zh-CN" altLang="en-US" sz="8000" b="1" spc="780" dirty="0">
                <a:solidFill>
                  <a:srgbClr val="5268F4"/>
                </a:solidFill>
                <a:latin typeface="宋体"/>
                <a:ea typeface="宋体"/>
              </a:rPr>
              <a:t>Dee</a:t>
            </a:r>
            <a:r>
              <a:rPr lang="zh-CN" altLang="en-US" sz="8000" b="1" spc="775" dirty="0">
                <a:solidFill>
                  <a:srgbClr val="5268F4"/>
                </a:solidFill>
                <a:latin typeface="宋体"/>
                <a:ea typeface="宋体"/>
              </a:rPr>
              <a:t>pSeek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1000" b="1" spc="-45" dirty="0">
                <a:solidFill>
                  <a:srgbClr val="000000"/>
                </a:solidFill>
                <a:latin typeface="宋体"/>
                <a:ea typeface="宋体"/>
              </a:rPr>
              <a:t>一</a:t>
            </a:r>
            <a:r>
              <a:rPr lang="zh-CN" altLang="en-US" sz="11000" b="1" spc="-50" dirty="0">
                <a:solidFill>
                  <a:srgbClr val="000000"/>
                </a:solidFill>
                <a:latin typeface="宋体"/>
                <a:ea typeface="宋体"/>
              </a:rPr>
              <a:t>、推理模型</a:t>
            </a:r>
            <a:r>
              <a:rPr lang="zh-CN" altLang="en-US" sz="11000" b="1" spc="-40" dirty="0">
                <a:solidFill>
                  <a:srgbClr val="000000"/>
                </a:solidFill>
                <a:latin typeface="宋体"/>
                <a:ea typeface="宋体"/>
              </a:rPr>
              <a:t>与指令模型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14"/>
              </a:lnSpc>
            </a:pPr>
            <a:endParaRPr lang="en-US" dirty="0"/>
          </a:p>
          <a:p>
            <a:pPr marL="0" hangingPunct="0">
              <a:lnSpc>
                <a:spcPct val="151666"/>
              </a:lnSpc>
            </a:pPr>
            <a:r>
              <a:rPr lang="zh-CN" altLang="en-US" sz="11000" b="1" spc="-50" dirty="0">
                <a:solidFill>
                  <a:srgbClr val="000000"/>
                </a:solidFill>
                <a:latin typeface="宋体"/>
                <a:ea typeface="宋体"/>
              </a:rPr>
              <a:t>⼆、理解</a:t>
            </a:r>
            <a:r>
              <a:rPr lang="zh-CN" altLang="en-US" sz="11000" b="1" spc="-40" dirty="0">
                <a:solidFill>
                  <a:srgbClr val="000000"/>
                </a:solidFill>
                <a:latin typeface="宋体"/>
                <a:ea typeface="宋体"/>
              </a:rPr>
              <a:t>⼤</a:t>
            </a:r>
            <a:r>
              <a:rPr lang="zh-CN" altLang="en-US" sz="11000" b="1" spc="-50" dirty="0">
                <a:solidFill>
                  <a:srgbClr val="000000"/>
                </a:solidFill>
                <a:latin typeface="宋体"/>
                <a:ea typeface="宋体"/>
              </a:rPr>
              <a:t>语⾔模型的</a:t>
            </a:r>
            <a:r>
              <a:rPr lang="zh-CN" altLang="en-US" sz="11000" b="1" spc="-44" dirty="0">
                <a:solidFill>
                  <a:srgbClr val="000000"/>
                </a:solidFill>
                <a:latin typeface="宋体"/>
                <a:ea typeface="宋体"/>
              </a:rPr>
              <a:t>本质</a:t>
            </a:r>
            <a:r>
              <a:rPr lang="zh-CN" altLang="en-US" sz="11000" b="1" spc="100" dirty="0">
                <a:solidFill>
                  <a:srgbClr val="000000"/>
                </a:solidFill>
                <a:latin typeface="宋体"/>
                <a:ea typeface="宋体"/>
              </a:rPr>
              <a:t>三、有效的7</a:t>
            </a:r>
            <a:r>
              <a:rPr lang="zh-CN" altLang="en-US" sz="11000" b="1" spc="110" dirty="0">
                <a:solidFill>
                  <a:srgbClr val="000000"/>
                </a:solidFill>
                <a:latin typeface="宋体"/>
                <a:ea typeface="宋体"/>
              </a:rPr>
              <a:t>⼤</a:t>
            </a:r>
            <a:r>
              <a:rPr lang="zh-CN" altLang="en-US" sz="11000" b="1" spc="69" dirty="0">
                <a:solidFill>
                  <a:srgbClr val="000000"/>
                </a:solidFill>
                <a:latin typeface="宋体"/>
                <a:ea typeface="宋体"/>
              </a:rPr>
              <a:t>R1使</a:t>
            </a:r>
            <a:r>
              <a:rPr lang="zh-CN" altLang="en-US" sz="11000" b="1" spc="120" dirty="0">
                <a:solidFill>
                  <a:srgbClr val="000000"/>
                </a:solidFill>
                <a:latin typeface="宋体"/>
                <a:ea typeface="宋体"/>
              </a:rPr>
              <a:t>⽤</a:t>
            </a:r>
            <a:r>
              <a:rPr lang="zh-CN" altLang="en-US" sz="11000" b="1" spc="110" dirty="0">
                <a:solidFill>
                  <a:srgbClr val="000000"/>
                </a:solidFill>
                <a:latin typeface="宋体"/>
                <a:ea typeface="宋体"/>
              </a:rPr>
              <a:t>技巧</a:t>
            </a:r>
            <a:r>
              <a:rPr lang="zh-CN" altLang="en-US" sz="11000" b="1" spc="-44" dirty="0">
                <a:solidFill>
                  <a:srgbClr val="000000"/>
                </a:solidFill>
                <a:latin typeface="宋体"/>
                <a:ea typeface="宋体"/>
              </a:rPr>
              <a:t>四、⽆</a:t>
            </a:r>
            <a:r>
              <a:rPr lang="zh-CN" altLang="en-US" sz="11000" b="1" spc="-50" dirty="0">
                <a:solidFill>
                  <a:srgbClr val="000000"/>
                </a:solidFill>
                <a:latin typeface="宋体"/>
                <a:ea typeface="宋体"/>
              </a:rPr>
              <a:t>效</a:t>
            </a:r>
            <a:r>
              <a:rPr lang="zh-CN" altLang="en-US" sz="11000" b="1" spc="-44" dirty="0">
                <a:solidFill>
                  <a:srgbClr val="000000"/>
                </a:solidFill>
                <a:latin typeface="宋体"/>
                <a:ea typeface="宋体"/>
              </a:rPr>
              <a:t>的提示词技巧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16"/>
          <p:cNvSpPr txBox="1"/>
          <p:nvPr/>
        </p:nvSpPr>
        <p:spPr>
          <a:xfrm>
            <a:off x="1407033" y="825014"/>
            <a:ext cx="16776593" cy="125452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70681">
              <a:lnSpc>
                <a:spcPct val="100000"/>
              </a:lnSpc>
            </a:pPr>
            <a:r>
              <a:rPr lang="zh-CN" altLang="en-US" sz="8000" b="1" spc="780" dirty="0">
                <a:solidFill>
                  <a:srgbClr val="5268F4"/>
                </a:solidFill>
                <a:latin typeface="宋体"/>
                <a:ea typeface="宋体"/>
              </a:rPr>
              <a:t>Dee</a:t>
            </a:r>
            <a:r>
              <a:rPr lang="zh-CN" altLang="en-US" sz="8000" b="1" spc="775" dirty="0">
                <a:solidFill>
                  <a:srgbClr val="5268F4"/>
                </a:solidFill>
                <a:latin typeface="宋体"/>
                <a:ea typeface="宋体"/>
              </a:rPr>
              <a:t>pSeek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1000" b="1" spc="-45" dirty="0">
                <a:solidFill>
                  <a:srgbClr val="5268F4"/>
                </a:solidFill>
                <a:latin typeface="宋体"/>
                <a:ea typeface="宋体"/>
              </a:rPr>
              <a:t>一</a:t>
            </a:r>
            <a:r>
              <a:rPr lang="zh-CN" altLang="en-US" sz="11000" b="1" spc="-50" dirty="0">
                <a:solidFill>
                  <a:srgbClr val="5268F4"/>
                </a:solidFill>
                <a:latin typeface="宋体"/>
                <a:ea typeface="宋体"/>
              </a:rPr>
              <a:t>、推理模型</a:t>
            </a:r>
            <a:r>
              <a:rPr lang="zh-CN" altLang="en-US" sz="11000" b="1" spc="-40" dirty="0">
                <a:solidFill>
                  <a:srgbClr val="5268F4"/>
                </a:solidFill>
                <a:latin typeface="宋体"/>
                <a:ea typeface="宋体"/>
              </a:rPr>
              <a:t>与指令模型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14"/>
              </a:lnSpc>
            </a:pPr>
            <a:endParaRPr lang="en-US" dirty="0"/>
          </a:p>
          <a:p>
            <a:pPr marL="0" hangingPunct="0">
              <a:lnSpc>
                <a:spcPct val="151666"/>
              </a:lnSpc>
            </a:pP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⼆、理解</a:t>
            </a:r>
            <a:r>
              <a:rPr lang="zh-CN" altLang="en-US" sz="11000" b="1" spc="-40" dirty="0">
                <a:solidFill>
                  <a:srgbClr val="D4D4D4"/>
                </a:solidFill>
                <a:latin typeface="宋体"/>
                <a:ea typeface="宋体"/>
              </a:rPr>
              <a:t>⼤</a:t>
            </a: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语⾔模型的</a:t>
            </a:r>
            <a:r>
              <a:rPr lang="zh-CN" altLang="en-US" sz="11000" b="1" spc="-44" dirty="0">
                <a:solidFill>
                  <a:srgbClr val="D4D4D4"/>
                </a:solidFill>
                <a:latin typeface="宋体"/>
                <a:ea typeface="宋体"/>
              </a:rPr>
              <a:t>本质</a:t>
            </a:r>
            <a:r>
              <a:rPr lang="zh-CN" altLang="en-US" sz="11000" b="1" spc="100" dirty="0">
                <a:solidFill>
                  <a:srgbClr val="D4D4D4"/>
                </a:solidFill>
                <a:latin typeface="宋体"/>
                <a:ea typeface="宋体"/>
              </a:rPr>
              <a:t>三、有效的7</a:t>
            </a:r>
            <a:r>
              <a:rPr lang="zh-CN" altLang="en-US" sz="11000" b="1" spc="110" dirty="0">
                <a:solidFill>
                  <a:srgbClr val="D4D4D4"/>
                </a:solidFill>
                <a:latin typeface="宋体"/>
                <a:ea typeface="宋体"/>
              </a:rPr>
              <a:t>⼤</a:t>
            </a:r>
            <a:r>
              <a:rPr lang="zh-CN" altLang="en-US" sz="11000" b="1" spc="69" dirty="0">
                <a:solidFill>
                  <a:srgbClr val="D4D4D4"/>
                </a:solidFill>
                <a:latin typeface="宋体"/>
                <a:ea typeface="宋体"/>
              </a:rPr>
              <a:t>R1使</a:t>
            </a:r>
            <a:r>
              <a:rPr lang="zh-CN" altLang="en-US" sz="11000" b="1" spc="120" dirty="0">
                <a:solidFill>
                  <a:srgbClr val="D4D4D4"/>
                </a:solidFill>
                <a:latin typeface="宋体"/>
                <a:ea typeface="宋体"/>
              </a:rPr>
              <a:t>⽤</a:t>
            </a:r>
            <a:r>
              <a:rPr lang="zh-CN" altLang="en-US" sz="11000" b="1" spc="110" dirty="0">
                <a:solidFill>
                  <a:srgbClr val="D4D4D4"/>
                </a:solidFill>
                <a:latin typeface="宋体"/>
                <a:ea typeface="宋体"/>
              </a:rPr>
              <a:t>技巧</a:t>
            </a:r>
            <a:r>
              <a:rPr lang="zh-CN" altLang="en-US" sz="11000" b="1" spc="-44" dirty="0">
                <a:solidFill>
                  <a:srgbClr val="D4D4D4"/>
                </a:solidFill>
                <a:latin typeface="宋体"/>
                <a:ea typeface="宋体"/>
              </a:rPr>
              <a:t>四、⽆</a:t>
            </a: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效</a:t>
            </a:r>
            <a:r>
              <a:rPr lang="zh-CN" altLang="en-US" sz="11000" b="1" spc="-44" dirty="0">
                <a:solidFill>
                  <a:srgbClr val="D4D4D4"/>
                </a:solidFill>
                <a:latin typeface="宋体"/>
                <a:ea typeface="宋体"/>
              </a:rPr>
              <a:t>的提示词技巧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18"/>
          <p:cNvSpPr txBox="1"/>
          <p:nvPr/>
        </p:nvSpPr>
        <p:spPr>
          <a:xfrm>
            <a:off x="1407033" y="825014"/>
            <a:ext cx="16776593" cy="125452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70681">
              <a:lnSpc>
                <a:spcPct val="100000"/>
              </a:lnSpc>
            </a:pPr>
            <a:r>
              <a:rPr lang="zh-CN" altLang="en-US" sz="8000" b="1" spc="780" dirty="0">
                <a:solidFill>
                  <a:srgbClr val="5268F4"/>
                </a:solidFill>
                <a:latin typeface="宋体"/>
                <a:ea typeface="宋体"/>
              </a:rPr>
              <a:t>Dee</a:t>
            </a:r>
            <a:r>
              <a:rPr lang="zh-CN" altLang="en-US" sz="8000" b="1" spc="775" dirty="0">
                <a:solidFill>
                  <a:srgbClr val="5268F4"/>
                </a:solidFill>
                <a:latin typeface="宋体"/>
                <a:ea typeface="宋体"/>
              </a:rPr>
              <a:t>pSeek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1000" b="1" spc="-45" dirty="0">
                <a:solidFill>
                  <a:srgbClr val="D4D4D4"/>
                </a:solidFill>
                <a:latin typeface="宋体"/>
                <a:ea typeface="宋体"/>
              </a:rPr>
              <a:t>一</a:t>
            </a: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、推理模型</a:t>
            </a:r>
            <a:r>
              <a:rPr lang="zh-CN" altLang="en-US" sz="11000" b="1" spc="-40" dirty="0">
                <a:solidFill>
                  <a:srgbClr val="D4D4D4"/>
                </a:solidFill>
                <a:latin typeface="宋体"/>
                <a:ea typeface="宋体"/>
              </a:rPr>
              <a:t>与指令模型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14"/>
              </a:lnSpc>
            </a:pPr>
            <a:endParaRPr lang="en-US" dirty="0"/>
          </a:p>
          <a:p>
            <a:pPr marL="0" hangingPunct="0">
              <a:lnSpc>
                <a:spcPct val="151666"/>
              </a:lnSpc>
            </a:pPr>
            <a:r>
              <a:rPr lang="zh-CN" altLang="en-US" sz="11000" b="1" spc="-50" dirty="0">
                <a:solidFill>
                  <a:srgbClr val="5268F4"/>
                </a:solidFill>
                <a:latin typeface="宋体"/>
                <a:ea typeface="宋体"/>
              </a:rPr>
              <a:t>⼆、理解</a:t>
            </a:r>
            <a:r>
              <a:rPr lang="zh-CN" altLang="en-US" sz="11000" b="1" spc="-40" dirty="0">
                <a:solidFill>
                  <a:srgbClr val="5268F4"/>
                </a:solidFill>
                <a:latin typeface="宋体"/>
                <a:ea typeface="宋体"/>
              </a:rPr>
              <a:t>⼤</a:t>
            </a:r>
            <a:r>
              <a:rPr lang="zh-CN" altLang="en-US" sz="11000" b="1" spc="-50" dirty="0">
                <a:solidFill>
                  <a:srgbClr val="5268F4"/>
                </a:solidFill>
                <a:latin typeface="宋体"/>
                <a:ea typeface="宋体"/>
              </a:rPr>
              <a:t>语⾔模型的</a:t>
            </a:r>
            <a:r>
              <a:rPr lang="zh-CN" altLang="en-US" sz="11000" b="1" spc="-44" dirty="0">
                <a:solidFill>
                  <a:srgbClr val="5268F4"/>
                </a:solidFill>
                <a:latin typeface="宋体"/>
                <a:ea typeface="宋体"/>
              </a:rPr>
              <a:t>本质</a:t>
            </a:r>
            <a:r>
              <a:rPr lang="zh-CN" altLang="en-US" sz="11000" b="1" spc="100" dirty="0">
                <a:solidFill>
                  <a:srgbClr val="D4D4D4"/>
                </a:solidFill>
                <a:latin typeface="宋体"/>
                <a:ea typeface="宋体"/>
              </a:rPr>
              <a:t>三、有效的7</a:t>
            </a:r>
            <a:r>
              <a:rPr lang="zh-CN" altLang="en-US" sz="11000" b="1" spc="110" dirty="0">
                <a:solidFill>
                  <a:srgbClr val="D4D4D4"/>
                </a:solidFill>
                <a:latin typeface="宋体"/>
                <a:ea typeface="宋体"/>
              </a:rPr>
              <a:t>⼤</a:t>
            </a:r>
            <a:r>
              <a:rPr lang="zh-CN" altLang="en-US" sz="11000" b="1" spc="69" dirty="0">
                <a:solidFill>
                  <a:srgbClr val="D4D4D4"/>
                </a:solidFill>
                <a:latin typeface="宋体"/>
                <a:ea typeface="宋体"/>
              </a:rPr>
              <a:t>R1使</a:t>
            </a:r>
            <a:r>
              <a:rPr lang="zh-CN" altLang="en-US" sz="11000" b="1" spc="120" dirty="0">
                <a:solidFill>
                  <a:srgbClr val="D4D4D4"/>
                </a:solidFill>
                <a:latin typeface="宋体"/>
                <a:ea typeface="宋体"/>
              </a:rPr>
              <a:t>⽤</a:t>
            </a:r>
            <a:r>
              <a:rPr lang="zh-CN" altLang="en-US" sz="11000" b="1" spc="110" dirty="0">
                <a:solidFill>
                  <a:srgbClr val="D4D4D4"/>
                </a:solidFill>
                <a:latin typeface="宋体"/>
                <a:ea typeface="宋体"/>
              </a:rPr>
              <a:t>技巧</a:t>
            </a:r>
            <a:r>
              <a:rPr lang="zh-CN" altLang="en-US" sz="11000" b="1" spc="-44" dirty="0">
                <a:solidFill>
                  <a:srgbClr val="D4D4D4"/>
                </a:solidFill>
                <a:latin typeface="宋体"/>
                <a:ea typeface="宋体"/>
              </a:rPr>
              <a:t>四、⽆</a:t>
            </a: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效</a:t>
            </a:r>
            <a:r>
              <a:rPr lang="zh-CN" altLang="en-US" sz="11000" b="1" spc="-44" dirty="0">
                <a:solidFill>
                  <a:srgbClr val="D4D4D4"/>
                </a:solidFill>
                <a:latin typeface="宋体"/>
                <a:ea typeface="宋体"/>
              </a:rPr>
              <a:t>的提示词技巧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20"/>
          <p:cNvSpPr txBox="1"/>
          <p:nvPr/>
        </p:nvSpPr>
        <p:spPr>
          <a:xfrm>
            <a:off x="1407033" y="825014"/>
            <a:ext cx="16776593" cy="125452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70681">
              <a:lnSpc>
                <a:spcPct val="100000"/>
              </a:lnSpc>
            </a:pPr>
            <a:r>
              <a:rPr lang="zh-CN" altLang="en-US" sz="8000" b="1" spc="780" dirty="0">
                <a:solidFill>
                  <a:srgbClr val="5268F4"/>
                </a:solidFill>
                <a:latin typeface="宋体"/>
                <a:ea typeface="宋体"/>
              </a:rPr>
              <a:t>Dee</a:t>
            </a:r>
            <a:r>
              <a:rPr lang="zh-CN" altLang="en-US" sz="8000" b="1" spc="775" dirty="0">
                <a:solidFill>
                  <a:srgbClr val="5268F4"/>
                </a:solidFill>
                <a:latin typeface="宋体"/>
                <a:ea typeface="宋体"/>
              </a:rPr>
              <a:t>pSeek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1000" b="1" spc="-45" dirty="0">
                <a:solidFill>
                  <a:srgbClr val="D4D4D4"/>
                </a:solidFill>
                <a:latin typeface="宋体"/>
                <a:ea typeface="宋体"/>
              </a:rPr>
              <a:t>一</a:t>
            </a: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、推理模型</a:t>
            </a:r>
            <a:r>
              <a:rPr lang="zh-CN" altLang="en-US" sz="11000" b="1" spc="-40" dirty="0">
                <a:solidFill>
                  <a:srgbClr val="D4D4D4"/>
                </a:solidFill>
                <a:latin typeface="宋体"/>
                <a:ea typeface="宋体"/>
              </a:rPr>
              <a:t>与指令模型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14"/>
              </a:lnSpc>
            </a:pPr>
            <a:endParaRPr lang="en-US" dirty="0"/>
          </a:p>
          <a:p>
            <a:pPr marL="0" hangingPunct="0">
              <a:lnSpc>
                <a:spcPct val="151666"/>
              </a:lnSpc>
            </a:pP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⼆、理解</a:t>
            </a:r>
            <a:r>
              <a:rPr lang="zh-CN" altLang="en-US" sz="11000" b="1" spc="-40" dirty="0">
                <a:solidFill>
                  <a:srgbClr val="D4D4D4"/>
                </a:solidFill>
                <a:latin typeface="宋体"/>
                <a:ea typeface="宋体"/>
              </a:rPr>
              <a:t>⼤</a:t>
            </a: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语⾔模型的</a:t>
            </a:r>
            <a:r>
              <a:rPr lang="zh-CN" altLang="en-US" sz="11000" b="1" spc="-44" dirty="0">
                <a:solidFill>
                  <a:srgbClr val="D4D4D4"/>
                </a:solidFill>
                <a:latin typeface="宋体"/>
                <a:ea typeface="宋体"/>
              </a:rPr>
              <a:t>本质</a:t>
            </a:r>
            <a:r>
              <a:rPr lang="zh-CN" altLang="en-US" sz="11000" b="1" spc="100" dirty="0">
                <a:solidFill>
                  <a:srgbClr val="5268F4"/>
                </a:solidFill>
                <a:latin typeface="宋体"/>
                <a:ea typeface="宋体"/>
              </a:rPr>
              <a:t>三、有效的7</a:t>
            </a:r>
            <a:r>
              <a:rPr lang="zh-CN" altLang="en-US" sz="11000" b="1" spc="110" dirty="0">
                <a:solidFill>
                  <a:srgbClr val="5268F4"/>
                </a:solidFill>
                <a:latin typeface="宋体"/>
                <a:ea typeface="宋体"/>
              </a:rPr>
              <a:t>⼤</a:t>
            </a:r>
            <a:r>
              <a:rPr lang="zh-CN" altLang="en-US" sz="11000" b="1" spc="69" dirty="0">
                <a:solidFill>
                  <a:srgbClr val="5268F4"/>
                </a:solidFill>
                <a:latin typeface="宋体"/>
                <a:ea typeface="宋体"/>
              </a:rPr>
              <a:t>R1使</a:t>
            </a:r>
            <a:r>
              <a:rPr lang="zh-CN" altLang="en-US" sz="11000" b="1" spc="120" dirty="0">
                <a:solidFill>
                  <a:srgbClr val="5268F4"/>
                </a:solidFill>
                <a:latin typeface="宋体"/>
                <a:ea typeface="宋体"/>
              </a:rPr>
              <a:t>⽤</a:t>
            </a:r>
            <a:r>
              <a:rPr lang="zh-CN" altLang="en-US" sz="11000" b="1" spc="110" dirty="0">
                <a:solidFill>
                  <a:srgbClr val="5268F4"/>
                </a:solidFill>
                <a:latin typeface="宋体"/>
                <a:ea typeface="宋体"/>
              </a:rPr>
              <a:t>技巧</a:t>
            </a:r>
            <a:r>
              <a:rPr lang="zh-CN" altLang="en-US" sz="11000" b="1" spc="-44" dirty="0">
                <a:solidFill>
                  <a:srgbClr val="D4D4D4"/>
                </a:solidFill>
                <a:latin typeface="宋体"/>
                <a:ea typeface="宋体"/>
              </a:rPr>
              <a:t>四、⽆</a:t>
            </a: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效</a:t>
            </a:r>
            <a:r>
              <a:rPr lang="zh-CN" altLang="en-US" sz="11000" b="1" spc="-44" dirty="0">
                <a:solidFill>
                  <a:srgbClr val="D4D4D4"/>
                </a:solidFill>
                <a:latin typeface="宋体"/>
                <a:ea typeface="宋体"/>
              </a:rPr>
              <a:t>的提示词技巧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22"/>
          <p:cNvSpPr txBox="1"/>
          <p:nvPr/>
        </p:nvSpPr>
        <p:spPr>
          <a:xfrm>
            <a:off x="1407033" y="825014"/>
            <a:ext cx="16776593" cy="125452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70681">
              <a:lnSpc>
                <a:spcPct val="100000"/>
              </a:lnSpc>
            </a:pPr>
            <a:r>
              <a:rPr lang="zh-CN" altLang="en-US" sz="8000" b="1" spc="780" dirty="0">
                <a:solidFill>
                  <a:srgbClr val="5268F4"/>
                </a:solidFill>
                <a:latin typeface="宋体"/>
                <a:ea typeface="宋体"/>
              </a:rPr>
              <a:t>Dee</a:t>
            </a:r>
            <a:r>
              <a:rPr lang="zh-CN" altLang="en-US" sz="8000" b="1" spc="775" dirty="0">
                <a:solidFill>
                  <a:srgbClr val="5268F4"/>
                </a:solidFill>
                <a:latin typeface="宋体"/>
                <a:ea typeface="宋体"/>
              </a:rPr>
              <a:t>pSeek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1000" b="1" spc="-45" dirty="0">
                <a:solidFill>
                  <a:srgbClr val="D4D4D4"/>
                </a:solidFill>
                <a:latin typeface="宋体"/>
                <a:ea typeface="宋体"/>
              </a:rPr>
              <a:t>一</a:t>
            </a: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、推理模型</a:t>
            </a:r>
            <a:r>
              <a:rPr lang="zh-CN" altLang="en-US" sz="11000" b="1" spc="-40" dirty="0">
                <a:solidFill>
                  <a:srgbClr val="D4D4D4"/>
                </a:solidFill>
                <a:latin typeface="宋体"/>
                <a:ea typeface="宋体"/>
              </a:rPr>
              <a:t>与指令模型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14"/>
              </a:lnSpc>
            </a:pPr>
            <a:endParaRPr lang="en-US" dirty="0"/>
          </a:p>
          <a:p>
            <a:pPr marL="0" hangingPunct="0">
              <a:lnSpc>
                <a:spcPct val="151666"/>
              </a:lnSpc>
            </a:pP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⼆、理解</a:t>
            </a:r>
            <a:r>
              <a:rPr lang="zh-CN" altLang="en-US" sz="11000" b="1" spc="-40" dirty="0">
                <a:solidFill>
                  <a:srgbClr val="D4D4D4"/>
                </a:solidFill>
                <a:latin typeface="宋体"/>
                <a:ea typeface="宋体"/>
              </a:rPr>
              <a:t>⼤</a:t>
            </a:r>
            <a:r>
              <a:rPr lang="zh-CN" altLang="en-US" sz="11000" b="1" spc="-50" dirty="0">
                <a:solidFill>
                  <a:srgbClr val="D4D4D4"/>
                </a:solidFill>
                <a:latin typeface="宋体"/>
                <a:ea typeface="宋体"/>
              </a:rPr>
              <a:t>语⾔模型的</a:t>
            </a:r>
            <a:r>
              <a:rPr lang="zh-CN" altLang="en-US" sz="11000" b="1" spc="-44" dirty="0">
                <a:solidFill>
                  <a:srgbClr val="D4D4D4"/>
                </a:solidFill>
                <a:latin typeface="宋体"/>
                <a:ea typeface="宋体"/>
              </a:rPr>
              <a:t>本质</a:t>
            </a:r>
            <a:r>
              <a:rPr lang="zh-CN" altLang="en-US" sz="11000" b="1" spc="100" dirty="0">
                <a:solidFill>
                  <a:srgbClr val="D4D4D4"/>
                </a:solidFill>
                <a:latin typeface="宋体"/>
                <a:ea typeface="宋体"/>
              </a:rPr>
              <a:t>三、有效的7</a:t>
            </a:r>
            <a:r>
              <a:rPr lang="zh-CN" altLang="en-US" sz="11000" b="1" spc="110" dirty="0">
                <a:solidFill>
                  <a:srgbClr val="D4D4D4"/>
                </a:solidFill>
                <a:latin typeface="宋体"/>
                <a:ea typeface="宋体"/>
              </a:rPr>
              <a:t>⼤</a:t>
            </a:r>
            <a:r>
              <a:rPr lang="zh-CN" altLang="en-US" sz="11000" b="1" spc="69" dirty="0">
                <a:solidFill>
                  <a:srgbClr val="D4D4D4"/>
                </a:solidFill>
                <a:latin typeface="宋体"/>
                <a:ea typeface="宋体"/>
              </a:rPr>
              <a:t>R1使</a:t>
            </a:r>
            <a:r>
              <a:rPr lang="zh-CN" altLang="en-US" sz="11000" b="1" spc="120" dirty="0">
                <a:solidFill>
                  <a:srgbClr val="D4D4D4"/>
                </a:solidFill>
                <a:latin typeface="宋体"/>
                <a:ea typeface="宋体"/>
              </a:rPr>
              <a:t>⽤</a:t>
            </a:r>
            <a:r>
              <a:rPr lang="zh-CN" altLang="en-US" sz="11000" b="1" spc="110" dirty="0">
                <a:solidFill>
                  <a:srgbClr val="D4D4D4"/>
                </a:solidFill>
                <a:latin typeface="宋体"/>
                <a:ea typeface="宋体"/>
              </a:rPr>
              <a:t>技巧</a:t>
            </a:r>
            <a:r>
              <a:rPr lang="zh-CN" altLang="en-US" sz="11000" b="1" spc="-44" dirty="0">
                <a:solidFill>
                  <a:srgbClr val="5268F4"/>
                </a:solidFill>
                <a:latin typeface="宋体"/>
                <a:ea typeface="宋体"/>
              </a:rPr>
              <a:t>四、⽆</a:t>
            </a:r>
            <a:r>
              <a:rPr lang="zh-CN" altLang="en-US" sz="11000" b="1" spc="-50" dirty="0">
                <a:solidFill>
                  <a:srgbClr val="5268F4"/>
                </a:solidFill>
                <a:latin typeface="宋体"/>
                <a:ea typeface="宋体"/>
              </a:rPr>
              <a:t>效</a:t>
            </a:r>
            <a:r>
              <a:rPr lang="zh-CN" altLang="en-US" sz="11000" b="1" spc="-44" dirty="0">
                <a:solidFill>
                  <a:srgbClr val="5268F4"/>
                </a:solidFill>
                <a:latin typeface="宋体"/>
                <a:ea typeface="宋体"/>
              </a:rPr>
              <a:t>的提示词技巧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24"/>
          <p:cNvSpPr txBox="1"/>
          <p:nvPr/>
        </p:nvSpPr>
        <p:spPr>
          <a:xfrm>
            <a:off x="3277715" y="825014"/>
            <a:ext cx="10286922" cy="121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8000" b="1" spc="-35" dirty="0">
                <a:solidFill>
                  <a:srgbClr val="5268F4"/>
                </a:solidFill>
                <a:latin typeface="宋体"/>
                <a:ea typeface="宋体"/>
              </a:rPr>
              <a:t>理解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⼤语</a:t>
            </a:r>
            <a:r>
              <a:rPr lang="zh-CN" altLang="en-US" sz="8000" b="1" spc="-34" dirty="0">
                <a:solidFill>
                  <a:srgbClr val="5268F4"/>
                </a:solidFill>
                <a:latin typeface="宋体"/>
                <a:ea typeface="宋体"/>
              </a:rPr>
              <a:t>⾔</a:t>
            </a:r>
            <a:r>
              <a:rPr lang="zh-CN" altLang="en-US" sz="8000" b="1" spc="-40" dirty="0">
                <a:solidFill>
                  <a:srgbClr val="5268F4"/>
                </a:solidFill>
                <a:latin typeface="宋体"/>
                <a:ea typeface="宋体"/>
              </a:rPr>
              <a:t>模型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的本质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34030" y="4286023"/>
            <a:ext cx="17904362" cy="1524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0000" spc="-179" dirty="0">
                <a:solidFill>
                  <a:srgbClr val="424241"/>
                </a:solidFill>
                <a:latin typeface="宋体"/>
                <a:ea typeface="宋体"/>
              </a:rPr>
              <a:t>特点1:</a:t>
            </a:r>
            <a:r>
              <a:rPr lang="zh-CN" altLang="en-US" sz="10000" spc="-1675" dirty="0">
                <a:solidFill>
                  <a:srgbClr val="424241"/>
                </a:solidFill>
                <a:latin typeface="宋体"/>
                <a:cs typeface="宋体"/>
              </a:rPr>
              <a:t> </a:t>
            </a:r>
            <a:r>
              <a:rPr lang="zh-CN" altLang="en-US" sz="10000" spc="-240" dirty="0">
                <a:solidFill>
                  <a:srgbClr val="424241"/>
                </a:solidFill>
                <a:latin typeface="宋体"/>
                <a:ea typeface="宋体"/>
              </a:rPr>
              <a:t>⼤模型在训练时是将内容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34030" y="6597423"/>
            <a:ext cx="19804284" cy="4622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1250"/>
              </a:lnSpc>
            </a:pPr>
            <a:r>
              <a:rPr lang="zh-CN" altLang="en-US" sz="10000" spc="34" dirty="0">
                <a:solidFill>
                  <a:srgbClr val="424241"/>
                </a:solidFill>
                <a:latin typeface="宋体"/>
                <a:ea typeface="宋体"/>
              </a:rPr>
              <a:t>token化的，</a:t>
            </a:r>
            <a:r>
              <a:rPr lang="zh-CN" altLang="en-US" sz="10000" spc="50" dirty="0">
                <a:solidFill>
                  <a:srgbClr val="424241"/>
                </a:solidFill>
                <a:latin typeface="宋体"/>
                <a:ea typeface="宋体"/>
              </a:rPr>
              <a:t>⼤</a:t>
            </a:r>
            <a:r>
              <a:rPr lang="zh-CN" altLang="en-US" sz="10000" spc="55" dirty="0">
                <a:solidFill>
                  <a:srgbClr val="424241"/>
                </a:solidFill>
                <a:latin typeface="宋体"/>
                <a:ea typeface="宋体"/>
              </a:rPr>
              <a:t>模型</a:t>
            </a:r>
            <a:r>
              <a:rPr lang="zh-CN" altLang="en-US" sz="10000" spc="50" dirty="0">
                <a:solidFill>
                  <a:srgbClr val="424241"/>
                </a:solidFill>
                <a:latin typeface="宋体"/>
                <a:ea typeface="宋体"/>
              </a:rPr>
              <a:t>所看到和理解的</a:t>
            </a:r>
            <a:r>
              <a:rPr lang="zh-CN" altLang="en-US" sz="10000" dirty="0">
                <a:solidFill>
                  <a:srgbClr val="424241"/>
                </a:solidFill>
                <a:latin typeface="宋体"/>
                <a:ea typeface="宋体"/>
              </a:rPr>
              <a:t>世界与你不</a:t>
            </a:r>
            <a:r>
              <a:rPr lang="zh-CN" altLang="en-US" sz="10000" spc="-10" dirty="0">
                <a:solidFill>
                  <a:srgbClr val="424241"/>
                </a:solidFill>
                <a:latin typeface="宋体"/>
                <a:ea typeface="宋体"/>
              </a:rPr>
              <a:t>一</a:t>
            </a:r>
            <a:r>
              <a:rPr lang="zh-CN" altLang="en-US" sz="10000" spc="-5" dirty="0">
                <a:solidFill>
                  <a:srgbClr val="424241"/>
                </a:solidFill>
                <a:latin typeface="宋体"/>
                <a:ea typeface="宋体"/>
              </a:rPr>
              <a:t>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28"/>
          <p:cNvSpPr txBox="1"/>
          <p:nvPr/>
        </p:nvSpPr>
        <p:spPr>
          <a:xfrm>
            <a:off x="1542115" y="825014"/>
            <a:ext cx="21094602" cy="69662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735599">
              <a:lnSpc>
                <a:spcPct val="100000"/>
              </a:lnSpc>
            </a:pPr>
            <a:r>
              <a:rPr lang="zh-CN" altLang="en-US" sz="8000" b="1" spc="-35" dirty="0">
                <a:solidFill>
                  <a:srgbClr val="5268F4"/>
                </a:solidFill>
                <a:latin typeface="宋体"/>
                <a:ea typeface="宋体"/>
              </a:rPr>
              <a:t>理解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⼤语</a:t>
            </a:r>
            <a:r>
              <a:rPr lang="zh-CN" altLang="en-US" sz="8000" b="1" spc="-34" dirty="0">
                <a:solidFill>
                  <a:srgbClr val="5268F4"/>
                </a:solidFill>
                <a:latin typeface="宋体"/>
                <a:ea typeface="宋体"/>
              </a:rPr>
              <a:t>⾔</a:t>
            </a:r>
            <a:r>
              <a:rPr lang="zh-CN" altLang="en-US" sz="8000" b="1" spc="-40" dirty="0">
                <a:solidFill>
                  <a:srgbClr val="5268F4"/>
                </a:solidFill>
                <a:latin typeface="宋体"/>
                <a:ea typeface="宋体"/>
              </a:rPr>
              <a:t>模型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的本质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0000" spc="50" dirty="0">
                <a:solidFill>
                  <a:srgbClr val="424241"/>
                </a:solidFill>
                <a:latin typeface="宋体"/>
                <a:ea typeface="宋体"/>
              </a:rPr>
              <a:t>特点2：</a:t>
            </a:r>
            <a:r>
              <a:rPr lang="zh-CN" altLang="en-US" sz="10000" spc="64" dirty="0">
                <a:solidFill>
                  <a:srgbClr val="424241"/>
                </a:solidFill>
                <a:latin typeface="宋体"/>
                <a:ea typeface="宋体"/>
              </a:rPr>
              <a:t>⼤</a:t>
            </a:r>
            <a:r>
              <a:rPr lang="zh-CN" altLang="en-US" sz="10000" spc="60" dirty="0">
                <a:solidFill>
                  <a:srgbClr val="424241"/>
                </a:solidFill>
                <a:latin typeface="宋体"/>
                <a:ea typeface="宋体"/>
              </a:rPr>
              <a:t>模型知识是存在截⽌时间的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30"/>
          <p:cNvSpPr txBox="1"/>
          <p:nvPr/>
        </p:nvSpPr>
        <p:spPr>
          <a:xfrm>
            <a:off x="2334030" y="825014"/>
            <a:ext cx="19189602" cy="92395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43684">
              <a:lnSpc>
                <a:spcPct val="100000"/>
              </a:lnSpc>
            </a:pPr>
            <a:r>
              <a:rPr lang="zh-CN" altLang="en-US" sz="8000" b="1" spc="-35" dirty="0">
                <a:solidFill>
                  <a:srgbClr val="5268F4"/>
                </a:solidFill>
                <a:latin typeface="宋体"/>
                <a:ea typeface="宋体"/>
              </a:rPr>
              <a:t>理解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⼤语</a:t>
            </a:r>
            <a:r>
              <a:rPr lang="zh-CN" altLang="en-US" sz="8000" b="1" spc="-34" dirty="0">
                <a:solidFill>
                  <a:srgbClr val="5268F4"/>
                </a:solidFill>
                <a:latin typeface="宋体"/>
                <a:ea typeface="宋体"/>
              </a:rPr>
              <a:t>⾔</a:t>
            </a:r>
            <a:r>
              <a:rPr lang="zh-CN" altLang="en-US" sz="8000" b="1" spc="-40" dirty="0">
                <a:solidFill>
                  <a:srgbClr val="5268F4"/>
                </a:solidFill>
                <a:latin typeface="宋体"/>
                <a:ea typeface="宋体"/>
              </a:rPr>
              <a:t>模型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的本质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50"/>
              </a:lnSpc>
            </a:pPr>
            <a:endParaRPr lang="en-US" dirty="0"/>
          </a:p>
          <a:p>
            <a:pPr marL="0" hangingPunct="0">
              <a:lnSpc>
                <a:spcPct val="151250"/>
              </a:lnSpc>
            </a:pPr>
            <a:r>
              <a:rPr lang="zh-CN" altLang="en-US" sz="10000" spc="55" dirty="0">
                <a:solidFill>
                  <a:srgbClr val="424241"/>
                </a:solidFill>
                <a:latin typeface="宋体"/>
                <a:ea typeface="宋体"/>
              </a:rPr>
              <a:t>特点3：</a:t>
            </a:r>
            <a:r>
              <a:rPr lang="zh-CN" altLang="en-US" sz="10000" spc="60" dirty="0">
                <a:solidFill>
                  <a:srgbClr val="424241"/>
                </a:solidFill>
                <a:latin typeface="宋体"/>
                <a:ea typeface="宋体"/>
              </a:rPr>
              <a:t>⼤模型缺乏</a:t>
            </a:r>
            <a:r>
              <a:rPr lang="zh-CN" altLang="en-US" sz="10000" spc="80" dirty="0">
                <a:solidFill>
                  <a:srgbClr val="424241"/>
                </a:solidFill>
                <a:latin typeface="宋体"/>
                <a:ea typeface="宋体"/>
              </a:rPr>
              <a:t>⾃</a:t>
            </a:r>
            <a:r>
              <a:rPr lang="zh-CN" altLang="en-US" sz="10000" spc="55" dirty="0">
                <a:solidFill>
                  <a:srgbClr val="424241"/>
                </a:solidFill>
                <a:latin typeface="宋体"/>
                <a:ea typeface="宋体"/>
              </a:rPr>
              <a:t>我认知/</a:t>
            </a:r>
            <a:r>
              <a:rPr lang="zh-CN" altLang="en-US" sz="10000" spc="64" dirty="0">
                <a:solidFill>
                  <a:srgbClr val="424241"/>
                </a:solidFill>
                <a:latin typeface="宋体"/>
                <a:ea typeface="宋体"/>
              </a:rPr>
              <a:t>⾃</a:t>
            </a:r>
            <a:r>
              <a:rPr lang="zh-CN" altLang="en-US" sz="10000" spc="60" dirty="0">
                <a:solidFill>
                  <a:srgbClr val="424241"/>
                </a:solidFill>
                <a:latin typeface="宋体"/>
                <a:ea typeface="宋体"/>
              </a:rPr>
              <a:t>我</a:t>
            </a:r>
            <a:r>
              <a:rPr lang="zh-CN" altLang="en-US" sz="10000" spc="-10" dirty="0">
                <a:solidFill>
                  <a:srgbClr val="424241"/>
                </a:solidFill>
                <a:latin typeface="宋体"/>
                <a:ea typeface="宋体"/>
              </a:rPr>
              <a:t>意识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32"/>
          <p:cNvSpPr txBox="1"/>
          <p:nvPr/>
        </p:nvSpPr>
        <p:spPr>
          <a:xfrm>
            <a:off x="2334030" y="825014"/>
            <a:ext cx="17740534" cy="72964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43684">
              <a:lnSpc>
                <a:spcPct val="100000"/>
              </a:lnSpc>
            </a:pPr>
            <a:r>
              <a:rPr lang="zh-CN" altLang="en-US" sz="8000" b="1" spc="-35" dirty="0">
                <a:solidFill>
                  <a:srgbClr val="5268F4"/>
                </a:solidFill>
                <a:latin typeface="宋体"/>
                <a:ea typeface="宋体"/>
              </a:rPr>
              <a:t>理解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⼤语</a:t>
            </a:r>
            <a:r>
              <a:rPr lang="zh-CN" altLang="en-US" sz="8000" b="1" spc="-34" dirty="0">
                <a:solidFill>
                  <a:srgbClr val="5268F4"/>
                </a:solidFill>
                <a:latin typeface="宋体"/>
                <a:ea typeface="宋体"/>
              </a:rPr>
              <a:t>⾔</a:t>
            </a:r>
            <a:r>
              <a:rPr lang="zh-CN" altLang="en-US" sz="8000" b="1" spc="-40" dirty="0">
                <a:solidFill>
                  <a:srgbClr val="5268F4"/>
                </a:solidFill>
                <a:latin typeface="宋体"/>
                <a:ea typeface="宋体"/>
              </a:rPr>
              <a:t>模型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的本质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0000" spc="254" dirty="0">
                <a:solidFill>
                  <a:srgbClr val="424241"/>
                </a:solidFill>
                <a:latin typeface="宋体"/>
                <a:ea typeface="宋体"/>
              </a:rPr>
              <a:t>特点4：记忆有限（64k/128</a:t>
            </a:r>
            <a:r>
              <a:rPr lang="zh-CN" altLang="en-US" sz="10000" spc="250" dirty="0">
                <a:solidFill>
                  <a:srgbClr val="424241"/>
                </a:solidFill>
                <a:latin typeface="宋体"/>
                <a:ea typeface="宋体"/>
              </a:rPr>
              <a:t>k）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34"/>
          <p:cNvSpPr txBox="1"/>
          <p:nvPr/>
        </p:nvSpPr>
        <p:spPr>
          <a:xfrm>
            <a:off x="2334030" y="825014"/>
            <a:ext cx="18247262" cy="72964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43684">
              <a:lnSpc>
                <a:spcPct val="100000"/>
              </a:lnSpc>
            </a:pPr>
            <a:r>
              <a:rPr lang="zh-CN" altLang="en-US" sz="8000" b="1" spc="-35" dirty="0">
                <a:solidFill>
                  <a:srgbClr val="5268F4"/>
                </a:solidFill>
                <a:latin typeface="宋体"/>
                <a:ea typeface="宋体"/>
              </a:rPr>
              <a:t>理解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⼤语</a:t>
            </a:r>
            <a:r>
              <a:rPr lang="zh-CN" altLang="en-US" sz="8000" b="1" spc="-34" dirty="0">
                <a:solidFill>
                  <a:srgbClr val="5268F4"/>
                </a:solidFill>
                <a:latin typeface="宋体"/>
                <a:ea typeface="宋体"/>
              </a:rPr>
              <a:t>⾔</a:t>
            </a:r>
            <a:r>
              <a:rPr lang="zh-CN" altLang="en-US" sz="8000" b="1" spc="-40" dirty="0">
                <a:solidFill>
                  <a:srgbClr val="5268F4"/>
                </a:solidFill>
                <a:latin typeface="宋体"/>
                <a:ea typeface="宋体"/>
              </a:rPr>
              <a:t>模型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的本质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0000" spc="229" dirty="0">
                <a:solidFill>
                  <a:srgbClr val="424241"/>
                </a:solidFill>
                <a:latin typeface="宋体"/>
                <a:ea typeface="宋体"/>
              </a:rPr>
              <a:t>特点5：输出</a:t>
            </a:r>
            <a:r>
              <a:rPr lang="zh-CN" altLang="en-US" sz="10000" spc="275" dirty="0">
                <a:solidFill>
                  <a:srgbClr val="424241"/>
                </a:solidFill>
                <a:latin typeface="宋体"/>
                <a:ea typeface="宋体"/>
              </a:rPr>
              <a:t>⻓</a:t>
            </a:r>
            <a:r>
              <a:rPr lang="zh-CN" altLang="en-US" sz="10000" spc="194" dirty="0">
                <a:solidFill>
                  <a:srgbClr val="424241"/>
                </a:solidFill>
                <a:latin typeface="宋体"/>
                <a:ea typeface="宋体"/>
              </a:rPr>
              <a:t>度有限</a:t>
            </a:r>
            <a:r>
              <a:rPr lang="zh-CN" altLang="en-US" sz="10000" spc="189" dirty="0">
                <a:solidFill>
                  <a:srgbClr val="424241"/>
                </a:solidFill>
                <a:latin typeface="宋体"/>
                <a:ea typeface="宋体"/>
              </a:rPr>
              <a:t>（4k/8k）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36"/>
          <p:cNvSpPr txBox="1"/>
          <p:nvPr/>
        </p:nvSpPr>
        <p:spPr>
          <a:xfrm>
            <a:off x="1419630" y="825014"/>
            <a:ext cx="12992031" cy="1207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58085">
              <a:lnSpc>
                <a:spcPct val="100000"/>
              </a:lnSpc>
            </a:pPr>
            <a:r>
              <a:rPr lang="zh-CN" altLang="en-US" sz="8000" b="1" spc="85" dirty="0">
                <a:solidFill>
                  <a:srgbClr val="5268F4"/>
                </a:solidFill>
                <a:latin typeface="宋体"/>
                <a:ea typeface="宋体"/>
              </a:rPr>
              <a:t>有效的7</a:t>
            </a:r>
            <a:r>
              <a:rPr lang="zh-CN" altLang="en-US" sz="8000" b="1" spc="114" dirty="0">
                <a:solidFill>
                  <a:srgbClr val="5268F4"/>
                </a:solidFill>
                <a:latin typeface="宋体"/>
                <a:ea typeface="宋体"/>
              </a:rPr>
              <a:t>⼤</a:t>
            </a:r>
            <a:r>
              <a:rPr lang="zh-CN" altLang="en-US" sz="8000" b="1" spc="64" dirty="0">
                <a:solidFill>
                  <a:srgbClr val="5268F4"/>
                </a:solidFill>
                <a:latin typeface="宋体"/>
                <a:ea typeface="宋体"/>
              </a:rPr>
              <a:t>R1使</a:t>
            </a:r>
            <a:r>
              <a:rPr lang="zh-CN" altLang="en-US" sz="8000" b="1" spc="110" dirty="0">
                <a:solidFill>
                  <a:srgbClr val="5268F4"/>
                </a:solidFill>
                <a:latin typeface="宋体"/>
                <a:ea typeface="宋体"/>
              </a:rPr>
              <a:t>⽤</a:t>
            </a:r>
            <a:r>
              <a:rPr lang="zh-CN" altLang="en-US" sz="8000" b="1" spc="100" dirty="0">
                <a:solidFill>
                  <a:srgbClr val="5268F4"/>
                </a:solidFill>
                <a:latin typeface="宋体"/>
                <a:ea typeface="宋体"/>
              </a:rPr>
              <a:t>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-65" dirty="0">
                <a:solidFill>
                  <a:srgbClr val="52565E"/>
                </a:solidFill>
                <a:latin typeface="宋体"/>
                <a:ea typeface="宋体"/>
              </a:rPr>
              <a:t>技巧1：提出明确的</a:t>
            </a:r>
            <a:r>
              <a:rPr lang="zh-CN" altLang="en-US" sz="7000" spc="-60" dirty="0">
                <a:solidFill>
                  <a:srgbClr val="52565E"/>
                </a:solidFill>
                <a:latin typeface="宋体"/>
                <a:ea typeface="宋体"/>
              </a:rPr>
              <a:t>要求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60" dirty="0">
                <a:solidFill>
                  <a:srgbClr val="51565E"/>
                </a:solidFill>
                <a:latin typeface="宋体"/>
                <a:ea typeface="宋体"/>
              </a:rPr>
              <a:t>技巧2：要求特定的</a:t>
            </a:r>
            <a:r>
              <a:rPr lang="zh-CN" altLang="en-US" sz="7000" spc="80" dirty="0">
                <a:solidFill>
                  <a:srgbClr val="51565E"/>
                </a:solidFill>
                <a:latin typeface="宋体"/>
                <a:ea typeface="宋体"/>
              </a:rPr>
              <a:t>⻛</a:t>
            </a:r>
            <a:r>
              <a:rPr lang="zh-CN" altLang="en-US" sz="7000" spc="64" dirty="0">
                <a:solidFill>
                  <a:srgbClr val="51565E"/>
                </a:solidFill>
                <a:latin typeface="宋体"/>
                <a:ea typeface="宋体"/>
              </a:rPr>
              <a:t>格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139999"/>
              </a:lnSpc>
            </a:pPr>
            <a:r>
              <a:rPr lang="zh-CN" altLang="en-US" sz="7000" spc="45" dirty="0">
                <a:solidFill>
                  <a:srgbClr val="51565E"/>
                </a:solidFill>
                <a:latin typeface="宋体"/>
                <a:ea typeface="宋体"/>
              </a:rPr>
              <a:t>技巧3：提供充分的任</a:t>
            </a:r>
            <a:r>
              <a:rPr lang="zh-CN" altLang="en-US" sz="7000" spc="40" dirty="0">
                <a:solidFill>
                  <a:srgbClr val="51565E"/>
                </a:solidFill>
                <a:latin typeface="宋体"/>
                <a:ea typeface="宋体"/>
              </a:rPr>
              <a:t>务背景信息技巧4：主动标注</a:t>
            </a:r>
            <a:r>
              <a:rPr lang="zh-CN" altLang="en-US" sz="7000" spc="60" dirty="0">
                <a:solidFill>
                  <a:srgbClr val="51565E"/>
                </a:solidFill>
                <a:latin typeface="宋体"/>
                <a:ea typeface="宋体"/>
              </a:rPr>
              <a:t>⾃</a:t>
            </a:r>
            <a:r>
              <a:rPr lang="zh-CN" altLang="en-US" sz="7000" spc="44" dirty="0">
                <a:solidFill>
                  <a:srgbClr val="51565E"/>
                </a:solidFill>
                <a:latin typeface="宋体"/>
                <a:ea typeface="宋体"/>
              </a:rPr>
              <a:t>⼰</a:t>
            </a:r>
            <a:r>
              <a:rPr lang="zh-CN" altLang="en-US" sz="7000" spc="50" dirty="0">
                <a:solidFill>
                  <a:srgbClr val="51565E"/>
                </a:solidFill>
                <a:latin typeface="宋体"/>
                <a:ea typeface="宋体"/>
              </a:rPr>
              <a:t>的知识</a:t>
            </a:r>
            <a:r>
              <a:rPr lang="zh-CN" altLang="en-US" sz="7000" spc="40" dirty="0">
                <a:solidFill>
                  <a:srgbClr val="51565E"/>
                </a:solidFill>
                <a:latin typeface="宋体"/>
                <a:ea typeface="宋体"/>
              </a:rPr>
              <a:t>状态</a:t>
            </a:r>
            <a:r>
              <a:rPr lang="zh-CN" altLang="en-US" sz="7000" spc="50" dirty="0">
                <a:solidFill>
                  <a:srgbClr val="51565E"/>
                </a:solidFill>
                <a:latin typeface="宋体"/>
                <a:ea typeface="宋体"/>
              </a:rPr>
              <a:t>技巧5：定义</a:t>
            </a:r>
            <a:r>
              <a:rPr lang="zh-CN" altLang="en-US" sz="7000" spc="55" dirty="0">
                <a:solidFill>
                  <a:srgbClr val="51565E"/>
                </a:solidFill>
                <a:latin typeface="宋体"/>
                <a:ea typeface="宋体"/>
              </a:rPr>
              <a:t>⽬标，⽽⾮过程</a:t>
            </a:r>
          </a:p>
          <a:p>
            <a:pPr marL="0">
              <a:lnSpc>
                <a:spcPct val="100000"/>
              </a:lnSpc>
            </a:pPr>
            <a:r>
              <a:rPr lang="zh-CN" altLang="en-US" sz="7000" spc="-5" dirty="0">
                <a:solidFill>
                  <a:srgbClr val="51565E"/>
                </a:solidFill>
                <a:latin typeface="宋体"/>
                <a:ea typeface="宋体"/>
              </a:rPr>
              <a:t>技巧6：提供AI不具备</a:t>
            </a:r>
            <a:r>
              <a:rPr lang="zh-CN" altLang="en-US" sz="7000" dirty="0">
                <a:solidFill>
                  <a:srgbClr val="51565E"/>
                </a:solidFill>
                <a:latin typeface="宋体"/>
                <a:ea typeface="宋体"/>
              </a:rPr>
              <a:t>的知识背景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35" dirty="0">
                <a:solidFill>
                  <a:srgbClr val="51565E"/>
                </a:solidFill>
                <a:latin typeface="宋体"/>
                <a:ea typeface="宋体"/>
              </a:rPr>
              <a:t>技巧7：</a:t>
            </a:r>
            <a:r>
              <a:rPr lang="zh-CN" altLang="en-US" sz="7000" spc="30" dirty="0">
                <a:solidFill>
                  <a:srgbClr val="51565E"/>
                </a:solidFill>
                <a:latin typeface="宋体"/>
                <a:ea typeface="宋体"/>
              </a:rPr>
              <a:t>从开放到收敛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38"/>
          <p:cNvSpPr txBox="1"/>
          <p:nvPr/>
        </p:nvSpPr>
        <p:spPr>
          <a:xfrm>
            <a:off x="1419630" y="825014"/>
            <a:ext cx="12992031" cy="1207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58085">
              <a:lnSpc>
                <a:spcPct val="100000"/>
              </a:lnSpc>
            </a:pPr>
            <a:r>
              <a:rPr lang="zh-CN" altLang="en-US" sz="8000" b="1" spc="85" dirty="0">
                <a:solidFill>
                  <a:srgbClr val="5268F4"/>
                </a:solidFill>
                <a:latin typeface="宋体"/>
                <a:ea typeface="宋体"/>
              </a:rPr>
              <a:t>有效的7</a:t>
            </a:r>
            <a:r>
              <a:rPr lang="zh-CN" altLang="en-US" sz="8000" b="1" spc="114" dirty="0">
                <a:solidFill>
                  <a:srgbClr val="5268F4"/>
                </a:solidFill>
                <a:latin typeface="宋体"/>
                <a:ea typeface="宋体"/>
              </a:rPr>
              <a:t>⼤</a:t>
            </a:r>
            <a:r>
              <a:rPr lang="zh-CN" altLang="en-US" sz="8000" b="1" spc="64" dirty="0">
                <a:solidFill>
                  <a:srgbClr val="5268F4"/>
                </a:solidFill>
                <a:latin typeface="宋体"/>
                <a:ea typeface="宋体"/>
              </a:rPr>
              <a:t>R1使</a:t>
            </a:r>
            <a:r>
              <a:rPr lang="zh-CN" altLang="en-US" sz="8000" b="1" spc="110" dirty="0">
                <a:solidFill>
                  <a:srgbClr val="5268F4"/>
                </a:solidFill>
                <a:latin typeface="宋体"/>
                <a:ea typeface="宋体"/>
              </a:rPr>
              <a:t>⽤</a:t>
            </a:r>
            <a:r>
              <a:rPr lang="zh-CN" altLang="en-US" sz="8000" b="1" spc="100" dirty="0">
                <a:solidFill>
                  <a:srgbClr val="5268F4"/>
                </a:solidFill>
                <a:latin typeface="宋体"/>
                <a:ea typeface="宋体"/>
              </a:rPr>
              <a:t>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b="1" spc="-90" dirty="0">
                <a:solidFill>
                  <a:srgbClr val="5268F4"/>
                </a:solidFill>
                <a:latin typeface="宋体"/>
                <a:ea typeface="宋体"/>
              </a:rPr>
              <a:t>技巧1：提出</a:t>
            </a:r>
            <a:r>
              <a:rPr lang="zh-CN" altLang="en-US" sz="7000" b="1" spc="-80" dirty="0">
                <a:solidFill>
                  <a:srgbClr val="5268F4"/>
                </a:solidFill>
                <a:latin typeface="宋体"/>
                <a:ea typeface="宋体"/>
              </a:rPr>
              <a:t>明确的要求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技巧2：要求特定的</a:t>
            </a:r>
            <a:r>
              <a:rPr lang="zh-CN" altLang="en-US" sz="7000" spc="80" dirty="0">
                <a:solidFill>
                  <a:srgbClr val="D4D4D4"/>
                </a:solidFill>
                <a:latin typeface="宋体"/>
                <a:ea typeface="宋体"/>
              </a:rPr>
              <a:t>⻛</a:t>
            </a:r>
            <a:r>
              <a:rPr lang="zh-CN" altLang="en-US" sz="7000" spc="64" dirty="0">
                <a:solidFill>
                  <a:srgbClr val="D4D4D4"/>
                </a:solidFill>
                <a:latin typeface="宋体"/>
                <a:ea typeface="宋体"/>
              </a:rPr>
              <a:t>格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139999"/>
              </a:lnSpc>
            </a:pPr>
            <a:r>
              <a:rPr lang="zh-CN" altLang="en-US" sz="7000" spc="45" dirty="0">
                <a:solidFill>
                  <a:srgbClr val="D4D4D4"/>
                </a:solidFill>
                <a:latin typeface="宋体"/>
                <a:ea typeface="宋体"/>
              </a:rPr>
              <a:t>技巧3：提供充分的任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务背景信息技巧4：主动标注</a:t>
            </a: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⾃</a:t>
            </a:r>
            <a:r>
              <a:rPr lang="zh-CN" altLang="en-US" sz="7000" spc="44" dirty="0">
                <a:solidFill>
                  <a:srgbClr val="D4D4D4"/>
                </a:solidFill>
                <a:latin typeface="宋体"/>
                <a:ea typeface="宋体"/>
              </a:rPr>
              <a:t>⼰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的知识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状态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技巧5：定义</a:t>
            </a:r>
            <a:r>
              <a:rPr lang="zh-CN" altLang="en-US" sz="7000" spc="55" dirty="0">
                <a:solidFill>
                  <a:srgbClr val="D4D4D4"/>
                </a:solidFill>
                <a:latin typeface="宋体"/>
                <a:ea typeface="宋体"/>
              </a:rPr>
              <a:t>⽬标，⽽⾮过程</a:t>
            </a:r>
          </a:p>
          <a:p>
            <a:pPr marL="0">
              <a:lnSpc>
                <a:spcPct val="100000"/>
              </a:lnSpc>
            </a:pPr>
            <a:r>
              <a:rPr lang="zh-CN" altLang="en-US" sz="7000" spc="-5" dirty="0">
                <a:solidFill>
                  <a:srgbClr val="D4D4D4"/>
                </a:solidFill>
                <a:latin typeface="宋体"/>
                <a:ea typeface="宋体"/>
              </a:rPr>
              <a:t>技巧6：提供AI不具备</a:t>
            </a:r>
            <a:r>
              <a:rPr lang="zh-CN" altLang="en-US" sz="7000" dirty="0">
                <a:solidFill>
                  <a:srgbClr val="D4D4D4"/>
                </a:solidFill>
                <a:latin typeface="宋体"/>
                <a:ea typeface="宋体"/>
              </a:rPr>
              <a:t>的知识背景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35" dirty="0">
                <a:solidFill>
                  <a:srgbClr val="D4D4D4"/>
                </a:solidFill>
                <a:latin typeface="宋体"/>
                <a:ea typeface="宋体"/>
              </a:rPr>
              <a:t>技巧7：</a:t>
            </a:r>
            <a:r>
              <a:rPr lang="zh-CN" altLang="en-US" sz="7000" spc="30" dirty="0">
                <a:solidFill>
                  <a:srgbClr val="D4D4D4"/>
                </a:solidFill>
                <a:latin typeface="宋体"/>
                <a:ea typeface="宋体"/>
              </a:rPr>
              <a:t>从开放到收敛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720" y="3916679"/>
            <a:ext cx="17838419" cy="5890260"/>
          </a:xfrm>
          <a:prstGeom prst="rect">
            <a:avLst/>
          </a:prstGeom>
        </p:spPr>
      </p:pic>
      <p:sp>
        <p:nvSpPr>
          <p:cNvPr id="2" name="TextBox 41"/>
          <p:cNvSpPr txBox="1"/>
          <p:nvPr/>
        </p:nvSpPr>
        <p:spPr>
          <a:xfrm>
            <a:off x="3277715" y="825014"/>
            <a:ext cx="10703483" cy="121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8000" b="1" spc="-100" dirty="0">
                <a:solidFill>
                  <a:srgbClr val="5268F4"/>
                </a:solidFill>
                <a:latin typeface="宋体"/>
                <a:ea typeface="宋体"/>
              </a:rPr>
              <a:t>技巧1：提</a:t>
            </a:r>
            <a:r>
              <a:rPr lang="zh-CN" altLang="en-US" sz="8000" b="1" spc="-94" dirty="0">
                <a:solidFill>
                  <a:srgbClr val="5268F4"/>
                </a:solidFill>
                <a:latin typeface="宋体"/>
                <a:ea typeface="宋体"/>
              </a:rPr>
              <a:t>出明确的要求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43"/>
          <p:cNvSpPr txBox="1"/>
          <p:nvPr/>
        </p:nvSpPr>
        <p:spPr>
          <a:xfrm>
            <a:off x="1419630" y="825014"/>
            <a:ext cx="12992031" cy="1207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58085">
              <a:lnSpc>
                <a:spcPct val="100000"/>
              </a:lnSpc>
            </a:pPr>
            <a:r>
              <a:rPr lang="zh-CN" altLang="en-US" sz="8000" b="1" spc="85" dirty="0">
                <a:solidFill>
                  <a:srgbClr val="5268F4"/>
                </a:solidFill>
                <a:latin typeface="宋体"/>
                <a:ea typeface="宋体"/>
              </a:rPr>
              <a:t>有效的7</a:t>
            </a:r>
            <a:r>
              <a:rPr lang="zh-CN" altLang="en-US" sz="8000" b="1" spc="114" dirty="0">
                <a:solidFill>
                  <a:srgbClr val="5268F4"/>
                </a:solidFill>
                <a:latin typeface="宋体"/>
                <a:ea typeface="宋体"/>
              </a:rPr>
              <a:t>⼤</a:t>
            </a:r>
            <a:r>
              <a:rPr lang="zh-CN" altLang="en-US" sz="8000" b="1" spc="64" dirty="0">
                <a:solidFill>
                  <a:srgbClr val="5268F4"/>
                </a:solidFill>
                <a:latin typeface="宋体"/>
                <a:ea typeface="宋体"/>
              </a:rPr>
              <a:t>R1使</a:t>
            </a:r>
            <a:r>
              <a:rPr lang="zh-CN" altLang="en-US" sz="8000" b="1" spc="110" dirty="0">
                <a:solidFill>
                  <a:srgbClr val="5268F4"/>
                </a:solidFill>
                <a:latin typeface="宋体"/>
                <a:ea typeface="宋体"/>
              </a:rPr>
              <a:t>⽤</a:t>
            </a:r>
            <a:r>
              <a:rPr lang="zh-CN" altLang="en-US" sz="8000" b="1" spc="100" dirty="0">
                <a:solidFill>
                  <a:srgbClr val="5268F4"/>
                </a:solidFill>
                <a:latin typeface="宋体"/>
                <a:ea typeface="宋体"/>
              </a:rPr>
              <a:t>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-65" dirty="0">
                <a:solidFill>
                  <a:srgbClr val="D4D4D4"/>
                </a:solidFill>
                <a:latin typeface="宋体"/>
                <a:ea typeface="宋体"/>
              </a:rPr>
              <a:t>技巧1：提出明确的</a:t>
            </a:r>
            <a:r>
              <a:rPr lang="zh-CN" altLang="en-US" sz="7000" spc="-60" dirty="0">
                <a:solidFill>
                  <a:srgbClr val="D4D4D4"/>
                </a:solidFill>
                <a:latin typeface="宋体"/>
                <a:ea typeface="宋体"/>
              </a:rPr>
              <a:t>要求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b="1" spc="34" dirty="0">
                <a:solidFill>
                  <a:srgbClr val="5268F4"/>
                </a:solidFill>
                <a:latin typeface="宋体"/>
                <a:ea typeface="宋体"/>
              </a:rPr>
              <a:t>技巧2：要求特定的</a:t>
            </a:r>
            <a:r>
              <a:rPr lang="zh-CN" altLang="en-US" sz="7000" b="1" spc="40" dirty="0">
                <a:solidFill>
                  <a:srgbClr val="5268F4"/>
                </a:solidFill>
                <a:latin typeface="宋体"/>
                <a:ea typeface="宋体"/>
              </a:rPr>
              <a:t>⻛格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139999"/>
              </a:lnSpc>
            </a:pPr>
            <a:r>
              <a:rPr lang="zh-CN" altLang="en-US" sz="7000" spc="45" dirty="0">
                <a:solidFill>
                  <a:srgbClr val="D4D4D4"/>
                </a:solidFill>
                <a:latin typeface="宋体"/>
                <a:ea typeface="宋体"/>
              </a:rPr>
              <a:t>技巧3：提供充分的任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务背景信息技巧4：主动标注</a:t>
            </a: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⾃</a:t>
            </a:r>
            <a:r>
              <a:rPr lang="zh-CN" altLang="en-US" sz="7000" spc="44" dirty="0">
                <a:solidFill>
                  <a:srgbClr val="D4D4D4"/>
                </a:solidFill>
                <a:latin typeface="宋体"/>
                <a:ea typeface="宋体"/>
              </a:rPr>
              <a:t>⼰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的知识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状态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技巧5：定义</a:t>
            </a:r>
            <a:r>
              <a:rPr lang="zh-CN" altLang="en-US" sz="7000" spc="55" dirty="0">
                <a:solidFill>
                  <a:srgbClr val="D4D4D4"/>
                </a:solidFill>
                <a:latin typeface="宋体"/>
                <a:ea typeface="宋体"/>
              </a:rPr>
              <a:t>⽬标，⽽⾮过程</a:t>
            </a:r>
          </a:p>
          <a:p>
            <a:pPr marL="0">
              <a:lnSpc>
                <a:spcPct val="100000"/>
              </a:lnSpc>
            </a:pPr>
            <a:r>
              <a:rPr lang="zh-CN" altLang="en-US" sz="7000" spc="-5" dirty="0">
                <a:solidFill>
                  <a:srgbClr val="D4D4D4"/>
                </a:solidFill>
                <a:latin typeface="宋体"/>
                <a:ea typeface="宋体"/>
              </a:rPr>
              <a:t>技巧6：提供AI不具备</a:t>
            </a:r>
            <a:r>
              <a:rPr lang="zh-CN" altLang="en-US" sz="7000" dirty="0">
                <a:solidFill>
                  <a:srgbClr val="D4D4D4"/>
                </a:solidFill>
                <a:latin typeface="宋体"/>
                <a:ea typeface="宋体"/>
              </a:rPr>
              <a:t>的知识背景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35" dirty="0">
                <a:solidFill>
                  <a:srgbClr val="D4D4D4"/>
                </a:solidFill>
                <a:latin typeface="宋体"/>
                <a:ea typeface="宋体"/>
              </a:rPr>
              <a:t>技巧7：</a:t>
            </a:r>
            <a:r>
              <a:rPr lang="zh-CN" altLang="en-US" sz="7000" spc="30" dirty="0">
                <a:solidFill>
                  <a:srgbClr val="D4D4D4"/>
                </a:solidFill>
                <a:latin typeface="宋体"/>
                <a:ea typeface="宋体"/>
              </a:rPr>
              <a:t>从开放到收敛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45"/>
          <p:cNvSpPr txBox="1"/>
          <p:nvPr/>
        </p:nvSpPr>
        <p:spPr>
          <a:xfrm>
            <a:off x="1419630" y="825014"/>
            <a:ext cx="12992031" cy="1207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58085">
              <a:lnSpc>
                <a:spcPct val="100000"/>
              </a:lnSpc>
            </a:pPr>
            <a:r>
              <a:rPr lang="zh-CN" altLang="en-US" sz="8000" b="1" spc="85" dirty="0">
                <a:solidFill>
                  <a:srgbClr val="5268F4"/>
                </a:solidFill>
                <a:latin typeface="宋体"/>
                <a:ea typeface="宋体"/>
              </a:rPr>
              <a:t>有效的7</a:t>
            </a:r>
            <a:r>
              <a:rPr lang="zh-CN" altLang="en-US" sz="8000" b="1" spc="114" dirty="0">
                <a:solidFill>
                  <a:srgbClr val="5268F4"/>
                </a:solidFill>
                <a:latin typeface="宋体"/>
                <a:ea typeface="宋体"/>
              </a:rPr>
              <a:t>⼤</a:t>
            </a:r>
            <a:r>
              <a:rPr lang="zh-CN" altLang="en-US" sz="8000" b="1" spc="64" dirty="0">
                <a:solidFill>
                  <a:srgbClr val="5268F4"/>
                </a:solidFill>
                <a:latin typeface="宋体"/>
                <a:ea typeface="宋体"/>
              </a:rPr>
              <a:t>R1使</a:t>
            </a:r>
            <a:r>
              <a:rPr lang="zh-CN" altLang="en-US" sz="8000" b="1" spc="110" dirty="0">
                <a:solidFill>
                  <a:srgbClr val="5268F4"/>
                </a:solidFill>
                <a:latin typeface="宋体"/>
                <a:ea typeface="宋体"/>
              </a:rPr>
              <a:t>⽤</a:t>
            </a:r>
            <a:r>
              <a:rPr lang="zh-CN" altLang="en-US" sz="8000" b="1" spc="100" dirty="0">
                <a:solidFill>
                  <a:srgbClr val="5268F4"/>
                </a:solidFill>
                <a:latin typeface="宋体"/>
                <a:ea typeface="宋体"/>
              </a:rPr>
              <a:t>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-65" dirty="0">
                <a:solidFill>
                  <a:srgbClr val="D4D4D4"/>
                </a:solidFill>
                <a:latin typeface="宋体"/>
                <a:ea typeface="宋体"/>
              </a:rPr>
              <a:t>技巧1：提出明确的</a:t>
            </a:r>
            <a:r>
              <a:rPr lang="zh-CN" altLang="en-US" sz="7000" spc="-60" dirty="0">
                <a:solidFill>
                  <a:srgbClr val="D4D4D4"/>
                </a:solidFill>
                <a:latin typeface="宋体"/>
                <a:ea typeface="宋体"/>
              </a:rPr>
              <a:t>要求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技巧2：要求特定的</a:t>
            </a:r>
            <a:r>
              <a:rPr lang="zh-CN" altLang="en-US" sz="7000" spc="80" dirty="0">
                <a:solidFill>
                  <a:srgbClr val="D4D4D4"/>
                </a:solidFill>
                <a:latin typeface="宋体"/>
                <a:ea typeface="宋体"/>
              </a:rPr>
              <a:t>⻛</a:t>
            </a:r>
            <a:r>
              <a:rPr lang="zh-CN" altLang="en-US" sz="7000" spc="64" dirty="0">
                <a:solidFill>
                  <a:srgbClr val="D4D4D4"/>
                </a:solidFill>
                <a:latin typeface="宋体"/>
                <a:ea typeface="宋体"/>
              </a:rPr>
              <a:t>格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139999"/>
              </a:lnSpc>
            </a:pPr>
            <a:r>
              <a:rPr lang="zh-CN" altLang="en-US" sz="7000" b="1" spc="20" dirty="0">
                <a:solidFill>
                  <a:srgbClr val="5268F4"/>
                </a:solidFill>
                <a:latin typeface="宋体"/>
                <a:ea typeface="宋体"/>
              </a:rPr>
              <a:t>技巧3：</a:t>
            </a:r>
            <a:r>
              <a:rPr lang="zh-CN" altLang="en-US" sz="7000" b="1" spc="15" dirty="0">
                <a:solidFill>
                  <a:srgbClr val="5268F4"/>
                </a:solidFill>
                <a:latin typeface="宋体"/>
                <a:ea typeface="宋体"/>
              </a:rPr>
              <a:t>提供充分的任务背景信息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技巧4：主动标注</a:t>
            </a: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⾃</a:t>
            </a:r>
            <a:r>
              <a:rPr lang="zh-CN" altLang="en-US" sz="7000" spc="44" dirty="0">
                <a:solidFill>
                  <a:srgbClr val="D4D4D4"/>
                </a:solidFill>
                <a:latin typeface="宋体"/>
                <a:ea typeface="宋体"/>
              </a:rPr>
              <a:t>⼰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的知识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状态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技巧5：定义</a:t>
            </a:r>
            <a:r>
              <a:rPr lang="zh-CN" altLang="en-US" sz="7000" spc="55" dirty="0">
                <a:solidFill>
                  <a:srgbClr val="D4D4D4"/>
                </a:solidFill>
                <a:latin typeface="宋体"/>
                <a:ea typeface="宋体"/>
              </a:rPr>
              <a:t>⽬标，⽽⾮过程</a:t>
            </a:r>
          </a:p>
          <a:p>
            <a:pPr marL="0">
              <a:lnSpc>
                <a:spcPct val="100000"/>
              </a:lnSpc>
            </a:pPr>
            <a:r>
              <a:rPr lang="zh-CN" altLang="en-US" sz="7000" spc="-5" dirty="0">
                <a:solidFill>
                  <a:srgbClr val="D4D4D4"/>
                </a:solidFill>
                <a:latin typeface="宋体"/>
                <a:ea typeface="宋体"/>
              </a:rPr>
              <a:t>技巧6：提供AI不具备</a:t>
            </a:r>
            <a:r>
              <a:rPr lang="zh-CN" altLang="en-US" sz="7000" dirty="0">
                <a:solidFill>
                  <a:srgbClr val="D4D4D4"/>
                </a:solidFill>
                <a:latin typeface="宋体"/>
                <a:ea typeface="宋体"/>
              </a:rPr>
              <a:t>的知识背景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35" dirty="0">
                <a:solidFill>
                  <a:srgbClr val="D4D4D4"/>
                </a:solidFill>
                <a:latin typeface="宋体"/>
                <a:ea typeface="宋体"/>
              </a:rPr>
              <a:t>技巧7：</a:t>
            </a:r>
            <a:r>
              <a:rPr lang="zh-CN" altLang="en-US" sz="7000" spc="30" dirty="0">
                <a:solidFill>
                  <a:srgbClr val="D4D4D4"/>
                </a:solidFill>
                <a:latin typeface="宋体"/>
                <a:ea typeface="宋体"/>
              </a:rPr>
              <a:t>从开放到收敛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20" y="4465320"/>
            <a:ext cx="18120360" cy="5623560"/>
          </a:xfrm>
          <a:prstGeom prst="rect">
            <a:avLst/>
          </a:prstGeom>
        </p:spPr>
      </p:pic>
      <p:sp>
        <p:nvSpPr>
          <p:cNvPr id="2" name="TextBox 48"/>
          <p:cNvSpPr txBox="1"/>
          <p:nvPr/>
        </p:nvSpPr>
        <p:spPr>
          <a:xfrm>
            <a:off x="3277715" y="825014"/>
            <a:ext cx="14960522" cy="121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8000" b="1" spc="25" dirty="0">
                <a:solidFill>
                  <a:srgbClr val="5268F4"/>
                </a:solidFill>
                <a:latin typeface="宋体"/>
                <a:ea typeface="宋体"/>
              </a:rPr>
              <a:t>技巧3：提供</a:t>
            </a:r>
            <a:r>
              <a:rPr lang="zh-CN" altLang="en-US" sz="8000" b="1" spc="20" dirty="0">
                <a:solidFill>
                  <a:srgbClr val="5268F4"/>
                </a:solidFill>
                <a:latin typeface="宋体"/>
                <a:ea typeface="宋体"/>
              </a:rPr>
              <a:t>充分的任务背景信息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50"/>
          <p:cNvSpPr txBox="1"/>
          <p:nvPr/>
        </p:nvSpPr>
        <p:spPr>
          <a:xfrm>
            <a:off x="1419630" y="825014"/>
            <a:ext cx="12992031" cy="1207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58085">
              <a:lnSpc>
                <a:spcPct val="100000"/>
              </a:lnSpc>
            </a:pPr>
            <a:r>
              <a:rPr lang="zh-CN" altLang="en-US" sz="8000" b="1" spc="85" dirty="0">
                <a:solidFill>
                  <a:srgbClr val="5268F4"/>
                </a:solidFill>
                <a:latin typeface="宋体"/>
                <a:ea typeface="宋体"/>
              </a:rPr>
              <a:t>有效的7</a:t>
            </a:r>
            <a:r>
              <a:rPr lang="zh-CN" altLang="en-US" sz="8000" b="1" spc="114" dirty="0">
                <a:solidFill>
                  <a:srgbClr val="5268F4"/>
                </a:solidFill>
                <a:latin typeface="宋体"/>
                <a:ea typeface="宋体"/>
              </a:rPr>
              <a:t>⼤</a:t>
            </a:r>
            <a:r>
              <a:rPr lang="zh-CN" altLang="en-US" sz="8000" b="1" spc="64" dirty="0">
                <a:solidFill>
                  <a:srgbClr val="5268F4"/>
                </a:solidFill>
                <a:latin typeface="宋体"/>
                <a:ea typeface="宋体"/>
              </a:rPr>
              <a:t>R1使</a:t>
            </a:r>
            <a:r>
              <a:rPr lang="zh-CN" altLang="en-US" sz="8000" b="1" spc="110" dirty="0">
                <a:solidFill>
                  <a:srgbClr val="5268F4"/>
                </a:solidFill>
                <a:latin typeface="宋体"/>
                <a:ea typeface="宋体"/>
              </a:rPr>
              <a:t>⽤</a:t>
            </a:r>
            <a:r>
              <a:rPr lang="zh-CN" altLang="en-US" sz="8000" b="1" spc="100" dirty="0">
                <a:solidFill>
                  <a:srgbClr val="5268F4"/>
                </a:solidFill>
                <a:latin typeface="宋体"/>
                <a:ea typeface="宋体"/>
              </a:rPr>
              <a:t>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-65" dirty="0">
                <a:solidFill>
                  <a:srgbClr val="D4D4D4"/>
                </a:solidFill>
                <a:latin typeface="宋体"/>
                <a:ea typeface="宋体"/>
              </a:rPr>
              <a:t>技巧1：提出明确的</a:t>
            </a:r>
            <a:r>
              <a:rPr lang="zh-CN" altLang="en-US" sz="7000" spc="-60" dirty="0">
                <a:solidFill>
                  <a:srgbClr val="D4D4D4"/>
                </a:solidFill>
                <a:latin typeface="宋体"/>
                <a:ea typeface="宋体"/>
              </a:rPr>
              <a:t>要求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技巧2：要求特定的</a:t>
            </a:r>
            <a:r>
              <a:rPr lang="zh-CN" altLang="en-US" sz="7000" spc="80" dirty="0">
                <a:solidFill>
                  <a:srgbClr val="D4D4D4"/>
                </a:solidFill>
                <a:latin typeface="宋体"/>
                <a:ea typeface="宋体"/>
              </a:rPr>
              <a:t>⻛</a:t>
            </a:r>
            <a:r>
              <a:rPr lang="zh-CN" altLang="en-US" sz="7000" spc="64" dirty="0">
                <a:solidFill>
                  <a:srgbClr val="D4D4D4"/>
                </a:solidFill>
                <a:latin typeface="宋体"/>
                <a:ea typeface="宋体"/>
              </a:rPr>
              <a:t>格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139999"/>
              </a:lnSpc>
            </a:pPr>
            <a:r>
              <a:rPr lang="zh-CN" altLang="en-US" sz="7000" spc="45" dirty="0">
                <a:solidFill>
                  <a:srgbClr val="D4D4D4"/>
                </a:solidFill>
                <a:latin typeface="宋体"/>
                <a:ea typeface="宋体"/>
              </a:rPr>
              <a:t>技巧3：提供充分的任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务背景信息</a:t>
            </a:r>
            <a:r>
              <a:rPr lang="zh-CN" altLang="en-US" sz="7000" b="1" spc="15" dirty="0">
                <a:solidFill>
                  <a:srgbClr val="5268F4"/>
                </a:solidFill>
                <a:latin typeface="宋体"/>
                <a:ea typeface="宋体"/>
              </a:rPr>
              <a:t>技巧4：主动标注</a:t>
            </a:r>
            <a:r>
              <a:rPr lang="zh-CN" altLang="en-US" sz="7000" b="1" spc="20" dirty="0">
                <a:solidFill>
                  <a:srgbClr val="5268F4"/>
                </a:solidFill>
                <a:latin typeface="宋体"/>
                <a:ea typeface="宋体"/>
              </a:rPr>
              <a:t>⾃</a:t>
            </a:r>
            <a:r>
              <a:rPr lang="zh-CN" altLang="en-US" sz="7000" b="1" spc="15" dirty="0">
                <a:solidFill>
                  <a:srgbClr val="5268F4"/>
                </a:solidFill>
                <a:latin typeface="宋体"/>
                <a:ea typeface="宋体"/>
              </a:rPr>
              <a:t>⼰</a:t>
            </a:r>
            <a:r>
              <a:rPr lang="zh-CN" altLang="en-US" sz="7000" b="1" spc="20" dirty="0">
                <a:solidFill>
                  <a:srgbClr val="5268F4"/>
                </a:solidFill>
                <a:latin typeface="宋体"/>
                <a:ea typeface="宋体"/>
              </a:rPr>
              <a:t>的知识</a:t>
            </a:r>
            <a:r>
              <a:rPr lang="zh-CN" altLang="en-US" sz="7000" b="1" spc="15" dirty="0">
                <a:solidFill>
                  <a:srgbClr val="5268F4"/>
                </a:solidFill>
                <a:latin typeface="宋体"/>
                <a:ea typeface="宋体"/>
              </a:rPr>
              <a:t>状态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技巧5：定义</a:t>
            </a:r>
            <a:r>
              <a:rPr lang="zh-CN" altLang="en-US" sz="7000" spc="55" dirty="0">
                <a:solidFill>
                  <a:srgbClr val="D4D4D4"/>
                </a:solidFill>
                <a:latin typeface="宋体"/>
                <a:ea typeface="宋体"/>
              </a:rPr>
              <a:t>⽬标，⽽⾮过程</a:t>
            </a:r>
          </a:p>
          <a:p>
            <a:pPr marL="0">
              <a:lnSpc>
                <a:spcPct val="100000"/>
              </a:lnSpc>
            </a:pPr>
            <a:r>
              <a:rPr lang="zh-CN" altLang="en-US" sz="7000" spc="-5" dirty="0">
                <a:solidFill>
                  <a:srgbClr val="D4D4D4"/>
                </a:solidFill>
                <a:latin typeface="宋体"/>
                <a:ea typeface="宋体"/>
              </a:rPr>
              <a:t>技巧6：提供AI不具备</a:t>
            </a:r>
            <a:r>
              <a:rPr lang="zh-CN" altLang="en-US" sz="7000" dirty="0">
                <a:solidFill>
                  <a:srgbClr val="D4D4D4"/>
                </a:solidFill>
                <a:latin typeface="宋体"/>
                <a:ea typeface="宋体"/>
              </a:rPr>
              <a:t>的知识背景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35" dirty="0">
                <a:solidFill>
                  <a:srgbClr val="D4D4D4"/>
                </a:solidFill>
                <a:latin typeface="宋体"/>
                <a:ea typeface="宋体"/>
              </a:rPr>
              <a:t>技巧7：</a:t>
            </a:r>
            <a:r>
              <a:rPr lang="zh-CN" altLang="en-US" sz="7000" spc="30" dirty="0">
                <a:solidFill>
                  <a:srgbClr val="D4D4D4"/>
                </a:solidFill>
                <a:latin typeface="宋体"/>
                <a:ea typeface="宋体"/>
              </a:rPr>
              <a:t>从开放到收敛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4061460"/>
            <a:ext cx="18135600" cy="8183880"/>
          </a:xfrm>
          <a:prstGeom prst="rect">
            <a:avLst/>
          </a:prstGeom>
        </p:spPr>
      </p:pic>
      <p:sp>
        <p:nvSpPr>
          <p:cNvPr id="2" name="TextBox 53"/>
          <p:cNvSpPr txBox="1"/>
          <p:nvPr/>
        </p:nvSpPr>
        <p:spPr>
          <a:xfrm>
            <a:off x="3277715" y="825014"/>
            <a:ext cx="14960522" cy="121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8000" b="1" spc="20" dirty="0">
                <a:solidFill>
                  <a:srgbClr val="5268F4"/>
                </a:solidFill>
                <a:latin typeface="宋体"/>
                <a:ea typeface="宋体"/>
              </a:rPr>
              <a:t>技巧4：主动标注</a:t>
            </a:r>
            <a:r>
              <a:rPr lang="zh-CN" altLang="en-US" sz="8000" b="1" spc="30" dirty="0">
                <a:solidFill>
                  <a:srgbClr val="5268F4"/>
                </a:solidFill>
                <a:latin typeface="宋体"/>
                <a:ea typeface="宋体"/>
              </a:rPr>
              <a:t>⾃</a:t>
            </a:r>
            <a:r>
              <a:rPr lang="zh-CN" altLang="en-US" sz="8000" b="1" spc="20" dirty="0">
                <a:solidFill>
                  <a:srgbClr val="5268F4"/>
                </a:solidFill>
                <a:latin typeface="宋体"/>
                <a:ea typeface="宋体"/>
              </a:rPr>
              <a:t>⼰</a:t>
            </a:r>
            <a:r>
              <a:rPr lang="zh-CN" altLang="en-US" sz="8000" b="1" spc="30" dirty="0">
                <a:solidFill>
                  <a:srgbClr val="5268F4"/>
                </a:solidFill>
                <a:latin typeface="宋体"/>
                <a:ea typeface="宋体"/>
              </a:rPr>
              <a:t>的知</a:t>
            </a:r>
            <a:r>
              <a:rPr lang="zh-CN" altLang="en-US" sz="8000" b="1" spc="20" dirty="0">
                <a:solidFill>
                  <a:srgbClr val="5268F4"/>
                </a:solidFill>
                <a:latin typeface="宋体"/>
                <a:ea typeface="宋体"/>
              </a:rPr>
              <a:t>识状态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55"/>
          <p:cNvSpPr txBox="1"/>
          <p:nvPr/>
        </p:nvSpPr>
        <p:spPr>
          <a:xfrm>
            <a:off x="1419630" y="825014"/>
            <a:ext cx="12992031" cy="1207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58085">
              <a:lnSpc>
                <a:spcPct val="100000"/>
              </a:lnSpc>
            </a:pPr>
            <a:r>
              <a:rPr lang="zh-CN" altLang="en-US" sz="8000" b="1" spc="85" dirty="0">
                <a:solidFill>
                  <a:srgbClr val="5268F4"/>
                </a:solidFill>
                <a:latin typeface="宋体"/>
                <a:ea typeface="宋体"/>
              </a:rPr>
              <a:t>有效的7</a:t>
            </a:r>
            <a:r>
              <a:rPr lang="zh-CN" altLang="en-US" sz="8000" b="1" spc="114" dirty="0">
                <a:solidFill>
                  <a:srgbClr val="5268F4"/>
                </a:solidFill>
                <a:latin typeface="宋体"/>
                <a:ea typeface="宋体"/>
              </a:rPr>
              <a:t>⼤</a:t>
            </a:r>
            <a:r>
              <a:rPr lang="zh-CN" altLang="en-US" sz="8000" b="1" spc="64" dirty="0">
                <a:solidFill>
                  <a:srgbClr val="5268F4"/>
                </a:solidFill>
                <a:latin typeface="宋体"/>
                <a:ea typeface="宋体"/>
              </a:rPr>
              <a:t>R1使</a:t>
            </a:r>
            <a:r>
              <a:rPr lang="zh-CN" altLang="en-US" sz="8000" b="1" spc="110" dirty="0">
                <a:solidFill>
                  <a:srgbClr val="5268F4"/>
                </a:solidFill>
                <a:latin typeface="宋体"/>
                <a:ea typeface="宋体"/>
              </a:rPr>
              <a:t>⽤</a:t>
            </a:r>
            <a:r>
              <a:rPr lang="zh-CN" altLang="en-US" sz="8000" b="1" spc="100" dirty="0">
                <a:solidFill>
                  <a:srgbClr val="5268F4"/>
                </a:solidFill>
                <a:latin typeface="宋体"/>
                <a:ea typeface="宋体"/>
              </a:rPr>
              <a:t>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-65" dirty="0">
                <a:solidFill>
                  <a:srgbClr val="D4D4D4"/>
                </a:solidFill>
                <a:latin typeface="宋体"/>
                <a:ea typeface="宋体"/>
              </a:rPr>
              <a:t>技巧1：提出明确的</a:t>
            </a:r>
            <a:r>
              <a:rPr lang="zh-CN" altLang="en-US" sz="7000" spc="-60" dirty="0">
                <a:solidFill>
                  <a:srgbClr val="D4D4D4"/>
                </a:solidFill>
                <a:latin typeface="宋体"/>
                <a:ea typeface="宋体"/>
              </a:rPr>
              <a:t>要求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技巧2：要求特定的</a:t>
            </a:r>
            <a:r>
              <a:rPr lang="zh-CN" altLang="en-US" sz="7000" spc="80" dirty="0">
                <a:solidFill>
                  <a:srgbClr val="D4D4D4"/>
                </a:solidFill>
                <a:latin typeface="宋体"/>
                <a:ea typeface="宋体"/>
              </a:rPr>
              <a:t>⻛</a:t>
            </a:r>
            <a:r>
              <a:rPr lang="zh-CN" altLang="en-US" sz="7000" spc="64" dirty="0">
                <a:solidFill>
                  <a:srgbClr val="D4D4D4"/>
                </a:solidFill>
                <a:latin typeface="宋体"/>
                <a:ea typeface="宋体"/>
              </a:rPr>
              <a:t>格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139999"/>
              </a:lnSpc>
            </a:pPr>
            <a:r>
              <a:rPr lang="zh-CN" altLang="en-US" sz="7000" spc="45" dirty="0">
                <a:solidFill>
                  <a:srgbClr val="D4D4D4"/>
                </a:solidFill>
                <a:latin typeface="宋体"/>
                <a:ea typeface="宋体"/>
              </a:rPr>
              <a:t>技巧3：提供充分的任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务背景信息技巧4：主动标注</a:t>
            </a: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⾃</a:t>
            </a:r>
            <a:r>
              <a:rPr lang="zh-CN" altLang="en-US" sz="7000" spc="44" dirty="0">
                <a:solidFill>
                  <a:srgbClr val="D4D4D4"/>
                </a:solidFill>
                <a:latin typeface="宋体"/>
                <a:ea typeface="宋体"/>
              </a:rPr>
              <a:t>⼰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的知识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状态</a:t>
            </a:r>
            <a:r>
              <a:rPr lang="zh-CN" altLang="en-US" sz="7000" b="1" spc="20" dirty="0">
                <a:solidFill>
                  <a:srgbClr val="5268F4"/>
                </a:solidFill>
                <a:latin typeface="宋体"/>
                <a:ea typeface="宋体"/>
              </a:rPr>
              <a:t>技巧5：定义</a:t>
            </a:r>
            <a:r>
              <a:rPr lang="zh-CN" altLang="en-US" sz="7000" b="1" spc="55" dirty="0">
                <a:solidFill>
                  <a:srgbClr val="5268F4"/>
                </a:solidFill>
                <a:latin typeface="宋体"/>
                <a:ea typeface="宋体"/>
              </a:rPr>
              <a:t>⽬</a:t>
            </a:r>
            <a:r>
              <a:rPr lang="zh-CN" altLang="en-US" sz="7000" b="1" spc="25" dirty="0">
                <a:solidFill>
                  <a:srgbClr val="5268F4"/>
                </a:solidFill>
                <a:latin typeface="宋体"/>
                <a:ea typeface="宋体"/>
              </a:rPr>
              <a:t>标，</a:t>
            </a:r>
            <a:r>
              <a:rPr lang="zh-CN" altLang="en-US" sz="7000" b="1" spc="30" dirty="0">
                <a:solidFill>
                  <a:srgbClr val="5268F4"/>
                </a:solidFill>
                <a:latin typeface="宋体"/>
                <a:ea typeface="宋体"/>
              </a:rPr>
              <a:t>⽽⾮</a:t>
            </a:r>
            <a:r>
              <a:rPr lang="zh-CN" altLang="en-US" sz="7000" b="1" spc="25" dirty="0">
                <a:solidFill>
                  <a:srgbClr val="5268F4"/>
                </a:solidFill>
                <a:latin typeface="宋体"/>
                <a:ea typeface="宋体"/>
              </a:rPr>
              <a:t>过程</a:t>
            </a:r>
          </a:p>
          <a:p>
            <a:pPr marL="0">
              <a:lnSpc>
                <a:spcPct val="100000"/>
              </a:lnSpc>
            </a:pPr>
            <a:r>
              <a:rPr lang="zh-CN" altLang="en-US" sz="7000" spc="-5" dirty="0">
                <a:solidFill>
                  <a:srgbClr val="D4D4D4"/>
                </a:solidFill>
                <a:latin typeface="宋体"/>
                <a:ea typeface="宋体"/>
              </a:rPr>
              <a:t>技巧6：提供AI不具备</a:t>
            </a:r>
            <a:r>
              <a:rPr lang="zh-CN" altLang="en-US" sz="7000" dirty="0">
                <a:solidFill>
                  <a:srgbClr val="D4D4D4"/>
                </a:solidFill>
                <a:latin typeface="宋体"/>
                <a:ea typeface="宋体"/>
              </a:rPr>
              <a:t>的知识背景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35" dirty="0">
                <a:solidFill>
                  <a:srgbClr val="D4D4D4"/>
                </a:solidFill>
                <a:latin typeface="宋体"/>
                <a:ea typeface="宋体"/>
              </a:rPr>
              <a:t>技巧7：</a:t>
            </a:r>
            <a:r>
              <a:rPr lang="zh-CN" altLang="en-US" sz="7000" spc="30" dirty="0">
                <a:solidFill>
                  <a:srgbClr val="D4D4D4"/>
                </a:solidFill>
                <a:latin typeface="宋体"/>
                <a:ea typeface="宋体"/>
              </a:rPr>
              <a:t>从开放到收敛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380" y="4541520"/>
            <a:ext cx="19834860" cy="6195060"/>
          </a:xfrm>
          <a:prstGeom prst="rect">
            <a:avLst/>
          </a:prstGeom>
        </p:spPr>
      </p:pic>
      <p:sp>
        <p:nvSpPr>
          <p:cNvPr id="2" name="TextBox 58"/>
          <p:cNvSpPr txBox="1"/>
          <p:nvPr/>
        </p:nvSpPr>
        <p:spPr>
          <a:xfrm>
            <a:off x="3277715" y="825014"/>
            <a:ext cx="12928522" cy="121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8000" b="1" spc="25" dirty="0">
                <a:solidFill>
                  <a:srgbClr val="5268F4"/>
                </a:solidFill>
                <a:latin typeface="宋体"/>
                <a:ea typeface="宋体"/>
              </a:rPr>
              <a:t>技巧5：定义</a:t>
            </a:r>
            <a:r>
              <a:rPr lang="zh-CN" altLang="en-US" sz="8000" b="1" spc="50" dirty="0">
                <a:solidFill>
                  <a:srgbClr val="5268F4"/>
                </a:solidFill>
                <a:latin typeface="宋体"/>
                <a:ea typeface="宋体"/>
              </a:rPr>
              <a:t>⽬</a:t>
            </a:r>
            <a:r>
              <a:rPr lang="zh-CN" altLang="en-US" sz="8000" b="1" spc="30" dirty="0">
                <a:solidFill>
                  <a:srgbClr val="5268F4"/>
                </a:solidFill>
                <a:latin typeface="宋体"/>
                <a:ea typeface="宋体"/>
              </a:rPr>
              <a:t>标，</a:t>
            </a:r>
            <a:r>
              <a:rPr lang="zh-CN" altLang="en-US" sz="8000" b="1" spc="34" dirty="0">
                <a:solidFill>
                  <a:srgbClr val="5268F4"/>
                </a:solidFill>
                <a:latin typeface="宋体"/>
                <a:ea typeface="宋体"/>
              </a:rPr>
              <a:t>⽽</a:t>
            </a:r>
            <a:r>
              <a:rPr lang="zh-CN" altLang="en-US" sz="8000" b="1" spc="30" dirty="0">
                <a:solidFill>
                  <a:srgbClr val="5268F4"/>
                </a:solidFill>
                <a:latin typeface="宋体"/>
                <a:ea typeface="宋体"/>
              </a:rPr>
              <a:t>⾮过程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60"/>
          <p:cNvSpPr txBox="1"/>
          <p:nvPr/>
        </p:nvSpPr>
        <p:spPr>
          <a:xfrm>
            <a:off x="1419630" y="825014"/>
            <a:ext cx="12992031" cy="1207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58085">
              <a:lnSpc>
                <a:spcPct val="100000"/>
              </a:lnSpc>
            </a:pPr>
            <a:r>
              <a:rPr lang="zh-CN" altLang="en-US" sz="8000" b="1" spc="85" dirty="0">
                <a:solidFill>
                  <a:srgbClr val="5268F4"/>
                </a:solidFill>
                <a:latin typeface="宋体"/>
                <a:ea typeface="宋体"/>
              </a:rPr>
              <a:t>有效的7</a:t>
            </a:r>
            <a:r>
              <a:rPr lang="zh-CN" altLang="en-US" sz="8000" b="1" spc="114" dirty="0">
                <a:solidFill>
                  <a:srgbClr val="5268F4"/>
                </a:solidFill>
                <a:latin typeface="宋体"/>
                <a:ea typeface="宋体"/>
              </a:rPr>
              <a:t>⼤</a:t>
            </a:r>
            <a:r>
              <a:rPr lang="zh-CN" altLang="en-US" sz="8000" b="1" spc="64" dirty="0">
                <a:solidFill>
                  <a:srgbClr val="5268F4"/>
                </a:solidFill>
                <a:latin typeface="宋体"/>
                <a:ea typeface="宋体"/>
              </a:rPr>
              <a:t>R1使</a:t>
            </a:r>
            <a:r>
              <a:rPr lang="zh-CN" altLang="en-US" sz="8000" b="1" spc="110" dirty="0">
                <a:solidFill>
                  <a:srgbClr val="5268F4"/>
                </a:solidFill>
                <a:latin typeface="宋体"/>
                <a:ea typeface="宋体"/>
              </a:rPr>
              <a:t>⽤</a:t>
            </a:r>
            <a:r>
              <a:rPr lang="zh-CN" altLang="en-US" sz="8000" b="1" spc="100" dirty="0">
                <a:solidFill>
                  <a:srgbClr val="5268F4"/>
                </a:solidFill>
                <a:latin typeface="宋体"/>
                <a:ea typeface="宋体"/>
              </a:rPr>
              <a:t>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-65" dirty="0">
                <a:solidFill>
                  <a:srgbClr val="D4D4D4"/>
                </a:solidFill>
                <a:latin typeface="宋体"/>
                <a:ea typeface="宋体"/>
              </a:rPr>
              <a:t>技巧1：提出明确的</a:t>
            </a:r>
            <a:r>
              <a:rPr lang="zh-CN" altLang="en-US" sz="7000" spc="-60" dirty="0">
                <a:solidFill>
                  <a:srgbClr val="D4D4D4"/>
                </a:solidFill>
                <a:latin typeface="宋体"/>
                <a:ea typeface="宋体"/>
              </a:rPr>
              <a:t>要求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技巧2：要求特定的</a:t>
            </a:r>
            <a:r>
              <a:rPr lang="zh-CN" altLang="en-US" sz="7000" spc="80" dirty="0">
                <a:solidFill>
                  <a:srgbClr val="D4D4D4"/>
                </a:solidFill>
                <a:latin typeface="宋体"/>
                <a:ea typeface="宋体"/>
              </a:rPr>
              <a:t>⻛</a:t>
            </a:r>
            <a:r>
              <a:rPr lang="zh-CN" altLang="en-US" sz="7000" spc="64" dirty="0">
                <a:solidFill>
                  <a:srgbClr val="D4D4D4"/>
                </a:solidFill>
                <a:latin typeface="宋体"/>
                <a:ea typeface="宋体"/>
              </a:rPr>
              <a:t>格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139999"/>
              </a:lnSpc>
            </a:pPr>
            <a:r>
              <a:rPr lang="zh-CN" altLang="en-US" sz="7000" spc="45" dirty="0">
                <a:solidFill>
                  <a:srgbClr val="D4D4D4"/>
                </a:solidFill>
                <a:latin typeface="宋体"/>
                <a:ea typeface="宋体"/>
              </a:rPr>
              <a:t>技巧3：提供充分的任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务背景信息技巧4：主动标注</a:t>
            </a: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⾃</a:t>
            </a:r>
            <a:r>
              <a:rPr lang="zh-CN" altLang="en-US" sz="7000" spc="44" dirty="0">
                <a:solidFill>
                  <a:srgbClr val="D4D4D4"/>
                </a:solidFill>
                <a:latin typeface="宋体"/>
                <a:ea typeface="宋体"/>
              </a:rPr>
              <a:t>⼰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的知识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状态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技巧5：定义</a:t>
            </a:r>
            <a:r>
              <a:rPr lang="zh-CN" altLang="en-US" sz="7000" spc="55" dirty="0">
                <a:solidFill>
                  <a:srgbClr val="D4D4D4"/>
                </a:solidFill>
                <a:latin typeface="宋体"/>
                <a:ea typeface="宋体"/>
              </a:rPr>
              <a:t>⽬标，⽽⾮过程</a:t>
            </a:r>
          </a:p>
          <a:p>
            <a:pPr marL="0">
              <a:lnSpc>
                <a:spcPct val="100000"/>
              </a:lnSpc>
            </a:pPr>
            <a:r>
              <a:rPr lang="zh-CN" altLang="en-US" sz="7000" b="1" spc="-15" dirty="0">
                <a:solidFill>
                  <a:srgbClr val="5268F4"/>
                </a:solidFill>
                <a:latin typeface="宋体"/>
                <a:ea typeface="宋体"/>
              </a:rPr>
              <a:t>技</a:t>
            </a:r>
            <a:r>
              <a:rPr lang="zh-CN" altLang="en-US" sz="7000" b="1" spc="-10" dirty="0">
                <a:solidFill>
                  <a:srgbClr val="5268F4"/>
                </a:solidFill>
                <a:latin typeface="宋体"/>
                <a:ea typeface="宋体"/>
              </a:rPr>
              <a:t>巧6：提供AI不具备的知识背景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35" dirty="0">
                <a:solidFill>
                  <a:srgbClr val="D4D4D4"/>
                </a:solidFill>
                <a:latin typeface="宋体"/>
                <a:ea typeface="宋体"/>
              </a:rPr>
              <a:t>技巧7：</a:t>
            </a:r>
            <a:r>
              <a:rPr lang="zh-CN" altLang="en-US" sz="7000" spc="30" dirty="0">
                <a:solidFill>
                  <a:srgbClr val="D4D4D4"/>
                </a:solidFill>
                <a:latin typeface="宋体"/>
                <a:ea typeface="宋体"/>
              </a:rPr>
              <a:t>从开放到收敛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720" y="4008120"/>
            <a:ext cx="19911060" cy="6614159"/>
          </a:xfrm>
          <a:prstGeom prst="rect">
            <a:avLst/>
          </a:prstGeom>
        </p:spPr>
      </p:pic>
      <p:sp>
        <p:nvSpPr>
          <p:cNvPr id="2" name="TextBox 63"/>
          <p:cNvSpPr txBox="1"/>
          <p:nvPr/>
        </p:nvSpPr>
        <p:spPr>
          <a:xfrm>
            <a:off x="3277715" y="825014"/>
            <a:ext cx="14895498" cy="121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8000" b="1" spc="-15" dirty="0">
                <a:solidFill>
                  <a:srgbClr val="5268F4"/>
                </a:solidFill>
                <a:latin typeface="宋体"/>
                <a:ea typeface="宋体"/>
              </a:rPr>
              <a:t>技巧6：提供</a:t>
            </a:r>
            <a:r>
              <a:rPr lang="zh-CN" altLang="en-US" sz="8000" b="1" spc="-10" dirty="0">
                <a:solidFill>
                  <a:srgbClr val="5268F4"/>
                </a:solidFill>
                <a:latin typeface="宋体"/>
                <a:ea typeface="宋体"/>
              </a:rPr>
              <a:t>AI不具备的知识背景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65"/>
          <p:cNvSpPr txBox="1"/>
          <p:nvPr/>
        </p:nvSpPr>
        <p:spPr>
          <a:xfrm>
            <a:off x="1419630" y="825014"/>
            <a:ext cx="12992031" cy="1207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58085">
              <a:lnSpc>
                <a:spcPct val="100000"/>
              </a:lnSpc>
            </a:pPr>
            <a:r>
              <a:rPr lang="zh-CN" altLang="en-US" sz="8000" b="1" spc="85" dirty="0">
                <a:solidFill>
                  <a:srgbClr val="5268F4"/>
                </a:solidFill>
                <a:latin typeface="宋体"/>
                <a:ea typeface="宋体"/>
              </a:rPr>
              <a:t>有效的7</a:t>
            </a:r>
            <a:r>
              <a:rPr lang="zh-CN" altLang="en-US" sz="8000" b="1" spc="114" dirty="0">
                <a:solidFill>
                  <a:srgbClr val="5268F4"/>
                </a:solidFill>
                <a:latin typeface="宋体"/>
                <a:ea typeface="宋体"/>
              </a:rPr>
              <a:t>⼤</a:t>
            </a:r>
            <a:r>
              <a:rPr lang="zh-CN" altLang="en-US" sz="8000" b="1" spc="64" dirty="0">
                <a:solidFill>
                  <a:srgbClr val="5268F4"/>
                </a:solidFill>
                <a:latin typeface="宋体"/>
                <a:ea typeface="宋体"/>
              </a:rPr>
              <a:t>R1使</a:t>
            </a:r>
            <a:r>
              <a:rPr lang="zh-CN" altLang="en-US" sz="8000" b="1" spc="110" dirty="0">
                <a:solidFill>
                  <a:srgbClr val="5268F4"/>
                </a:solidFill>
                <a:latin typeface="宋体"/>
                <a:ea typeface="宋体"/>
              </a:rPr>
              <a:t>⽤</a:t>
            </a:r>
            <a:r>
              <a:rPr lang="zh-CN" altLang="en-US" sz="8000" b="1" spc="100" dirty="0">
                <a:solidFill>
                  <a:srgbClr val="5268F4"/>
                </a:solidFill>
                <a:latin typeface="宋体"/>
                <a:ea typeface="宋体"/>
              </a:rPr>
              <a:t>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-65" dirty="0">
                <a:solidFill>
                  <a:srgbClr val="D4D4D4"/>
                </a:solidFill>
                <a:latin typeface="宋体"/>
                <a:ea typeface="宋体"/>
              </a:rPr>
              <a:t>技巧1：提出明确的</a:t>
            </a:r>
            <a:r>
              <a:rPr lang="zh-CN" altLang="en-US" sz="7000" spc="-60" dirty="0">
                <a:solidFill>
                  <a:srgbClr val="D4D4D4"/>
                </a:solidFill>
                <a:latin typeface="宋体"/>
                <a:ea typeface="宋体"/>
              </a:rPr>
              <a:t>要求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技巧2：要求特定的</a:t>
            </a:r>
            <a:r>
              <a:rPr lang="zh-CN" altLang="en-US" sz="7000" spc="80" dirty="0">
                <a:solidFill>
                  <a:srgbClr val="D4D4D4"/>
                </a:solidFill>
                <a:latin typeface="宋体"/>
                <a:ea typeface="宋体"/>
              </a:rPr>
              <a:t>⻛</a:t>
            </a:r>
            <a:r>
              <a:rPr lang="zh-CN" altLang="en-US" sz="7000" spc="64" dirty="0">
                <a:solidFill>
                  <a:srgbClr val="D4D4D4"/>
                </a:solidFill>
                <a:latin typeface="宋体"/>
                <a:ea typeface="宋体"/>
              </a:rPr>
              <a:t>格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139999"/>
              </a:lnSpc>
            </a:pPr>
            <a:r>
              <a:rPr lang="zh-CN" altLang="en-US" sz="7000" spc="45" dirty="0">
                <a:solidFill>
                  <a:srgbClr val="D4D4D4"/>
                </a:solidFill>
                <a:latin typeface="宋体"/>
                <a:ea typeface="宋体"/>
              </a:rPr>
              <a:t>技巧3：提供充分的任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务背景信息技巧4：主动标注</a:t>
            </a:r>
            <a:r>
              <a:rPr lang="zh-CN" altLang="en-US" sz="7000" spc="60" dirty="0">
                <a:solidFill>
                  <a:srgbClr val="D4D4D4"/>
                </a:solidFill>
                <a:latin typeface="宋体"/>
                <a:ea typeface="宋体"/>
              </a:rPr>
              <a:t>⾃</a:t>
            </a:r>
            <a:r>
              <a:rPr lang="zh-CN" altLang="en-US" sz="7000" spc="44" dirty="0">
                <a:solidFill>
                  <a:srgbClr val="D4D4D4"/>
                </a:solidFill>
                <a:latin typeface="宋体"/>
                <a:ea typeface="宋体"/>
              </a:rPr>
              <a:t>⼰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的知识</a:t>
            </a:r>
            <a:r>
              <a:rPr lang="zh-CN" altLang="en-US" sz="7000" spc="40" dirty="0">
                <a:solidFill>
                  <a:srgbClr val="D4D4D4"/>
                </a:solidFill>
                <a:latin typeface="宋体"/>
                <a:ea typeface="宋体"/>
              </a:rPr>
              <a:t>状态</a:t>
            </a:r>
            <a:r>
              <a:rPr lang="zh-CN" altLang="en-US" sz="7000" spc="50" dirty="0">
                <a:solidFill>
                  <a:srgbClr val="D4D4D4"/>
                </a:solidFill>
                <a:latin typeface="宋体"/>
                <a:ea typeface="宋体"/>
              </a:rPr>
              <a:t>技巧5：定义</a:t>
            </a:r>
            <a:r>
              <a:rPr lang="zh-CN" altLang="en-US" sz="7000" spc="55" dirty="0">
                <a:solidFill>
                  <a:srgbClr val="D4D4D4"/>
                </a:solidFill>
                <a:latin typeface="宋体"/>
                <a:ea typeface="宋体"/>
              </a:rPr>
              <a:t>⽬标，⽽⾮过程</a:t>
            </a:r>
          </a:p>
          <a:p>
            <a:pPr marL="0">
              <a:lnSpc>
                <a:spcPct val="100000"/>
              </a:lnSpc>
            </a:pPr>
            <a:r>
              <a:rPr lang="zh-CN" altLang="en-US" sz="7000" spc="-5" dirty="0">
                <a:solidFill>
                  <a:srgbClr val="D4D4D4"/>
                </a:solidFill>
                <a:latin typeface="宋体"/>
                <a:ea typeface="宋体"/>
              </a:rPr>
              <a:t>技巧6：提供AI不具备</a:t>
            </a:r>
            <a:r>
              <a:rPr lang="zh-CN" altLang="en-US" sz="7000" dirty="0">
                <a:solidFill>
                  <a:srgbClr val="D4D4D4"/>
                </a:solidFill>
                <a:latin typeface="宋体"/>
                <a:ea typeface="宋体"/>
              </a:rPr>
              <a:t>的知识背景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7000" b="1" spc="15" dirty="0">
                <a:solidFill>
                  <a:srgbClr val="5268F4"/>
                </a:solidFill>
                <a:latin typeface="宋体"/>
                <a:ea typeface="宋体"/>
              </a:rPr>
              <a:t>技巧7：从</a:t>
            </a:r>
            <a:r>
              <a:rPr lang="zh-CN" altLang="en-US" sz="7000" b="1" spc="5" dirty="0">
                <a:solidFill>
                  <a:srgbClr val="5268F4"/>
                </a:solidFill>
                <a:latin typeface="宋体"/>
                <a:ea typeface="宋体"/>
              </a:rPr>
              <a:t>开放到收敛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3192780"/>
            <a:ext cx="800100" cy="8001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" y="4632960"/>
            <a:ext cx="800100" cy="79248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80" y="6065520"/>
            <a:ext cx="800100" cy="78486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80" y="7498080"/>
            <a:ext cx="800100" cy="78486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2080" y="8923020"/>
            <a:ext cx="800100" cy="79248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10355580"/>
            <a:ext cx="800100" cy="8001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" y="11795760"/>
            <a:ext cx="800100" cy="79248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360" y="617220"/>
            <a:ext cx="1653539" cy="1661160"/>
          </a:xfrm>
          <a:prstGeom prst="rect">
            <a:avLst/>
          </a:prstGeom>
        </p:spPr>
      </p:pic>
      <p:sp>
        <p:nvSpPr>
          <p:cNvPr id="2" name="TextBox 74"/>
          <p:cNvSpPr txBox="1"/>
          <p:nvPr/>
        </p:nvSpPr>
        <p:spPr>
          <a:xfrm>
            <a:off x="1419629" y="825014"/>
            <a:ext cx="23567751" cy="11889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58085">
              <a:lnSpc>
                <a:spcPct val="100000"/>
              </a:lnSpc>
            </a:pPr>
            <a:r>
              <a:rPr lang="zh-CN" altLang="en-US" sz="8000" b="1" spc="-35" dirty="0">
                <a:solidFill>
                  <a:srgbClr val="5268F4"/>
                </a:solidFill>
                <a:latin typeface="宋体"/>
                <a:ea typeface="宋体"/>
              </a:rPr>
              <a:t>⽆效的提示词</a:t>
            </a:r>
            <a:r>
              <a:rPr lang="zh-CN" altLang="en-US" sz="8000" b="1" spc="-30" dirty="0">
                <a:solidFill>
                  <a:srgbClr val="5268F4"/>
                </a:solidFill>
                <a:latin typeface="宋体"/>
                <a:ea typeface="宋体"/>
              </a:rPr>
              <a:t>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89"/>
              </a:lnSpc>
            </a:pPr>
            <a:endParaRPr lang="en-US" dirty="0"/>
          </a:p>
          <a:p>
            <a:pPr marL="0" hangingPunct="0">
              <a:lnSpc>
                <a:spcPct val="156250"/>
              </a:lnSpc>
            </a:pPr>
            <a:r>
              <a:rPr lang="en-US" altLang="zh-CN" sz="6000" spc="94" dirty="0">
                <a:solidFill>
                  <a:srgbClr val="FFFFFF"/>
                </a:solidFill>
                <a:latin typeface="Times New Roman"/>
                <a:ea typeface="Times New Roman"/>
              </a:rPr>
              <a:t>❌</a:t>
            </a:r>
            <a:r>
              <a:rPr lang="zh-CN" altLang="en-US" sz="6000" spc="125" dirty="0">
                <a:solidFill>
                  <a:srgbClr val="51565E"/>
                </a:solidFill>
                <a:latin typeface="PMingLiU"/>
                <a:ea typeface="PMingLiU"/>
              </a:rPr>
              <a:t>1、思维</a:t>
            </a:r>
            <a:r>
              <a:rPr lang="zh-CN" altLang="en-US" sz="6000" spc="114" dirty="0">
                <a:solidFill>
                  <a:srgbClr val="51565E"/>
                </a:solidFill>
                <a:latin typeface="PMingLiU"/>
                <a:ea typeface="PMingLiU"/>
              </a:rPr>
              <a:t>链提示</a:t>
            </a:r>
            <a:br>
              <a:rPr dirty="0"/>
            </a:br>
            <a:r>
              <a:rPr lang="en-US" altLang="zh-CN" sz="6000" spc="189" dirty="0">
                <a:solidFill>
                  <a:srgbClr val="FFFFFF"/>
                </a:solidFill>
                <a:latin typeface="Times New Roman"/>
                <a:ea typeface="Times New Roman"/>
              </a:rPr>
              <a:t>❌</a:t>
            </a:r>
            <a:r>
              <a:rPr lang="zh-CN" altLang="en-US" sz="6000" spc="234" dirty="0">
                <a:solidFill>
                  <a:srgbClr val="51565E"/>
                </a:solidFill>
                <a:latin typeface="PMingLiU"/>
                <a:ea typeface="PMingLiU"/>
              </a:rPr>
              <a:t>2、结</a:t>
            </a:r>
            <a:r>
              <a:rPr lang="zh-CN" altLang="en-US" sz="6000" spc="229" dirty="0">
                <a:solidFill>
                  <a:srgbClr val="51565E"/>
                </a:solidFill>
                <a:latin typeface="PMingLiU"/>
                <a:ea typeface="PMingLiU"/>
              </a:rPr>
              <a:t>构化提示词</a:t>
            </a:r>
          </a:p>
          <a:p>
            <a:pPr marL="0">
              <a:lnSpc>
                <a:spcPct val="109166"/>
              </a:lnSpc>
            </a:pPr>
            <a:r>
              <a:rPr lang="en-US" altLang="zh-CN" sz="6000" spc="154" dirty="0">
                <a:solidFill>
                  <a:srgbClr val="FFFFFF"/>
                </a:solidFill>
                <a:latin typeface="Times New Roman"/>
                <a:ea typeface="Times New Roman"/>
              </a:rPr>
              <a:t>❌</a:t>
            </a:r>
            <a:r>
              <a:rPr lang="zh-CN" altLang="en-US" sz="6000" spc="189" dirty="0">
                <a:solidFill>
                  <a:srgbClr val="51565E"/>
                </a:solidFill>
                <a:latin typeface="PMingLiU"/>
                <a:ea typeface="PMingLiU"/>
              </a:rPr>
              <a:t>3、要求扮演专家</a:t>
            </a:r>
            <a:r>
              <a:rPr lang="zh-CN" altLang="en-US" sz="6000" spc="220" dirty="0">
                <a:solidFill>
                  <a:srgbClr val="51565E"/>
                </a:solidFill>
                <a:latin typeface="PMingLiU"/>
                <a:ea typeface="PMingLiU"/>
              </a:rPr>
              <a:t>⻆</a:t>
            </a:r>
            <a:r>
              <a:rPr lang="zh-CN" altLang="en-US" sz="6000" spc="204" dirty="0">
                <a:solidFill>
                  <a:srgbClr val="51565E"/>
                </a:solidFill>
                <a:latin typeface="PMingLiU"/>
                <a:ea typeface="PMingLiU"/>
              </a:rPr>
              <a:t>⾊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19"/>
              </a:lnSpc>
            </a:pPr>
            <a:endParaRPr lang="en-US" dirty="0"/>
          </a:p>
          <a:p>
            <a:pPr marL="0" hangingPunct="0">
              <a:lnSpc>
                <a:spcPct val="156250"/>
              </a:lnSpc>
            </a:pPr>
            <a:r>
              <a:rPr lang="en-US" altLang="zh-CN" sz="6000" spc="129" dirty="0">
                <a:solidFill>
                  <a:srgbClr val="FFFFFF"/>
                </a:solidFill>
                <a:latin typeface="Times New Roman"/>
                <a:ea typeface="Times New Roman"/>
              </a:rPr>
              <a:t>❌</a:t>
            </a:r>
            <a:r>
              <a:rPr lang="zh-CN" altLang="en-US" sz="6000" spc="169" dirty="0">
                <a:solidFill>
                  <a:srgbClr val="51565E"/>
                </a:solidFill>
                <a:latin typeface="PMingLiU"/>
                <a:ea typeface="PMingLiU"/>
              </a:rPr>
              <a:t>4、假</a:t>
            </a:r>
            <a:r>
              <a:rPr lang="zh-CN" altLang="en-US" sz="6000" spc="164" dirty="0">
                <a:solidFill>
                  <a:srgbClr val="51565E"/>
                </a:solidFill>
                <a:latin typeface="PMingLiU"/>
                <a:ea typeface="PMingLiU"/>
              </a:rPr>
              <a:t>装完成任务后给奖励</a:t>
            </a:r>
            <a:endParaRPr lang="en-US" altLang="zh-CN" sz="6000" spc="164" dirty="0">
              <a:solidFill>
                <a:srgbClr val="51565E"/>
              </a:solidFill>
              <a:latin typeface="PMingLiU"/>
              <a:ea typeface="PMingLiU"/>
            </a:endParaRPr>
          </a:p>
          <a:p>
            <a:pPr marL="0" hangingPunct="0">
              <a:lnSpc>
                <a:spcPct val="156250"/>
              </a:lnSpc>
            </a:pPr>
            <a:r>
              <a:rPr lang="en-US" altLang="zh-CN" sz="6000" spc="534" dirty="0">
                <a:solidFill>
                  <a:srgbClr val="FFFFFF"/>
                </a:solidFill>
                <a:latin typeface="Times New Roman"/>
                <a:ea typeface="Times New Roman"/>
              </a:rPr>
              <a:t>❌</a:t>
            </a:r>
            <a:r>
              <a:rPr lang="zh-CN" altLang="en-US" sz="6000" spc="455" dirty="0">
                <a:solidFill>
                  <a:srgbClr val="51565E"/>
                </a:solidFill>
                <a:latin typeface="PMingLiU"/>
                <a:ea typeface="PMingLiU"/>
              </a:rPr>
              <a:t>5、少</a:t>
            </a:r>
            <a:r>
              <a:rPr lang="zh-CN" altLang="en-US" sz="6000" spc="450" dirty="0">
                <a:solidFill>
                  <a:srgbClr val="51565E"/>
                </a:solidFill>
                <a:latin typeface="PMingLiU"/>
                <a:ea typeface="PMingLiU"/>
              </a:rPr>
              <a:t>示例提示（few-shot)</a:t>
            </a:r>
            <a:r>
              <a:rPr lang="zh-CN" altLang="en-US" sz="6000" dirty="0">
                <a:solidFill>
                  <a:srgbClr val="51565E"/>
                </a:solidFill>
                <a:latin typeface="PMingLiU"/>
                <a:cs typeface="PMingLiU"/>
              </a:rPr>
              <a:t> </a:t>
            </a:r>
            <a:endParaRPr lang="en-US" altLang="zh-CN" sz="6000" dirty="0">
              <a:solidFill>
                <a:srgbClr val="51565E"/>
              </a:solidFill>
              <a:latin typeface="PMingLiU"/>
              <a:cs typeface="PMingLiU"/>
            </a:endParaRPr>
          </a:p>
          <a:p>
            <a:pPr marL="0" hangingPunct="0">
              <a:lnSpc>
                <a:spcPct val="156250"/>
              </a:lnSpc>
            </a:pPr>
            <a:r>
              <a:rPr lang="en-US" altLang="zh-CN" sz="6000" spc="259" dirty="0">
                <a:solidFill>
                  <a:srgbClr val="FFFFFF"/>
                </a:solidFill>
                <a:latin typeface="Times New Roman"/>
                <a:ea typeface="Times New Roman"/>
              </a:rPr>
              <a:t>❌</a:t>
            </a:r>
            <a:r>
              <a:rPr lang="zh-CN" altLang="en-US" sz="6000" spc="245" dirty="0">
                <a:solidFill>
                  <a:srgbClr val="51565E"/>
                </a:solidFill>
                <a:latin typeface="PMingLiU"/>
                <a:ea typeface="PMingLiU"/>
              </a:rPr>
              <a:t>6、</a:t>
            </a:r>
            <a:r>
              <a:rPr lang="zh-CN" altLang="en-US" sz="6000" spc="340" dirty="0">
                <a:solidFill>
                  <a:srgbClr val="51565E"/>
                </a:solidFill>
                <a:latin typeface="PMingLiU"/>
                <a:ea typeface="PMingLiU"/>
              </a:rPr>
              <a:t>⻆⾊</a:t>
            </a:r>
            <a:r>
              <a:rPr lang="zh-CN" altLang="en-US" sz="6000" spc="334" dirty="0">
                <a:solidFill>
                  <a:srgbClr val="51565E"/>
                </a:solidFill>
                <a:latin typeface="PMingLiU"/>
                <a:ea typeface="PMingLiU"/>
              </a:rPr>
              <a:t>扮演</a:t>
            </a:r>
          </a:p>
          <a:p>
            <a:pPr marL="0">
              <a:lnSpc>
                <a:spcPct val="109166"/>
              </a:lnSpc>
            </a:pPr>
            <a:r>
              <a:rPr lang="en-US" altLang="zh-CN" sz="6000" spc="120" dirty="0">
                <a:solidFill>
                  <a:srgbClr val="FFFFFF"/>
                </a:solidFill>
                <a:latin typeface="Times New Roman"/>
                <a:ea typeface="Times New Roman"/>
              </a:rPr>
              <a:t>❌</a:t>
            </a:r>
            <a:r>
              <a:rPr lang="zh-CN" altLang="en-US" sz="6000" spc="145" dirty="0">
                <a:solidFill>
                  <a:srgbClr val="51565E"/>
                </a:solidFill>
                <a:latin typeface="PMingLiU"/>
                <a:ea typeface="PMingLiU"/>
              </a:rPr>
              <a:t>7、对已知概念进</a:t>
            </a:r>
            <a:r>
              <a:rPr lang="zh-CN" altLang="en-US" sz="6000" spc="185" dirty="0">
                <a:solidFill>
                  <a:srgbClr val="51565E"/>
                </a:solidFill>
                <a:latin typeface="PMingLiU"/>
                <a:ea typeface="PMingLiU"/>
              </a:rPr>
              <a:t>⾏</a:t>
            </a:r>
            <a:r>
              <a:rPr lang="zh-CN" altLang="en-US" sz="6000" spc="160" dirty="0">
                <a:solidFill>
                  <a:srgbClr val="51565E"/>
                </a:solidFill>
                <a:latin typeface="PMingLiU"/>
                <a:ea typeface="PMingLiU"/>
              </a:rPr>
              <a:t>解释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1069</Words>
  <Application>Microsoft Office PowerPoint</Application>
  <PresentationFormat>自定义</PresentationFormat>
  <Paragraphs>493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PMingLiU</vt:lpstr>
      <vt:lpstr>宋体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国栋 李</cp:lastModifiedBy>
  <cp:revision>2</cp:revision>
  <dcterms:created xsi:type="dcterms:W3CDTF">2011-01-21T15:00:27Z</dcterms:created>
  <dcterms:modified xsi:type="dcterms:W3CDTF">2025-03-28T00:40:00Z</dcterms:modified>
</cp:coreProperties>
</file>
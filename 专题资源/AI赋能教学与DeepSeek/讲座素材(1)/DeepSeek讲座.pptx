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Relationship Id="rId9" Type="http://schemas.openxmlformats.org/officeDocument/2006/relationships/image" Target="../media/image6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jpeg"/><Relationship Id="rId4" Type="http://schemas.openxmlformats.org/officeDocument/2006/relationships/image" Target="../media/image79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13" Type="http://schemas.openxmlformats.org/officeDocument/2006/relationships/image" Target="../media/image92.jpeg"/><Relationship Id="rId3" Type="http://schemas.openxmlformats.org/officeDocument/2006/relationships/image" Target="../media/image82.jpeg"/><Relationship Id="rId7" Type="http://schemas.openxmlformats.org/officeDocument/2006/relationships/image" Target="../media/image86.jpeg"/><Relationship Id="rId12" Type="http://schemas.openxmlformats.org/officeDocument/2006/relationships/image" Target="../media/image91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jpeg"/><Relationship Id="rId11" Type="http://schemas.openxmlformats.org/officeDocument/2006/relationships/image" Target="../media/image90.jpeg"/><Relationship Id="rId5" Type="http://schemas.openxmlformats.org/officeDocument/2006/relationships/image" Target="../media/image84.jpeg"/><Relationship Id="rId10" Type="http://schemas.openxmlformats.org/officeDocument/2006/relationships/image" Target="../media/image89.jpeg"/><Relationship Id="rId4" Type="http://schemas.openxmlformats.org/officeDocument/2006/relationships/image" Target="../media/image83.jpeg"/><Relationship Id="rId9" Type="http://schemas.openxmlformats.org/officeDocument/2006/relationships/image" Target="../media/image88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jpeg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jpeg"/><Relationship Id="rId5" Type="http://schemas.openxmlformats.org/officeDocument/2006/relationships/image" Target="../media/image117.jpeg"/><Relationship Id="rId4" Type="http://schemas.openxmlformats.org/officeDocument/2006/relationships/image" Target="../media/image116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jpeg"/><Relationship Id="rId5" Type="http://schemas.openxmlformats.org/officeDocument/2006/relationships/image" Target="../media/image122.jpeg"/><Relationship Id="rId4" Type="http://schemas.openxmlformats.org/officeDocument/2006/relationships/image" Target="../media/image12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jpeg"/><Relationship Id="rId5" Type="http://schemas.openxmlformats.org/officeDocument/2006/relationships/image" Target="../media/image122.jpeg"/><Relationship Id="rId4" Type="http://schemas.openxmlformats.org/officeDocument/2006/relationships/image" Target="../media/image12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8.jpeg"/><Relationship Id="rId4" Type="http://schemas.openxmlformats.org/officeDocument/2006/relationships/image" Target="../media/image12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jpeg"/><Relationship Id="rId4" Type="http://schemas.openxmlformats.org/officeDocument/2006/relationships/image" Target="../media/image12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2.jpeg"/><Relationship Id="rId4" Type="http://schemas.openxmlformats.org/officeDocument/2006/relationships/image" Target="../media/image13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eg"/><Relationship Id="rId2" Type="http://schemas.openxmlformats.org/officeDocument/2006/relationships/image" Target="../media/image13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eg"/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eg"/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jpeg"/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eg"/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eg"/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eg"/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eg"/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jpe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eg"/><Relationship Id="rId2" Type="http://schemas.openxmlformats.org/officeDocument/2006/relationships/image" Target="../media/image158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eg"/><Relationship Id="rId2" Type="http://schemas.openxmlformats.org/officeDocument/2006/relationships/image" Target="../media/image16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4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eg"/><Relationship Id="rId2" Type="http://schemas.openxmlformats.org/officeDocument/2006/relationships/image" Target="../media/image165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jpeg"/><Relationship Id="rId2" Type="http://schemas.openxmlformats.org/officeDocument/2006/relationships/image" Target="../media/image167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eg"/><Relationship Id="rId2" Type="http://schemas.openxmlformats.org/officeDocument/2006/relationships/image" Target="../media/image16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1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eg"/><Relationship Id="rId2" Type="http://schemas.openxmlformats.org/officeDocument/2006/relationships/image" Target="../media/image17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5.jpeg"/><Relationship Id="rId4" Type="http://schemas.openxmlformats.org/officeDocument/2006/relationships/image" Target="../media/image174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jpeg"/><Relationship Id="rId2" Type="http://schemas.openxmlformats.org/officeDocument/2006/relationships/image" Target="../media/image17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9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eg"/><Relationship Id="rId2" Type="http://schemas.openxmlformats.org/officeDocument/2006/relationships/image" Target="../media/image18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jpeg"/><Relationship Id="rId5" Type="http://schemas.openxmlformats.org/officeDocument/2006/relationships/image" Target="../media/image184.jpeg"/><Relationship Id="rId4" Type="http://schemas.openxmlformats.org/officeDocument/2006/relationships/image" Target="../media/image183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jpeg"/><Relationship Id="rId2" Type="http://schemas.openxmlformats.org/officeDocument/2006/relationships/image" Target="../media/image187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eg"/><Relationship Id="rId2" Type="http://schemas.openxmlformats.org/officeDocument/2006/relationships/image" Target="../media/image18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2.jpeg"/><Relationship Id="rId4" Type="http://schemas.openxmlformats.org/officeDocument/2006/relationships/image" Target="../media/image191.jpe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jpeg"/><Relationship Id="rId2" Type="http://schemas.openxmlformats.org/officeDocument/2006/relationships/image" Target="../media/image19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6.jpeg"/><Relationship Id="rId4" Type="http://schemas.openxmlformats.org/officeDocument/2006/relationships/image" Target="../media/image195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jpeg"/><Relationship Id="rId2" Type="http://schemas.openxmlformats.org/officeDocument/2006/relationships/image" Target="../media/image197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jpeg"/><Relationship Id="rId3" Type="http://schemas.openxmlformats.org/officeDocument/2006/relationships/image" Target="../media/image200.jpeg"/><Relationship Id="rId7" Type="http://schemas.openxmlformats.org/officeDocument/2006/relationships/image" Target="../media/image204.jpeg"/><Relationship Id="rId2" Type="http://schemas.openxmlformats.org/officeDocument/2006/relationships/image" Target="../media/image19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jpeg"/><Relationship Id="rId5" Type="http://schemas.openxmlformats.org/officeDocument/2006/relationships/image" Target="../media/image202.jpeg"/><Relationship Id="rId4" Type="http://schemas.openxmlformats.org/officeDocument/2006/relationships/image" Target="../media/image201.jpeg"/><Relationship Id="rId9" Type="http://schemas.openxmlformats.org/officeDocument/2006/relationships/image" Target="../media/image206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jpeg"/><Relationship Id="rId7" Type="http://schemas.openxmlformats.org/officeDocument/2006/relationships/image" Target="../media/image212.jpeg"/><Relationship Id="rId2" Type="http://schemas.openxmlformats.org/officeDocument/2006/relationships/image" Target="../media/image20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jpeg"/><Relationship Id="rId5" Type="http://schemas.openxmlformats.org/officeDocument/2006/relationships/image" Target="../media/image210.jpeg"/><Relationship Id="rId4" Type="http://schemas.openxmlformats.org/officeDocument/2006/relationships/image" Target="../media/image209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jpeg"/><Relationship Id="rId2" Type="http://schemas.openxmlformats.org/officeDocument/2006/relationships/image" Target="../media/image21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6.jpeg"/><Relationship Id="rId4" Type="http://schemas.openxmlformats.org/officeDocument/2006/relationships/image" Target="../media/image215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jpeg"/><Relationship Id="rId2" Type="http://schemas.openxmlformats.org/officeDocument/2006/relationships/image" Target="../media/image217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jpeg"/><Relationship Id="rId2" Type="http://schemas.openxmlformats.org/officeDocument/2006/relationships/image" Target="../media/image219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jpeg"/><Relationship Id="rId2" Type="http://schemas.openxmlformats.org/officeDocument/2006/relationships/image" Target="../media/image22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4.jpe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jpeg"/><Relationship Id="rId3" Type="http://schemas.openxmlformats.org/officeDocument/2006/relationships/image" Target="../media/image226.jpeg"/><Relationship Id="rId7" Type="http://schemas.openxmlformats.org/officeDocument/2006/relationships/image" Target="../media/image230.jpeg"/><Relationship Id="rId2" Type="http://schemas.openxmlformats.org/officeDocument/2006/relationships/image" Target="../media/image22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9.jpeg"/><Relationship Id="rId5" Type="http://schemas.openxmlformats.org/officeDocument/2006/relationships/image" Target="../media/image228.jpeg"/><Relationship Id="rId4" Type="http://schemas.openxmlformats.org/officeDocument/2006/relationships/image" Target="../media/image227.jpeg"/><Relationship Id="rId9" Type="http://schemas.openxmlformats.org/officeDocument/2006/relationships/image" Target="../media/image232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jpeg"/><Relationship Id="rId2" Type="http://schemas.openxmlformats.org/officeDocument/2006/relationships/image" Target="../media/image23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6.jpeg"/><Relationship Id="rId4" Type="http://schemas.openxmlformats.org/officeDocument/2006/relationships/image" Target="../media/image235.jpe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jpeg"/><Relationship Id="rId2" Type="http://schemas.openxmlformats.org/officeDocument/2006/relationships/image" Target="../media/image238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jpeg"/><Relationship Id="rId2" Type="http://schemas.openxmlformats.org/officeDocument/2006/relationships/image" Target="../media/image2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3.jpeg"/><Relationship Id="rId4" Type="http://schemas.openxmlformats.org/officeDocument/2006/relationships/image" Target="../media/image242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jpeg"/><Relationship Id="rId2" Type="http://schemas.openxmlformats.org/officeDocument/2006/relationships/image" Target="../media/image244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jpeg"/><Relationship Id="rId2" Type="http://schemas.openxmlformats.org/officeDocument/2006/relationships/image" Target="../media/image24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8.jpe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7439" y="1853638"/>
            <a:ext cx="5777190" cy="30556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spc="12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400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4000" b="1" spc="175" dirty="0">
                <a:solidFill>
                  <a:srgbClr val="000000"/>
                </a:solidFill>
                <a:latin typeface="宋体"/>
                <a:ea typeface="宋体"/>
              </a:rPr>
              <a:t>Deepseek</a:t>
            </a:r>
            <a:r>
              <a:rPr lang="zh-CN" altLang="en-US" sz="4000" b="1" spc="365" dirty="0">
                <a:solidFill>
                  <a:srgbClr val="000000"/>
                </a:solidFill>
                <a:latin typeface="宋体"/>
                <a:ea typeface="宋体"/>
              </a:rPr>
              <a:t>是什么？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4000" spc="1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400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4000" b="1" spc="139" dirty="0">
                <a:solidFill>
                  <a:srgbClr val="000000"/>
                </a:solidFill>
                <a:latin typeface="宋体"/>
                <a:ea typeface="宋体"/>
              </a:rPr>
              <a:t>Deepseek</a:t>
            </a:r>
            <a:r>
              <a:rPr lang="zh-CN" altLang="en-US" sz="4000" b="1" spc="290" dirty="0">
                <a:solidFill>
                  <a:srgbClr val="000000"/>
                </a:solidFill>
                <a:latin typeface="宋体"/>
                <a:ea typeface="宋体"/>
              </a:rPr>
              <a:t>能够做什么？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4000" spc="1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4000" spc="-25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4000" b="1" spc="315" dirty="0">
                <a:solidFill>
                  <a:srgbClr val="000000"/>
                </a:solidFill>
                <a:latin typeface="宋体"/>
                <a:ea typeface="宋体"/>
              </a:rPr>
              <a:t>如何使用</a:t>
            </a:r>
            <a:r>
              <a:rPr lang="zh-CN" altLang="en-US" sz="4000" b="1" spc="160" dirty="0">
                <a:solidFill>
                  <a:srgbClr val="000000"/>
                </a:solidFill>
                <a:latin typeface="宋体"/>
                <a:ea typeface="宋体"/>
              </a:rPr>
              <a:t>Deepseek</a:t>
            </a:r>
            <a:r>
              <a:rPr lang="zh-CN" altLang="en-US" sz="4000" b="1" spc="325" dirty="0">
                <a:solidFill>
                  <a:srgbClr val="000000"/>
                </a:solidFill>
                <a:latin typeface="宋体"/>
                <a:ea typeface="宋体"/>
              </a:rPr>
              <a:t>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2423160"/>
            <a:ext cx="7566659" cy="4312920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376554" y="289633"/>
            <a:ext cx="8618837" cy="1929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425" dirty="0">
                <a:solidFill>
                  <a:srgbClr val="242424"/>
                </a:solidFill>
                <a:latin typeface="宋体"/>
                <a:ea typeface="宋体"/>
              </a:rPr>
              <a:t>DeepSeek</a:t>
            </a:r>
            <a:r>
              <a:rPr lang="zh-CN" altLang="en-US" sz="4000" b="1" spc="865" dirty="0">
                <a:solidFill>
                  <a:srgbClr val="242424"/>
                </a:solidFill>
                <a:latin typeface="宋体"/>
                <a:ea typeface="宋体"/>
              </a:rPr>
              <a:t>是什</a:t>
            </a:r>
            <a:r>
              <a:rPr lang="zh-CN" altLang="en-US" sz="4000" b="1" spc="860" dirty="0">
                <a:solidFill>
                  <a:srgbClr val="242424"/>
                </a:solidFill>
                <a:latin typeface="宋体"/>
                <a:ea typeface="宋体"/>
              </a:rPr>
              <a:t>么？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3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DeepSeek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是一家专注通用人工智能（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AGI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）的中国科技公司，主攻大模型研发与应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7654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用。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DeepSeek-R1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是其开源的推理模型，擅长处理复杂任务且可免费商用。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33609" y="870080"/>
            <a:ext cx="761972" cy="55399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78434">
              <a:lnSpc>
                <a:spcPct val="100000"/>
              </a:lnSpc>
            </a:pPr>
            <a:r>
              <a:rPr lang="en-US" altLang="zh-CN" sz="2800" b="1" spc="139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</a:p>
          <a:p>
            <a:pPr>
              <a:lnSpc>
                <a:spcPts val="1675"/>
              </a:lnSpc>
            </a:pPr>
            <a:endParaRPr lang="en-US" dirty="0"/>
          </a:p>
          <a:p>
            <a:pPr marL="0" indent="271145">
              <a:lnSpc>
                <a:spcPct val="100000"/>
              </a:lnSpc>
            </a:pPr>
            <a:r>
              <a:rPr lang="en-US" altLang="zh-CN" sz="2800" b="1" spc="-15" dirty="0">
                <a:solidFill>
                  <a:srgbClr val="242424"/>
                </a:solidFill>
                <a:latin typeface="Arial"/>
                <a:ea typeface="Arial"/>
              </a:rPr>
              <a:t>+</a:t>
            </a:r>
          </a:p>
          <a:p>
            <a:pPr>
              <a:lnSpc>
                <a:spcPts val="158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2800" b="1" spc="129" dirty="0">
                <a:solidFill>
                  <a:srgbClr val="14458C"/>
                </a:solidFill>
                <a:latin typeface="宋体"/>
                <a:ea typeface="宋体"/>
              </a:rPr>
              <a:t>国产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271145">
              <a:lnSpc>
                <a:spcPct val="100000"/>
              </a:lnSpc>
            </a:pPr>
            <a:r>
              <a:rPr lang="en-US" altLang="zh-CN" sz="2800" b="1" spc="-15" dirty="0">
                <a:solidFill>
                  <a:srgbClr val="242424"/>
                </a:solidFill>
                <a:latin typeface="Arial"/>
                <a:ea typeface="Arial"/>
              </a:rPr>
              <a:t>+</a:t>
            </a:r>
          </a:p>
          <a:p>
            <a:pPr>
              <a:lnSpc>
                <a:spcPts val="158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2800" b="1" spc="129" dirty="0">
                <a:solidFill>
                  <a:srgbClr val="E8441E"/>
                </a:solidFill>
                <a:latin typeface="宋体"/>
                <a:ea typeface="宋体"/>
              </a:rPr>
              <a:t>免费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271145">
              <a:lnSpc>
                <a:spcPct val="100000"/>
              </a:lnSpc>
            </a:pPr>
            <a:r>
              <a:rPr lang="en-US" altLang="zh-CN" sz="2800" b="1" spc="-15" dirty="0">
                <a:solidFill>
                  <a:srgbClr val="242424"/>
                </a:solidFill>
                <a:latin typeface="Arial"/>
                <a:ea typeface="Arial"/>
              </a:rPr>
              <a:t>+</a:t>
            </a:r>
          </a:p>
          <a:p>
            <a:pPr>
              <a:lnSpc>
                <a:spcPts val="158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2800" b="1" spc="129" dirty="0">
                <a:solidFill>
                  <a:srgbClr val="206C49"/>
                </a:solidFill>
                <a:latin typeface="宋体"/>
                <a:ea typeface="宋体"/>
              </a:rPr>
              <a:t>开源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271145">
              <a:lnSpc>
                <a:spcPct val="100000"/>
              </a:lnSpc>
            </a:pPr>
            <a:r>
              <a:rPr lang="en-US" altLang="zh-CN" sz="2800" b="1" spc="-15" dirty="0">
                <a:solidFill>
                  <a:srgbClr val="206C49"/>
                </a:solidFill>
                <a:latin typeface="Arial"/>
                <a:ea typeface="Arial"/>
              </a:rPr>
              <a:t>+</a:t>
            </a:r>
          </a:p>
          <a:p>
            <a:pPr>
              <a:lnSpc>
                <a:spcPts val="158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2800" b="1" spc="129" dirty="0">
                <a:solidFill>
                  <a:srgbClr val="FEB853"/>
                </a:solidFill>
                <a:latin typeface="宋体"/>
                <a:ea typeface="宋体"/>
              </a:rPr>
              <a:t>强大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19" y="1630680"/>
            <a:ext cx="9479280" cy="5113020"/>
          </a:xfrm>
          <a:prstGeom prst="rect">
            <a:avLst/>
          </a:prstGeom>
        </p:spPr>
      </p:pic>
      <p:sp>
        <p:nvSpPr>
          <p:cNvPr id="2" name="TextBox 7"/>
          <p:cNvSpPr txBox="1"/>
          <p:nvPr/>
        </p:nvSpPr>
        <p:spPr>
          <a:xfrm>
            <a:off x="376554" y="289633"/>
            <a:ext cx="11105498" cy="1378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204" dirty="0">
                <a:solidFill>
                  <a:srgbClr val="242424"/>
                </a:solidFill>
                <a:latin typeface="Arial"/>
                <a:ea typeface="Arial"/>
              </a:rPr>
              <a:t>Deepseek</a:t>
            </a:r>
            <a:r>
              <a:rPr lang="zh-CN" altLang="en-US" sz="4000" b="1" spc="364" dirty="0">
                <a:solidFill>
                  <a:srgbClr val="242424"/>
                </a:solidFill>
                <a:latin typeface="宋体"/>
                <a:ea typeface="宋体"/>
              </a:rPr>
              <a:t>可以做什</a:t>
            </a:r>
            <a:r>
              <a:rPr lang="zh-CN" altLang="en-US" sz="4000" b="1" spc="359" dirty="0">
                <a:solidFill>
                  <a:srgbClr val="242424"/>
                </a:solidFill>
                <a:latin typeface="宋体"/>
                <a:ea typeface="宋体"/>
              </a:rPr>
              <a:t>么？</a:t>
            </a:r>
          </a:p>
          <a:p>
            <a:pPr>
              <a:lnSpc>
                <a:spcPts val="1214"/>
              </a:lnSpc>
            </a:pPr>
            <a:endParaRPr lang="en-US" dirty="0"/>
          </a:p>
          <a:p>
            <a:pPr marL="0" indent="120014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直接面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向用户或者支持开发者，提供智能对话、文本生成、语义理解、计算推理、代码生成补全等应用场景，</a:t>
            </a:r>
          </a:p>
          <a:p>
            <a:pPr>
              <a:lnSpc>
                <a:spcPts val="400"/>
              </a:lnSpc>
            </a:pPr>
            <a:endParaRPr lang="en-US" dirty="0"/>
          </a:p>
          <a:p>
            <a:pPr marL="0" indent="120014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支持联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网搜索与深度思考模式，同时支持文件上传，能够扫描读取各类文件及图片中的文字内容。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668780"/>
            <a:ext cx="3314700" cy="4000500"/>
          </a:xfrm>
          <a:prstGeom prst="rect">
            <a:avLst/>
          </a:prstGeom>
        </p:spPr>
      </p:pic>
      <p:sp>
        <p:nvSpPr>
          <p:cNvPr id="2" name="TextBox 9"/>
          <p:cNvSpPr txBox="1"/>
          <p:nvPr/>
        </p:nvSpPr>
        <p:spPr>
          <a:xfrm>
            <a:off x="204546" y="116989"/>
            <a:ext cx="227453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14" dirty="0">
                <a:solidFill>
                  <a:srgbClr val="242424"/>
                </a:solidFill>
                <a:latin typeface="宋体"/>
                <a:ea typeface="宋体"/>
              </a:rPr>
              <a:t>文本</a:t>
            </a:r>
            <a:r>
              <a:rPr lang="zh-CN" altLang="en-US" sz="4000" b="1" spc="204" dirty="0">
                <a:solidFill>
                  <a:srgbClr val="242424"/>
                </a:solidFill>
                <a:latin typeface="宋体"/>
                <a:ea typeface="宋体"/>
              </a:rPr>
              <a:t>生成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76573" y="2168108"/>
            <a:ext cx="235796" cy="2169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b="1" spc="170" dirty="0">
                <a:solidFill>
                  <a:srgbClr val="FEFEFE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1262" y="1653768"/>
            <a:ext cx="2146288" cy="1780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文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本创作</a:t>
            </a:r>
          </a:p>
          <a:p>
            <a:pPr>
              <a:lnSpc>
                <a:spcPts val="77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30" dirty="0">
                <a:solidFill>
                  <a:srgbClr val="242424"/>
                </a:solidFill>
                <a:latin typeface="宋体"/>
                <a:ea typeface="宋体"/>
              </a:rPr>
              <a:t>文章</a:t>
            </a:r>
            <a:r>
              <a:rPr lang="zh-CN" altLang="en-US" sz="1200" spc="-20" dirty="0">
                <a:solidFill>
                  <a:srgbClr val="242424"/>
                </a:solidFill>
                <a:latin typeface="宋体"/>
                <a:ea typeface="宋体"/>
              </a:rPr>
              <a:t>/</a:t>
            </a:r>
            <a:r>
              <a:rPr lang="zh-CN" altLang="en-US" sz="1200" spc="-30" dirty="0">
                <a:solidFill>
                  <a:srgbClr val="242424"/>
                </a:solidFill>
                <a:latin typeface="宋体"/>
                <a:ea typeface="宋体"/>
              </a:rPr>
              <a:t>故事</a:t>
            </a:r>
            <a:r>
              <a:rPr lang="zh-CN" altLang="en-US" sz="1200" spc="-15" dirty="0">
                <a:solidFill>
                  <a:srgbClr val="242424"/>
                </a:solidFill>
                <a:latin typeface="宋体"/>
                <a:ea typeface="宋体"/>
              </a:rPr>
              <a:t>/</a:t>
            </a:r>
            <a:r>
              <a:rPr lang="zh-CN" altLang="en-US" sz="1200" spc="-35" dirty="0">
                <a:solidFill>
                  <a:srgbClr val="242424"/>
                </a:solidFill>
                <a:latin typeface="宋体"/>
                <a:ea typeface="宋体"/>
              </a:rPr>
              <a:t>诗歌</a:t>
            </a:r>
            <a:r>
              <a:rPr lang="zh-CN" altLang="en-US" sz="1200" spc="-30" dirty="0">
                <a:solidFill>
                  <a:srgbClr val="242424"/>
                </a:solidFill>
                <a:latin typeface="宋体"/>
                <a:ea typeface="宋体"/>
              </a:rPr>
              <a:t>写作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营销文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案、广告语生成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社交媒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体内容（如推文、帖子）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剧本或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对话设计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6B5E3"/>
                </a:solidFill>
                <a:latin typeface="宋体"/>
                <a:ea typeface="宋体"/>
              </a:rPr>
              <a:t>摘</a:t>
            </a:r>
            <a:r>
              <a:rPr lang="zh-CN" altLang="en-US" sz="1800" b="1" spc="-5" dirty="0">
                <a:solidFill>
                  <a:srgbClr val="56B5E3"/>
                </a:solidFill>
                <a:latin typeface="宋体"/>
                <a:ea typeface="宋体"/>
              </a:rPr>
              <a:t>要与改写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63725" y="3513111"/>
            <a:ext cx="60386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0" dirty="0">
                <a:solidFill>
                  <a:srgbClr val="FEFEFE"/>
                </a:solidFill>
                <a:latin typeface="宋体"/>
                <a:ea typeface="宋体"/>
              </a:rPr>
              <a:t>文本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60295" y="3513111"/>
            <a:ext cx="60386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64" dirty="0">
                <a:solidFill>
                  <a:srgbClr val="FEFEFE"/>
                </a:solidFill>
                <a:latin typeface="宋体"/>
                <a:ea typeface="宋体"/>
              </a:rPr>
              <a:t>生成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09732" y="3548331"/>
            <a:ext cx="350096" cy="2169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b="1" spc="170" dirty="0">
                <a:solidFill>
                  <a:srgbClr val="FEFEFE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71262" y="3537051"/>
            <a:ext cx="1841488" cy="660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长文本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摘要（论文、报告）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文本简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化（降低复杂度）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多语言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翻译与本地化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6573" y="4927945"/>
            <a:ext cx="235796" cy="2169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b="1" spc="170" dirty="0">
                <a:solidFill>
                  <a:srgbClr val="FEFEFE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71262" y="4659998"/>
            <a:ext cx="2603488" cy="806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结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构化生成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表格、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列表生成（如日程安排、菜谱）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242424"/>
                </a:solidFill>
                <a:latin typeface="宋体"/>
                <a:ea typeface="宋体"/>
              </a:rPr>
              <a:t>代码注</a:t>
            </a:r>
            <a:r>
              <a:rPr lang="zh-CN" altLang="en-US" sz="1200" dirty="0">
                <a:solidFill>
                  <a:srgbClr val="242424"/>
                </a:solidFill>
                <a:latin typeface="宋体"/>
                <a:ea typeface="宋体"/>
              </a:rPr>
              <a:t>释、文档撰写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/>
          <p:cNvSpPr/>
          <p:nvPr/>
        </p:nvSpPr>
        <p:spPr>
          <a:xfrm>
            <a:off x="7905750" y="3232150"/>
            <a:ext cx="234950" cy="234950"/>
          </a:xfrm>
          <a:custGeom>
            <a:avLst/>
            <a:gdLst>
              <a:gd name="connsiteX0" fmla="*/ 8381 w 234950"/>
              <a:gd name="connsiteY0" fmla="*/ 128270 h 234950"/>
              <a:gd name="connsiteX1" fmla="*/ 122148 w 234950"/>
              <a:gd name="connsiteY1" fmla="*/ 13614 h 234950"/>
              <a:gd name="connsiteX2" fmla="*/ 236384 w 234950"/>
              <a:gd name="connsiteY2" fmla="*/ 127838 h 234950"/>
              <a:gd name="connsiteX3" fmla="*/ 122148 w 234950"/>
              <a:gd name="connsiteY3" fmla="*/ 242074 h 234950"/>
              <a:gd name="connsiteX4" fmla="*/ 8381 w 234950"/>
              <a:gd name="connsiteY4" fmla="*/ 12827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50" h="234950">
                <a:moveTo>
                  <a:pt x="8381" y="128270"/>
                </a:moveTo>
                <a:cubicBezTo>
                  <a:pt x="7925" y="64757"/>
                  <a:pt x="59067" y="13614"/>
                  <a:pt x="122148" y="13614"/>
                </a:cubicBezTo>
                <a:cubicBezTo>
                  <a:pt x="185242" y="13614"/>
                  <a:pt x="236384" y="64757"/>
                  <a:pt x="236384" y="127838"/>
                </a:cubicBezTo>
                <a:cubicBezTo>
                  <a:pt x="236384" y="190931"/>
                  <a:pt x="185242" y="242074"/>
                  <a:pt x="122148" y="242074"/>
                </a:cubicBezTo>
                <a:cubicBezTo>
                  <a:pt x="59067" y="242074"/>
                  <a:pt x="7925" y="190931"/>
                  <a:pt x="8381" y="128270"/>
                </a:cubicBezTo>
                <a:close/>
              </a:path>
            </a:pathLst>
          </a:custGeom>
          <a:solidFill>
            <a:srgbClr val="DDF0F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981950" y="3308350"/>
            <a:ext cx="82550" cy="82550"/>
          </a:xfrm>
          <a:custGeom>
            <a:avLst/>
            <a:gdLst>
              <a:gd name="connsiteX0" fmla="*/ 6857 w 82550"/>
              <a:gd name="connsiteY0" fmla="*/ 52070 h 82550"/>
              <a:gd name="connsiteX1" fmla="*/ 45948 w 82550"/>
              <a:gd name="connsiteY1" fmla="*/ 12242 h 82550"/>
              <a:gd name="connsiteX2" fmla="*/ 85356 w 82550"/>
              <a:gd name="connsiteY2" fmla="*/ 51638 h 82550"/>
              <a:gd name="connsiteX3" fmla="*/ 45948 w 82550"/>
              <a:gd name="connsiteY3" fmla="*/ 91046 h 82550"/>
              <a:gd name="connsiteX4" fmla="*/ 6857 w 82550"/>
              <a:gd name="connsiteY4" fmla="*/ 52070 h 8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50" h="82550">
                <a:moveTo>
                  <a:pt x="6857" y="52070"/>
                </a:moveTo>
                <a:cubicBezTo>
                  <a:pt x="6553" y="29883"/>
                  <a:pt x="24193" y="12242"/>
                  <a:pt x="45948" y="12242"/>
                </a:cubicBezTo>
                <a:cubicBezTo>
                  <a:pt x="67716" y="12242"/>
                  <a:pt x="85356" y="29883"/>
                  <a:pt x="85356" y="51638"/>
                </a:cubicBezTo>
                <a:cubicBezTo>
                  <a:pt x="85356" y="73405"/>
                  <a:pt x="67716" y="91046"/>
                  <a:pt x="45948" y="91046"/>
                </a:cubicBezTo>
                <a:cubicBezTo>
                  <a:pt x="24193" y="91046"/>
                  <a:pt x="6553" y="73405"/>
                  <a:pt x="6857" y="52070"/>
                </a:cubicBezTo>
                <a:close/>
              </a:path>
            </a:pathLst>
          </a:custGeom>
          <a:solidFill>
            <a:srgbClr val="56B5E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3473450" y="2063750"/>
            <a:ext cx="234950" cy="234950"/>
          </a:xfrm>
          <a:custGeom>
            <a:avLst/>
            <a:gdLst>
              <a:gd name="connsiteX0" fmla="*/ 18034 w 234950"/>
              <a:gd name="connsiteY0" fmla="*/ 127761 h 234950"/>
              <a:gd name="connsiteX1" fmla="*/ 131559 w 234950"/>
              <a:gd name="connsiteY1" fmla="*/ 13868 h 234950"/>
              <a:gd name="connsiteX2" fmla="*/ 245795 w 234950"/>
              <a:gd name="connsiteY2" fmla="*/ 128104 h 234950"/>
              <a:gd name="connsiteX3" fmla="*/ 131559 w 234950"/>
              <a:gd name="connsiteY3" fmla="*/ 242328 h 234950"/>
              <a:gd name="connsiteX4" fmla="*/ 18034 w 234950"/>
              <a:gd name="connsiteY4" fmla="*/ 127761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50" h="234950">
                <a:moveTo>
                  <a:pt x="18034" y="127761"/>
                </a:moveTo>
                <a:cubicBezTo>
                  <a:pt x="17322" y="65011"/>
                  <a:pt x="68465" y="13868"/>
                  <a:pt x="131559" y="13868"/>
                </a:cubicBezTo>
                <a:cubicBezTo>
                  <a:pt x="194652" y="13868"/>
                  <a:pt x="245795" y="65011"/>
                  <a:pt x="245795" y="128104"/>
                </a:cubicBezTo>
                <a:cubicBezTo>
                  <a:pt x="245795" y="191185"/>
                  <a:pt x="194652" y="242328"/>
                  <a:pt x="131559" y="242328"/>
                </a:cubicBezTo>
                <a:cubicBezTo>
                  <a:pt x="68465" y="242328"/>
                  <a:pt x="17322" y="191185"/>
                  <a:pt x="18034" y="127761"/>
                </a:cubicBezTo>
                <a:close/>
              </a:path>
            </a:pathLst>
          </a:custGeom>
          <a:solidFill>
            <a:srgbClr val="DEE9F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3549650" y="2139950"/>
            <a:ext cx="82550" cy="82550"/>
          </a:xfrm>
          <a:custGeom>
            <a:avLst/>
            <a:gdLst>
              <a:gd name="connsiteX0" fmla="*/ 16509 w 82550"/>
              <a:gd name="connsiteY0" fmla="*/ 51561 h 82550"/>
              <a:gd name="connsiteX1" fmla="*/ 55359 w 82550"/>
              <a:gd name="connsiteY1" fmla="*/ 12496 h 82550"/>
              <a:gd name="connsiteX2" fmla="*/ 94754 w 82550"/>
              <a:gd name="connsiteY2" fmla="*/ 51904 h 82550"/>
              <a:gd name="connsiteX3" fmla="*/ 55359 w 82550"/>
              <a:gd name="connsiteY3" fmla="*/ 91300 h 82550"/>
              <a:gd name="connsiteX4" fmla="*/ 16509 w 82550"/>
              <a:gd name="connsiteY4" fmla="*/ 51561 h 8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50" h="82550">
                <a:moveTo>
                  <a:pt x="16509" y="51561"/>
                </a:moveTo>
                <a:cubicBezTo>
                  <a:pt x="15951" y="30137"/>
                  <a:pt x="33604" y="12496"/>
                  <a:pt x="55359" y="12496"/>
                </a:cubicBezTo>
                <a:cubicBezTo>
                  <a:pt x="77114" y="12496"/>
                  <a:pt x="94754" y="30137"/>
                  <a:pt x="94754" y="51904"/>
                </a:cubicBezTo>
                <a:cubicBezTo>
                  <a:pt x="94754" y="73660"/>
                  <a:pt x="77114" y="91300"/>
                  <a:pt x="55359" y="91300"/>
                </a:cubicBezTo>
                <a:cubicBezTo>
                  <a:pt x="33604" y="91300"/>
                  <a:pt x="15951" y="73660"/>
                  <a:pt x="16509" y="51561"/>
                </a:cubicBez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3498850" y="4476750"/>
            <a:ext cx="234950" cy="234950"/>
          </a:xfrm>
          <a:custGeom>
            <a:avLst/>
            <a:gdLst>
              <a:gd name="connsiteX0" fmla="*/ 6350 w 234950"/>
              <a:gd name="connsiteY0" fmla="*/ 127253 h 234950"/>
              <a:gd name="connsiteX1" fmla="*/ 120726 w 234950"/>
              <a:gd name="connsiteY1" fmla="*/ 12636 h 234950"/>
              <a:gd name="connsiteX2" fmla="*/ 234962 w 234950"/>
              <a:gd name="connsiteY2" fmla="*/ 126872 h 234950"/>
              <a:gd name="connsiteX3" fmla="*/ 120726 w 234950"/>
              <a:gd name="connsiteY3" fmla="*/ 241096 h 234950"/>
              <a:gd name="connsiteX4" fmla="*/ 6350 w 234950"/>
              <a:gd name="connsiteY4" fmla="*/ 127253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50" h="234950">
                <a:moveTo>
                  <a:pt x="6350" y="127253"/>
                </a:moveTo>
                <a:cubicBezTo>
                  <a:pt x="6489" y="63779"/>
                  <a:pt x="57632" y="12636"/>
                  <a:pt x="120726" y="12636"/>
                </a:cubicBezTo>
                <a:cubicBezTo>
                  <a:pt x="183819" y="12636"/>
                  <a:pt x="234962" y="63779"/>
                  <a:pt x="234962" y="126872"/>
                </a:cubicBezTo>
                <a:cubicBezTo>
                  <a:pt x="234962" y="189953"/>
                  <a:pt x="183819" y="241096"/>
                  <a:pt x="120726" y="241096"/>
                </a:cubicBezTo>
                <a:cubicBezTo>
                  <a:pt x="57632" y="241096"/>
                  <a:pt x="6489" y="189953"/>
                  <a:pt x="6350" y="127253"/>
                </a:cubicBezTo>
                <a:close/>
              </a:path>
            </a:pathLst>
          </a:custGeom>
          <a:solidFill>
            <a:srgbClr val="DCF4E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3562350" y="4552950"/>
            <a:ext cx="95250" cy="82550"/>
          </a:xfrm>
          <a:custGeom>
            <a:avLst/>
            <a:gdLst>
              <a:gd name="connsiteX0" fmla="*/ 17526 w 95250"/>
              <a:gd name="connsiteY0" fmla="*/ 51053 h 82550"/>
              <a:gd name="connsiteX1" fmla="*/ 57226 w 95250"/>
              <a:gd name="connsiteY1" fmla="*/ 11264 h 82550"/>
              <a:gd name="connsiteX2" fmla="*/ 96621 w 95250"/>
              <a:gd name="connsiteY2" fmla="*/ 50672 h 82550"/>
              <a:gd name="connsiteX3" fmla="*/ 57226 w 95250"/>
              <a:gd name="connsiteY3" fmla="*/ 90068 h 82550"/>
              <a:gd name="connsiteX4" fmla="*/ 17526 w 95250"/>
              <a:gd name="connsiteY4" fmla="*/ 51053 h 8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82550">
                <a:moveTo>
                  <a:pt x="17526" y="51053"/>
                </a:moveTo>
                <a:cubicBezTo>
                  <a:pt x="17830" y="28905"/>
                  <a:pt x="35471" y="11264"/>
                  <a:pt x="57226" y="11264"/>
                </a:cubicBezTo>
                <a:cubicBezTo>
                  <a:pt x="78981" y="11264"/>
                  <a:pt x="96621" y="28905"/>
                  <a:pt x="96621" y="50672"/>
                </a:cubicBezTo>
                <a:cubicBezTo>
                  <a:pt x="96621" y="72428"/>
                  <a:pt x="78981" y="90068"/>
                  <a:pt x="57226" y="90068"/>
                </a:cubicBezTo>
                <a:cubicBezTo>
                  <a:pt x="35471" y="90068"/>
                  <a:pt x="17830" y="72428"/>
                  <a:pt x="17526" y="51053"/>
                </a:cubicBezTo>
                <a:close/>
              </a:path>
            </a:pathLst>
          </a:custGeom>
          <a:solidFill>
            <a:srgbClr val="54C89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979" y="1440180"/>
            <a:ext cx="4099560" cy="4099560"/>
          </a:xfrm>
          <a:prstGeom prst="rect">
            <a:avLst/>
          </a:prstGeom>
        </p:spPr>
      </p:pic>
      <p:sp>
        <p:nvSpPr>
          <p:cNvPr id="2" name="TextBox 25"/>
          <p:cNvSpPr txBox="1"/>
          <p:nvPr/>
        </p:nvSpPr>
        <p:spPr>
          <a:xfrm>
            <a:off x="167716" y="179148"/>
            <a:ext cx="5352372" cy="36058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400" b="1" spc="254" dirty="0">
                <a:solidFill>
                  <a:srgbClr val="242424"/>
                </a:solidFill>
                <a:latin typeface="宋体"/>
                <a:ea typeface="宋体"/>
              </a:rPr>
              <a:t>自然语言理解</a:t>
            </a:r>
            <a:r>
              <a:rPr lang="zh-CN" altLang="en-US" sz="4400" b="1" spc="250" dirty="0">
                <a:solidFill>
                  <a:srgbClr val="242424"/>
                </a:solidFill>
                <a:latin typeface="宋体"/>
                <a:ea typeface="宋体"/>
              </a:rPr>
              <a:t>与分析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060702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5E94E5"/>
                </a:solidFill>
                <a:latin typeface="宋体"/>
                <a:ea typeface="宋体"/>
              </a:rPr>
              <a:t>语</a:t>
            </a:r>
            <a:r>
              <a:rPr lang="zh-CN" altLang="en-US" sz="2000" b="1" spc="-5" dirty="0">
                <a:solidFill>
                  <a:srgbClr val="5E94E5"/>
                </a:solidFill>
                <a:latin typeface="宋体"/>
                <a:ea typeface="宋体"/>
              </a:rPr>
              <a:t>义分析</a:t>
            </a:r>
          </a:p>
          <a:p>
            <a:pPr>
              <a:lnSpc>
                <a:spcPts val="910"/>
              </a:lnSpc>
            </a:pPr>
            <a:endParaRPr lang="en-US" dirty="0"/>
          </a:p>
          <a:p>
            <a:pPr marL="0" indent="618413">
              <a:lnSpc>
                <a:spcPct val="101250"/>
              </a:lnSpc>
            </a:pPr>
            <a:r>
              <a:rPr lang="zh-CN" altLang="en-US" sz="1800" spc="-10" dirty="0">
                <a:solidFill>
                  <a:srgbClr val="242424"/>
                </a:solidFill>
                <a:latin typeface="宋体"/>
                <a:ea typeface="宋体"/>
              </a:rPr>
              <a:t>语义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解析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618413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情感分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析（评论、反馈）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618413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意图识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别（客服对话、用户查询）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618413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实体提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取（人名、地点、事件）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4694" y="3176120"/>
            <a:ext cx="3137517" cy="1022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56B5E3"/>
                </a:solidFill>
                <a:latin typeface="宋体"/>
                <a:ea typeface="宋体"/>
              </a:rPr>
              <a:t>知</a:t>
            </a:r>
            <a:r>
              <a:rPr lang="zh-CN" altLang="en-US" sz="2000" b="1" spc="-5" dirty="0">
                <a:solidFill>
                  <a:srgbClr val="56B5E3"/>
                </a:solidFill>
                <a:latin typeface="宋体"/>
                <a:ea typeface="宋体"/>
              </a:rPr>
              <a:t>识推理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10" dirty="0">
                <a:solidFill>
                  <a:srgbClr val="242424"/>
                </a:solidFill>
                <a:latin typeface="宋体"/>
                <a:ea typeface="宋体"/>
              </a:rPr>
              <a:t>知识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推理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94" dirty="0">
                <a:solidFill>
                  <a:srgbClr val="242424"/>
                </a:solidFill>
                <a:latin typeface="宋体"/>
                <a:ea typeface="宋体"/>
              </a:rPr>
              <a:t>逻辑问题解</a:t>
            </a:r>
            <a:r>
              <a:rPr lang="zh-CN" altLang="en-US" sz="1800" spc="89" dirty="0">
                <a:solidFill>
                  <a:srgbClr val="242424"/>
                </a:solidFill>
                <a:latin typeface="宋体"/>
                <a:ea typeface="宋体"/>
              </a:rPr>
              <a:t>答（数学、常识推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6130" y="4779797"/>
            <a:ext cx="9270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10" dirty="0">
                <a:solidFill>
                  <a:srgbClr val="242424"/>
                </a:solidFill>
                <a:latin typeface="宋体"/>
                <a:ea typeface="宋体"/>
              </a:rPr>
              <a:t>文本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分类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28418" y="4419754"/>
            <a:ext cx="1031220" cy="309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54C893"/>
                </a:solidFill>
                <a:latin typeface="宋体"/>
                <a:ea typeface="宋体"/>
              </a:rPr>
              <a:t>文</a:t>
            </a:r>
            <a:r>
              <a:rPr lang="zh-CN" altLang="en-US" sz="2000" b="1" spc="-5" dirty="0">
                <a:solidFill>
                  <a:srgbClr val="54C893"/>
                </a:solidFill>
                <a:latin typeface="宋体"/>
                <a:ea typeface="宋体"/>
              </a:rPr>
              <a:t>本分类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54694" y="4277575"/>
            <a:ext cx="2527282" cy="633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10" dirty="0">
                <a:solidFill>
                  <a:srgbClr val="242424"/>
                </a:solidFill>
                <a:latin typeface="宋体"/>
                <a:ea typeface="宋体"/>
              </a:rPr>
              <a:t>理）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因果分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析（事件关联性）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6130" y="5136032"/>
            <a:ext cx="2984482" cy="633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主题标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签生成（如新闻分类）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垃圾内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容检测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1"/>
          <p:cNvSpPr/>
          <p:nvPr/>
        </p:nvSpPr>
        <p:spPr>
          <a:xfrm>
            <a:off x="4311650" y="2051050"/>
            <a:ext cx="2482850" cy="3663950"/>
          </a:xfrm>
          <a:custGeom>
            <a:avLst/>
            <a:gdLst>
              <a:gd name="connsiteX0" fmla="*/ 2362733 w 2482850"/>
              <a:gd name="connsiteY0" fmla="*/ 473519 h 3663950"/>
              <a:gd name="connsiteX1" fmla="*/ 197332 w 2482850"/>
              <a:gd name="connsiteY1" fmla="*/ 14300 h 3663950"/>
              <a:gd name="connsiteX2" fmla="*/ 17132 w 2482850"/>
              <a:gd name="connsiteY2" fmla="*/ 192303 h 3663950"/>
              <a:gd name="connsiteX3" fmla="*/ 17132 w 2482850"/>
              <a:gd name="connsiteY3" fmla="*/ 3488740 h 3663950"/>
              <a:gd name="connsiteX4" fmla="*/ 197840 w 2482850"/>
              <a:gd name="connsiteY4" fmla="*/ 3666744 h 3663950"/>
              <a:gd name="connsiteX5" fmla="*/ 2363228 w 2482850"/>
              <a:gd name="connsiteY5" fmla="*/ 3197466 h 3663950"/>
              <a:gd name="connsiteX6" fmla="*/ 2488653 w 2482850"/>
              <a:gd name="connsiteY6" fmla="*/ 3019462 h 3663950"/>
              <a:gd name="connsiteX7" fmla="*/ 2488653 w 2482850"/>
              <a:gd name="connsiteY7" fmla="*/ 651522 h 3663950"/>
              <a:gd name="connsiteX8" fmla="*/ 2362733 w 2482850"/>
              <a:gd name="connsiteY8" fmla="*/ 473519 h 366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850" h="3663950">
                <a:moveTo>
                  <a:pt x="2362733" y="473519"/>
                </a:moveTo>
                <a:lnTo>
                  <a:pt x="197332" y="14300"/>
                </a:lnTo>
                <a:cubicBezTo>
                  <a:pt x="103479" y="-5638"/>
                  <a:pt x="17132" y="79616"/>
                  <a:pt x="17132" y="192303"/>
                </a:cubicBezTo>
                <a:lnTo>
                  <a:pt x="17132" y="3488740"/>
                </a:lnTo>
                <a:cubicBezTo>
                  <a:pt x="17132" y="3601821"/>
                  <a:pt x="103809" y="3687076"/>
                  <a:pt x="197840" y="3666744"/>
                </a:cubicBezTo>
                <a:lnTo>
                  <a:pt x="2363228" y="3197466"/>
                </a:lnTo>
                <a:cubicBezTo>
                  <a:pt x="2435885" y="3181680"/>
                  <a:pt x="2488653" y="3106877"/>
                  <a:pt x="2488653" y="3019462"/>
                </a:cubicBezTo>
                <a:lnTo>
                  <a:pt x="2488653" y="651522"/>
                </a:lnTo>
                <a:cubicBezTo>
                  <a:pt x="2488818" y="563905"/>
                  <a:pt x="2435707" y="488911"/>
                  <a:pt x="2362733" y="473519"/>
                </a:cubicBezTo>
                <a:close/>
              </a:path>
            </a:pathLst>
          </a:custGeom>
          <a:solidFill>
            <a:srgbClr val="F3F7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7613650" y="2051050"/>
            <a:ext cx="2482850" cy="3663950"/>
          </a:xfrm>
          <a:custGeom>
            <a:avLst/>
            <a:gdLst>
              <a:gd name="connsiteX0" fmla="*/ 2359888 w 2482850"/>
              <a:gd name="connsiteY0" fmla="*/ 473519 h 3663950"/>
              <a:gd name="connsiteX1" fmla="*/ 194500 w 2482850"/>
              <a:gd name="connsiteY1" fmla="*/ 14300 h 3663950"/>
              <a:gd name="connsiteX2" fmla="*/ 14299 w 2482850"/>
              <a:gd name="connsiteY2" fmla="*/ 192303 h 3663950"/>
              <a:gd name="connsiteX3" fmla="*/ 14299 w 2482850"/>
              <a:gd name="connsiteY3" fmla="*/ 3488740 h 3663950"/>
              <a:gd name="connsiteX4" fmla="*/ 194995 w 2482850"/>
              <a:gd name="connsiteY4" fmla="*/ 3666744 h 3663950"/>
              <a:gd name="connsiteX5" fmla="*/ 2360396 w 2482850"/>
              <a:gd name="connsiteY5" fmla="*/ 3197466 h 3663950"/>
              <a:gd name="connsiteX6" fmla="*/ 2485821 w 2482850"/>
              <a:gd name="connsiteY6" fmla="*/ 3019462 h 3663950"/>
              <a:gd name="connsiteX7" fmla="*/ 2485821 w 2482850"/>
              <a:gd name="connsiteY7" fmla="*/ 651522 h 3663950"/>
              <a:gd name="connsiteX8" fmla="*/ 2359888 w 2482850"/>
              <a:gd name="connsiteY8" fmla="*/ 473519 h 366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850" h="3663950">
                <a:moveTo>
                  <a:pt x="2359888" y="473519"/>
                </a:moveTo>
                <a:lnTo>
                  <a:pt x="194500" y="14300"/>
                </a:lnTo>
                <a:cubicBezTo>
                  <a:pt x="100647" y="-5638"/>
                  <a:pt x="14299" y="79616"/>
                  <a:pt x="14299" y="192303"/>
                </a:cubicBezTo>
                <a:lnTo>
                  <a:pt x="14299" y="3488740"/>
                </a:lnTo>
                <a:cubicBezTo>
                  <a:pt x="14299" y="3601821"/>
                  <a:pt x="100977" y="3687076"/>
                  <a:pt x="194995" y="3666744"/>
                </a:cubicBezTo>
                <a:lnTo>
                  <a:pt x="2360396" y="3197466"/>
                </a:lnTo>
                <a:cubicBezTo>
                  <a:pt x="2433040" y="3181680"/>
                  <a:pt x="2485821" y="3106877"/>
                  <a:pt x="2485821" y="3019462"/>
                </a:cubicBezTo>
                <a:lnTo>
                  <a:pt x="2485821" y="651522"/>
                </a:lnTo>
                <a:cubicBezTo>
                  <a:pt x="2485987" y="563905"/>
                  <a:pt x="2432875" y="488911"/>
                  <a:pt x="2359888" y="473519"/>
                </a:cubicBezTo>
                <a:close/>
              </a:path>
            </a:pathLst>
          </a:custGeom>
          <a:solidFill>
            <a:srgbClr val="F3F7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022350" y="2051050"/>
            <a:ext cx="2470150" cy="3663950"/>
          </a:xfrm>
          <a:custGeom>
            <a:avLst/>
            <a:gdLst>
              <a:gd name="connsiteX0" fmla="*/ 2352154 w 2470150"/>
              <a:gd name="connsiteY0" fmla="*/ 473519 h 3663950"/>
              <a:gd name="connsiteX1" fmla="*/ 186753 w 2470150"/>
              <a:gd name="connsiteY1" fmla="*/ 14300 h 3663950"/>
              <a:gd name="connsiteX2" fmla="*/ 6553 w 2470150"/>
              <a:gd name="connsiteY2" fmla="*/ 192303 h 3663950"/>
              <a:gd name="connsiteX3" fmla="*/ 6553 w 2470150"/>
              <a:gd name="connsiteY3" fmla="*/ 3488740 h 3663950"/>
              <a:gd name="connsiteX4" fmla="*/ 187261 w 2470150"/>
              <a:gd name="connsiteY4" fmla="*/ 3666744 h 3663950"/>
              <a:gd name="connsiteX5" fmla="*/ 2352649 w 2470150"/>
              <a:gd name="connsiteY5" fmla="*/ 3197466 h 3663950"/>
              <a:gd name="connsiteX6" fmla="*/ 2478074 w 2470150"/>
              <a:gd name="connsiteY6" fmla="*/ 3019462 h 3663950"/>
              <a:gd name="connsiteX7" fmla="*/ 2478074 w 2470150"/>
              <a:gd name="connsiteY7" fmla="*/ 651522 h 3663950"/>
              <a:gd name="connsiteX8" fmla="*/ 2352154 w 2470150"/>
              <a:gd name="connsiteY8" fmla="*/ 473519 h 366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0150" h="3663950">
                <a:moveTo>
                  <a:pt x="2352154" y="473519"/>
                </a:moveTo>
                <a:lnTo>
                  <a:pt x="186753" y="14300"/>
                </a:lnTo>
                <a:cubicBezTo>
                  <a:pt x="92900" y="-5638"/>
                  <a:pt x="6553" y="79616"/>
                  <a:pt x="6553" y="192303"/>
                </a:cubicBezTo>
                <a:lnTo>
                  <a:pt x="6553" y="3488740"/>
                </a:lnTo>
                <a:cubicBezTo>
                  <a:pt x="6553" y="3601821"/>
                  <a:pt x="93230" y="3687076"/>
                  <a:pt x="187261" y="3666744"/>
                </a:cubicBezTo>
                <a:lnTo>
                  <a:pt x="2352649" y="3197466"/>
                </a:lnTo>
                <a:cubicBezTo>
                  <a:pt x="2425306" y="3181680"/>
                  <a:pt x="2478074" y="3106877"/>
                  <a:pt x="2478074" y="3019462"/>
                </a:cubicBezTo>
                <a:lnTo>
                  <a:pt x="2478074" y="651522"/>
                </a:lnTo>
                <a:cubicBezTo>
                  <a:pt x="2478239" y="563905"/>
                  <a:pt x="2425128" y="488911"/>
                  <a:pt x="2352154" y="473519"/>
                </a:cubicBezTo>
                <a:close/>
              </a:path>
            </a:pathLst>
          </a:custGeom>
          <a:solidFill>
            <a:srgbClr val="F3F7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1821180"/>
            <a:ext cx="838200" cy="82296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1821180"/>
            <a:ext cx="830580" cy="82296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959" y="1821180"/>
            <a:ext cx="830580" cy="822960"/>
          </a:xfrm>
          <a:prstGeom prst="rect">
            <a:avLst/>
          </a:prstGeom>
        </p:spPr>
      </p:pic>
      <p:sp>
        <p:nvSpPr>
          <p:cNvPr id="2" name="TextBox 37"/>
          <p:cNvSpPr txBox="1"/>
          <p:nvPr/>
        </p:nvSpPr>
        <p:spPr>
          <a:xfrm>
            <a:off x="90246" y="77952"/>
            <a:ext cx="4626563" cy="740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800" b="1" spc="245" dirty="0">
                <a:solidFill>
                  <a:srgbClr val="242424"/>
                </a:solidFill>
                <a:latin typeface="宋体"/>
                <a:ea typeface="宋体"/>
              </a:rPr>
              <a:t>编程</a:t>
            </a:r>
            <a:r>
              <a:rPr lang="zh-CN" altLang="en-US" sz="4800" b="1" spc="240" dirty="0">
                <a:solidFill>
                  <a:srgbClr val="242424"/>
                </a:solidFill>
                <a:latin typeface="宋体"/>
                <a:ea typeface="宋体"/>
              </a:rPr>
              <a:t>与代码相关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2669" y="2959173"/>
            <a:ext cx="2195812" cy="24628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9104">
              <a:lnSpc>
                <a:spcPct val="100833"/>
              </a:lnSpc>
            </a:pPr>
            <a:r>
              <a:rPr lang="zh-CN" altLang="en-US" sz="2800" b="1" spc="-15" dirty="0">
                <a:solidFill>
                  <a:srgbClr val="5E94E5"/>
                </a:solidFill>
                <a:latin typeface="宋体"/>
                <a:ea typeface="宋体"/>
              </a:rPr>
              <a:t>代码</a:t>
            </a:r>
            <a:r>
              <a:rPr lang="zh-CN" altLang="en-US" sz="2800" b="1" spc="-10" dirty="0">
                <a:solidFill>
                  <a:srgbClr val="5E94E5"/>
                </a:solidFill>
                <a:latin typeface="宋体"/>
                <a:ea typeface="宋体"/>
              </a:rPr>
              <a:t>生成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285750" indent="-285750" hangingPunct="0">
              <a:lnSpc>
                <a:spcPct val="139583"/>
              </a:lnSpc>
            </a:pPr>
            <a:r>
              <a:rPr lang="en-US" altLang="zh-CN" sz="1800" spc="100" dirty="0">
                <a:solidFill>
                  <a:srgbClr val="242424"/>
                </a:solidFill>
                <a:latin typeface="Arial"/>
                <a:ea typeface="Arial"/>
              </a:rPr>
              <a:t>•</a:t>
            </a:r>
            <a:r>
              <a:rPr lang="en-US" altLang="zh-CN" sz="1800" spc="89" dirty="0">
                <a:solidFill>
                  <a:srgbClr val="242424"/>
                </a:solidFill>
                <a:latin typeface="Arial"/>
                <a:cs typeface="Arial"/>
              </a:rPr>
              <a:t>  </a:t>
            </a:r>
            <a:r>
              <a:rPr lang="zh-CN" altLang="en-US" sz="1800" spc="295" dirty="0">
                <a:solidFill>
                  <a:srgbClr val="242424"/>
                </a:solidFill>
                <a:latin typeface="宋体"/>
                <a:ea typeface="宋体"/>
              </a:rPr>
              <a:t>根据需求生成代</a:t>
            </a:r>
            <a:r>
              <a:rPr lang="zh-CN" altLang="en-US" sz="1800" spc="60" dirty="0">
                <a:solidFill>
                  <a:srgbClr val="242424"/>
                </a:solidFill>
                <a:latin typeface="宋体"/>
                <a:ea typeface="宋体"/>
              </a:rPr>
              <a:t>码片段（</a:t>
            </a:r>
            <a:r>
              <a:rPr lang="zh-CN" altLang="en-US" sz="1800" spc="30" dirty="0">
                <a:solidFill>
                  <a:srgbClr val="242424"/>
                </a:solidFill>
                <a:latin typeface="宋体"/>
                <a:ea typeface="宋体"/>
              </a:rPr>
              <a:t>Python</a:t>
            </a:r>
            <a:r>
              <a:rPr lang="zh-CN" altLang="en-US" sz="1800" spc="64" dirty="0">
                <a:solidFill>
                  <a:srgbClr val="242424"/>
                </a:solidFill>
                <a:latin typeface="宋体"/>
                <a:ea typeface="宋体"/>
              </a:rPr>
              <a:t>、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JavaScript</a:t>
            </a:r>
            <a:r>
              <a:rPr lang="zh-CN" altLang="en-US" sz="1800" spc="25" dirty="0">
                <a:solidFill>
                  <a:srgbClr val="242424"/>
                </a:solidFill>
                <a:latin typeface="宋体"/>
                <a:ea typeface="宋体"/>
              </a:rPr>
              <a:t>）</a:t>
            </a:r>
          </a:p>
          <a:p>
            <a:pPr marL="0">
              <a:lnSpc>
                <a:spcPct val="101250"/>
              </a:lnSpc>
            </a:pPr>
            <a:r>
              <a:rPr lang="en-US" altLang="zh-CN" sz="1800" spc="100" dirty="0">
                <a:solidFill>
                  <a:srgbClr val="242424"/>
                </a:solidFill>
                <a:latin typeface="Arial"/>
                <a:ea typeface="Arial"/>
              </a:rPr>
              <a:t>•</a:t>
            </a:r>
            <a:r>
              <a:rPr lang="en-US" altLang="zh-CN" sz="1800" spc="80" dirty="0">
                <a:solidFill>
                  <a:srgbClr val="242424"/>
                </a:solidFill>
                <a:latin typeface="Arial"/>
                <a:cs typeface="Arial"/>
              </a:rPr>
              <a:t>  </a:t>
            </a:r>
            <a:r>
              <a:rPr lang="zh-CN" altLang="en-US" sz="1800" spc="295" dirty="0">
                <a:solidFill>
                  <a:srgbClr val="242424"/>
                </a:solidFill>
                <a:latin typeface="宋体"/>
                <a:ea typeface="宋体"/>
              </a:rPr>
              <a:t>自动补全与注释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242424"/>
                </a:solidFill>
                <a:latin typeface="宋体"/>
                <a:ea typeface="宋体"/>
              </a:rPr>
              <a:t>生成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12945" y="2959173"/>
            <a:ext cx="2117072" cy="2079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38708">
              <a:lnSpc>
                <a:spcPct val="100833"/>
              </a:lnSpc>
            </a:pPr>
            <a:r>
              <a:rPr lang="zh-CN" altLang="en-US" sz="2800" b="1" spc="-15" dirty="0">
                <a:solidFill>
                  <a:srgbClr val="5E94E5"/>
                </a:solidFill>
                <a:latin typeface="宋体"/>
                <a:ea typeface="宋体"/>
              </a:rPr>
              <a:t>代码</a:t>
            </a:r>
            <a:r>
              <a:rPr lang="zh-CN" altLang="en-US" sz="2800" b="1" spc="-10" dirty="0">
                <a:solidFill>
                  <a:srgbClr val="5E94E5"/>
                </a:solidFill>
                <a:latin typeface="宋体"/>
                <a:ea typeface="宋体"/>
              </a:rPr>
              <a:t>调试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100" dirty="0">
                <a:solidFill>
                  <a:srgbClr val="242424"/>
                </a:solidFill>
                <a:latin typeface="Arial"/>
                <a:ea typeface="Arial"/>
              </a:rPr>
              <a:t>•</a:t>
            </a:r>
            <a:r>
              <a:rPr lang="en-US" altLang="zh-CN" sz="1800" spc="80" dirty="0">
                <a:solidFill>
                  <a:srgbClr val="242424"/>
                </a:solidFill>
                <a:latin typeface="Arial"/>
                <a:cs typeface="Arial"/>
              </a:rPr>
              <a:t>  </a:t>
            </a:r>
            <a:r>
              <a:rPr lang="zh-CN" altLang="en-US" sz="1800" spc="295" dirty="0">
                <a:solidFill>
                  <a:srgbClr val="242424"/>
                </a:solidFill>
                <a:latin typeface="宋体"/>
                <a:ea typeface="宋体"/>
              </a:rPr>
              <a:t>错误分析与修复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242424"/>
                </a:solidFill>
                <a:latin typeface="宋体"/>
                <a:ea typeface="宋体"/>
              </a:rPr>
              <a:t>建议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100" dirty="0">
                <a:solidFill>
                  <a:srgbClr val="242424"/>
                </a:solidFill>
                <a:latin typeface="Arial"/>
                <a:ea typeface="Arial"/>
              </a:rPr>
              <a:t>•</a:t>
            </a:r>
            <a:r>
              <a:rPr lang="en-US" altLang="zh-CN" sz="1800" spc="80" dirty="0">
                <a:solidFill>
                  <a:srgbClr val="242424"/>
                </a:solidFill>
                <a:latin typeface="Arial"/>
                <a:cs typeface="Arial"/>
              </a:rPr>
              <a:t>  </a:t>
            </a:r>
            <a:r>
              <a:rPr lang="zh-CN" altLang="en-US" sz="1800" spc="295" dirty="0">
                <a:solidFill>
                  <a:srgbClr val="242424"/>
                </a:solidFill>
                <a:latin typeface="宋体"/>
                <a:ea typeface="宋体"/>
              </a:rPr>
              <a:t>代码性能优化提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5" dirty="0">
                <a:solidFill>
                  <a:srgbClr val="242424"/>
                </a:solidFill>
                <a:latin typeface="宋体"/>
                <a:ea typeface="宋体"/>
              </a:rPr>
              <a:t>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89850" y="2959072"/>
            <a:ext cx="2148812" cy="1695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2800" b="1" spc="-15" dirty="0">
                <a:solidFill>
                  <a:srgbClr val="5E94E5"/>
                </a:solidFill>
                <a:latin typeface="宋体"/>
                <a:ea typeface="宋体"/>
              </a:rPr>
              <a:t>技术文</a:t>
            </a:r>
            <a:r>
              <a:rPr lang="zh-CN" altLang="en-US" sz="2800" b="1" spc="-5" dirty="0">
                <a:solidFill>
                  <a:srgbClr val="5E94E5"/>
                </a:solidFill>
                <a:latin typeface="宋体"/>
                <a:ea typeface="宋体"/>
              </a:rPr>
              <a:t>档处理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71755">
              <a:lnSpc>
                <a:spcPct val="101250"/>
              </a:lnSpc>
            </a:pPr>
            <a:r>
              <a:rPr lang="en-US" altLang="zh-CN" sz="1800" dirty="0">
                <a:solidFill>
                  <a:srgbClr val="242424"/>
                </a:solidFill>
                <a:latin typeface="Arial"/>
                <a:ea typeface="Arial"/>
              </a:rPr>
              <a:t>•</a:t>
            </a:r>
            <a:r>
              <a:rPr lang="en-US" altLang="zh-CN" sz="1800" spc="100" dirty="0">
                <a:solidFill>
                  <a:srgbClr val="242424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242424"/>
                </a:solidFill>
                <a:latin typeface="宋体"/>
                <a:ea typeface="宋体"/>
              </a:rPr>
              <a:t>API文档生成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indent="71755">
              <a:lnSpc>
                <a:spcPct val="101250"/>
              </a:lnSpc>
            </a:pPr>
            <a:r>
              <a:rPr lang="en-US" altLang="zh-CN" sz="1800" spc="34" dirty="0">
                <a:solidFill>
                  <a:srgbClr val="242424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242424"/>
                </a:solidFill>
                <a:latin typeface="Arial"/>
                <a:cs typeface="Arial"/>
              </a:rPr>
              <a:t>   </a:t>
            </a:r>
            <a:r>
              <a:rPr lang="zh-CN" altLang="en-US" sz="1800" spc="104" dirty="0">
                <a:solidFill>
                  <a:srgbClr val="242424"/>
                </a:solidFill>
                <a:latin typeface="宋体"/>
                <a:ea typeface="宋体"/>
              </a:rPr>
              <a:t>代码库解释与示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indent="357505">
              <a:lnSpc>
                <a:spcPct val="101250"/>
              </a:lnSpc>
            </a:pPr>
            <a:r>
              <a:rPr lang="zh-CN" altLang="en-US" sz="1800" spc="-5" dirty="0">
                <a:solidFill>
                  <a:srgbClr val="242424"/>
                </a:solidFill>
                <a:latin typeface="宋体"/>
                <a:ea typeface="宋体"/>
              </a:rPr>
              <a:t>例生成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1432560"/>
            <a:ext cx="9662159" cy="3992879"/>
          </a:xfrm>
          <a:prstGeom prst="rect">
            <a:avLst/>
          </a:prstGeom>
        </p:spPr>
      </p:pic>
      <p:sp>
        <p:nvSpPr>
          <p:cNvPr id="2" name="TextBox 42"/>
          <p:cNvSpPr txBox="1"/>
          <p:nvPr/>
        </p:nvSpPr>
        <p:spPr>
          <a:xfrm>
            <a:off x="376554" y="289633"/>
            <a:ext cx="227453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14" dirty="0">
                <a:solidFill>
                  <a:srgbClr val="242424"/>
                </a:solidFill>
                <a:latin typeface="宋体"/>
                <a:ea typeface="宋体"/>
              </a:rPr>
              <a:t>常规</a:t>
            </a:r>
            <a:r>
              <a:rPr lang="zh-CN" altLang="en-US" sz="4000" b="1" spc="204" dirty="0">
                <a:solidFill>
                  <a:srgbClr val="242424"/>
                </a:solidFill>
                <a:latin typeface="宋体"/>
                <a:ea typeface="宋体"/>
              </a:rPr>
              <a:t>绘图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303020"/>
            <a:ext cx="11338560" cy="5554980"/>
          </a:xfrm>
          <a:prstGeom prst="rect">
            <a:avLst/>
          </a:prstGeom>
        </p:spPr>
      </p:pic>
      <p:sp>
        <p:nvSpPr>
          <p:cNvPr id="2" name="TextBox 44"/>
          <p:cNvSpPr txBox="1"/>
          <p:nvPr/>
        </p:nvSpPr>
        <p:spPr>
          <a:xfrm>
            <a:off x="376554" y="289633"/>
            <a:ext cx="555557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59" dirty="0">
                <a:solidFill>
                  <a:srgbClr val="242424"/>
                </a:solidFill>
                <a:latin typeface="宋体"/>
                <a:ea typeface="宋体"/>
              </a:rPr>
              <a:t>如何使用</a:t>
            </a:r>
            <a:r>
              <a:rPr lang="en-US" altLang="zh-CN" sz="4000" b="1" spc="215" dirty="0">
                <a:solidFill>
                  <a:srgbClr val="242424"/>
                </a:solidFill>
                <a:latin typeface="Arial"/>
                <a:ea typeface="Arial"/>
              </a:rPr>
              <a:t>DeepSeek</a:t>
            </a:r>
            <a:r>
              <a:rPr lang="zh-CN" altLang="en-US" sz="4000" b="1" spc="370" dirty="0">
                <a:solidFill>
                  <a:srgbClr val="242424"/>
                </a:solidFill>
                <a:latin typeface="宋体"/>
                <a:ea typeface="宋体"/>
              </a:rPr>
              <a:t>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1219" y="1022474"/>
            <a:ext cx="2793925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https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://chat.deepseek.com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6"/>
          <p:cNvSpPr txBox="1"/>
          <p:nvPr/>
        </p:nvSpPr>
        <p:spPr>
          <a:xfrm>
            <a:off x="3406775" y="2742638"/>
            <a:ext cx="500820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0" dirty="0">
                <a:solidFill>
                  <a:srgbClr val="242424"/>
                </a:solidFill>
                <a:latin typeface="宋体"/>
                <a:ea typeface="宋体"/>
              </a:rPr>
              <a:t>如何从入门到</a:t>
            </a: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精通？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10739" y="4168747"/>
            <a:ext cx="7223732" cy="430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2800" spc="-5" dirty="0">
                <a:solidFill>
                  <a:srgbClr val="000000"/>
                </a:solidFill>
                <a:latin typeface="宋体"/>
                <a:ea typeface="宋体"/>
              </a:rPr>
              <a:t>当人人都会用</a:t>
            </a:r>
            <a:r>
              <a:rPr lang="zh-CN" altLang="en-US" sz="2800" spc="-10" dirty="0">
                <a:solidFill>
                  <a:srgbClr val="000000"/>
                </a:solidFill>
                <a:latin typeface="宋体"/>
                <a:ea typeface="宋体"/>
              </a:rPr>
              <a:t>AI时，你如</a:t>
            </a:r>
            <a:r>
              <a:rPr lang="zh-CN" altLang="en-US" sz="2800" spc="-5" dirty="0">
                <a:solidFill>
                  <a:srgbClr val="000000"/>
                </a:solidFill>
                <a:latin typeface="宋体"/>
                <a:ea typeface="宋体"/>
              </a:rPr>
              <a:t>何用得更好更出彩？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8"/>
          <p:cNvSpPr txBox="1"/>
          <p:nvPr/>
        </p:nvSpPr>
        <p:spPr>
          <a:xfrm>
            <a:off x="376554" y="289633"/>
            <a:ext cx="227453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14" dirty="0">
                <a:solidFill>
                  <a:srgbClr val="242424"/>
                </a:solidFill>
                <a:latin typeface="宋体"/>
                <a:ea typeface="宋体"/>
              </a:rPr>
              <a:t>推理</a:t>
            </a:r>
            <a:r>
              <a:rPr lang="zh-CN" altLang="en-US" sz="4000" b="1" spc="204" dirty="0">
                <a:solidFill>
                  <a:srgbClr val="242424"/>
                </a:solidFill>
                <a:latin typeface="宋体"/>
                <a:ea typeface="宋体"/>
              </a:rPr>
              <a:t>模型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44830" y="1266342"/>
            <a:ext cx="11054701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15" dirty="0">
                <a:solidFill>
                  <a:srgbClr val="000000"/>
                </a:solidFill>
                <a:latin typeface="宋体"/>
                <a:ea typeface="宋体"/>
              </a:rPr>
              <a:t>推理大模型：</a:t>
            </a:r>
            <a:r>
              <a:rPr lang="zh-CN" altLang="en-US" sz="1800" b="1" spc="-2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15" dirty="0">
                <a:solidFill>
                  <a:srgbClr val="000000"/>
                </a:solidFill>
                <a:latin typeface="宋体"/>
                <a:ea typeface="宋体"/>
              </a:rPr>
              <a:t>推理大模型是指能够在传统的大语言模型基础上，强化推理、逻辑分析和决策能力的模型。它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44830" y="1622577"/>
            <a:ext cx="10071082" cy="7317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们通常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具备额外的技术，比如强化学习、神经符号推理、元学习等，来增强其推理和问题解决能力。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indent="4571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例如：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DeepSeek-R1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GPT-o3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在逻辑推理、数学推理和实时问题解决方面表现突出。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9590" y="2545232"/>
            <a:ext cx="11177250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非推理大模型：</a:t>
            </a:r>
            <a:r>
              <a:rPr lang="zh-CN" altLang="en-US" sz="1800" b="1" spc="-35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适用于大多数任务，非推理大模型一般侧重于语言生成、上下文理解和自然语言处理，而不强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9590" y="2901467"/>
            <a:ext cx="11062959" cy="14474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5" dirty="0">
                <a:solidFill>
                  <a:srgbClr val="000000"/>
                </a:solidFill>
                <a:latin typeface="宋体"/>
                <a:ea typeface="宋体"/>
              </a:rPr>
              <a:t>调深度推理能力。此类模型通常通过对大量文本数据的</a:t>
            </a:r>
            <a:r>
              <a:rPr lang="zh-CN" altLang="en-US" sz="1800" spc="10" dirty="0">
                <a:solidFill>
                  <a:srgbClr val="000000"/>
                </a:solidFill>
                <a:latin typeface="宋体"/>
                <a:ea typeface="宋体"/>
              </a:rPr>
              <a:t>训练，掌握语言规律并能够生成合适的内容，但缺乏像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推理模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型那样复杂的推理和决策能力。</a:t>
            </a:r>
          </a:p>
          <a:p>
            <a:pPr>
              <a:lnSpc>
                <a:spcPts val="1410"/>
              </a:lnSpc>
            </a:pPr>
            <a:endParaRPr lang="en-US" dirty="0"/>
          </a:p>
          <a:p>
            <a:pPr marL="0" indent="60959">
              <a:lnSpc>
                <a:spcPct val="101250"/>
              </a:lnSpc>
            </a:pPr>
            <a:r>
              <a:rPr lang="en-US" altLang="zh-CN" sz="1800" spc="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例如：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GPT-3</a:t>
            </a:r>
            <a:r>
              <a:rPr lang="zh-CN" altLang="en-US" sz="1800" spc="40" dirty="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GPT-4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OpenAI</a:t>
            </a: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），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BERT</a:t>
            </a: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Google</a:t>
            </a: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），主要用于语言生成、语言理解、文本分类、翻译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46709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等任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务。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5634" y="4457065"/>
          <a:ext cx="10923270" cy="1887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9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564">
                <a:tc>
                  <a:txBody>
                    <a:bodyPr/>
                    <a:lstStyle/>
                    <a:p>
                      <a:pPr marL="0" indent="843914">
                        <a:lnSpc>
                          <a:spcPct val="101666"/>
                        </a:lnSpc>
                        <a:spcBef>
                          <a:spcPts val="309"/>
                        </a:spcBef>
                      </a:pP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96109">
                        <a:lnSpc>
                          <a:spcPct val="101666"/>
                        </a:lnSpc>
                        <a:spcBef>
                          <a:spcPts val="309"/>
                        </a:spcBef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787525">
                        <a:lnSpc>
                          <a:spcPct val="101666"/>
                        </a:lnSpc>
                        <a:spcBef>
                          <a:spcPts val="309"/>
                        </a:spcBef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666115">
                        <a:lnSpc>
                          <a:spcPct val="101666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优势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领域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384810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学推导、逻辑分析、代码生成、复杂问题拆解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365125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文本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生成、创意写作、多轮对话、开放性问答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666115">
                        <a:lnSpc>
                          <a:spcPct val="101666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劣势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领域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1184909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发散性任务（如诗歌创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作）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631825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需要严格逻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辑链的任务（如数学证明）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4"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666115">
                        <a:lnSpc>
                          <a:spcPct val="101666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性能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本质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1273809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专精于逻辑密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度高的任务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1343025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擅长多样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性高的任务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79"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666115">
                        <a:lnSpc>
                          <a:spcPct val="101666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强弱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判断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118110">
                        <a:lnSpc>
                          <a:spcPct val="101666"/>
                        </a:lnSpc>
                      </a:pP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并非全面更强，仅在其训练目标领域显著优于通用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34"/>
                        </a:lnSpc>
                      </a:pPr>
                      <a:endParaRPr lang="en-US" dirty="0"/>
                    </a:p>
                    <a:p>
                      <a:pPr marL="0" indent="98425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通用场景更灵活，但专项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任务需依赖提示语补偿能力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5478780"/>
            <a:ext cx="11315700" cy="1226820"/>
          </a:xfrm>
          <a:prstGeom prst="rect">
            <a:avLst/>
          </a:prstGeom>
        </p:spPr>
      </p:pic>
      <p:sp>
        <p:nvSpPr>
          <p:cNvPr id="3" name="TextBox 55"/>
          <p:cNvSpPr txBox="1"/>
          <p:nvPr/>
        </p:nvSpPr>
        <p:spPr>
          <a:xfrm>
            <a:off x="91439" y="31188"/>
            <a:ext cx="690368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-15" dirty="0">
                <a:solidFill>
                  <a:srgbClr val="000000"/>
                </a:solidFill>
                <a:latin typeface="宋体"/>
                <a:ea typeface="宋体"/>
              </a:rPr>
              <a:t>快思慢想：效能兼顾</a:t>
            </a:r>
            <a:r>
              <a:rPr lang="zh-CN" altLang="en-US" sz="4000" b="1" spc="-6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4000" b="1" spc="-10" dirty="0">
                <a:solidFill>
                  <a:srgbClr val="000000"/>
                </a:solidFill>
                <a:latin typeface="宋体"/>
                <a:ea typeface="宋体"/>
              </a:rPr>
              <a:t>全局视野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21359" y="5703722"/>
            <a:ext cx="11221701" cy="90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宋体"/>
                <a:ea typeface="宋体"/>
              </a:rPr>
              <a:t>CoT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链式思维的出现将大模型分为</a:t>
            </a:r>
            <a:r>
              <a:rPr lang="zh-CN" altLang="en-US" sz="1800" b="1" spc="30" dirty="0">
                <a:solidFill>
                  <a:srgbClr val="FEFEFE"/>
                </a:solidFill>
                <a:latin typeface="宋体"/>
                <a:ea typeface="宋体"/>
              </a:rPr>
              <a:t>了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两类：</a:t>
            </a:r>
            <a:r>
              <a:rPr lang="zh-CN" altLang="en-US" sz="1800" b="1" spc="20" dirty="0">
                <a:solidFill>
                  <a:srgbClr val="FEFEFE"/>
                </a:solidFill>
                <a:latin typeface="宋体"/>
                <a:ea typeface="宋体"/>
              </a:rPr>
              <a:t>“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概率预测（快速反应）</a:t>
            </a:r>
            <a:r>
              <a:rPr lang="zh-CN" altLang="en-US" sz="1800" b="1" spc="25" dirty="0">
                <a:solidFill>
                  <a:srgbClr val="FEFEFE"/>
                </a:solidFill>
                <a:latin typeface="宋体"/>
                <a:ea typeface="宋体"/>
              </a:rPr>
              <a:t>”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模型和</a:t>
            </a:r>
            <a:r>
              <a:rPr lang="zh-CN" altLang="en-US" sz="1800" b="1" spc="15" dirty="0">
                <a:solidFill>
                  <a:srgbClr val="FEFEFE"/>
                </a:solidFill>
                <a:latin typeface="宋体"/>
                <a:ea typeface="宋体"/>
              </a:rPr>
              <a:t>“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链式推理（慢速思考）</a:t>
            </a:r>
            <a:r>
              <a:rPr lang="zh-CN" altLang="en-US" sz="1800" b="1" spc="30" dirty="0">
                <a:solidFill>
                  <a:srgbClr val="FEFEFE"/>
                </a:solidFill>
                <a:latin typeface="宋体"/>
                <a:ea typeface="宋体"/>
              </a:rPr>
              <a:t>”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模型。</a:t>
            </a:r>
            <a:r>
              <a:rPr lang="zh-CN" altLang="en-US" sz="1800" b="1" spc="15" dirty="0">
                <a:solidFill>
                  <a:srgbClr val="FEFEFE"/>
                </a:solidFill>
                <a:latin typeface="宋体"/>
                <a:ea typeface="宋体"/>
              </a:rPr>
              <a:t>前者适合快速反馈，处理即时任务；后者通过推理解决复杂问题。</a:t>
            </a:r>
            <a:r>
              <a:rPr lang="zh-CN" altLang="en-US" sz="1800" b="1" spc="10" dirty="0">
                <a:solidFill>
                  <a:srgbClr val="FEFEFE"/>
                </a:solidFill>
                <a:latin typeface="宋体"/>
                <a:ea typeface="宋体"/>
              </a:rPr>
              <a:t>了解它们的差异有助于根据任务需求选择合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适的模型，实现最佳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效果。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1190" y="750569"/>
          <a:ext cx="11287125" cy="4738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2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27838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  <a:solidFill>
                      <a:srgbClr val="387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/>
                    </a:p>
                    <a:p>
                      <a:pPr marL="0" indent="181610">
                        <a:lnSpc>
                          <a:spcPct val="100833"/>
                        </a:lnSpc>
                      </a:pPr>
                      <a:r>
                        <a:rPr lang="zh-CN" altLang="en-US" sz="1600" b="1" spc="225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概率预测（快速反应模型，如</a:t>
                      </a:r>
                      <a:r>
                        <a:rPr lang="zh-CN" altLang="en-US" sz="1600" b="1" spc="110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ChatGPT</a:t>
                      </a:r>
                      <a:r>
                        <a:rPr lang="zh-CN" altLang="en-US" sz="1600" b="1" spc="-10" dirty="0">
                          <a:solidFill>
                            <a:srgbClr val="FEFEFE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600" b="1" spc="125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4o</a:t>
                      </a:r>
                      <a:r>
                        <a:rPr lang="zh-CN" altLang="en-US" sz="1600" b="1" spc="229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27838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  <a:solidFill>
                      <a:srgbClr val="3878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/>
                    </a:p>
                    <a:p>
                      <a:pPr marL="0" indent="394970">
                        <a:lnSpc>
                          <a:spcPct val="100833"/>
                        </a:lnSpc>
                      </a:pPr>
                      <a:r>
                        <a:rPr lang="zh-CN" altLang="en-US" sz="1600" b="1" spc="189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链式推理</a:t>
                      </a:r>
                      <a:r>
                        <a:rPr lang="zh-CN" altLang="en-US" sz="1600" b="1" spc="94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(</a:t>
                      </a:r>
                      <a:r>
                        <a:rPr lang="zh-CN" altLang="en-US" sz="1600" b="1" spc="189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慢速思考模型，如</a:t>
                      </a:r>
                      <a:r>
                        <a:rPr lang="zh-CN" altLang="en-US" sz="1600" b="1" spc="94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OpenAI</a:t>
                      </a:r>
                      <a:r>
                        <a:rPr lang="zh-CN" altLang="en-US" sz="1600" b="1" spc="-15" dirty="0">
                          <a:solidFill>
                            <a:srgbClr val="FEFEFE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600" b="1" spc="100" dirty="0">
                          <a:solidFill>
                            <a:srgbClr val="FEFEFE"/>
                          </a:solidFill>
                          <a:latin typeface="宋体"/>
                          <a:ea typeface="宋体"/>
                        </a:rPr>
                        <a:t>o1)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27838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  <a:solidFill>
                      <a:srgbClr val="387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422909">
                        <a:lnSpc>
                          <a:spcPct val="101666"/>
                        </a:lnSpc>
                      </a:pPr>
                      <a:r>
                        <a:rPr lang="zh-CN" altLang="en-US" sz="1400" spc="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性能</a:t>
                      </a:r>
                      <a:r>
                        <a:rPr lang="zh-CN" altLang="en-US" sz="1400" spc="7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表现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1330324">
                        <a:lnSpc>
                          <a:spcPct val="101666"/>
                        </a:lnSpc>
                      </a:pP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响应</a:t>
                      </a:r>
                      <a:r>
                        <a:rPr lang="zh-CN" altLang="en-US" sz="1400" spc="1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速度快，算力成本低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1427480">
                        <a:lnSpc>
                          <a:spcPct val="101666"/>
                        </a:lnSpc>
                      </a:pPr>
                      <a:r>
                        <a:rPr lang="zh-CN" altLang="en-US" sz="1400" spc="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慢速思考，算力成</a:t>
                      </a:r>
                      <a:r>
                        <a:rPr lang="zh-CN" altLang="en-US" sz="1400" spc="10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本高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/>
                    </a:p>
                    <a:p>
                      <a:pPr marL="0" indent="422909">
                        <a:lnSpc>
                          <a:spcPct val="101666"/>
                        </a:lnSpc>
                      </a:pPr>
                      <a:r>
                        <a:rPr lang="zh-CN" altLang="en-US" sz="1400" spc="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运算</a:t>
                      </a:r>
                      <a:r>
                        <a:rPr lang="zh-CN" altLang="en-US" sz="1400" spc="7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原理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259714">
                        <a:lnSpc>
                          <a:spcPct val="101666"/>
                        </a:lnSpc>
                      </a:pPr>
                      <a:r>
                        <a:rPr lang="zh-CN" altLang="en-US" sz="1400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基于</a:t>
                      </a:r>
                      <a:r>
                        <a:rPr lang="zh-CN" altLang="en-US" sz="1400" b="1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概率预测</a:t>
                      </a:r>
                      <a:r>
                        <a:rPr lang="zh-CN" altLang="en-US" sz="1400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，通过大量数据训练来快速</a:t>
                      </a:r>
                      <a:r>
                        <a:rPr lang="zh-CN" altLang="en-US" sz="1400" b="1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预测</a:t>
                      </a:r>
                      <a:r>
                        <a:rPr lang="zh-CN" altLang="en-US" sz="1400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可能</a:t>
                      </a:r>
                    </a:p>
                    <a:p>
                      <a:pPr marL="0" indent="2107564">
                        <a:lnSpc>
                          <a:spcPct val="101666"/>
                        </a:lnSpc>
                        <a:spcBef>
                          <a:spcPts val="309"/>
                        </a:spcBef>
                      </a:pPr>
                      <a:r>
                        <a:rPr lang="zh-CN" altLang="en-US" sz="1400" spc="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的答案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241935">
                        <a:lnSpc>
                          <a:spcPct val="101666"/>
                        </a:lnSpc>
                      </a:pPr>
                      <a:r>
                        <a:rPr lang="zh-CN" altLang="en-US" sz="1400" spc="20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基于</a:t>
                      </a:r>
                      <a:r>
                        <a:rPr lang="zh-CN" altLang="en-US" sz="1400" b="1" spc="20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链式思维</a:t>
                      </a:r>
                      <a:r>
                        <a:rPr lang="zh-CN" altLang="en-US" sz="1400" spc="2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（</a:t>
                      </a:r>
                      <a:r>
                        <a:rPr lang="zh-CN" altLang="en-US" sz="1400" spc="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Chain-</a:t>
                      </a:r>
                      <a:r>
                        <a:rPr lang="zh-CN" altLang="en-US" sz="1400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o</a:t>
                      </a:r>
                      <a:r>
                        <a:rPr lang="zh-CN" altLang="en-US" sz="1400" spc="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f-</a:t>
                      </a:r>
                      <a:r>
                        <a:rPr lang="zh-CN" altLang="en-US" sz="1400" spc="10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T</a:t>
                      </a:r>
                      <a:r>
                        <a:rPr lang="zh-CN" altLang="en-US" sz="1400" spc="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hought</a:t>
                      </a:r>
                      <a:r>
                        <a:rPr lang="zh-CN" altLang="en-US" sz="1400" spc="2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），逐步</a:t>
                      </a:r>
                      <a:r>
                        <a:rPr lang="zh-CN" altLang="en-US" sz="1400" b="1" spc="20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</a:p>
                    <a:p>
                      <a:pPr marL="0" indent="1233170">
                        <a:lnSpc>
                          <a:spcPct val="101666"/>
                        </a:lnSpc>
                        <a:spcBef>
                          <a:spcPts val="309"/>
                        </a:spcBef>
                      </a:pP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问题的每个步</a:t>
                      </a:r>
                      <a:r>
                        <a:rPr lang="zh-CN" altLang="en-US" sz="1400" spc="1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骤来得到答案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604"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422909">
                        <a:lnSpc>
                          <a:spcPct val="101666"/>
                        </a:lnSpc>
                      </a:pPr>
                      <a:r>
                        <a:rPr lang="zh-CN" altLang="en-US" sz="1400" spc="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决策</a:t>
                      </a:r>
                      <a:r>
                        <a:rPr lang="zh-CN" altLang="en-US" sz="1400" spc="7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1136014">
                        <a:lnSpc>
                          <a:spcPct val="101666"/>
                        </a:lnSpc>
                      </a:pP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依赖预设算法和规则进</a:t>
                      </a:r>
                      <a:r>
                        <a:rPr lang="zh-CN" altLang="en-US" sz="1400" spc="1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行决策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941705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能够自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主分析情况，实时做出决策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520065">
                        <a:lnSpc>
                          <a:spcPct val="101666"/>
                        </a:lnSpc>
                      </a:pPr>
                      <a:r>
                        <a:rPr lang="zh-CN" altLang="en-US" sz="1400" spc="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创造力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553085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限于模式识别和优化，缺乏真正的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创新能力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能够生成新的创意和解决方案，具备创新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604"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228599">
                        <a:lnSpc>
                          <a:spcPct val="101666"/>
                        </a:lnSpc>
                      </a:pPr>
                      <a:r>
                        <a:rPr lang="zh-CN" altLang="en-US" sz="1400" spc="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人机互</a:t>
                      </a:r>
                      <a:r>
                        <a:rPr lang="zh-CN" altLang="en-US" sz="1400" spc="8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动能力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455929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按照预设脚本响应，较难理解人类情感和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意图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650240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更自然地与人互动，理解复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杂情感和意图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850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/>
                    </a:p>
                    <a:p>
                      <a:pPr marL="0" indent="228599">
                        <a:lnSpc>
                          <a:spcPct val="101666"/>
                        </a:lnSpc>
                      </a:pPr>
                      <a:r>
                        <a:rPr lang="zh-CN" altLang="en-US" sz="1400" spc="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问题解</a:t>
                      </a:r>
                      <a:r>
                        <a:rPr lang="zh-CN" altLang="en-US" sz="1400" spc="8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决能力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/>
                    </a:p>
                    <a:p>
                      <a:pPr marL="0" indent="941704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擅长解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决结构化和定义明确的问题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261620">
                        <a:lnSpc>
                          <a:spcPct val="101666"/>
                        </a:lnSpc>
                      </a:pPr>
                      <a:r>
                        <a:rPr lang="zh-CN" altLang="en-US" sz="1400" spc="1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能够</a:t>
                      </a:r>
                      <a:r>
                        <a:rPr lang="zh-CN" altLang="en-US" sz="1400" spc="1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处理多维度和非结构化问题，提供创造性的解</a:t>
                      </a:r>
                    </a:p>
                    <a:p>
                      <a:pPr marL="0" indent="2107565">
                        <a:lnSpc>
                          <a:spcPct val="101666"/>
                        </a:lnSpc>
                        <a:spcBef>
                          <a:spcPts val="309"/>
                        </a:spcBef>
                      </a:pPr>
                      <a:r>
                        <a:rPr lang="zh-CN" altLang="en-US" sz="1400" spc="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决方案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8C8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422909">
                        <a:lnSpc>
                          <a:spcPct val="101666"/>
                        </a:lnSpc>
                      </a:pPr>
                      <a:r>
                        <a:rPr lang="zh-CN" altLang="en-US" sz="1400" spc="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伦理</a:t>
                      </a:r>
                      <a:r>
                        <a:rPr lang="zh-CN" altLang="en-US" sz="1400" spc="7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问题</a:t>
                      </a:r>
                    </a:p>
                  </a:txBody>
                  <a:tcPr marL="0" marR="0" marT="0" marB="0">
                    <a:lnL w="9525">
                      <a:solidFill>
                        <a:srgbClr val="F27838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27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941704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作为受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控工具，几乎没有伦理问题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8C8AE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27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10"/>
                        </a:lnSpc>
                      </a:pPr>
                      <a:endParaRPr lang="en-US" dirty="0"/>
                    </a:p>
                    <a:p>
                      <a:pPr marL="0" indent="941705">
                        <a:lnSpc>
                          <a:spcPct val="101666"/>
                        </a:lnSpc>
                      </a:pPr>
                      <a:r>
                        <a:rPr lang="zh-CN" altLang="en-US" sz="1400" spc="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引发自</a:t>
                      </a:r>
                      <a:r>
                        <a:rPr lang="zh-CN" altLang="en-US" sz="1400" spc="11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主性和控制问题的伦理讨论</a:t>
                      </a:r>
                    </a:p>
                  </a:txBody>
                  <a:tcPr marL="0" marR="0" marT="0" marB="0">
                    <a:lnL w="9525">
                      <a:solidFill>
                        <a:srgbClr val="F8C8AE"/>
                      </a:solidFill>
                      <a:prstDash val="solid"/>
                    </a:lnL>
                    <a:lnR w="9525">
                      <a:solidFill>
                        <a:srgbClr val="F27838"/>
                      </a:solidFill>
                      <a:prstDash val="solid"/>
                    </a:lnR>
                    <a:lnT w="9525">
                      <a:solidFill>
                        <a:srgbClr val="F8C8AE"/>
                      </a:solidFill>
                      <a:prstDash val="solid"/>
                    </a:lnT>
                    <a:lnB w="9525">
                      <a:solidFill>
                        <a:srgbClr val="F2783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58"/>
          <p:cNvSpPr/>
          <p:nvPr/>
        </p:nvSpPr>
        <p:spPr>
          <a:xfrm>
            <a:off x="30416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31051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31305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31686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31940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32575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32829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33210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6"/>
          <p:cNvSpPr/>
          <p:nvPr/>
        </p:nvSpPr>
        <p:spPr>
          <a:xfrm>
            <a:off x="33464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7"/>
          <p:cNvSpPr/>
          <p:nvPr/>
        </p:nvSpPr>
        <p:spPr>
          <a:xfrm>
            <a:off x="34099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8"/>
          <p:cNvSpPr/>
          <p:nvPr/>
        </p:nvSpPr>
        <p:spPr>
          <a:xfrm>
            <a:off x="34353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9"/>
          <p:cNvSpPr/>
          <p:nvPr/>
        </p:nvSpPr>
        <p:spPr>
          <a:xfrm>
            <a:off x="34734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34988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1"/>
          <p:cNvSpPr/>
          <p:nvPr/>
        </p:nvSpPr>
        <p:spPr>
          <a:xfrm>
            <a:off x="35623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2"/>
          <p:cNvSpPr/>
          <p:nvPr/>
        </p:nvSpPr>
        <p:spPr>
          <a:xfrm>
            <a:off x="35877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36258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4"/>
          <p:cNvSpPr/>
          <p:nvPr/>
        </p:nvSpPr>
        <p:spPr>
          <a:xfrm>
            <a:off x="36512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5"/>
          <p:cNvSpPr/>
          <p:nvPr/>
        </p:nvSpPr>
        <p:spPr>
          <a:xfrm>
            <a:off x="37147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6"/>
          <p:cNvSpPr/>
          <p:nvPr/>
        </p:nvSpPr>
        <p:spPr>
          <a:xfrm>
            <a:off x="37401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7"/>
          <p:cNvSpPr/>
          <p:nvPr/>
        </p:nvSpPr>
        <p:spPr>
          <a:xfrm>
            <a:off x="37782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 78"/>
          <p:cNvSpPr/>
          <p:nvPr/>
        </p:nvSpPr>
        <p:spPr>
          <a:xfrm>
            <a:off x="38036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9"/>
          <p:cNvSpPr/>
          <p:nvPr/>
        </p:nvSpPr>
        <p:spPr>
          <a:xfrm>
            <a:off x="38671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80"/>
          <p:cNvSpPr/>
          <p:nvPr/>
        </p:nvSpPr>
        <p:spPr>
          <a:xfrm>
            <a:off x="38925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1"/>
          <p:cNvSpPr/>
          <p:nvPr/>
        </p:nvSpPr>
        <p:spPr>
          <a:xfrm>
            <a:off x="39306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2"/>
          <p:cNvSpPr/>
          <p:nvPr/>
        </p:nvSpPr>
        <p:spPr>
          <a:xfrm>
            <a:off x="39560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83"/>
          <p:cNvSpPr/>
          <p:nvPr/>
        </p:nvSpPr>
        <p:spPr>
          <a:xfrm>
            <a:off x="40195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 84"/>
          <p:cNvSpPr/>
          <p:nvPr/>
        </p:nvSpPr>
        <p:spPr>
          <a:xfrm>
            <a:off x="40449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5"/>
          <p:cNvSpPr/>
          <p:nvPr/>
        </p:nvSpPr>
        <p:spPr>
          <a:xfrm>
            <a:off x="40830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 86"/>
          <p:cNvSpPr/>
          <p:nvPr/>
        </p:nvSpPr>
        <p:spPr>
          <a:xfrm>
            <a:off x="41084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7"/>
          <p:cNvSpPr/>
          <p:nvPr/>
        </p:nvSpPr>
        <p:spPr>
          <a:xfrm>
            <a:off x="41719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8"/>
          <p:cNvSpPr/>
          <p:nvPr/>
        </p:nvSpPr>
        <p:spPr>
          <a:xfrm>
            <a:off x="41973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 89"/>
          <p:cNvSpPr/>
          <p:nvPr/>
        </p:nvSpPr>
        <p:spPr>
          <a:xfrm>
            <a:off x="42354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90"/>
          <p:cNvSpPr/>
          <p:nvPr/>
        </p:nvSpPr>
        <p:spPr>
          <a:xfrm>
            <a:off x="42608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91"/>
          <p:cNvSpPr/>
          <p:nvPr/>
        </p:nvSpPr>
        <p:spPr>
          <a:xfrm>
            <a:off x="43243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2"/>
          <p:cNvSpPr/>
          <p:nvPr/>
        </p:nvSpPr>
        <p:spPr>
          <a:xfrm>
            <a:off x="43497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3"/>
          <p:cNvSpPr/>
          <p:nvPr/>
        </p:nvSpPr>
        <p:spPr>
          <a:xfrm>
            <a:off x="43878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94"/>
          <p:cNvSpPr/>
          <p:nvPr/>
        </p:nvSpPr>
        <p:spPr>
          <a:xfrm>
            <a:off x="44132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5"/>
          <p:cNvSpPr/>
          <p:nvPr/>
        </p:nvSpPr>
        <p:spPr>
          <a:xfrm>
            <a:off x="44767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96"/>
          <p:cNvSpPr/>
          <p:nvPr/>
        </p:nvSpPr>
        <p:spPr>
          <a:xfrm>
            <a:off x="45021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 97"/>
          <p:cNvSpPr/>
          <p:nvPr/>
        </p:nvSpPr>
        <p:spPr>
          <a:xfrm>
            <a:off x="45402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8"/>
          <p:cNvSpPr/>
          <p:nvPr/>
        </p:nvSpPr>
        <p:spPr>
          <a:xfrm>
            <a:off x="45656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reeform 99"/>
          <p:cNvSpPr/>
          <p:nvPr/>
        </p:nvSpPr>
        <p:spPr>
          <a:xfrm>
            <a:off x="46291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 100"/>
          <p:cNvSpPr/>
          <p:nvPr/>
        </p:nvSpPr>
        <p:spPr>
          <a:xfrm>
            <a:off x="46545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 101"/>
          <p:cNvSpPr/>
          <p:nvPr/>
        </p:nvSpPr>
        <p:spPr>
          <a:xfrm>
            <a:off x="46926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 102"/>
          <p:cNvSpPr/>
          <p:nvPr/>
        </p:nvSpPr>
        <p:spPr>
          <a:xfrm>
            <a:off x="47180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 103"/>
          <p:cNvSpPr/>
          <p:nvPr/>
        </p:nvSpPr>
        <p:spPr>
          <a:xfrm>
            <a:off x="47815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 104"/>
          <p:cNvSpPr/>
          <p:nvPr/>
        </p:nvSpPr>
        <p:spPr>
          <a:xfrm>
            <a:off x="48069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 105"/>
          <p:cNvSpPr/>
          <p:nvPr/>
        </p:nvSpPr>
        <p:spPr>
          <a:xfrm>
            <a:off x="48450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106"/>
          <p:cNvSpPr/>
          <p:nvPr/>
        </p:nvSpPr>
        <p:spPr>
          <a:xfrm>
            <a:off x="48704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 107"/>
          <p:cNvSpPr/>
          <p:nvPr/>
        </p:nvSpPr>
        <p:spPr>
          <a:xfrm>
            <a:off x="49339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 108"/>
          <p:cNvSpPr/>
          <p:nvPr/>
        </p:nvSpPr>
        <p:spPr>
          <a:xfrm>
            <a:off x="49593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9"/>
          <p:cNvSpPr/>
          <p:nvPr/>
        </p:nvSpPr>
        <p:spPr>
          <a:xfrm>
            <a:off x="49974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10"/>
          <p:cNvSpPr/>
          <p:nvPr/>
        </p:nvSpPr>
        <p:spPr>
          <a:xfrm>
            <a:off x="50228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 111"/>
          <p:cNvSpPr/>
          <p:nvPr/>
        </p:nvSpPr>
        <p:spPr>
          <a:xfrm>
            <a:off x="50863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reeform 112"/>
          <p:cNvSpPr/>
          <p:nvPr/>
        </p:nvSpPr>
        <p:spPr>
          <a:xfrm>
            <a:off x="51117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3"/>
          <p:cNvSpPr/>
          <p:nvPr/>
        </p:nvSpPr>
        <p:spPr>
          <a:xfrm>
            <a:off x="51498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reeform 114"/>
          <p:cNvSpPr/>
          <p:nvPr/>
        </p:nvSpPr>
        <p:spPr>
          <a:xfrm>
            <a:off x="51752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 115"/>
          <p:cNvSpPr/>
          <p:nvPr/>
        </p:nvSpPr>
        <p:spPr>
          <a:xfrm>
            <a:off x="52387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 116"/>
          <p:cNvSpPr/>
          <p:nvPr/>
        </p:nvSpPr>
        <p:spPr>
          <a:xfrm>
            <a:off x="52641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7"/>
          <p:cNvSpPr/>
          <p:nvPr/>
        </p:nvSpPr>
        <p:spPr>
          <a:xfrm>
            <a:off x="53022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 118"/>
          <p:cNvSpPr/>
          <p:nvPr/>
        </p:nvSpPr>
        <p:spPr>
          <a:xfrm>
            <a:off x="5327650" y="2520950"/>
            <a:ext cx="31750" cy="19050"/>
          </a:xfrm>
          <a:custGeom>
            <a:avLst/>
            <a:gdLst>
              <a:gd name="connsiteX0" fmla="*/ 12649 w 31750"/>
              <a:gd name="connsiteY0" fmla="*/ 12039 h 19050"/>
              <a:gd name="connsiteX1" fmla="*/ 3550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649" y="12039"/>
                </a:moveTo>
                <a:lnTo>
                  <a:pt x="3550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9"/>
          <p:cNvSpPr/>
          <p:nvPr/>
        </p:nvSpPr>
        <p:spPr>
          <a:xfrm>
            <a:off x="5391150" y="2520950"/>
            <a:ext cx="31750" cy="19050"/>
          </a:xfrm>
          <a:custGeom>
            <a:avLst/>
            <a:gdLst>
              <a:gd name="connsiteX0" fmla="*/ 10109 w 31750"/>
              <a:gd name="connsiteY0" fmla="*/ 12039 h 19050"/>
              <a:gd name="connsiteX1" fmla="*/ 3296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0109" y="12039"/>
                </a:moveTo>
                <a:lnTo>
                  <a:pt x="3296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 120"/>
          <p:cNvSpPr/>
          <p:nvPr/>
        </p:nvSpPr>
        <p:spPr>
          <a:xfrm>
            <a:off x="5416550" y="2520950"/>
            <a:ext cx="31750" cy="19050"/>
          </a:xfrm>
          <a:custGeom>
            <a:avLst/>
            <a:gdLst>
              <a:gd name="connsiteX0" fmla="*/ 15189 w 31750"/>
              <a:gd name="connsiteY0" fmla="*/ 12039 h 19050"/>
              <a:gd name="connsiteX1" fmla="*/ 3804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5189" y="12039"/>
                </a:moveTo>
                <a:lnTo>
                  <a:pt x="3804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5454650" y="2520950"/>
            <a:ext cx="31750" cy="19050"/>
          </a:xfrm>
          <a:custGeom>
            <a:avLst/>
            <a:gdLst>
              <a:gd name="connsiteX0" fmla="*/ 7569 w 31750"/>
              <a:gd name="connsiteY0" fmla="*/ 12039 h 19050"/>
              <a:gd name="connsiteX1" fmla="*/ 30429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569" y="12039"/>
                </a:moveTo>
                <a:lnTo>
                  <a:pt x="30429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" name="Picture 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2506980"/>
            <a:ext cx="2476500" cy="22860"/>
          </a:xfrm>
          <a:prstGeom prst="rect">
            <a:avLst/>
          </a:prstGeom>
        </p:spPr>
      </p:pic>
      <p:sp>
        <p:nvSpPr>
          <p:cNvPr id="2" name="Freeform 123"/>
          <p:cNvSpPr/>
          <p:nvPr/>
        </p:nvSpPr>
        <p:spPr>
          <a:xfrm>
            <a:off x="1924050" y="2419350"/>
            <a:ext cx="1962150" cy="120650"/>
          </a:xfrm>
          <a:custGeom>
            <a:avLst/>
            <a:gdLst>
              <a:gd name="connsiteX0" fmla="*/ 16001 w 1962150"/>
              <a:gd name="connsiteY0" fmla="*/ 9905 h 120650"/>
              <a:gd name="connsiteX1" fmla="*/ 1965197 w 1962150"/>
              <a:gd name="connsiteY1" fmla="*/ 9905 h 120650"/>
              <a:gd name="connsiteX2" fmla="*/ 1965197 w 1962150"/>
              <a:gd name="connsiteY2" fmla="*/ 125729 h 120650"/>
              <a:gd name="connsiteX3" fmla="*/ 16001 w 1962150"/>
              <a:gd name="connsiteY3" fmla="*/ 125729 h 120650"/>
              <a:gd name="connsiteX4" fmla="*/ 16001 w 1962150"/>
              <a:gd name="connsiteY4" fmla="*/ 9905 h 12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2150" h="120650">
                <a:moveTo>
                  <a:pt x="16001" y="9905"/>
                </a:moveTo>
                <a:lnTo>
                  <a:pt x="1965197" y="9905"/>
                </a:lnTo>
                <a:lnTo>
                  <a:pt x="1965197" y="125729"/>
                </a:lnTo>
                <a:lnTo>
                  <a:pt x="16001" y="125729"/>
                </a:lnTo>
                <a:lnTo>
                  <a:pt x="16001" y="9905"/>
                </a:lnTo>
                <a:close/>
              </a:path>
            </a:pathLst>
          </a:custGeom>
          <a:solidFill>
            <a:srgbClr val="1E73AB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78422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78676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 126"/>
          <p:cNvSpPr/>
          <p:nvPr/>
        </p:nvSpPr>
        <p:spPr>
          <a:xfrm>
            <a:off x="79311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 127"/>
          <p:cNvSpPr/>
          <p:nvPr/>
        </p:nvSpPr>
        <p:spPr>
          <a:xfrm>
            <a:off x="79565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8"/>
          <p:cNvSpPr/>
          <p:nvPr/>
        </p:nvSpPr>
        <p:spPr>
          <a:xfrm>
            <a:off x="79946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80200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30"/>
          <p:cNvSpPr/>
          <p:nvPr/>
        </p:nvSpPr>
        <p:spPr>
          <a:xfrm>
            <a:off x="80835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 131"/>
          <p:cNvSpPr/>
          <p:nvPr/>
        </p:nvSpPr>
        <p:spPr>
          <a:xfrm>
            <a:off x="81089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2"/>
          <p:cNvSpPr/>
          <p:nvPr/>
        </p:nvSpPr>
        <p:spPr>
          <a:xfrm>
            <a:off x="81470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 133"/>
          <p:cNvSpPr/>
          <p:nvPr/>
        </p:nvSpPr>
        <p:spPr>
          <a:xfrm>
            <a:off x="81724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4"/>
          <p:cNvSpPr/>
          <p:nvPr/>
        </p:nvSpPr>
        <p:spPr>
          <a:xfrm>
            <a:off x="82359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 135"/>
          <p:cNvSpPr/>
          <p:nvPr/>
        </p:nvSpPr>
        <p:spPr>
          <a:xfrm>
            <a:off x="82613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 136"/>
          <p:cNvSpPr/>
          <p:nvPr/>
        </p:nvSpPr>
        <p:spPr>
          <a:xfrm>
            <a:off x="82994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7"/>
          <p:cNvSpPr/>
          <p:nvPr/>
        </p:nvSpPr>
        <p:spPr>
          <a:xfrm>
            <a:off x="83248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 138"/>
          <p:cNvSpPr/>
          <p:nvPr/>
        </p:nvSpPr>
        <p:spPr>
          <a:xfrm>
            <a:off x="83883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 139"/>
          <p:cNvSpPr/>
          <p:nvPr/>
        </p:nvSpPr>
        <p:spPr>
          <a:xfrm>
            <a:off x="84137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40"/>
          <p:cNvSpPr/>
          <p:nvPr/>
        </p:nvSpPr>
        <p:spPr>
          <a:xfrm>
            <a:off x="84518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 141"/>
          <p:cNvSpPr/>
          <p:nvPr/>
        </p:nvSpPr>
        <p:spPr>
          <a:xfrm>
            <a:off x="84772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2"/>
          <p:cNvSpPr/>
          <p:nvPr/>
        </p:nvSpPr>
        <p:spPr>
          <a:xfrm>
            <a:off x="85407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reeform 143"/>
          <p:cNvSpPr/>
          <p:nvPr/>
        </p:nvSpPr>
        <p:spPr>
          <a:xfrm>
            <a:off x="85661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 144"/>
          <p:cNvSpPr/>
          <p:nvPr/>
        </p:nvSpPr>
        <p:spPr>
          <a:xfrm>
            <a:off x="86042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Freeform 145"/>
          <p:cNvSpPr/>
          <p:nvPr/>
        </p:nvSpPr>
        <p:spPr>
          <a:xfrm>
            <a:off x="86296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 146"/>
          <p:cNvSpPr/>
          <p:nvPr/>
        </p:nvSpPr>
        <p:spPr>
          <a:xfrm>
            <a:off x="86931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 147"/>
          <p:cNvSpPr/>
          <p:nvPr/>
        </p:nvSpPr>
        <p:spPr>
          <a:xfrm>
            <a:off x="87185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 148"/>
          <p:cNvSpPr/>
          <p:nvPr/>
        </p:nvSpPr>
        <p:spPr>
          <a:xfrm>
            <a:off x="87566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 149"/>
          <p:cNvSpPr/>
          <p:nvPr/>
        </p:nvSpPr>
        <p:spPr>
          <a:xfrm>
            <a:off x="87820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 150"/>
          <p:cNvSpPr/>
          <p:nvPr/>
        </p:nvSpPr>
        <p:spPr>
          <a:xfrm>
            <a:off x="88455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 151"/>
          <p:cNvSpPr/>
          <p:nvPr/>
        </p:nvSpPr>
        <p:spPr>
          <a:xfrm>
            <a:off x="88709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 152"/>
          <p:cNvSpPr/>
          <p:nvPr/>
        </p:nvSpPr>
        <p:spPr>
          <a:xfrm>
            <a:off x="89090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Freeform 153"/>
          <p:cNvSpPr/>
          <p:nvPr/>
        </p:nvSpPr>
        <p:spPr>
          <a:xfrm>
            <a:off x="89344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reeform 154"/>
          <p:cNvSpPr/>
          <p:nvPr/>
        </p:nvSpPr>
        <p:spPr>
          <a:xfrm>
            <a:off x="89979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reeform 155"/>
          <p:cNvSpPr/>
          <p:nvPr/>
        </p:nvSpPr>
        <p:spPr>
          <a:xfrm>
            <a:off x="90233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 156"/>
          <p:cNvSpPr/>
          <p:nvPr/>
        </p:nvSpPr>
        <p:spPr>
          <a:xfrm>
            <a:off x="90614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 157"/>
          <p:cNvSpPr/>
          <p:nvPr/>
        </p:nvSpPr>
        <p:spPr>
          <a:xfrm>
            <a:off x="90868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reeform 158"/>
          <p:cNvSpPr/>
          <p:nvPr/>
        </p:nvSpPr>
        <p:spPr>
          <a:xfrm>
            <a:off x="91503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reeform 159"/>
          <p:cNvSpPr/>
          <p:nvPr/>
        </p:nvSpPr>
        <p:spPr>
          <a:xfrm>
            <a:off x="91757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 160"/>
          <p:cNvSpPr/>
          <p:nvPr/>
        </p:nvSpPr>
        <p:spPr>
          <a:xfrm>
            <a:off x="92138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reeform 161"/>
          <p:cNvSpPr/>
          <p:nvPr/>
        </p:nvSpPr>
        <p:spPr>
          <a:xfrm>
            <a:off x="92392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Freeform 162"/>
          <p:cNvSpPr/>
          <p:nvPr/>
        </p:nvSpPr>
        <p:spPr>
          <a:xfrm>
            <a:off x="93027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Freeform 163"/>
          <p:cNvSpPr/>
          <p:nvPr/>
        </p:nvSpPr>
        <p:spPr>
          <a:xfrm>
            <a:off x="93281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Freeform 164"/>
          <p:cNvSpPr/>
          <p:nvPr/>
        </p:nvSpPr>
        <p:spPr>
          <a:xfrm>
            <a:off x="93662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Freeform 165"/>
          <p:cNvSpPr/>
          <p:nvPr/>
        </p:nvSpPr>
        <p:spPr>
          <a:xfrm>
            <a:off x="93916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Freeform 166"/>
          <p:cNvSpPr/>
          <p:nvPr/>
        </p:nvSpPr>
        <p:spPr>
          <a:xfrm>
            <a:off x="94551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reeform 167"/>
          <p:cNvSpPr/>
          <p:nvPr/>
        </p:nvSpPr>
        <p:spPr>
          <a:xfrm>
            <a:off x="94805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 168"/>
          <p:cNvSpPr/>
          <p:nvPr/>
        </p:nvSpPr>
        <p:spPr>
          <a:xfrm>
            <a:off x="95186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Freeform 169"/>
          <p:cNvSpPr/>
          <p:nvPr/>
        </p:nvSpPr>
        <p:spPr>
          <a:xfrm>
            <a:off x="95440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Freeform 170"/>
          <p:cNvSpPr/>
          <p:nvPr/>
        </p:nvSpPr>
        <p:spPr>
          <a:xfrm>
            <a:off x="96075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Freeform 171"/>
          <p:cNvSpPr/>
          <p:nvPr/>
        </p:nvSpPr>
        <p:spPr>
          <a:xfrm>
            <a:off x="96329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Freeform 172"/>
          <p:cNvSpPr/>
          <p:nvPr/>
        </p:nvSpPr>
        <p:spPr>
          <a:xfrm>
            <a:off x="96710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Freeform 173"/>
          <p:cNvSpPr/>
          <p:nvPr/>
        </p:nvSpPr>
        <p:spPr>
          <a:xfrm>
            <a:off x="96964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 174"/>
          <p:cNvSpPr/>
          <p:nvPr/>
        </p:nvSpPr>
        <p:spPr>
          <a:xfrm>
            <a:off x="97599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Freeform 175"/>
          <p:cNvSpPr/>
          <p:nvPr/>
        </p:nvSpPr>
        <p:spPr>
          <a:xfrm>
            <a:off x="97853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Freeform 176"/>
          <p:cNvSpPr/>
          <p:nvPr/>
        </p:nvSpPr>
        <p:spPr>
          <a:xfrm>
            <a:off x="98234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Freeform 177"/>
          <p:cNvSpPr/>
          <p:nvPr/>
        </p:nvSpPr>
        <p:spPr>
          <a:xfrm>
            <a:off x="98488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Freeform 178"/>
          <p:cNvSpPr/>
          <p:nvPr/>
        </p:nvSpPr>
        <p:spPr>
          <a:xfrm>
            <a:off x="99123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Freeform 179"/>
          <p:cNvSpPr/>
          <p:nvPr/>
        </p:nvSpPr>
        <p:spPr>
          <a:xfrm>
            <a:off x="99377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Freeform 180"/>
          <p:cNvSpPr/>
          <p:nvPr/>
        </p:nvSpPr>
        <p:spPr>
          <a:xfrm>
            <a:off x="99758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Freeform 181"/>
          <p:cNvSpPr/>
          <p:nvPr/>
        </p:nvSpPr>
        <p:spPr>
          <a:xfrm>
            <a:off x="100012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Freeform 182"/>
          <p:cNvSpPr/>
          <p:nvPr/>
        </p:nvSpPr>
        <p:spPr>
          <a:xfrm>
            <a:off x="100647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Freeform 183"/>
          <p:cNvSpPr/>
          <p:nvPr/>
        </p:nvSpPr>
        <p:spPr>
          <a:xfrm>
            <a:off x="100901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Freeform 184"/>
          <p:cNvSpPr/>
          <p:nvPr/>
        </p:nvSpPr>
        <p:spPr>
          <a:xfrm>
            <a:off x="10128250" y="2520950"/>
            <a:ext cx="31750" cy="19050"/>
          </a:xfrm>
          <a:custGeom>
            <a:avLst/>
            <a:gdLst>
              <a:gd name="connsiteX0" fmla="*/ 7201 w 31750"/>
              <a:gd name="connsiteY0" fmla="*/ 12039 h 19050"/>
              <a:gd name="connsiteX1" fmla="*/ 3006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7201" y="12039"/>
                </a:moveTo>
                <a:lnTo>
                  <a:pt x="3006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Freeform 185"/>
          <p:cNvSpPr/>
          <p:nvPr/>
        </p:nvSpPr>
        <p:spPr>
          <a:xfrm>
            <a:off x="10153650" y="2520950"/>
            <a:ext cx="31750" cy="19050"/>
          </a:xfrm>
          <a:custGeom>
            <a:avLst/>
            <a:gdLst>
              <a:gd name="connsiteX0" fmla="*/ 12280 w 31750"/>
              <a:gd name="connsiteY0" fmla="*/ 12039 h 19050"/>
              <a:gd name="connsiteX1" fmla="*/ 3514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2280" y="12039"/>
                </a:moveTo>
                <a:lnTo>
                  <a:pt x="3514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Freeform 186"/>
          <p:cNvSpPr/>
          <p:nvPr/>
        </p:nvSpPr>
        <p:spPr>
          <a:xfrm>
            <a:off x="10217150" y="2520950"/>
            <a:ext cx="31750" cy="19050"/>
          </a:xfrm>
          <a:custGeom>
            <a:avLst/>
            <a:gdLst>
              <a:gd name="connsiteX0" fmla="*/ 9741 w 31750"/>
              <a:gd name="connsiteY0" fmla="*/ 12039 h 19050"/>
              <a:gd name="connsiteX1" fmla="*/ 32601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9741" y="12039"/>
                </a:moveTo>
                <a:lnTo>
                  <a:pt x="32601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Freeform 187"/>
          <p:cNvSpPr/>
          <p:nvPr/>
        </p:nvSpPr>
        <p:spPr>
          <a:xfrm>
            <a:off x="7804150" y="2520950"/>
            <a:ext cx="31750" cy="19050"/>
          </a:xfrm>
          <a:custGeom>
            <a:avLst/>
            <a:gdLst>
              <a:gd name="connsiteX0" fmla="*/ 14820 w 31750"/>
              <a:gd name="connsiteY0" fmla="*/ 12039 h 19050"/>
              <a:gd name="connsiteX1" fmla="*/ 37680 w 31750"/>
              <a:gd name="connsiteY1" fmla="*/ 12039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14820" y="12039"/>
                </a:moveTo>
                <a:lnTo>
                  <a:pt x="37680" y="12039"/>
                </a:lnTo>
              </a:path>
            </a:pathLst>
          </a:custGeom>
          <a:ln w="7620">
            <a:solidFill>
              <a:srgbClr val="A5A5A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9" name="Picture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80" y="2506980"/>
            <a:ext cx="2484120" cy="22860"/>
          </a:xfrm>
          <a:prstGeom prst="rect">
            <a:avLst/>
          </a:prstGeom>
        </p:spPr>
      </p:pic>
      <p:sp>
        <p:nvSpPr>
          <p:cNvPr id="3" name="Freeform 189"/>
          <p:cNvSpPr/>
          <p:nvPr/>
        </p:nvSpPr>
        <p:spPr>
          <a:xfrm>
            <a:off x="6699250" y="2419350"/>
            <a:ext cx="1949450" cy="120650"/>
          </a:xfrm>
          <a:custGeom>
            <a:avLst/>
            <a:gdLst>
              <a:gd name="connsiteX0" fmla="*/ 6350 w 1949450"/>
              <a:gd name="connsiteY0" fmla="*/ 9905 h 120650"/>
              <a:gd name="connsiteX1" fmla="*/ 1955545 w 1949450"/>
              <a:gd name="connsiteY1" fmla="*/ 9905 h 120650"/>
              <a:gd name="connsiteX2" fmla="*/ 1955545 w 1949450"/>
              <a:gd name="connsiteY2" fmla="*/ 125729 h 120650"/>
              <a:gd name="connsiteX3" fmla="*/ 6350 w 1949450"/>
              <a:gd name="connsiteY3" fmla="*/ 125729 h 120650"/>
              <a:gd name="connsiteX4" fmla="*/ 6350 w 1949450"/>
              <a:gd name="connsiteY4" fmla="*/ 9905 h 12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450" h="120650">
                <a:moveTo>
                  <a:pt x="6350" y="9905"/>
                </a:moveTo>
                <a:lnTo>
                  <a:pt x="1955545" y="9905"/>
                </a:lnTo>
                <a:lnTo>
                  <a:pt x="1955545" y="125729"/>
                </a:lnTo>
                <a:lnTo>
                  <a:pt x="6350" y="125729"/>
                </a:lnTo>
                <a:lnTo>
                  <a:pt x="6350" y="9905"/>
                </a:lnTo>
                <a:close/>
              </a:path>
            </a:pathLst>
          </a:custGeom>
          <a:solidFill>
            <a:srgbClr val="3396D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90"/>
          <p:cNvSpPr txBox="1"/>
          <p:nvPr/>
        </p:nvSpPr>
        <p:spPr>
          <a:xfrm>
            <a:off x="376554" y="289633"/>
            <a:ext cx="391473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45" dirty="0">
                <a:solidFill>
                  <a:srgbClr val="242424"/>
                </a:solidFill>
                <a:latin typeface="宋体"/>
                <a:ea typeface="宋体"/>
              </a:rPr>
              <a:t>提示语策略</a:t>
            </a:r>
            <a:r>
              <a:rPr lang="zh-CN" altLang="en-US" sz="4000" b="1" spc="240" dirty="0">
                <a:solidFill>
                  <a:srgbClr val="242424"/>
                </a:solidFill>
                <a:latin typeface="宋体"/>
                <a:ea typeface="宋体"/>
              </a:rPr>
              <a:t>差异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1285900" y="1885304"/>
            <a:ext cx="6998581" cy="609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088656" algn="l"/>
                <a:tab pos="4764671" algn="l"/>
                <a:tab pos="5853061" algn="l"/>
              </a:tabLst>
            </a:pPr>
            <a:r>
              <a:rPr lang="en-US" altLang="zh-CN" sz="4000" spc="-5" dirty="0">
                <a:solidFill>
                  <a:srgbClr val="1E73AB"/>
                </a:solidFill>
                <a:latin typeface="Arial"/>
                <a:ea typeface="Arial"/>
              </a:rPr>
              <a:t>1	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推理模型	</a:t>
            </a:r>
            <a:r>
              <a:rPr lang="en-US" altLang="zh-CN" sz="4000" spc="-5" dirty="0">
                <a:solidFill>
                  <a:srgbClr val="3396DA"/>
                </a:solidFill>
                <a:latin typeface="Arial"/>
                <a:ea typeface="Arial"/>
              </a:rPr>
              <a:t>2	</a:t>
            </a:r>
            <a:r>
              <a:rPr lang="zh-CN" altLang="en-US" sz="2000" b="1" spc="-15" dirty="0">
                <a:solidFill>
                  <a:srgbClr val="000000"/>
                </a:solidFill>
                <a:latin typeface="宋体"/>
                <a:ea typeface="宋体"/>
              </a:rPr>
              <a:t>通用模型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409700" y="3086887"/>
            <a:ext cx="4027152" cy="21374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提示语更简洁，只需明确任务目标和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需求（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因其已内化推理逻辑）。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19"/>
              </a:lnSpc>
            </a:pPr>
            <a:endParaRPr lang="en-US" dirty="0"/>
          </a:p>
          <a:p>
            <a:pPr marL="285750" indent="-285750" hangingPunct="0">
              <a:lnSpc>
                <a:spcPct val="129583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无需逐步指导，模型自动生成结构化</a:t>
            </a:r>
            <a:r>
              <a:rPr lang="zh-CN" altLang="en-US" sz="1800" spc="35" dirty="0">
                <a:solidFill>
                  <a:srgbClr val="000000"/>
                </a:solidFill>
                <a:latin typeface="宋体"/>
                <a:ea typeface="宋体"/>
              </a:rPr>
              <a:t>推理过程（若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强行拆解步骤，反而可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能限制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其能力）。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6073140" y="3086887"/>
            <a:ext cx="4027151" cy="1702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50" dirty="0">
                <a:solidFill>
                  <a:srgbClr val="000000"/>
                </a:solidFill>
                <a:latin typeface="宋体"/>
                <a:ea typeface="宋体"/>
              </a:rPr>
              <a:t>需显式引导推理步骤（如通过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ea typeface="Arial"/>
              </a:rPr>
              <a:t>CoT</a:t>
            </a:r>
            <a:r>
              <a:rPr lang="zh-CN" altLang="en-US" sz="1800" spc="55" dirty="0">
                <a:solidFill>
                  <a:srgbClr val="000000"/>
                </a:solidFill>
                <a:latin typeface="宋体"/>
                <a:ea typeface="宋体"/>
              </a:rPr>
              <a:t>提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示），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否则可能跳过关键逻辑。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1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依赖提示语补偿能力短板（如要求分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步思考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、提供示例）。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Freeform 194"/>
          <p:cNvSpPr/>
          <p:nvPr/>
        </p:nvSpPr>
        <p:spPr>
          <a:xfrm>
            <a:off x="2063750" y="5873750"/>
            <a:ext cx="4298950" cy="19050"/>
          </a:xfrm>
          <a:custGeom>
            <a:avLst/>
            <a:gdLst>
              <a:gd name="connsiteX0" fmla="*/ 1142 w 4298950"/>
              <a:gd name="connsiteY0" fmla="*/ 17488 h 19050"/>
              <a:gd name="connsiteX1" fmla="*/ 4304538 w 4298950"/>
              <a:gd name="connsiteY1" fmla="*/ 17488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98950" h="19050">
                <a:moveTo>
                  <a:pt x="1142" y="17488"/>
                </a:moveTo>
                <a:lnTo>
                  <a:pt x="4304538" y="17488"/>
                </a:lnTo>
              </a:path>
            </a:pathLst>
          </a:custGeom>
          <a:ln w="12700">
            <a:solidFill>
              <a:srgbClr val="1E73AB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Freeform 195"/>
          <p:cNvSpPr/>
          <p:nvPr/>
        </p:nvSpPr>
        <p:spPr>
          <a:xfrm>
            <a:off x="679450" y="4743450"/>
            <a:ext cx="806450" cy="768350"/>
          </a:xfrm>
          <a:custGeom>
            <a:avLst/>
            <a:gdLst>
              <a:gd name="connsiteX0" fmla="*/ 12445 w 806450"/>
              <a:gd name="connsiteY0" fmla="*/ 8382 h 768350"/>
              <a:gd name="connsiteX1" fmla="*/ 812545 w 806450"/>
              <a:gd name="connsiteY1" fmla="*/ 8382 h 768350"/>
              <a:gd name="connsiteX2" fmla="*/ 812545 w 806450"/>
              <a:gd name="connsiteY2" fmla="*/ 776478 h 768350"/>
              <a:gd name="connsiteX3" fmla="*/ 12445 w 806450"/>
              <a:gd name="connsiteY3" fmla="*/ 776478 h 768350"/>
              <a:gd name="connsiteX4" fmla="*/ 12445 w 806450"/>
              <a:gd name="connsiteY4" fmla="*/ 8382 h 76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6450" h="768350">
                <a:moveTo>
                  <a:pt x="12445" y="8382"/>
                </a:moveTo>
                <a:lnTo>
                  <a:pt x="812545" y="8382"/>
                </a:lnTo>
                <a:lnTo>
                  <a:pt x="812545" y="776478"/>
                </a:lnTo>
                <a:lnTo>
                  <a:pt x="12445" y="776478"/>
                </a:lnTo>
                <a:lnTo>
                  <a:pt x="12445" y="8382"/>
                </a:lnTo>
                <a:close/>
              </a:path>
            </a:pathLst>
          </a:custGeom>
          <a:solidFill>
            <a:srgbClr val="19A1A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Freeform 196"/>
          <p:cNvSpPr/>
          <p:nvPr/>
        </p:nvSpPr>
        <p:spPr>
          <a:xfrm>
            <a:off x="2063750" y="4375150"/>
            <a:ext cx="4298950" cy="19050"/>
          </a:xfrm>
          <a:custGeom>
            <a:avLst/>
            <a:gdLst>
              <a:gd name="connsiteX0" fmla="*/ 1142 w 4298950"/>
              <a:gd name="connsiteY0" fmla="*/ 19012 h 19050"/>
              <a:gd name="connsiteX1" fmla="*/ 4304538 w 4298950"/>
              <a:gd name="connsiteY1" fmla="*/ 19012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98950" h="19050">
                <a:moveTo>
                  <a:pt x="1142" y="19012"/>
                </a:moveTo>
                <a:lnTo>
                  <a:pt x="4304538" y="19012"/>
                </a:lnTo>
              </a:path>
            </a:pathLst>
          </a:custGeom>
          <a:ln w="12700">
            <a:solidFill>
              <a:srgbClr val="1E73AB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Freeform 197"/>
          <p:cNvSpPr/>
          <p:nvPr/>
        </p:nvSpPr>
        <p:spPr>
          <a:xfrm>
            <a:off x="679450" y="3232150"/>
            <a:ext cx="806450" cy="781050"/>
          </a:xfrm>
          <a:custGeom>
            <a:avLst/>
            <a:gdLst>
              <a:gd name="connsiteX0" fmla="*/ 12445 w 806450"/>
              <a:gd name="connsiteY0" fmla="*/ 18542 h 781050"/>
              <a:gd name="connsiteX1" fmla="*/ 812545 w 806450"/>
              <a:gd name="connsiteY1" fmla="*/ 18542 h 781050"/>
              <a:gd name="connsiteX2" fmla="*/ 812545 w 806450"/>
              <a:gd name="connsiteY2" fmla="*/ 786638 h 781050"/>
              <a:gd name="connsiteX3" fmla="*/ 12445 w 806450"/>
              <a:gd name="connsiteY3" fmla="*/ 786638 h 781050"/>
              <a:gd name="connsiteX4" fmla="*/ 12445 w 806450"/>
              <a:gd name="connsiteY4" fmla="*/ 18542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6450" h="781050">
                <a:moveTo>
                  <a:pt x="12445" y="18542"/>
                </a:moveTo>
                <a:lnTo>
                  <a:pt x="812545" y="18542"/>
                </a:lnTo>
                <a:lnTo>
                  <a:pt x="812545" y="786638"/>
                </a:lnTo>
                <a:lnTo>
                  <a:pt x="12445" y="786638"/>
                </a:lnTo>
                <a:lnTo>
                  <a:pt x="12445" y="18542"/>
                </a:lnTo>
                <a:close/>
              </a:path>
            </a:pathLst>
          </a:custGeom>
          <a:solidFill>
            <a:srgbClr val="3396DA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Freeform 198"/>
          <p:cNvSpPr/>
          <p:nvPr/>
        </p:nvSpPr>
        <p:spPr>
          <a:xfrm>
            <a:off x="2063750" y="2876550"/>
            <a:ext cx="4298950" cy="19050"/>
          </a:xfrm>
          <a:custGeom>
            <a:avLst/>
            <a:gdLst>
              <a:gd name="connsiteX0" fmla="*/ 1142 w 4298950"/>
              <a:gd name="connsiteY0" fmla="*/ 18795 h 19050"/>
              <a:gd name="connsiteX1" fmla="*/ 4304538 w 4298950"/>
              <a:gd name="connsiteY1" fmla="*/ 1879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98950" h="19050">
                <a:moveTo>
                  <a:pt x="1142" y="18795"/>
                </a:moveTo>
                <a:lnTo>
                  <a:pt x="4304538" y="18795"/>
                </a:lnTo>
              </a:path>
            </a:pathLst>
          </a:custGeom>
          <a:ln w="12700">
            <a:solidFill>
              <a:srgbClr val="1E73AB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Freeform 199"/>
          <p:cNvSpPr/>
          <p:nvPr/>
        </p:nvSpPr>
        <p:spPr>
          <a:xfrm>
            <a:off x="679450" y="1631950"/>
            <a:ext cx="806450" cy="768350"/>
          </a:xfrm>
          <a:custGeom>
            <a:avLst/>
            <a:gdLst>
              <a:gd name="connsiteX0" fmla="*/ 12445 w 806450"/>
              <a:gd name="connsiteY0" fmla="*/ 13970 h 768350"/>
              <a:gd name="connsiteX1" fmla="*/ 812545 w 806450"/>
              <a:gd name="connsiteY1" fmla="*/ 13970 h 768350"/>
              <a:gd name="connsiteX2" fmla="*/ 812545 w 806450"/>
              <a:gd name="connsiteY2" fmla="*/ 780542 h 768350"/>
              <a:gd name="connsiteX3" fmla="*/ 12445 w 806450"/>
              <a:gd name="connsiteY3" fmla="*/ 780542 h 768350"/>
              <a:gd name="connsiteX4" fmla="*/ 12445 w 806450"/>
              <a:gd name="connsiteY4" fmla="*/ 13970 h 76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6450" h="768350">
                <a:moveTo>
                  <a:pt x="12445" y="13970"/>
                </a:moveTo>
                <a:lnTo>
                  <a:pt x="812545" y="13970"/>
                </a:lnTo>
                <a:lnTo>
                  <a:pt x="812545" y="780542"/>
                </a:lnTo>
                <a:lnTo>
                  <a:pt x="12445" y="780542"/>
                </a:lnTo>
                <a:lnTo>
                  <a:pt x="12445" y="13970"/>
                </a:lnTo>
                <a:close/>
              </a:path>
            </a:pathLst>
          </a:custGeom>
          <a:solidFill>
            <a:srgbClr val="1E73AB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Freeform 200"/>
          <p:cNvSpPr/>
          <p:nvPr/>
        </p:nvSpPr>
        <p:spPr>
          <a:xfrm>
            <a:off x="6254750" y="2889250"/>
            <a:ext cx="4311650" cy="19050"/>
          </a:xfrm>
          <a:custGeom>
            <a:avLst/>
            <a:gdLst>
              <a:gd name="connsiteX0" fmla="*/ 6222 w 4311650"/>
              <a:gd name="connsiteY0" fmla="*/ 7366 h 19050"/>
              <a:gd name="connsiteX1" fmla="*/ 4309617 w 4311650"/>
              <a:gd name="connsiteY1" fmla="*/ 7366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11650" h="19050">
                <a:moveTo>
                  <a:pt x="6222" y="7366"/>
                </a:moveTo>
                <a:lnTo>
                  <a:pt x="4309617" y="7366"/>
                </a:lnTo>
              </a:path>
            </a:pathLst>
          </a:custGeom>
          <a:ln w="12700">
            <a:solidFill>
              <a:srgbClr val="1E73AB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Freeform 201"/>
          <p:cNvSpPr/>
          <p:nvPr/>
        </p:nvSpPr>
        <p:spPr>
          <a:xfrm>
            <a:off x="6254750" y="4387850"/>
            <a:ext cx="4311650" cy="19050"/>
          </a:xfrm>
          <a:custGeom>
            <a:avLst/>
            <a:gdLst>
              <a:gd name="connsiteX0" fmla="*/ 6222 w 4311650"/>
              <a:gd name="connsiteY0" fmla="*/ 10121 h 19050"/>
              <a:gd name="connsiteX1" fmla="*/ 4309617 w 4311650"/>
              <a:gd name="connsiteY1" fmla="*/ 10121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11650" h="19050">
                <a:moveTo>
                  <a:pt x="6222" y="10121"/>
                </a:moveTo>
                <a:lnTo>
                  <a:pt x="4309617" y="10121"/>
                </a:lnTo>
              </a:path>
            </a:pathLst>
          </a:custGeom>
          <a:ln w="12700">
            <a:solidFill>
              <a:srgbClr val="1E73AB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Freeform 202"/>
          <p:cNvSpPr/>
          <p:nvPr/>
        </p:nvSpPr>
        <p:spPr>
          <a:xfrm>
            <a:off x="6267450" y="5873750"/>
            <a:ext cx="4311650" cy="19050"/>
          </a:xfrm>
          <a:custGeom>
            <a:avLst/>
            <a:gdLst>
              <a:gd name="connsiteX0" fmla="*/ 8763 w 4311650"/>
              <a:gd name="connsiteY0" fmla="*/ 17488 h 19050"/>
              <a:gd name="connsiteX1" fmla="*/ 4312158 w 4311650"/>
              <a:gd name="connsiteY1" fmla="*/ 17488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11650" h="19050">
                <a:moveTo>
                  <a:pt x="8763" y="17488"/>
                </a:moveTo>
                <a:lnTo>
                  <a:pt x="4312158" y="17488"/>
                </a:lnTo>
              </a:path>
            </a:pathLst>
          </a:custGeom>
          <a:ln w="12700">
            <a:solidFill>
              <a:srgbClr val="1E73AB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03"/>
          <p:cNvSpPr txBox="1"/>
          <p:nvPr/>
        </p:nvSpPr>
        <p:spPr>
          <a:xfrm>
            <a:off x="376554" y="289633"/>
            <a:ext cx="2721248" cy="15227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14" dirty="0">
                <a:solidFill>
                  <a:srgbClr val="242424"/>
                </a:solidFill>
                <a:latin typeface="宋体"/>
                <a:ea typeface="宋体"/>
              </a:rPr>
              <a:t>关键</a:t>
            </a:r>
            <a:r>
              <a:rPr lang="zh-CN" altLang="en-US" sz="4000" b="1" spc="204" dirty="0">
                <a:solidFill>
                  <a:srgbClr val="242424"/>
                </a:solidFill>
                <a:latin typeface="宋体"/>
                <a:ea typeface="宋体"/>
              </a:rPr>
              <a:t>原则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89"/>
              </a:lnSpc>
            </a:pPr>
            <a:endParaRPr lang="en-US" dirty="0"/>
          </a:p>
          <a:p>
            <a:pPr marL="0" indent="1690027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模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型选择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939800" y="1812381"/>
            <a:ext cx="467785" cy="4516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1750" hangingPunct="0">
              <a:lnSpc>
                <a:spcPct val="246666"/>
              </a:lnSpc>
            </a:pPr>
            <a:r>
              <a:rPr lang="en-US" altLang="zh-CN" sz="3400" spc="5" dirty="0">
                <a:solidFill>
                  <a:srgbClr val="FEFEFE"/>
                </a:solidFill>
                <a:latin typeface="Arial"/>
                <a:ea typeface="Arial"/>
              </a:rPr>
              <a:t>1</a:t>
            </a:r>
            <a:r>
              <a:rPr lang="en-US" altLang="zh-CN" sz="340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lang="en-US" altLang="zh-CN" sz="4300" spc="-55" dirty="0">
                <a:solidFill>
                  <a:srgbClr val="FEFEFE"/>
                </a:solidFill>
                <a:latin typeface="Arial"/>
                <a:ea typeface="Arial"/>
              </a:rPr>
              <a:t>2</a:t>
            </a:r>
            <a:r>
              <a:rPr lang="en-US" altLang="zh-CN" sz="430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lang="en-US" altLang="zh-CN" sz="4300" spc="-15" dirty="0">
                <a:solidFill>
                  <a:srgbClr val="FEFEF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2063750" y="1992147"/>
            <a:ext cx="8436585" cy="3744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4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优先根据任务类型而非模型热度选择（如数学任务选推理模型，创意任务选通用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模型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）。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19"/>
              </a:lnSpc>
            </a:pPr>
            <a:endParaRPr lang="en-US" dirty="0"/>
          </a:p>
          <a:p>
            <a:pPr marL="0" indent="29502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提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示语设计</a:t>
            </a:r>
          </a:p>
          <a:p>
            <a:pPr>
              <a:lnSpc>
                <a:spcPts val="156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推理模型：简洁指令，聚焦目标，信任其内化能力。（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要什么直接说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）。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通用模型：结构化、补偿性引导（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缺什么补什么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）。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9"/>
              </a:lnSpc>
            </a:pPr>
            <a:endParaRPr lang="en-US" dirty="0"/>
          </a:p>
          <a:p>
            <a:pPr marL="0" indent="66332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避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免误区</a:t>
            </a:r>
          </a:p>
          <a:p>
            <a:pPr>
              <a:lnSpc>
                <a:spcPts val="1564"/>
              </a:lnSpc>
            </a:pPr>
            <a:endParaRPr lang="en-US" dirty="0"/>
          </a:p>
          <a:p>
            <a:pPr marL="0" indent="18414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不要对推理模型使用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启发式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提示（如角色扮演），可能干扰其逻辑主线。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18414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不要对通用模型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过度信任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（如直接询问复杂推理问题，需分步验证结果）。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06"/>
          <p:cNvSpPr txBox="1"/>
          <p:nvPr/>
        </p:nvSpPr>
        <p:spPr>
          <a:xfrm>
            <a:off x="376554" y="289633"/>
            <a:ext cx="774188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从“下达指令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”</a:t>
            </a: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到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“</a:t>
            </a: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表达需求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”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59155" y="1369060"/>
          <a:ext cx="10502900" cy="487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8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010">
                <a:tc>
                  <a:txBody>
                    <a:bodyPr/>
                    <a:lstStyle/>
                    <a:p>
                      <a:pPr>
                        <a:lnSpc>
                          <a:spcPts val="709"/>
                        </a:lnSpc>
                      </a:pPr>
                      <a:endParaRPr lang="en-US" dirty="0"/>
                    </a:p>
                    <a:p>
                      <a:pPr marL="0" indent="175259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策略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类型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9"/>
                        </a:lnSpc>
                      </a:pPr>
                      <a:endParaRPr lang="en-US" dirty="0"/>
                    </a:p>
                    <a:p>
                      <a:pPr marL="0" indent="504825">
                        <a:lnSpc>
                          <a:spcPct val="100833"/>
                        </a:lnSpc>
                      </a:pPr>
                      <a:r>
                        <a:rPr lang="zh-CN" altLang="en-US" sz="16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定义</a:t>
                      </a: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与目标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9"/>
                        </a:lnSpc>
                      </a:pPr>
                      <a:endParaRPr lang="en-US" dirty="0"/>
                    </a:p>
                    <a:p>
                      <a:pPr marL="0" indent="660400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适用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场景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9"/>
                        </a:lnSpc>
                      </a:pPr>
                      <a:endParaRPr lang="en-US" dirty="0"/>
                    </a:p>
                    <a:p>
                      <a:pPr marL="0" indent="328295">
                        <a:lnSpc>
                          <a:spcPct val="10083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示例（推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理模型适用）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9"/>
                        </a:lnSpc>
                      </a:pPr>
                      <a:endParaRPr lang="en-US" dirty="0"/>
                    </a:p>
                    <a:p>
                      <a:pPr marL="0" indent="666750">
                        <a:lnSpc>
                          <a:spcPct val="100833"/>
                        </a:lnSpc>
                      </a:pPr>
                      <a:r>
                        <a:rPr lang="zh-CN" altLang="en-US" sz="16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优势</a:t>
                      </a: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与风险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825"/>
                        </a:lnSpc>
                      </a:pPr>
                      <a:endParaRPr lang="en-US" dirty="0"/>
                    </a:p>
                    <a:p>
                      <a:pPr marL="0" indent="229234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指令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驱动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直接给出明确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步骤或</a:t>
                      </a:r>
                    </a:p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格式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82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简单任务、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需快速执行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用</a:t>
                      </a:r>
                      <a:r>
                        <a:rPr lang="en-US" altLang="zh-CN" sz="16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Python</a:t>
                      </a: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编写快速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排序函数，输出需包含注释。</a:t>
                      </a: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5250">
                        <a:lnSpc>
                          <a:spcPct val="108749"/>
                        </a:lnSpc>
                        <a:spcBef>
                          <a:spcPts val="200"/>
                        </a:spcBef>
                      </a:pPr>
                      <a:r>
                        <a:rPr lang="en-US" altLang="zh-CN" sz="1600" spc="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✅</a:t>
                      </a:r>
                      <a:r>
                        <a:rPr lang="en-US" altLang="zh-CN" sz="1600" spc="5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结果精准高效</a:t>
                      </a:r>
                    </a:p>
                    <a:p>
                      <a:pPr>
                        <a:lnSpc>
                          <a:spcPts val="40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8749"/>
                        </a:lnSpc>
                      </a:pPr>
                      <a:r>
                        <a:rPr lang="en-US" altLang="zh-CN" sz="1600" spc="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❌</a:t>
                      </a:r>
                      <a:r>
                        <a:rPr lang="en-US" altLang="zh-CN" sz="1600" spc="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限制模型自主优化空</a:t>
                      </a:r>
                    </a:p>
                    <a:p>
                      <a:pPr>
                        <a:lnSpc>
                          <a:spcPts val="540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1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66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69"/>
                        </a:lnSpc>
                      </a:pPr>
                      <a:endParaRPr lang="en-US" dirty="0"/>
                    </a:p>
                    <a:p>
                      <a:pPr marL="0" indent="229234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需求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导向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2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9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描述问题</a:t>
                      </a:r>
                      <a:r>
                        <a:rPr lang="zh-CN" altLang="en-US" sz="1600" spc="-8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背景与目标，</a:t>
                      </a:r>
                    </a:p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由模型规划解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决路径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2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复杂问题、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需模型自主</a:t>
                      </a:r>
                    </a:p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6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75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zh-CN" altLang="en-US" sz="16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“我需要优化用户</a:t>
                      </a:r>
                      <a:r>
                        <a:rPr lang="zh-CN" altLang="en-US" sz="16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登录流程，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请分析当前瓶颈并提出</a:t>
                      </a:r>
                      <a:r>
                        <a:rPr lang="en-US" altLang="zh-CN" sz="1600" spc="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种方</a:t>
                      </a:r>
                      <a:r>
                        <a:rPr lang="zh-CN" altLang="en-US" sz="16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案。”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9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8749"/>
                        </a:lnSpc>
                      </a:pPr>
                      <a:r>
                        <a:rPr lang="en-US" altLang="zh-CN" sz="1600" spc="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✅</a:t>
                      </a:r>
                      <a:r>
                        <a:rPr lang="en-US" altLang="zh-CN" sz="1600" spc="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激发模型深层推理</a:t>
                      </a:r>
                    </a:p>
                    <a:p>
                      <a:pPr>
                        <a:lnSpc>
                          <a:spcPts val="40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8749"/>
                        </a:lnSpc>
                      </a:pPr>
                      <a:r>
                        <a:rPr lang="en-US" altLang="zh-CN" sz="1600" spc="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❌</a:t>
                      </a:r>
                      <a:r>
                        <a:rPr lang="en-US" altLang="zh-CN" sz="1600" spc="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需清晰定义需求边界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82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25"/>
                        </a:lnSpc>
                      </a:pPr>
                      <a:endParaRPr lang="en-US" dirty="0"/>
                    </a:p>
                    <a:p>
                      <a:pPr marL="0" indent="229234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混合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480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结合需求描述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与关键</a:t>
                      </a:r>
                    </a:p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约束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条件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2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平衡灵活性与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可控性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zh-CN" altLang="en-US" sz="16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“设计一个杭州三</a:t>
                      </a:r>
                      <a:r>
                        <a:rPr lang="zh-CN" altLang="en-US" sz="16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日游计划，</a:t>
                      </a: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要求包含西湖</a:t>
                      </a:r>
                      <a:r>
                        <a:rPr lang="zh-CN" altLang="en-US" sz="16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和灵隐寺，且</a:t>
                      </a:r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预算控制在</a:t>
                      </a:r>
                      <a:r>
                        <a:rPr lang="en-US" altLang="zh-CN" sz="16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2000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元内。</a:t>
                      </a: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50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en-US" altLang="zh-CN" sz="1600" spc="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✅</a:t>
                      </a:r>
                      <a:r>
                        <a:rPr lang="en-US" altLang="zh-CN" sz="1600" spc="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兼顾目标与细节</a:t>
                      </a:r>
                      <a:br/>
                      <a:r>
                        <a:rPr lang="en-US" altLang="zh-CN" sz="1600" spc="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❌</a:t>
                      </a:r>
                      <a:r>
                        <a:rPr lang="en-US" altLang="zh-CN" sz="1600" spc="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需避免过度约束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4435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35"/>
                        </a:lnSpc>
                      </a:pPr>
                      <a:endParaRPr lang="en-US" dirty="0"/>
                    </a:p>
                    <a:p>
                      <a:pPr marL="0" indent="127634">
                        <a:lnSpc>
                          <a:spcPct val="100833"/>
                        </a:lnSpc>
                      </a:pPr>
                      <a:r>
                        <a:rPr lang="zh-CN" altLang="en-US" sz="16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启发式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3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通过提问引导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模型主</a:t>
                      </a:r>
                    </a:p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动思考（如</a:t>
                      </a: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6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为什</a:t>
                      </a:r>
                      <a:br/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么”“</a:t>
                      </a: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如何</a:t>
                      </a: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48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探索性问题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、需模型解</a:t>
                      </a:r>
                    </a:p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0833"/>
                        </a:lnSpc>
                      </a:pPr>
                      <a:r>
                        <a:rPr lang="zh-CN" altLang="en-US" sz="16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释逻辑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39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“为什么选择梯度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下降法解</a:t>
                      </a:r>
                      <a:r>
                        <a:rPr lang="zh-CN" altLang="en-US" sz="16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决此优化问题？请</a:t>
                      </a:r>
                      <a:r>
                        <a:rPr lang="zh-CN" altLang="en-US" sz="16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对比其他</a:t>
                      </a:r>
                      <a:r>
                        <a:rPr lang="zh-CN" altLang="en-US" sz="16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算法。”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50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29583"/>
                        </a:lnSpc>
                      </a:pPr>
                      <a:r>
                        <a:rPr lang="en-US" altLang="zh-CN" sz="1600" spc="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✅</a:t>
                      </a:r>
                      <a:r>
                        <a:rPr lang="en-US" altLang="zh-CN" sz="1600" spc="5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触发模型自解释能力</a:t>
                      </a:r>
                      <a:br/>
                      <a:r>
                        <a:rPr lang="en-US" altLang="zh-CN" sz="1600" spc="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❌</a:t>
                      </a:r>
                      <a:r>
                        <a:rPr lang="en-US" altLang="zh-CN" sz="1600" spc="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zh-CN" altLang="en-US" sz="1600" spc="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可能偏离核心目标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208"/>
          <p:cNvSpPr txBox="1"/>
          <p:nvPr/>
        </p:nvSpPr>
        <p:spPr>
          <a:xfrm>
            <a:off x="376554" y="289633"/>
            <a:ext cx="555494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任务需求</a:t>
            </a:r>
            <a:r>
              <a:rPr lang="zh-CN" altLang="en-US" sz="4000" b="1" spc="254" dirty="0">
                <a:solidFill>
                  <a:srgbClr val="242424"/>
                </a:solidFill>
                <a:latin typeface="宋体"/>
                <a:ea typeface="宋体"/>
              </a:rPr>
              <a:t>与提示语策略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70585" y="1378585"/>
          <a:ext cx="10477500" cy="4866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5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0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  <a:endParaRPr lang="en-US" dirty="0"/>
                    </a:p>
                    <a:p>
                      <a:pPr marL="0" indent="31750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类型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适用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  <a:endParaRPr lang="en-US" dirty="0"/>
                    </a:p>
                    <a:p>
                      <a:pPr marL="0" indent="735329">
                        <a:lnSpc>
                          <a:spcPct val="101250"/>
                        </a:lnSpc>
                      </a:pP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提示语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侧重点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  <a:endParaRPr lang="en-US" dirty="0"/>
                    </a:p>
                    <a:p>
                      <a:pPr marL="0" indent="683260">
                        <a:lnSpc>
                          <a:spcPct val="101250"/>
                        </a:lnSpc>
                      </a:pP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示例（有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效提示）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  <a:endParaRPr lang="en-US" dirty="0"/>
                    </a:p>
                    <a:p>
                      <a:pPr marL="0" indent="829309">
                        <a:lnSpc>
                          <a:spcPct val="101250"/>
                        </a:lnSpc>
                      </a:pP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需避免的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提示策略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 rowSpan="2">
                  <a:txBody>
                    <a:bodyPr/>
                    <a:lstStyle/>
                    <a:p>
                      <a:pPr>
                        <a:lnSpc>
                          <a:spcPts val="1829"/>
                        </a:lnSpc>
                      </a:pPr>
                      <a:endParaRPr lang="en-US" dirty="0"/>
                    </a:p>
                    <a:p>
                      <a:pPr marL="0" indent="31750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数学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证明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接提问，无需分步引导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“证明勾股定理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冗余拆解（如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先画图，再列公式</a:t>
                      </a: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显式要求分步思考，提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供示例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175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请分三步推导勾股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定理，参考：</a:t>
                      </a:r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1.</a:t>
                      </a:r>
                      <a:r>
                        <a:rPr lang="zh-CN" altLang="en-US" sz="1200" spc="-209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画直角三角形</a:t>
                      </a:r>
                      <a:r>
                        <a:rPr lang="zh-CN" altLang="en-US" sz="12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…”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直接提问（易跳过关键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步骤）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25"/>
                        </a:lnSpc>
                      </a:pPr>
                      <a:endParaRPr lang="en-US" dirty="0"/>
                    </a:p>
                    <a:p>
                      <a:pPr marL="0" indent="31750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创意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写作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鼓励发散性，设定角色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风格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“以海明威的风格写一个冒险故事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过度约束逻辑（如</a:t>
                      </a:r>
                      <a:r>
                        <a:rPr lang="zh-CN" altLang="en-US" sz="12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按时间顺序列出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需明确约束目标，避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免自由发挥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111759" hangingPunct="0">
                        <a:lnSpc>
                          <a:spcPct val="99583"/>
                        </a:lnSpc>
                      </a:pPr>
                      <a:r>
                        <a:rPr lang="zh-CN" altLang="en-US" sz="1200" spc="-5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“写一个包含‘量子’和‘沙漠</a:t>
                      </a:r>
                      <a:r>
                        <a:rPr lang="zh-CN" altLang="en-US" sz="12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’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br/>
                      <a:r>
                        <a:rPr lang="zh-CN" altLang="en-US" sz="1200" spc="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的短篇小说，不超过</a:t>
                      </a:r>
                      <a:r>
                        <a:rPr lang="zh-CN" altLang="en-US" sz="12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200</a:t>
                      </a:r>
                      <a:r>
                        <a:rPr lang="zh-CN" altLang="en-US" sz="1200" spc="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字”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开放式指令（如</a:t>
                      </a:r>
                      <a:r>
                        <a:rPr lang="zh-CN" altLang="en-US" sz="1200" spc="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自由创作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 rowSpan="2">
                  <a:txBody>
                    <a:bodyPr/>
                    <a:lstStyle/>
                    <a:p>
                      <a:pPr>
                        <a:lnSpc>
                          <a:spcPts val="1829"/>
                        </a:lnSpc>
                      </a:pPr>
                      <a:endParaRPr lang="en-US" dirty="0"/>
                    </a:p>
                    <a:p>
                      <a:pPr marL="0" indent="31750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代码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生成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简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洁需求，信任模型逻辑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用</a:t>
                      </a:r>
                      <a:r>
                        <a:rPr lang="zh-CN" altLang="en-US" sz="1200" spc="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Python</a:t>
                      </a:r>
                      <a:r>
                        <a:rPr lang="zh-CN" altLang="en-US" sz="1200" spc="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实现快速排序”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分步指导（如</a:t>
                      </a: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先写递归函数</a:t>
                      </a:r>
                      <a:r>
                        <a:rPr lang="zh-CN" altLang="en-US" sz="1200" spc="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1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细化步骤，明确输入输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出格式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59" hangingPunct="0">
                        <a:lnSpc>
                          <a:spcPct val="99583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先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解释快速排序原理，再写出代</a:t>
                      </a:r>
                      <a:br/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码并测试示例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模糊需求（如</a:t>
                      </a: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写个排序代码</a:t>
                      </a:r>
                      <a:r>
                        <a:rPr lang="zh-CN" altLang="en-US" sz="1200" spc="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>
                        <a:lnSpc>
                          <a:spcPts val="1825"/>
                        </a:lnSpc>
                      </a:pPr>
                      <a:endParaRPr lang="en-US" dirty="0"/>
                    </a:p>
                    <a:p>
                      <a:pPr marL="0" indent="31750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多轮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对话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自然交互，无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需结构化指令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“你觉得人工智能的未来会怎样？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84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强制逻辑链条（如</a:t>
                      </a: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分三点回答</a:t>
                      </a: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需明确对话目标，避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免开放发散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59" hangingPunct="0">
                        <a:lnSpc>
                          <a:spcPct val="99583"/>
                        </a:lnSpc>
                        <a:spcBef>
                          <a:spcPts val="384"/>
                        </a:spcBef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从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技术、伦理、经济三方面分析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</a:t>
                      </a:r>
                      <a:r>
                        <a:rPr lang="zh-CN" altLang="en-US" sz="12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的未来</a:t>
                      </a:r>
                      <a:r>
                        <a:rPr lang="zh-CN" altLang="en-US" sz="12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情感化提问（如“你害怕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AI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吗？”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9109">
                <a:tc rowSpan="2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55"/>
                        </a:lnSpc>
                      </a:pPr>
                      <a:endParaRPr lang="en-US" dirty="0"/>
                    </a:p>
                    <a:p>
                      <a:pPr marL="0" indent="31750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逻辑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分析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直接抛出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复杂问题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59" hangingPunct="0">
                        <a:lnSpc>
                          <a:spcPct val="99583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“分析‘电车难题’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中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的功利主义</a:t>
                      </a:r>
                      <a:br/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与道德主义冲突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添加主观引导（如</a:t>
                      </a:r>
                      <a:r>
                        <a:rPr lang="zh-CN" altLang="en-US" sz="12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你认为哪种对？</a:t>
                      </a:r>
                      <a:r>
                        <a:rPr lang="zh-CN" altLang="en-US" sz="12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1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455930">
                        <a:lnSpc>
                          <a:spcPct val="101250"/>
                        </a:lnSpc>
                      </a:pPr>
                      <a:r>
                        <a:rPr lang="zh-CN" altLang="en-US" sz="12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</a:t>
                      </a:r>
                      <a:r>
                        <a:rPr lang="zh-CN" altLang="en-US" sz="12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60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需拆分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问题，逐步追问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59" hangingPunct="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“</a:t>
                      </a: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先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解释电车难题的定义，再对比</a:t>
                      </a:r>
                      <a:br/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两种伦理观的差异</a:t>
                      </a:r>
                      <a:r>
                        <a:rPr lang="zh-CN" altLang="en-US" sz="12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/>
                    </a:p>
                    <a:p>
                      <a:pPr marL="0" indent="111759">
                        <a:lnSpc>
                          <a:spcPct val="101250"/>
                        </a:lnSpc>
                      </a:pPr>
                      <a:r>
                        <a:rPr lang="zh-CN" altLang="en-US" sz="12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一次性提问</a:t>
                      </a:r>
                      <a:r>
                        <a:rPr lang="zh-CN" altLang="en-US" sz="12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复杂逻辑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10"/>
          <p:cNvSpPr txBox="1"/>
          <p:nvPr/>
        </p:nvSpPr>
        <p:spPr>
          <a:xfrm>
            <a:off x="376554" y="289633"/>
            <a:ext cx="449893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如何向</a:t>
            </a:r>
            <a:r>
              <a:rPr lang="en-US" altLang="zh-CN" sz="4000" b="1" spc="145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  <a:r>
              <a:rPr lang="zh-CN" altLang="en-US" sz="4000" b="1" spc="294" dirty="0">
                <a:solidFill>
                  <a:srgbClr val="242424"/>
                </a:solidFill>
                <a:latin typeface="宋体"/>
                <a:ea typeface="宋体"/>
              </a:rPr>
              <a:t>表达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需求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8200" y="1428750"/>
          <a:ext cx="10499725" cy="4516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0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0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510539">
                        <a:lnSpc>
                          <a:spcPct val="101666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需求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类型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889000">
                        <a:lnSpc>
                          <a:spcPct val="101666"/>
                        </a:lnSpc>
                      </a:pP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特点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594359">
                        <a:lnSpc>
                          <a:spcPct val="101666"/>
                        </a:lnSpc>
                      </a:pP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需求表达</a:t>
                      </a: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公式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401954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推理模型适配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策略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563879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通用模型适配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策略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79"/>
                        </a:lnSpc>
                      </a:pPr>
                      <a:endParaRPr lang="en-US" dirty="0"/>
                    </a:p>
                    <a:p>
                      <a:pPr marL="0" indent="403225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1.</a:t>
                      </a:r>
                      <a:r>
                        <a:rPr lang="zh-CN" altLang="en-US" sz="1400" spc="-24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决策需求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1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需权衡选项、评估风</a:t>
                      </a: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险、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选择</a:t>
                      </a: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最优解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7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</a:t>
                      </a:r>
                      <a:r>
                        <a:rPr lang="zh-CN" altLang="en-US" sz="1400" spc="-179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18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选项</a:t>
                      </a:r>
                      <a:r>
                        <a:rPr lang="zh-CN" altLang="en-US" sz="1400" spc="-18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189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评估标准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7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要求逻辑推演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和量化分析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79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直接建议，依赖模型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经验归纳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35"/>
                        </a:lnSpc>
                      </a:pPr>
                      <a:endParaRPr lang="en-US" dirty="0"/>
                    </a:p>
                    <a:p>
                      <a:pPr marL="0" indent="403225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2.</a:t>
                      </a:r>
                      <a:r>
                        <a:rPr lang="zh-CN" altLang="en-US" sz="1400" spc="-24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分析需求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75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50000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需深度理解数据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信息、</a:t>
                      </a: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发现模式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或因果关系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75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50000"/>
                        </a:lnSpc>
                      </a:pPr>
                      <a:r>
                        <a:rPr lang="zh-CN" altLang="en-US" sz="1400" spc="-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问题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4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400" spc="-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信息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4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5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分析</a:t>
                      </a: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方法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7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触发因果链推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导与假设验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证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3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表</a:t>
                      </a: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层总结或分类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>
                        <a:lnSpc>
                          <a:spcPts val="1814"/>
                        </a:lnSpc>
                      </a:pPr>
                      <a:endParaRPr lang="en-US" dirty="0"/>
                    </a:p>
                    <a:p>
                      <a:pPr marL="0" indent="314325">
                        <a:lnSpc>
                          <a:spcPct val="101666"/>
                        </a:lnSpc>
                      </a:pP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3.</a:t>
                      </a:r>
                      <a:r>
                        <a:rPr lang="zh-CN" altLang="en-US" sz="1400" spc="-25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4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创造性需求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需生成新颖内容（文本</a:t>
                      </a: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5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</a:t>
                      </a: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400" spc="-5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方案）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主题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8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风格</a:t>
                      </a:r>
                      <a:r>
                        <a:rPr lang="zh-CN" altLang="en-US" sz="1400" spc="-3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400" spc="-7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约束</a:t>
                      </a:r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4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4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7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结合逻辑框架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生成结构化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自由发散，依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赖示例引导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44"/>
                        </a:lnSpc>
                      </a:pPr>
                      <a:endParaRPr lang="en-US" dirty="0"/>
                    </a:p>
                    <a:p>
                      <a:pPr marL="0" indent="403225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4.</a:t>
                      </a:r>
                      <a:r>
                        <a:rPr lang="zh-CN" altLang="en-US" sz="1400" spc="-24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验证需求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需检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查逻辑自洽性、数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据可</a:t>
                      </a: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靠性或方案可行性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endParaRPr lang="en-US" dirty="0"/>
                    </a:p>
                    <a:p>
                      <a:pPr marL="95250" hangingPunct="0">
                        <a:lnSpc>
                          <a:spcPct val="150000"/>
                        </a:lnSpc>
                      </a:pPr>
                      <a:r>
                        <a:rPr lang="zh-CN" altLang="en-US" sz="1400" spc="-6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结论</a:t>
                      </a: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400" spc="-6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方案</a:t>
                      </a: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6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验证方法</a:t>
                      </a:r>
                      <a:r>
                        <a:rPr lang="zh-CN" altLang="en-US" sz="1400" spc="-3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br/>
                      <a:r>
                        <a:rPr lang="zh-CN" altLang="en-US" sz="14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风险点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自主设计验证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路径并排查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矛盾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4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简单确认，缺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乏深度推演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779">
                <a:tc>
                  <a:txBody>
                    <a:bodyPr/>
                    <a:lstStyle/>
                    <a:p>
                      <a:pPr>
                        <a:lnSpc>
                          <a:spcPts val="1814"/>
                        </a:lnSpc>
                      </a:pPr>
                      <a:endParaRPr lang="en-US" dirty="0"/>
                    </a:p>
                    <a:p>
                      <a:pPr marL="0" indent="403225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5.</a:t>
                      </a:r>
                      <a:r>
                        <a:rPr lang="zh-CN" altLang="en-US" sz="1400" spc="-24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执行需求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需完成具体操作（代码</a:t>
                      </a: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5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计算</a:t>
                      </a:r>
                      <a:r>
                        <a:rPr lang="zh-CN" altLang="en-US" sz="14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400" spc="-5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流程）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</a:t>
                      </a:r>
                      <a:r>
                        <a:rPr lang="zh-CN" altLang="en-US" sz="1400" spc="-189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189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步骤约束</a:t>
                      </a:r>
                      <a:r>
                        <a:rPr lang="zh-CN" altLang="en-US" sz="1400" spc="-189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+</a:t>
                      </a:r>
                      <a:r>
                        <a:rPr lang="zh-CN" altLang="en-US" sz="1400" spc="-20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输出格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5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自主优化步骤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，兼顾效率</a:t>
                      </a:r>
                    </a:p>
                    <a:p>
                      <a:pPr>
                        <a:lnSpc>
                          <a:spcPts val="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与正</a:t>
                      </a:r>
                      <a:r>
                        <a:rPr lang="zh-CN" altLang="en-US" sz="14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确性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4"/>
                        </a:lnSpc>
                      </a:pPr>
                      <a:endParaRPr lang="en-US" dirty="0"/>
                    </a:p>
                    <a:p>
                      <a:pPr marL="0" indent="95250">
                        <a:lnSpc>
                          <a:spcPct val="101666"/>
                        </a:lnSpc>
                      </a:pPr>
                      <a:r>
                        <a:rPr lang="zh-CN" altLang="en-US" sz="14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严格按指令执行，无</a:t>
                      </a:r>
                      <a:r>
                        <a:rPr lang="zh-CN" altLang="en-US" sz="14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自主优化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2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1516380"/>
            <a:ext cx="3901440" cy="2065020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3931920"/>
            <a:ext cx="5806440" cy="2080260"/>
          </a:xfrm>
          <a:prstGeom prst="rect">
            <a:avLst/>
          </a:prstGeom>
        </p:spPr>
      </p:pic>
      <p:pic>
        <p:nvPicPr>
          <p:cNvPr id="215" name="Picture 2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420" y="1508760"/>
            <a:ext cx="3909060" cy="2072639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3970020"/>
            <a:ext cx="5821680" cy="2042160"/>
          </a:xfrm>
          <a:prstGeom prst="rect">
            <a:avLst/>
          </a:prstGeom>
        </p:spPr>
      </p:pic>
      <p:pic>
        <p:nvPicPr>
          <p:cNvPr id="217" name="Picture 2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820" y="1493520"/>
            <a:ext cx="3893820" cy="2087880"/>
          </a:xfrm>
          <a:prstGeom prst="rect">
            <a:avLst/>
          </a:prstGeom>
        </p:spPr>
      </p:pic>
      <p:sp>
        <p:nvSpPr>
          <p:cNvPr id="2" name="TextBox 217"/>
          <p:cNvSpPr txBox="1"/>
          <p:nvPr/>
        </p:nvSpPr>
        <p:spPr>
          <a:xfrm>
            <a:off x="376554" y="289633"/>
            <a:ext cx="282126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45" dirty="0">
                <a:solidFill>
                  <a:srgbClr val="242424"/>
                </a:solidFill>
                <a:latin typeface="Arial Unicode MS"/>
                <a:ea typeface="Arial Unicode MS"/>
              </a:rPr>
              <a:t>提</a:t>
            </a:r>
            <a:r>
              <a:rPr lang="zh-CN" altLang="en-US" sz="4000" b="1" spc="240" dirty="0">
                <a:solidFill>
                  <a:srgbClr val="242424"/>
                </a:solidFill>
                <a:latin typeface="Arial Unicode MS"/>
                <a:ea typeface="Arial Unicode MS"/>
              </a:rPr>
              <a:t>示语示例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837946" y="1588770"/>
            <a:ext cx="11261326" cy="308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2500"/>
              </a:lnSpc>
              <a:tabLst>
                <a:tab pos="1853183" algn="l"/>
                <a:tab pos="3951604" algn="l"/>
                <a:tab pos="5807963" algn="l"/>
                <a:tab pos="7826375" algn="l"/>
                <a:tab pos="9759569" algn="l"/>
              </a:tabLst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决策需求	�实战技巧：	分析需求	�实战技巧：	创造性需求	�</a:t>
            </a:r>
            <a:r>
              <a:rPr lang="zh-CN" altLang="en-US" sz="18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307975" y="2200325"/>
            <a:ext cx="3547098" cy="1348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为降低物流成本，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现有两种方案：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①自建区域仓库（初期投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入高，长期成本低）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②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与第三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方合作（按需付费，灵活性高）</a:t>
            </a:r>
          </a:p>
          <a:p>
            <a:pPr marL="0" hangingPunct="0">
              <a:lnSpc>
                <a:spcPct val="152499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请根据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ROI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计算模型，对比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年内的总成本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并推荐最优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解。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4259579" y="2291765"/>
            <a:ext cx="3572498" cy="1117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分析近三年新能源汽车销量数据（附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CSV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，说明：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①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增长趋势与政策关联性；</a:t>
            </a:r>
          </a:p>
          <a:p>
            <a:pPr marL="0" hangingPunct="0">
              <a:lnSpc>
                <a:spcPct val="152499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②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预测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2025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年市占率，需使用ARIMA模型并解释参数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选择依据。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8211184" y="2287955"/>
            <a:ext cx="2996510" cy="1069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一款智能家居产品，要求：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①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解决独居老人安全问题；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②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结合传感器网络和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预警；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③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提供三种不同技术路线的原型草图说明。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723645" y="4016273"/>
            <a:ext cx="9539206" cy="339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3749"/>
              </a:lnSpc>
              <a:tabLst>
                <a:tab pos="2170049" algn="l"/>
                <a:tab pos="6083935" algn="l"/>
                <a:tab pos="8037448" algn="l"/>
              </a:tabLst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验证性需求	�实战技巧：	执行需求	�</a:t>
            </a:r>
            <a:r>
              <a:rPr lang="zh-CN" altLang="en-US" sz="18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308609" y="4578400"/>
            <a:ext cx="3694418" cy="1397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"以下是某论文结论：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'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神经网络模型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A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优于传统方法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B'。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请验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证：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①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实验数据是否支持该结论；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②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检查对照组设置是否存在偏差；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③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重新计算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p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值并判断显著性。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6285229" y="4726355"/>
            <a:ext cx="2750173" cy="10693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将以下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C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语言代码转换为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Python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，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①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保持时间复杂度不变；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②</a:t>
            </a:r>
            <a:r>
              <a:rPr lang="zh-CN" altLang="en-US" sz="1200" spc="-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使用numpy优化数组操作；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③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输出带时间测试案例的完整代码。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1150619"/>
            <a:ext cx="5074920" cy="5516880"/>
          </a:xfrm>
          <a:prstGeom prst="rect">
            <a:avLst/>
          </a:prstGeom>
        </p:spPr>
      </p:pic>
      <p:sp>
        <p:nvSpPr>
          <p:cNvPr id="2" name="TextBox 226"/>
          <p:cNvSpPr txBox="1"/>
          <p:nvPr/>
        </p:nvSpPr>
        <p:spPr>
          <a:xfrm>
            <a:off x="376554" y="289633"/>
            <a:ext cx="500820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0" dirty="0">
                <a:solidFill>
                  <a:srgbClr val="242424"/>
                </a:solidFill>
                <a:latin typeface="宋体"/>
                <a:ea typeface="宋体"/>
              </a:rPr>
              <a:t>还要不要</a:t>
            </a: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学提</a:t>
            </a:r>
            <a:r>
              <a:rPr lang="zh-CN" altLang="en-US" sz="4000" b="1" spc="254" dirty="0">
                <a:solidFill>
                  <a:srgbClr val="242424"/>
                </a:solidFill>
                <a:latin typeface="宋体"/>
                <a:ea typeface="宋体"/>
              </a:rPr>
              <a:t>示语？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620394" y="1686077"/>
            <a:ext cx="6204568" cy="4265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提示语（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Prompt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）是用户输入给</a:t>
            </a:r>
            <a:r>
              <a:rPr lang="en-US" altLang="zh-CN" sz="1800" spc="4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65" dirty="0">
                <a:solidFill>
                  <a:srgbClr val="000000"/>
                </a:solidFill>
                <a:latin typeface="宋体"/>
                <a:ea typeface="宋体"/>
              </a:rPr>
              <a:t>系统的指令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或信息，用于</a:t>
            </a:r>
            <a:r>
              <a:rPr lang="zh-CN" altLang="en-US" sz="1800" spc="5" dirty="0">
                <a:solidFill>
                  <a:srgbClr val="000000"/>
                </a:solidFill>
                <a:latin typeface="宋体"/>
                <a:ea typeface="宋体"/>
              </a:rPr>
              <a:t>引导</a:t>
            </a:r>
            <a:r>
              <a:rPr lang="en-US" altLang="zh-CN" sz="1800" spc="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10" dirty="0">
                <a:solidFill>
                  <a:srgbClr val="000000"/>
                </a:solidFill>
                <a:latin typeface="宋体"/>
                <a:ea typeface="宋体"/>
              </a:rPr>
              <a:t>生成特定的输出或执行特定的</a:t>
            </a:r>
            <a:r>
              <a:rPr lang="zh-CN" altLang="en-US" sz="1800" spc="5" dirty="0">
                <a:solidFill>
                  <a:srgbClr val="000000"/>
                </a:solidFill>
                <a:latin typeface="宋体"/>
                <a:ea typeface="宋体"/>
              </a:rPr>
              <a:t>任务。简单来说，提示语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就是我们与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对话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35" dirty="0">
                <a:solidFill>
                  <a:srgbClr val="000000"/>
                </a:solidFill>
                <a:latin typeface="宋体"/>
                <a:ea typeface="宋体"/>
              </a:rPr>
              <a:t>时所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使用的语言，它可以是一个简单的问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题，一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段详细的指令，也可以是一个复杂的任务描述。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提示语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的基本结构包括指令、上下文和期望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spc="1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指令（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Instruction)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：这是提示语的核心，明确告诉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你希望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它执行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什么任务。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spc="1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44" dirty="0">
                <a:solidFill>
                  <a:srgbClr val="000000"/>
                </a:solidFill>
                <a:latin typeface="宋体"/>
                <a:ea typeface="宋体"/>
              </a:rPr>
              <a:t>上下文（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Context)</a:t>
            </a:r>
            <a:r>
              <a:rPr lang="zh-CN" altLang="en-US" sz="1800" spc="55" dirty="0">
                <a:solidFill>
                  <a:srgbClr val="000000"/>
                </a:solidFill>
                <a:latin typeface="宋体"/>
                <a:ea typeface="宋体"/>
              </a:rPr>
              <a:t>：为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44" dirty="0">
                <a:solidFill>
                  <a:srgbClr val="000000"/>
                </a:solidFill>
                <a:latin typeface="宋体"/>
                <a:ea typeface="宋体"/>
              </a:rPr>
              <a:t>提供背景信息，帮助它更准确地理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解和执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行任务。</a:t>
            </a:r>
          </a:p>
          <a:p>
            <a:pPr marL="0" hangingPunct="0">
              <a:lnSpc>
                <a:spcPct val="134166"/>
              </a:lnSpc>
              <a:spcBef>
                <a:spcPts val="354"/>
              </a:spcBef>
            </a:pPr>
            <a:r>
              <a:rPr lang="en-US" altLang="zh-CN" sz="1800" spc="2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期望（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Expectation)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：明确或隐含地表达你对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输出的要求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和预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228"/>
          <p:cNvSpPr txBox="1"/>
          <p:nvPr/>
        </p:nvSpPr>
        <p:spPr>
          <a:xfrm>
            <a:off x="376554" y="289633"/>
            <a:ext cx="282126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20" dirty="0">
                <a:solidFill>
                  <a:srgbClr val="242424"/>
                </a:solidFill>
                <a:latin typeface="宋体"/>
                <a:ea typeface="宋体"/>
              </a:rPr>
              <a:t>提示语</a:t>
            </a:r>
            <a:r>
              <a:rPr lang="zh-CN" altLang="en-US" sz="4000" b="1" spc="229" dirty="0">
                <a:solidFill>
                  <a:srgbClr val="242424"/>
                </a:solidFill>
                <a:latin typeface="宋体"/>
                <a:ea typeface="宋体"/>
              </a:rPr>
              <a:t>类型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638809" y="1386004"/>
            <a:ext cx="7708245" cy="330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8333"/>
              </a:lnSpc>
              <a:tabLst>
                <a:tab pos="6053455" algn="l"/>
              </a:tabLst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提示语的本质	</a:t>
            </a: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提示语的类型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2280285" y="1919741"/>
            <a:ext cx="2679700" cy="3051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表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1-1-1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语的本质特征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6474459" y="2308377"/>
            <a:ext cx="5346682" cy="3483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49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指令型提示语：直接告诉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需要执行的任务。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49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问答型提示语：向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提出问题，期望得到相应的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829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答案。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49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角色扮演型提示语：要求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扮演特定角色，模拟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829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特定场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景。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49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创意型提示语：引导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进行创意写作或内容生成。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49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分析型提示语：要求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对给定信息进行分析和推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829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理。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6.</a:t>
            </a:r>
            <a:r>
              <a:rPr lang="en-US" altLang="zh-CN" sz="1800" spc="4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多模态提示语：结合文本、图像等多种形式的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829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输入。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369" y="2371725"/>
          <a:ext cx="5561329" cy="3679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229"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  <a:endParaRPr lang="en-US" dirty="0"/>
                    </a:p>
                    <a:p>
                      <a:pPr marL="0" indent="326390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特征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  <a:endParaRPr lang="en-US" dirty="0"/>
                    </a:p>
                    <a:p>
                      <a:pPr marL="0" indent="793750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描述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  <a:endParaRPr lang="en-US" dirty="0"/>
                    </a:p>
                    <a:p>
                      <a:pPr marL="0" indent="119633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示例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  <a:endParaRPr lang="en-US" dirty="0"/>
                    </a:p>
                    <a:p>
                      <a:pPr marL="0" indent="18669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沟通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桥梁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  <a:endParaRPr lang="en-US" dirty="0"/>
                    </a:p>
                    <a:p>
                      <a:pPr marL="0" indent="23876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连接人类意图和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理解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  <a:endParaRPr lang="en-US" dirty="0"/>
                    </a:p>
                    <a:p>
                      <a:pPr marL="0" indent="156845">
                        <a:lnSpc>
                          <a:spcPct val="101666"/>
                        </a:lnSpc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将以下内容翻译为法语：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Hello,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world”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116840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上下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文提供</a:t>
                      </a:r>
                    </a:p>
                    <a:p>
                      <a:pPr marL="0" indent="39624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者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14"/>
                        </a:lnSpc>
                      </a:pPr>
                      <a:endParaRPr lang="en-US" dirty="0"/>
                    </a:p>
                    <a:p>
                      <a:pPr marL="0" indent="16891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为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提供必要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的背景信息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98425">
                        <a:lnSpc>
                          <a:spcPct val="100000"/>
                        </a:lnSpc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假设你是一位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19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世纪的历史学家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,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评论拿</a:t>
                      </a:r>
                    </a:p>
                    <a:p>
                      <a:pPr marL="0" indent="963295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破仑的崛起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704">
                <a:tc>
                  <a:txBody>
                    <a:bodyPr/>
                    <a:lstStyle/>
                    <a:p>
                      <a:pPr>
                        <a:lnSpc>
                          <a:spcPts val="1910"/>
                        </a:lnSpc>
                      </a:pPr>
                      <a:endParaRPr lang="en-US" dirty="0"/>
                    </a:p>
                    <a:p>
                      <a:pPr marL="0" indent="11684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定义器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10"/>
                        </a:lnSpc>
                      </a:pPr>
                      <a:endParaRPr lang="en-US" dirty="0"/>
                    </a:p>
                    <a:p>
                      <a:pPr marL="0" indent="99059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明确指定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需要完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成的任务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/>
                    </a:p>
                    <a:p>
                      <a:pPr marL="0" indent="106045">
                        <a:lnSpc>
                          <a:spcPct val="100000"/>
                        </a:lnSpc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为一篇关于气候变化的文章写一个引言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,</a:t>
                      </a:r>
                    </a:p>
                    <a:p>
                      <a:pPr marL="0" indent="986789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长度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200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字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>
                        <a:lnSpc>
                          <a:spcPts val="1914"/>
                        </a:lnSpc>
                      </a:pPr>
                      <a:endParaRPr lang="en-US" dirty="0"/>
                    </a:p>
                    <a:p>
                      <a:pPr marL="0" indent="11684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塑造器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14"/>
                        </a:lnSpc>
                      </a:pPr>
                      <a:endParaRPr lang="en-US" dirty="0"/>
                    </a:p>
                    <a:p>
                      <a:pPr marL="0" indent="16891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影响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输出的形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式和内容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106045">
                        <a:lnSpc>
                          <a:spcPct val="100000"/>
                        </a:lnSpc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用简单的语言解释量子力学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,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假设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你在跟</a:t>
                      </a:r>
                    </a:p>
                    <a:p>
                      <a:pPr marL="0" indent="67627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一个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岁的孩子说话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120650">
                        <a:lnSpc>
                          <a:spcPct val="100000"/>
                        </a:lnSpc>
                      </a:pP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力引导</a:t>
                      </a:r>
                    </a:p>
                    <a:p>
                      <a:pPr marL="0" indent="39624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99059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引导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使用特定的能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力或技</a:t>
                      </a:r>
                    </a:p>
                    <a:p>
                      <a:pPr marL="0" indent="86360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106045">
                        <a:lnSpc>
                          <a:spcPct val="100000"/>
                        </a:lnSpc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使用你的创意写作能力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,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一个关于时</a:t>
                      </a:r>
                    </a:p>
                    <a:p>
                      <a:pPr marL="0" indent="753745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间旅行的短篇故事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233"/>
          <p:cNvSpPr txBox="1"/>
          <p:nvPr/>
        </p:nvSpPr>
        <p:spPr>
          <a:xfrm>
            <a:off x="376554" y="289633"/>
            <a:ext cx="971101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95" dirty="0">
                <a:solidFill>
                  <a:srgbClr val="242424"/>
                </a:solidFill>
                <a:latin typeface="宋体"/>
                <a:ea typeface="宋体"/>
              </a:rPr>
              <a:t>掌握提示语设计：</a:t>
            </a:r>
            <a:r>
              <a:rPr lang="en-US" altLang="zh-CN" sz="4000" b="1" spc="189" dirty="0">
                <a:solidFill>
                  <a:srgbClr val="242424"/>
                </a:solidFill>
                <a:latin typeface="Arial"/>
                <a:ea typeface="Arial"/>
              </a:rPr>
              <a:t>AIGC</a:t>
            </a:r>
            <a:r>
              <a:rPr lang="zh-CN" altLang="en-US" sz="4000" b="1" spc="304" dirty="0">
                <a:solidFill>
                  <a:srgbClr val="242424"/>
                </a:solidFill>
                <a:latin typeface="宋体"/>
                <a:ea typeface="宋体"/>
              </a:rPr>
              <a:t>时代的</a:t>
            </a:r>
            <a:r>
              <a:rPr lang="zh-CN" altLang="en-US" sz="4000" b="1" spc="295" dirty="0">
                <a:solidFill>
                  <a:srgbClr val="242424"/>
                </a:solidFill>
                <a:latin typeface="宋体"/>
                <a:ea typeface="宋体"/>
              </a:rPr>
              <a:t>必备技能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638809" y="1386004"/>
            <a:ext cx="4141470" cy="6935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提示语设计的核心技能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体系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890270">
              <a:lnSpc>
                <a:spcPct val="111249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表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1-3-1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语设计核心技能子项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7328534" y="1204731"/>
            <a:ext cx="3365499" cy="3051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表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1-3-2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语设计进阶技能子项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369" y="2171064"/>
          <a:ext cx="5431790" cy="4243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1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0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235">
                <a:tc>
                  <a:txBody>
                    <a:bodyPr/>
                    <a:lstStyle/>
                    <a:p>
                      <a:pPr marL="0" indent="618490">
                        <a:lnSpc>
                          <a:spcPct val="101666"/>
                        </a:lnSpc>
                        <a:spcBef>
                          <a:spcPts val="104"/>
                        </a:spcBef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核心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技能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646554">
                        <a:lnSpc>
                          <a:spcPct val="101666"/>
                        </a:lnSpc>
                        <a:spcBef>
                          <a:spcPts val="104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子项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239"/>
                        </a:lnSpc>
                      </a:pPr>
                      <a:endParaRPr lang="en-US" dirty="0"/>
                    </a:p>
                    <a:p>
                      <a:pPr marL="0" indent="47879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问题重构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23214">
                        <a:lnSpc>
                          <a:spcPct val="101666"/>
                        </a:lnSpc>
                        <a:spcBef>
                          <a:spcPts val="164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将复杂、模糊的人类需求转化为结构化的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08354">
                        <a:lnSpc>
                          <a:spcPct val="101666"/>
                        </a:lnSpc>
                        <a:spcBef>
                          <a:spcPts val="21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识别问题的核心要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素和约束条件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7820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设计清晰、精确的提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示语结构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40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39"/>
                        </a:lnSpc>
                      </a:pPr>
                      <a:endParaRPr lang="en-US" dirty="0"/>
                    </a:p>
                    <a:p>
                      <a:pPr marL="0" indent="47879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创意引导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12164">
                        <a:lnSpc>
                          <a:spcPct val="101666"/>
                        </a:lnSpc>
                        <a:spcBef>
                          <a:spcPts val="215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设计能激发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创新思维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的提示语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2321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利用类比、反向思考等技巧拓展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出的可能性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598804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巧妙结合不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同领域概念，产生跨界创新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0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400"/>
                        </a:lnSpc>
                      </a:pPr>
                      <a:endParaRPr lang="en-US" dirty="0"/>
                    </a:p>
                    <a:p>
                      <a:pPr marL="0" indent="47879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结果优化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51865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分析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输出，识别改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进空间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6865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通过迭代调整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提示语，优化输出质量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5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0835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设计评估标准，量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化提示语效果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/>
                    </a:p>
                    <a:p>
                      <a:pPr marL="0" indent="47879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跨域整合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68654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将专业领域知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识转化为有效的提示语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4231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利用提示语桥接不同学科和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48054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创造跨领域的创新解决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方案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50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400"/>
                        </a:lnSpc>
                      </a:pPr>
                      <a:endParaRPr lang="en-US" dirty="0"/>
                    </a:p>
                    <a:p>
                      <a:pPr marL="0" indent="61849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系统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思维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3850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设计多步骤、多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维度的提示语体系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5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59880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构建提示语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模板库，提高效率和一致性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08354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开发提示语策略，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应对复杂场景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38240" y="1656714"/>
          <a:ext cx="5431790" cy="475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1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0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10">
                <a:tc>
                  <a:txBody>
                    <a:bodyPr/>
                    <a:lstStyle/>
                    <a:p>
                      <a:pPr marL="0" indent="618490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核心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技能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  <a:solidFill>
                      <a:srgbClr val="FE9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646555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子项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  <a:solidFill>
                      <a:srgbClr val="FE9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04"/>
                        </a:lnSpc>
                      </a:pPr>
                      <a:endParaRPr lang="en-US" dirty="0"/>
                    </a:p>
                    <a:p>
                      <a:pPr marL="0" indent="61849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语境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理解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78205">
                        <a:lnSpc>
                          <a:spcPct val="101666"/>
                        </a:lnSpc>
                        <a:spcBef>
                          <a:spcPts val="279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深入分析任务背景和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隐含需求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48055">
                        <a:lnSpc>
                          <a:spcPct val="101666"/>
                        </a:lnSpc>
                        <a:spcBef>
                          <a:spcPts val="34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考虑文化、伦理和法律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因素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48055">
                        <a:lnSpc>
                          <a:spcPct val="101666"/>
                        </a:lnSpc>
                        <a:spcBef>
                          <a:spcPts val="39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预测可能的误解和边界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情况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28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29"/>
                        </a:lnSpc>
                      </a:pPr>
                      <a:endParaRPr lang="en-US" dirty="0"/>
                    </a:p>
                    <a:p>
                      <a:pPr marL="0" indent="54864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抽象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化能力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68655">
                        <a:lnSpc>
                          <a:spcPct val="101666"/>
                        </a:lnSpc>
                        <a:spcBef>
                          <a:spcPts val="34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识别通用模式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，提高提示语可复用性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 lang="en-US" dirty="0"/>
                    </a:p>
                    <a:p>
                      <a:pPr marL="0" indent="80835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设计灵活、可扩展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的提示语模板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 lang="en-US" dirty="0"/>
                    </a:p>
                    <a:p>
                      <a:pPr marL="0" indent="87820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创建适应不同场景的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元提示语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95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85"/>
                        </a:lnSpc>
                      </a:pPr>
                      <a:endParaRPr lang="en-US" dirty="0"/>
                    </a:p>
                    <a:p>
                      <a:pPr marL="0" indent="54864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批判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性思考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2615">
                        <a:lnSpc>
                          <a:spcPct val="101666"/>
                        </a:lnSpc>
                        <a:spcBef>
                          <a:spcPts val="395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客观评估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识别潜在偏见和错误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 lang="en-US" dirty="0"/>
                    </a:p>
                    <a:p>
                      <a:pPr marL="0" indent="672465">
                        <a:lnSpc>
                          <a:spcPct val="101666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设计反事实提示语，测试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理解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深度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8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72465">
                        <a:lnSpc>
                          <a:spcPct val="101666"/>
                        </a:lnSpc>
                        <a:spcBef>
                          <a:spcPts val="395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构建验证机制，确保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的可靠性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2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85"/>
                        </a:lnSpc>
                      </a:pPr>
                      <a:endParaRPr lang="en-US" dirty="0"/>
                    </a:p>
                    <a:p>
                      <a:pPr marL="0" indent="61849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思维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 lang="en-US" dirty="0"/>
                    </a:p>
                    <a:p>
                      <a:pPr marL="0" indent="1017905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探索非常规的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提示语方法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8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72465">
                        <a:lnSpc>
                          <a:spcPct val="101666"/>
                        </a:lnSpc>
                        <a:spcBef>
                          <a:spcPts val="395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结合最新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研究成果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，拓展应用边界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8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2615">
                        <a:lnSpc>
                          <a:spcPct val="101666"/>
                        </a:lnSpc>
                        <a:spcBef>
                          <a:spcPts val="395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设计实验性提示语，推动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力的进化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2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85"/>
                        </a:lnSpc>
                      </a:pPr>
                      <a:endParaRPr lang="en-US" dirty="0"/>
                    </a:p>
                    <a:p>
                      <a:pPr marL="0" indent="61849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伦理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意识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 lang="en-US" dirty="0"/>
                    </a:p>
                    <a:p>
                      <a:pPr marL="0" indent="1017905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在提示语中嵌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入伦理考量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8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82015">
                        <a:lnSpc>
                          <a:spcPct val="101666"/>
                        </a:lnSpc>
                        <a:spcBef>
                          <a:spcPts val="39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设计公平、包容的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交互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模式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6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  <a:endParaRPr lang="en-US" dirty="0"/>
                    </a:p>
                    <a:p>
                      <a:pPr marL="0" indent="742315">
                        <a:lnSpc>
                          <a:spcPct val="101666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预防和缓解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可能带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来的负面影响</a:t>
                      </a:r>
                    </a:p>
                  </a:txBody>
                  <a:tcPr marL="0" marR="0" marT="0" marB="0">
                    <a:lnL w="12700">
                      <a:solidFill>
                        <a:srgbClr val="53B8FE"/>
                      </a:solidFill>
                      <a:prstDash val="solid"/>
                    </a:lnL>
                    <a:lnR w="12700">
                      <a:solidFill>
                        <a:srgbClr val="53B8FE"/>
                      </a:solidFill>
                      <a:prstDash val="solid"/>
                    </a:lnR>
                    <a:lnT w="12700">
                      <a:solidFill>
                        <a:srgbClr val="53B8FE"/>
                      </a:solidFill>
                      <a:prstDash val="solid"/>
                    </a:lnT>
                    <a:lnB w="12700">
                      <a:solidFill>
                        <a:srgbClr val="53B8F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Freeform 238"/>
          <p:cNvSpPr/>
          <p:nvPr/>
        </p:nvSpPr>
        <p:spPr>
          <a:xfrm>
            <a:off x="6394450" y="1390650"/>
            <a:ext cx="6350" cy="31750"/>
          </a:xfrm>
          <a:custGeom>
            <a:avLst/>
            <a:gdLst>
              <a:gd name="connsiteX0" fmla="*/ 10794 w 6350"/>
              <a:gd name="connsiteY0" fmla="*/ 6350 h 31750"/>
              <a:gd name="connsiteX1" fmla="*/ 10794 w 6350"/>
              <a:gd name="connsiteY1" fmla="*/ 3683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6350"/>
                </a:moveTo>
                <a:lnTo>
                  <a:pt x="10794" y="3683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Freeform 239"/>
          <p:cNvSpPr/>
          <p:nvPr/>
        </p:nvSpPr>
        <p:spPr>
          <a:xfrm>
            <a:off x="6394450" y="1441450"/>
            <a:ext cx="6350" cy="31750"/>
          </a:xfrm>
          <a:custGeom>
            <a:avLst/>
            <a:gdLst>
              <a:gd name="connsiteX0" fmla="*/ 10794 w 6350"/>
              <a:gd name="connsiteY0" fmla="*/ 8889 h 31750"/>
              <a:gd name="connsiteX1" fmla="*/ 10794 w 6350"/>
              <a:gd name="connsiteY1" fmla="*/ 3936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8889"/>
                </a:moveTo>
                <a:lnTo>
                  <a:pt x="10794" y="3936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Freeform 240"/>
          <p:cNvSpPr/>
          <p:nvPr/>
        </p:nvSpPr>
        <p:spPr>
          <a:xfrm>
            <a:off x="6394450" y="1492250"/>
            <a:ext cx="6350" cy="44450"/>
          </a:xfrm>
          <a:custGeom>
            <a:avLst/>
            <a:gdLst>
              <a:gd name="connsiteX0" fmla="*/ 10794 w 6350"/>
              <a:gd name="connsiteY0" fmla="*/ 11430 h 44450"/>
              <a:gd name="connsiteX1" fmla="*/ 10794 w 6350"/>
              <a:gd name="connsiteY1" fmla="*/ 4191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1430"/>
                </a:moveTo>
                <a:lnTo>
                  <a:pt x="10794" y="4191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Freeform 241"/>
          <p:cNvSpPr/>
          <p:nvPr/>
        </p:nvSpPr>
        <p:spPr>
          <a:xfrm>
            <a:off x="6394450" y="1543050"/>
            <a:ext cx="6350" cy="44450"/>
          </a:xfrm>
          <a:custGeom>
            <a:avLst/>
            <a:gdLst>
              <a:gd name="connsiteX0" fmla="*/ 10794 w 6350"/>
              <a:gd name="connsiteY0" fmla="*/ 13969 h 44450"/>
              <a:gd name="connsiteX1" fmla="*/ 10794 w 6350"/>
              <a:gd name="connsiteY1" fmla="*/ 4445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3969"/>
                </a:moveTo>
                <a:lnTo>
                  <a:pt x="10794" y="444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Freeform 242"/>
          <p:cNvSpPr/>
          <p:nvPr/>
        </p:nvSpPr>
        <p:spPr>
          <a:xfrm>
            <a:off x="6394450" y="1606550"/>
            <a:ext cx="6350" cy="31750"/>
          </a:xfrm>
          <a:custGeom>
            <a:avLst/>
            <a:gdLst>
              <a:gd name="connsiteX0" fmla="*/ 10794 w 6350"/>
              <a:gd name="connsiteY0" fmla="*/ 3810 h 31750"/>
              <a:gd name="connsiteX1" fmla="*/ 10794 w 6350"/>
              <a:gd name="connsiteY1" fmla="*/ 3428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3810"/>
                </a:moveTo>
                <a:lnTo>
                  <a:pt x="10794" y="3428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Freeform 243"/>
          <p:cNvSpPr/>
          <p:nvPr/>
        </p:nvSpPr>
        <p:spPr>
          <a:xfrm>
            <a:off x="6394450" y="1657350"/>
            <a:ext cx="6350" cy="31750"/>
          </a:xfrm>
          <a:custGeom>
            <a:avLst/>
            <a:gdLst>
              <a:gd name="connsiteX0" fmla="*/ 10794 w 6350"/>
              <a:gd name="connsiteY0" fmla="*/ 6350 h 31750"/>
              <a:gd name="connsiteX1" fmla="*/ 10794 w 6350"/>
              <a:gd name="connsiteY1" fmla="*/ 3682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6350"/>
                </a:moveTo>
                <a:lnTo>
                  <a:pt x="10794" y="3682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Freeform 244"/>
          <p:cNvSpPr/>
          <p:nvPr/>
        </p:nvSpPr>
        <p:spPr>
          <a:xfrm>
            <a:off x="6394450" y="1708150"/>
            <a:ext cx="6350" cy="31750"/>
          </a:xfrm>
          <a:custGeom>
            <a:avLst/>
            <a:gdLst>
              <a:gd name="connsiteX0" fmla="*/ 10794 w 6350"/>
              <a:gd name="connsiteY0" fmla="*/ 8889 h 31750"/>
              <a:gd name="connsiteX1" fmla="*/ 10794 w 6350"/>
              <a:gd name="connsiteY1" fmla="*/ 3937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8889"/>
                </a:moveTo>
                <a:lnTo>
                  <a:pt x="10794" y="3937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Freeform 245"/>
          <p:cNvSpPr/>
          <p:nvPr/>
        </p:nvSpPr>
        <p:spPr>
          <a:xfrm>
            <a:off x="6394450" y="1758950"/>
            <a:ext cx="6350" cy="44450"/>
          </a:xfrm>
          <a:custGeom>
            <a:avLst/>
            <a:gdLst>
              <a:gd name="connsiteX0" fmla="*/ 10794 w 6350"/>
              <a:gd name="connsiteY0" fmla="*/ 11429 h 44450"/>
              <a:gd name="connsiteX1" fmla="*/ 10794 w 6350"/>
              <a:gd name="connsiteY1" fmla="*/ 4191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1429"/>
                </a:moveTo>
                <a:lnTo>
                  <a:pt x="10794" y="4191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Freeform 246"/>
          <p:cNvSpPr/>
          <p:nvPr/>
        </p:nvSpPr>
        <p:spPr>
          <a:xfrm>
            <a:off x="6394450" y="1809750"/>
            <a:ext cx="6350" cy="44450"/>
          </a:xfrm>
          <a:custGeom>
            <a:avLst/>
            <a:gdLst>
              <a:gd name="connsiteX0" fmla="*/ 10794 w 6350"/>
              <a:gd name="connsiteY0" fmla="*/ 13970 h 44450"/>
              <a:gd name="connsiteX1" fmla="*/ 10794 w 6350"/>
              <a:gd name="connsiteY1" fmla="*/ 4445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3970"/>
                </a:moveTo>
                <a:lnTo>
                  <a:pt x="10794" y="444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Freeform 247"/>
          <p:cNvSpPr/>
          <p:nvPr/>
        </p:nvSpPr>
        <p:spPr>
          <a:xfrm>
            <a:off x="6394450" y="1873250"/>
            <a:ext cx="6350" cy="31750"/>
          </a:xfrm>
          <a:custGeom>
            <a:avLst/>
            <a:gdLst>
              <a:gd name="connsiteX0" fmla="*/ 10794 w 6350"/>
              <a:gd name="connsiteY0" fmla="*/ 3810 h 31750"/>
              <a:gd name="connsiteX1" fmla="*/ 10794 w 6350"/>
              <a:gd name="connsiteY1" fmla="*/ 3428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3810"/>
                </a:moveTo>
                <a:lnTo>
                  <a:pt x="10794" y="3428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Freeform 248"/>
          <p:cNvSpPr/>
          <p:nvPr/>
        </p:nvSpPr>
        <p:spPr>
          <a:xfrm>
            <a:off x="6394450" y="1924050"/>
            <a:ext cx="6350" cy="31750"/>
          </a:xfrm>
          <a:custGeom>
            <a:avLst/>
            <a:gdLst>
              <a:gd name="connsiteX0" fmla="*/ 10794 w 6350"/>
              <a:gd name="connsiteY0" fmla="*/ 6350 h 31750"/>
              <a:gd name="connsiteX1" fmla="*/ 10794 w 6350"/>
              <a:gd name="connsiteY1" fmla="*/ 3682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6350"/>
                </a:moveTo>
                <a:lnTo>
                  <a:pt x="10794" y="3682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Freeform 249"/>
          <p:cNvSpPr/>
          <p:nvPr/>
        </p:nvSpPr>
        <p:spPr>
          <a:xfrm>
            <a:off x="6394450" y="1974850"/>
            <a:ext cx="6350" cy="31750"/>
          </a:xfrm>
          <a:custGeom>
            <a:avLst/>
            <a:gdLst>
              <a:gd name="connsiteX0" fmla="*/ 10794 w 6350"/>
              <a:gd name="connsiteY0" fmla="*/ 8889 h 31750"/>
              <a:gd name="connsiteX1" fmla="*/ 10794 w 6350"/>
              <a:gd name="connsiteY1" fmla="*/ 3937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8889"/>
                </a:moveTo>
                <a:lnTo>
                  <a:pt x="10794" y="3937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Freeform 250"/>
          <p:cNvSpPr/>
          <p:nvPr/>
        </p:nvSpPr>
        <p:spPr>
          <a:xfrm>
            <a:off x="6394450" y="2025650"/>
            <a:ext cx="6350" cy="44450"/>
          </a:xfrm>
          <a:custGeom>
            <a:avLst/>
            <a:gdLst>
              <a:gd name="connsiteX0" fmla="*/ 10794 w 6350"/>
              <a:gd name="connsiteY0" fmla="*/ 11429 h 44450"/>
              <a:gd name="connsiteX1" fmla="*/ 10794 w 6350"/>
              <a:gd name="connsiteY1" fmla="*/ 4191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1429"/>
                </a:moveTo>
                <a:lnTo>
                  <a:pt x="10794" y="4191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Freeform 251"/>
          <p:cNvSpPr/>
          <p:nvPr/>
        </p:nvSpPr>
        <p:spPr>
          <a:xfrm>
            <a:off x="6394450" y="2076450"/>
            <a:ext cx="6350" cy="44450"/>
          </a:xfrm>
          <a:custGeom>
            <a:avLst/>
            <a:gdLst>
              <a:gd name="connsiteX0" fmla="*/ 10794 w 6350"/>
              <a:gd name="connsiteY0" fmla="*/ 13970 h 44450"/>
              <a:gd name="connsiteX1" fmla="*/ 10794 w 6350"/>
              <a:gd name="connsiteY1" fmla="*/ 4445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3970"/>
                </a:moveTo>
                <a:lnTo>
                  <a:pt x="10794" y="444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Freeform 252"/>
          <p:cNvSpPr/>
          <p:nvPr/>
        </p:nvSpPr>
        <p:spPr>
          <a:xfrm>
            <a:off x="6394450" y="2139950"/>
            <a:ext cx="6350" cy="31750"/>
          </a:xfrm>
          <a:custGeom>
            <a:avLst/>
            <a:gdLst>
              <a:gd name="connsiteX0" fmla="*/ 10794 w 6350"/>
              <a:gd name="connsiteY0" fmla="*/ 3810 h 31750"/>
              <a:gd name="connsiteX1" fmla="*/ 10794 w 6350"/>
              <a:gd name="connsiteY1" fmla="*/ 3428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3810"/>
                </a:moveTo>
                <a:lnTo>
                  <a:pt x="10794" y="3428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Freeform 253"/>
          <p:cNvSpPr/>
          <p:nvPr/>
        </p:nvSpPr>
        <p:spPr>
          <a:xfrm>
            <a:off x="6394450" y="2190750"/>
            <a:ext cx="6350" cy="31750"/>
          </a:xfrm>
          <a:custGeom>
            <a:avLst/>
            <a:gdLst>
              <a:gd name="connsiteX0" fmla="*/ 10794 w 6350"/>
              <a:gd name="connsiteY0" fmla="*/ 6350 h 31750"/>
              <a:gd name="connsiteX1" fmla="*/ 10794 w 6350"/>
              <a:gd name="connsiteY1" fmla="*/ 3682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6350"/>
                </a:moveTo>
                <a:lnTo>
                  <a:pt x="10794" y="3682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5" name="Picture 2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180" y="1325880"/>
            <a:ext cx="5570220" cy="5067300"/>
          </a:xfrm>
          <a:prstGeom prst="rect">
            <a:avLst/>
          </a:prstGeom>
        </p:spPr>
      </p:pic>
      <p:sp>
        <p:nvSpPr>
          <p:cNvPr id="3" name="TextBox 255"/>
          <p:cNvSpPr txBox="1"/>
          <p:nvPr/>
        </p:nvSpPr>
        <p:spPr>
          <a:xfrm>
            <a:off x="376554" y="289633"/>
            <a:ext cx="971101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95" dirty="0">
                <a:solidFill>
                  <a:srgbClr val="242424"/>
                </a:solidFill>
                <a:latin typeface="宋体"/>
                <a:ea typeface="宋体"/>
              </a:rPr>
              <a:t>掌握提示语设计：</a:t>
            </a:r>
            <a:r>
              <a:rPr lang="en-US" altLang="zh-CN" sz="4000" b="1" spc="189" dirty="0">
                <a:solidFill>
                  <a:srgbClr val="242424"/>
                </a:solidFill>
                <a:latin typeface="Arial"/>
                <a:ea typeface="Arial"/>
              </a:rPr>
              <a:t>AIGC</a:t>
            </a:r>
            <a:r>
              <a:rPr lang="zh-CN" altLang="en-US" sz="4000" b="1" spc="304" dirty="0">
                <a:solidFill>
                  <a:srgbClr val="242424"/>
                </a:solidFill>
                <a:latin typeface="宋体"/>
                <a:ea typeface="宋体"/>
              </a:rPr>
              <a:t>时代的</a:t>
            </a:r>
            <a:r>
              <a:rPr lang="zh-CN" altLang="en-US" sz="4000" b="1" spc="295" dirty="0">
                <a:solidFill>
                  <a:srgbClr val="242424"/>
                </a:solidFill>
                <a:latin typeface="宋体"/>
                <a:ea typeface="宋体"/>
              </a:rPr>
              <a:t>必备技能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638809" y="1386004"/>
            <a:ext cx="2673330" cy="309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提示语设计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的进阶技能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1701800" y="1851161"/>
            <a:ext cx="3251200" cy="3051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表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1-3-3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语设计进阶技能子项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6532880" y="1794027"/>
            <a:ext cx="5270482" cy="427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提示语设计的核心技能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体系不仅涵盖了技术层面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的专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业知识，更强调了认知能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力、创新思维和软实力的重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要性。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这些核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心技能构成了提示语设计的基础，涵盖了从问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题分析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到创意生成，再到结果优化的全过程。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19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语境理解能力使设计者能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够在复杂的社会和文化背景下工作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；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抽象化能力有助于提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高工作效率和拓展应用范围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；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批判性思考是确保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应用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可靠性和公平性的关键；创新思维能力推动了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应用的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边界拓展，而伦理意识则确保了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的发展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与社会价值观相符。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369" y="2275204"/>
          <a:ext cx="5561329" cy="4125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4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pPr marL="0" indent="64008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核心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技能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68973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子项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8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55"/>
                        </a:lnSpc>
                      </a:pPr>
                      <a:endParaRPr lang="en-US" dirty="0"/>
                    </a:p>
                    <a:p>
                      <a:pPr marL="0" indent="64008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语境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理解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21385">
                        <a:lnSpc>
                          <a:spcPct val="101666"/>
                        </a:lnSpc>
                        <a:spcBef>
                          <a:spcPts val="139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深入分析任务背景和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隐含需求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91235">
                        <a:lnSpc>
                          <a:spcPct val="101666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考虑文化、伦理和法律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因素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9123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预测可能的误解和边界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情况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54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255"/>
                        </a:lnSpc>
                      </a:pPr>
                      <a:endParaRPr lang="en-US" dirty="0"/>
                    </a:p>
                    <a:p>
                      <a:pPr marL="0" indent="57023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抽象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化能力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11835">
                        <a:lnSpc>
                          <a:spcPct val="101666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识别通用模式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，提高提示语可复用性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5153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设计灵活、可扩展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的提示语模板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21385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创建适应不同场景的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元提示语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10"/>
                        </a:lnSpc>
                      </a:pPr>
                      <a:endParaRPr lang="en-US" dirty="0"/>
                    </a:p>
                    <a:p>
                      <a:pPr marL="0" indent="57023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批判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性思考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4579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客观评估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识别潜在偏见和错误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1564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设计反事实提示语，测试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理解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深度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1564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构建验证机制，确保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的可靠性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89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05"/>
                        </a:lnSpc>
                      </a:pPr>
                      <a:endParaRPr lang="en-US" dirty="0"/>
                    </a:p>
                    <a:p>
                      <a:pPr marL="0" indent="64008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思维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6108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探索非常规的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提示语方法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1564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结合最新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研究成果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，拓展应用边界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45795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设计实验性提示语，推动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能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力的进化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10"/>
                        </a:lnSpc>
                      </a:pPr>
                      <a:endParaRPr lang="en-US" dirty="0"/>
                    </a:p>
                    <a:p>
                      <a:pPr marL="0" indent="64008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伦理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意识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6108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在提示语中嵌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入伦理考量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2519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设计公平、包容的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交互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模式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5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5495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预防和缓解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可能带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来的负面影响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2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820" y="2545080"/>
            <a:ext cx="5783580" cy="3794760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392680"/>
            <a:ext cx="5646420" cy="3962400"/>
          </a:xfrm>
          <a:prstGeom prst="rect">
            <a:avLst/>
          </a:prstGeom>
        </p:spPr>
      </p:pic>
      <p:sp>
        <p:nvSpPr>
          <p:cNvPr id="2" name="TextBox 262"/>
          <p:cNvSpPr txBox="1"/>
          <p:nvPr/>
        </p:nvSpPr>
        <p:spPr>
          <a:xfrm>
            <a:off x="376554" y="289633"/>
            <a:ext cx="1059747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提示语的</a:t>
            </a:r>
            <a:r>
              <a:rPr lang="en-US" altLang="zh-CN" sz="4000" b="1" spc="204" dirty="0">
                <a:solidFill>
                  <a:srgbClr val="242424"/>
                </a:solidFill>
                <a:latin typeface="Arial"/>
                <a:ea typeface="Arial"/>
              </a:rPr>
              <a:t>DNA</a:t>
            </a:r>
            <a:r>
              <a:rPr lang="zh-CN" altLang="en-US" sz="4000" b="1" spc="289" dirty="0">
                <a:solidFill>
                  <a:srgbClr val="242424"/>
                </a:solidFill>
                <a:latin typeface="宋体"/>
                <a:ea typeface="宋体"/>
              </a:rPr>
              <a:t>：解构强大提示语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的基本元素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638809" y="1386004"/>
            <a:ext cx="9842482" cy="4898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提示语的基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本元素分类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提示语的基本元素可以根据其功能和作用分为三个大类：信息类元素、结构类元素和控制类元素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69"/>
              </a:lnSpc>
            </a:pPr>
            <a:endParaRPr lang="en-US" dirty="0"/>
          </a:p>
          <a:p>
            <a:pPr marL="68580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信息类元素决定了</a:t>
            </a:r>
            <a:r>
              <a:rPr lang="en-US" altLang="zh-CN" sz="1800" spc="-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在生成过程中需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要处理的具体内</a:t>
            </a:r>
            <a:br/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容，包括主题、背景、数据等，为</a:t>
            </a:r>
            <a:r>
              <a:rPr lang="en-US" altLang="zh-CN" sz="1800" spc="-2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提供了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必要的知</a:t>
            </a:r>
            <a:br/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识和上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下文。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80"/>
              </a:lnSpc>
            </a:pPr>
            <a:endParaRPr lang="en-US" dirty="0"/>
          </a:p>
          <a:p>
            <a:pPr marL="0" indent="6858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结构类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元素用于定义生成内容的组织形式和呈现方式，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6858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决定了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输出的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结构、格式和风格。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30"/>
              </a:lnSpc>
            </a:pPr>
            <a:endParaRPr lang="en-US" dirty="0"/>
          </a:p>
          <a:p>
            <a:pPr marL="68580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控制类元素用于管理和引导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的生成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过程，确保输出</a:t>
            </a:r>
            <a:br/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符合预期并能够进行必要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的调整，是实现高级提示语</a:t>
            </a:r>
            <a:br/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工程的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重要工具。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2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59579"/>
            <a:ext cx="3489960" cy="2560320"/>
          </a:xfrm>
          <a:prstGeom prst="rect">
            <a:avLst/>
          </a:prstGeom>
        </p:spPr>
      </p:pic>
      <p:sp>
        <p:nvSpPr>
          <p:cNvPr id="3" name="TextBox 265"/>
          <p:cNvSpPr txBox="1"/>
          <p:nvPr/>
        </p:nvSpPr>
        <p:spPr>
          <a:xfrm>
            <a:off x="376554" y="289633"/>
            <a:ext cx="1059747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提示语的</a:t>
            </a:r>
            <a:r>
              <a:rPr lang="en-US" altLang="zh-CN" sz="4000" b="1" spc="204" dirty="0">
                <a:solidFill>
                  <a:srgbClr val="242424"/>
                </a:solidFill>
                <a:latin typeface="Arial"/>
                <a:ea typeface="Arial"/>
              </a:rPr>
              <a:t>DNA</a:t>
            </a:r>
            <a:r>
              <a:rPr lang="zh-CN" altLang="en-US" sz="4000" b="1" spc="289" dirty="0">
                <a:solidFill>
                  <a:srgbClr val="242424"/>
                </a:solidFill>
                <a:latin typeface="宋体"/>
                <a:ea typeface="宋体"/>
              </a:rPr>
              <a:t>：解构强大提示语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的基本元素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638809" y="1112319"/>
            <a:ext cx="2418695" cy="309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提示语元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素组合矩阵</a:t>
            </a:r>
          </a:p>
        </p:txBody>
      </p:sp>
      <p:sp>
        <p:nvSpPr>
          <p:cNvPr id="267" name="TextBox 267"/>
          <p:cNvSpPr txBox="1"/>
          <p:nvPr/>
        </p:nvSpPr>
        <p:spPr>
          <a:xfrm>
            <a:off x="4500879" y="1129166"/>
            <a:ext cx="7244061" cy="55373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75895">
              <a:lnSpc>
                <a:spcPct val="111249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表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2-1-1</a:t>
            </a:r>
            <a:r>
              <a:rPr lang="en-US" altLang="zh-CN"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提示语元素组合矩阵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2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提示语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元素协同效应理论的核心观点包括：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互补增强：某些元素组合可以互相弥补不足，产生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1+1&gt;2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的效果。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级联激活：一个元素的激活可能引发一系列相关元素的连锁反应，形成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一个自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我强化的正反馈循环。</a:t>
            </a:r>
          </a:p>
          <a:p>
            <a:pPr marL="0" hangingPunct="0">
              <a:lnSpc>
                <a:spcPct val="129583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冲突调和：看似矛盾的元素组合可能产生意想不到的积极效果。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涌现属性：某些元素组合可能产生单个元素所不具备的新特性。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40435" y="1515744"/>
          <a:ext cx="10295255" cy="2729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>
                  <a:txBody>
                    <a:bodyPr/>
                    <a:lstStyle/>
                    <a:p>
                      <a:pPr>
                        <a:lnSpc>
                          <a:spcPts val="425"/>
                        </a:lnSpc>
                      </a:pPr>
                      <a:endParaRPr lang="en-US" dirty="0"/>
                    </a:p>
                    <a:p>
                      <a:pPr marL="0" indent="497204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5"/>
                        </a:lnSpc>
                      </a:pPr>
                      <a:endParaRPr lang="en-US" dirty="0"/>
                    </a:p>
                    <a:p>
                      <a:pPr marL="0" indent="677545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主要元素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组合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5"/>
                        </a:lnSpc>
                      </a:pPr>
                      <a:endParaRPr lang="en-US" dirty="0"/>
                    </a:p>
                    <a:p>
                      <a:pPr marL="0" indent="445135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次要元素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组合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5"/>
                        </a:lnSpc>
                      </a:pPr>
                      <a:endParaRPr lang="en-US" dirty="0"/>
                    </a:p>
                    <a:p>
                      <a:pPr marL="0" indent="221234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组合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效果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5E9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94">
                <a:tc>
                  <a:txBody>
                    <a:bodyPr/>
                    <a:lstStyle/>
                    <a:p>
                      <a:pPr>
                        <a:lnSpc>
                          <a:spcPts val="1094"/>
                        </a:lnSpc>
                      </a:pPr>
                      <a:endParaRPr lang="en-US" dirty="0"/>
                    </a:p>
                    <a:p>
                      <a:pPr marL="0" indent="14795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高输出准确性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9969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主题元素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质量控制</a:t>
                      </a:r>
                    </a:p>
                    <a:p>
                      <a:pPr marL="0" indent="95694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8636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知识域元素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输出验证元</a:t>
                      </a:r>
                    </a:p>
                    <a:p>
                      <a:pPr marL="0" indent="794385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55880" hangingPunct="0">
                        <a:lnSpc>
                          <a:spcPct val="99583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确保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基于准确的主题和数据生成内容，并通过严格的质量控制和验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证提高准</a:t>
                      </a:r>
                      <a:br/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确性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endParaRPr lang="en-US" dirty="0"/>
                    </a:p>
                    <a:p>
                      <a:pPr marL="0" indent="14795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增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强创造性思维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9969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主题元素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背景元素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约束条件</a:t>
                      </a:r>
                    </a:p>
                    <a:p>
                      <a:pPr marL="0" indent="95694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endParaRPr lang="en-US" dirty="0"/>
                    </a:p>
                    <a:p>
                      <a:pPr marL="0" indent="8636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参考元素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迭代指令元素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55880" hangingPunct="0">
                        <a:lnSpc>
                          <a:spcPct val="99583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通过提供丰富的背景信息和适度的约束，激发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的创造性思维，同时通过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多轮</a:t>
                      </a:r>
                      <a:br/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迭代促进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2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endParaRPr lang="en-US" dirty="0"/>
                    </a:p>
                    <a:p>
                      <a:pPr marL="0" indent="78104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优化任务执行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效率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9969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任务指令元素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结构元素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格式</a:t>
                      </a:r>
                    </a:p>
                    <a:p>
                      <a:pPr marL="0" indent="95694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endParaRPr lang="en-US" dirty="0"/>
                    </a:p>
                    <a:p>
                      <a:pPr marL="0" indent="226060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长度元素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风格元素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通过清晰的任务指令和预定义的结构提高执行效率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，同时确保输出符合特定的</a:t>
                      </a:r>
                    </a:p>
                    <a:p>
                      <a:pPr marL="0" indent="5588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格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式和风格要求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>
                        <a:lnSpc>
                          <a:spcPts val="1094"/>
                        </a:lnSpc>
                      </a:pPr>
                      <a:endParaRPr lang="en-US" dirty="0"/>
                    </a:p>
                    <a:p>
                      <a:pPr marL="0" indent="14795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升输出一致性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9969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风格元素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知识域元素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约束条</a:t>
                      </a:r>
                    </a:p>
                    <a:p>
                      <a:pPr marL="0" indent="887095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件元素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94"/>
                        </a:lnSpc>
                      </a:pPr>
                      <a:endParaRPr lang="en-US" dirty="0"/>
                    </a:p>
                    <a:p>
                      <a:pPr marL="0" indent="8636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格式元素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质量控制元素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通过统一的风格和专业领域知识确保输出的一致性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，同时使用约束条件和质量</a:t>
                      </a:r>
                    </a:p>
                    <a:p>
                      <a:pPr marL="0" indent="5588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控制维持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标准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21780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增强交互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体验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4"/>
                        </a:lnSpc>
                      </a:pPr>
                      <a:endParaRPr lang="en-US" dirty="0"/>
                    </a:p>
                    <a:p>
                      <a:pPr marL="0" indent="119380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迭代指令元素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3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输出验证元素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</a:p>
                    <a:p>
                      <a:pPr marL="0" indent="677545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质量控制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5"/>
                        </a:lnSpc>
                      </a:pPr>
                      <a:endParaRPr lang="en-US" dirty="0"/>
                    </a:p>
                    <a:p>
                      <a:pPr marL="0" indent="8636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任务指令元素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背景元素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4"/>
                        </a:lnSpc>
                      </a:pPr>
                      <a:endParaRPr lang="en-US" dirty="0"/>
                    </a:p>
                    <a:p>
                      <a:pPr marL="55880" hangingPunct="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建立动态的交互模式，允许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进行自我验证和优化，同时根据任务和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背景灵活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调整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输出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" y="1554480"/>
            <a:ext cx="6149340" cy="1600200"/>
          </a:xfrm>
          <a:prstGeom prst="rect">
            <a:avLst/>
          </a:prstGeom>
        </p:spPr>
      </p:pic>
      <p:pic>
        <p:nvPicPr>
          <p:cNvPr id="271" name="Picture 2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" y="3154680"/>
            <a:ext cx="6149340" cy="2788920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880" y="1859280"/>
            <a:ext cx="1950720" cy="990600"/>
          </a:xfrm>
          <a:prstGeom prst="rect">
            <a:avLst/>
          </a:prstGeom>
        </p:spPr>
      </p:pic>
      <p:pic>
        <p:nvPicPr>
          <p:cNvPr id="273" name="Picture 2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880" y="3703320"/>
            <a:ext cx="2575560" cy="1074419"/>
          </a:xfrm>
          <a:prstGeom prst="rect">
            <a:avLst/>
          </a:prstGeom>
        </p:spPr>
      </p:pic>
      <p:sp>
        <p:nvSpPr>
          <p:cNvPr id="2" name="TextBox 273"/>
          <p:cNvSpPr txBox="1"/>
          <p:nvPr/>
        </p:nvSpPr>
        <p:spPr>
          <a:xfrm>
            <a:off x="376554" y="352729"/>
            <a:ext cx="11036262" cy="55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3600" b="1" spc="290" dirty="0">
                <a:solidFill>
                  <a:srgbClr val="242424"/>
                </a:solidFill>
                <a:latin typeface="宋体"/>
                <a:ea typeface="宋体"/>
              </a:rPr>
              <a:t>调教</a:t>
            </a:r>
            <a:r>
              <a:rPr lang="en-US" altLang="zh-CN" sz="3600" b="1" spc="139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的秘籍：</a:t>
            </a:r>
            <a:r>
              <a:rPr lang="zh-CN" altLang="en-US" sz="3600" b="1" spc="290" dirty="0">
                <a:solidFill>
                  <a:srgbClr val="242424"/>
                </a:solidFill>
                <a:latin typeface="宋体"/>
                <a:ea typeface="宋体"/>
              </a:rPr>
              <a:t>让你的提示语效果倍增的关键策略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1570989" y="1742592"/>
            <a:ext cx="36702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策略一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：精准定义任务，减少模糊性</a:t>
            </a:r>
          </a:p>
        </p:txBody>
      </p:sp>
      <p:sp>
        <p:nvSpPr>
          <p:cNvPr id="275" name="TextBox 275"/>
          <p:cNvSpPr txBox="1"/>
          <p:nvPr/>
        </p:nvSpPr>
        <p:spPr>
          <a:xfrm>
            <a:off x="6748144" y="1568602"/>
            <a:ext cx="4813282" cy="7124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如何实现精准定义：明确的核心问题</a:t>
            </a:r>
            <a:r>
              <a:rPr lang="zh-CN" altLang="en-US" sz="1800" spc="-40" dirty="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具体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化的生成指令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、去除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多余信息</a:t>
            </a:r>
          </a:p>
        </p:txBody>
      </p:sp>
      <p:sp>
        <p:nvSpPr>
          <p:cNvPr id="276" name="TextBox 276"/>
          <p:cNvSpPr txBox="1"/>
          <p:nvPr/>
        </p:nvSpPr>
        <p:spPr>
          <a:xfrm>
            <a:off x="999489" y="2676042"/>
            <a:ext cx="4813282" cy="3078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2065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策略二：适当分解复杂任务，降低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认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知负荷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策略三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：引入引导性问题，提升生成内容的深度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11430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策略四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：控制提示语长度，确保生成的准确性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策略五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：灵活运用开放式提示与封闭式提示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6748144" y="2531262"/>
            <a:ext cx="4832968" cy="4051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分解任务的技巧：分段生成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、逐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层深入、设置逻辑结构</a:t>
            </a:r>
          </a:p>
          <a:p>
            <a:pPr>
              <a:lnSpc>
                <a:spcPts val="1625"/>
              </a:lnSpc>
            </a:pPr>
            <a:endParaRPr lang="en-US" dirty="0"/>
          </a:p>
          <a:p>
            <a:pPr marL="19685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引导性问题的设计要点：设置多个层次的问题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促使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对比或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论证、引导思维的多样性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44"/>
              </a:lnSpc>
            </a:pPr>
            <a:endParaRPr lang="en-US" dirty="0"/>
          </a:p>
          <a:p>
            <a:pPr marL="19685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控制提示语长度的技巧：避免嵌套复杂的指令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保持简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洁性、使用分步提示</a:t>
            </a:r>
          </a:p>
          <a:p>
            <a:pPr>
              <a:lnSpc>
                <a:spcPts val="630"/>
              </a:lnSpc>
            </a:pPr>
            <a:endParaRPr lang="en-US" dirty="0"/>
          </a:p>
          <a:p>
            <a:pPr marL="0" indent="19685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开放式提示：提出开放性问题，允许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根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据多个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19685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角度进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行生成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19685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封闭式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提示：提出具体问题或设定明确限制，要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19685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求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给出精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准回答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icture 2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9" y="1546860"/>
            <a:ext cx="3459479" cy="1912620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79" y="1531620"/>
            <a:ext cx="7391400" cy="1912620"/>
          </a:xfrm>
          <a:prstGeom prst="rect">
            <a:avLst/>
          </a:prstGeom>
        </p:spPr>
      </p:pic>
      <p:pic>
        <p:nvPicPr>
          <p:cNvPr id="281" name="Picture 2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9" y="4251960"/>
            <a:ext cx="3459479" cy="1897380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279" y="4236720"/>
            <a:ext cx="7391400" cy="1912620"/>
          </a:xfrm>
          <a:prstGeom prst="rect">
            <a:avLst/>
          </a:prstGeom>
        </p:spPr>
      </p:pic>
      <p:sp>
        <p:nvSpPr>
          <p:cNvPr id="2" name="TextBox 282"/>
          <p:cNvSpPr txBox="1"/>
          <p:nvPr/>
        </p:nvSpPr>
        <p:spPr>
          <a:xfrm>
            <a:off x="376554" y="289633"/>
            <a:ext cx="10907989" cy="1132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常见陷阱与应对：新手必知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的提示语设计误区</a:t>
            </a:r>
          </a:p>
          <a:p>
            <a:pPr>
              <a:lnSpc>
                <a:spcPts val="1614"/>
              </a:lnSpc>
            </a:pPr>
            <a:endParaRPr lang="en-US" dirty="0"/>
          </a:p>
          <a:p>
            <a:pPr marL="0" indent="262254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缺乏迭代陷阱：期待一次性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完美结果</a:t>
            </a:r>
          </a:p>
        </p:txBody>
      </p:sp>
      <p:sp>
        <p:nvSpPr>
          <p:cNvPr id="283" name="TextBox 283"/>
          <p:cNvSpPr txBox="1"/>
          <p:nvPr/>
        </p:nvSpPr>
        <p:spPr>
          <a:xfrm>
            <a:off x="707390" y="1853717"/>
            <a:ext cx="3129262" cy="1392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陷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阱症状：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过度复杂的初始提示语</a:t>
            </a:r>
          </a:p>
          <a:p>
            <a:pPr marL="0" hangingPunct="0">
              <a:lnSpc>
                <a:spcPct val="129583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对初次输出结果不满意就放弃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缺乏对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输出的分析和反馈</a:t>
            </a:r>
          </a:p>
        </p:txBody>
      </p:sp>
      <p:sp>
        <p:nvSpPr>
          <p:cNvPr id="284" name="TextBox 284"/>
          <p:cNvSpPr txBox="1"/>
          <p:nvPr/>
        </p:nvSpPr>
        <p:spPr>
          <a:xfrm>
            <a:off x="4372609" y="1842287"/>
            <a:ext cx="6786862" cy="1392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9600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9600"/>
                </a:solidFill>
                <a:latin typeface="宋体"/>
                <a:ea typeface="宋体"/>
              </a:rPr>
              <a:t>对策略：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采用增量方法：从基础提示语开始，逐步添加细节和要求。</a:t>
            </a:r>
          </a:p>
          <a:p>
            <a:pPr marL="0" hangingPunct="0">
              <a:lnSpc>
                <a:spcPct val="129583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主动寻求反馈：要求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对其输出进行自我评估，并提供改进建议。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准备多轮对话：设计一系列后续问题，用于澄清和改进初始输出。</a:t>
            </a:r>
          </a:p>
        </p:txBody>
      </p:sp>
      <p:sp>
        <p:nvSpPr>
          <p:cNvPr id="285" name="TextBox 285"/>
          <p:cNvSpPr txBox="1"/>
          <p:nvPr/>
        </p:nvSpPr>
        <p:spPr>
          <a:xfrm>
            <a:off x="638809" y="3816149"/>
            <a:ext cx="6492854" cy="309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过度指令和模糊指令陷阱：当细节淹没重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点或意图不明确</a:t>
            </a:r>
          </a:p>
        </p:txBody>
      </p:sp>
      <p:sp>
        <p:nvSpPr>
          <p:cNvPr id="286" name="TextBox 286"/>
          <p:cNvSpPr txBox="1"/>
          <p:nvPr/>
        </p:nvSpPr>
        <p:spPr>
          <a:xfrm>
            <a:off x="707390" y="4557547"/>
            <a:ext cx="3129262" cy="13546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陷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阱症状：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提示语异常冗长或过于简短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输出与期望严重不符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频繁需要澄清或重新解释需求</a:t>
            </a:r>
          </a:p>
        </p:txBody>
      </p:sp>
      <p:sp>
        <p:nvSpPr>
          <p:cNvPr id="287" name="TextBox 287"/>
          <p:cNvSpPr txBox="1"/>
          <p:nvPr/>
        </p:nvSpPr>
        <p:spPr>
          <a:xfrm>
            <a:off x="4372609" y="4368952"/>
            <a:ext cx="5415262" cy="1710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9600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9600"/>
                </a:solidFill>
                <a:latin typeface="宋体"/>
                <a:ea typeface="宋体"/>
              </a:rPr>
              <a:t>对策略：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平衡详细度：提供足够的上下文，但避免过多限制。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明确关键点：突出最重要的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2-3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个要求。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使用结构化格式：采用清晰的结构来组织需求。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提供示例：如果可能，给出期望输出的简短示例。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Picture 2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180"/>
            <a:ext cx="6431280" cy="5356860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59" y="1127760"/>
            <a:ext cx="68580" cy="5494020"/>
          </a:xfrm>
          <a:prstGeom prst="rect">
            <a:avLst/>
          </a:prstGeom>
        </p:spPr>
      </p:pic>
      <p:pic>
        <p:nvPicPr>
          <p:cNvPr id="291" name="Picture 29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680" y="1836420"/>
            <a:ext cx="4953000" cy="4556760"/>
          </a:xfrm>
          <a:prstGeom prst="rect">
            <a:avLst/>
          </a:prstGeom>
        </p:spPr>
      </p:pic>
      <p:sp>
        <p:nvSpPr>
          <p:cNvPr id="2" name="TextBox 291"/>
          <p:cNvSpPr txBox="1"/>
          <p:nvPr/>
        </p:nvSpPr>
        <p:spPr>
          <a:xfrm>
            <a:off x="376554" y="289633"/>
            <a:ext cx="1102228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常见陷阱与应对：新手必知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的提示语设计误区</a:t>
            </a:r>
          </a:p>
        </p:txBody>
      </p:sp>
      <p:sp>
        <p:nvSpPr>
          <p:cNvPr id="292" name="TextBox 292"/>
          <p:cNvSpPr txBox="1"/>
          <p:nvPr/>
        </p:nvSpPr>
        <p:spPr>
          <a:xfrm>
            <a:off x="486409" y="1176454"/>
            <a:ext cx="6165829" cy="49618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079625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假设偏见陷阱：当</a:t>
            </a:r>
            <a:r>
              <a:rPr lang="en-US" altLang="zh-CN" sz="2000" b="1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只告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诉你想听的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50"/>
              </a:lnSpc>
            </a:pPr>
            <a:endParaRPr lang="en-US" dirty="0"/>
          </a:p>
          <a:p>
            <a:pPr marL="0" indent="2640964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陷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阱症状：</a:t>
            </a:r>
          </a:p>
          <a:p>
            <a:pPr marL="2640964" hangingPunct="0">
              <a:lnSpc>
                <a:spcPct val="129583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提示语中包含明显立场或倾向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获得的信息总是支持特定观点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缺乏对立或不同观点的呈现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9600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9600"/>
                </a:solidFill>
                <a:latin typeface="宋体"/>
                <a:ea typeface="宋体"/>
              </a:rPr>
              <a:t>对策略：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自我审视：在设计提示语时，反思自己可能存在的偏见。</a:t>
            </a:r>
          </a:p>
          <a:p>
            <a:pPr marL="0" hangingPunct="0">
              <a:lnSpc>
                <a:spcPct val="129583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使用中立语言：避免在提示语中包含偏见或预设立场。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要求多角度分析：明确要求</a:t>
            </a:r>
            <a:r>
              <a:rPr lang="en-US" altLang="zh-CN" sz="1800" spc="-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提供不同的观点或论据。</a:t>
            </a:r>
          </a:p>
          <a:p>
            <a:pPr marL="0">
              <a:lnSpc>
                <a:spcPct val="116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批判性思考：对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的输出保持警惕，交叉验证重要信息。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7078980" y="1173914"/>
            <a:ext cx="4831697" cy="52130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幻觉生成陷阱：当</a:t>
            </a:r>
            <a:r>
              <a:rPr lang="en-US" altLang="zh-CN" sz="2000" b="1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自信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地胡说八道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85"/>
              </a:lnSpc>
            </a:pPr>
            <a:endParaRPr lang="en-US" dirty="0"/>
          </a:p>
          <a:p>
            <a:pPr marL="0" indent="10795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陷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阱症状：</a:t>
            </a:r>
          </a:p>
          <a:p>
            <a:pPr marL="0" indent="10795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提供的具体数据或事实无法验证</a:t>
            </a:r>
          </a:p>
          <a:p>
            <a:pPr marL="0" indent="10795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输出中包含看似专业但实际上不存在的术语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1079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或概念</a:t>
            </a:r>
          </a:p>
          <a:p>
            <a:pPr marL="0" indent="10795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对未来或不确定事件做出过于具体的预测</a:t>
            </a:r>
          </a:p>
          <a:p>
            <a:pPr>
              <a:lnSpc>
                <a:spcPts val="1679"/>
              </a:lnSpc>
            </a:pPr>
            <a:endParaRPr lang="en-US" dirty="0"/>
          </a:p>
          <a:p>
            <a:pPr marL="0" indent="114934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9600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9600"/>
                </a:solidFill>
                <a:latin typeface="宋体"/>
                <a:ea typeface="宋体"/>
              </a:rPr>
              <a:t>对策略：</a:t>
            </a:r>
          </a:p>
          <a:p>
            <a:pPr marL="114934" hangingPunct="0">
              <a:lnSpc>
                <a:spcPct val="129583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明确不确定性：鼓励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在不确定时明确说明。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事实核查提示：要求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区分已知事实和推测。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多源验证：要求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从多个角度或来源验证信</a:t>
            </a:r>
          </a:p>
          <a:p>
            <a:pPr marL="0" indent="114934">
              <a:lnSpc>
                <a:spcPct val="101250"/>
              </a:lnSpc>
              <a:spcBef>
                <a:spcPts val="275"/>
              </a:spcBef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息。</a:t>
            </a:r>
          </a:p>
          <a:p>
            <a:pPr marL="114934" hangingPunct="0">
              <a:lnSpc>
                <a:spcPct val="134166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要求引用：明确要求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提供信息来源，便于</a:t>
            </a:r>
            <a:br/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验证。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2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" y="1554480"/>
            <a:ext cx="7292340" cy="4785360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520" y="1554480"/>
            <a:ext cx="3589020" cy="4785360"/>
          </a:xfrm>
          <a:prstGeom prst="rect">
            <a:avLst/>
          </a:prstGeom>
        </p:spPr>
      </p:pic>
      <p:sp>
        <p:nvSpPr>
          <p:cNvPr id="2" name="TextBox 296"/>
          <p:cNvSpPr txBox="1"/>
          <p:nvPr/>
        </p:nvSpPr>
        <p:spPr>
          <a:xfrm>
            <a:off x="376554" y="289633"/>
            <a:ext cx="10907989" cy="1132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常见陷阱与应对：新手必知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的提示语设计误区</a:t>
            </a:r>
          </a:p>
          <a:p>
            <a:pPr>
              <a:lnSpc>
                <a:spcPts val="1614"/>
              </a:lnSpc>
            </a:pPr>
            <a:endParaRPr lang="en-US" dirty="0"/>
          </a:p>
          <a:p>
            <a:pPr marL="0" indent="262254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忽视伦理边界陷阱：低估</a:t>
            </a:r>
            <a:r>
              <a:rPr lang="en-US" altLang="zh-CN" sz="2000" b="1" spc="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的伦理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限制</a:t>
            </a:r>
          </a:p>
        </p:txBody>
      </p:sp>
      <p:sp>
        <p:nvSpPr>
          <p:cNvPr id="297" name="TextBox 297"/>
          <p:cNvSpPr txBox="1"/>
          <p:nvPr/>
        </p:nvSpPr>
        <p:spPr>
          <a:xfrm>
            <a:off x="746759" y="1814347"/>
            <a:ext cx="1986262" cy="20671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b="1" dirty="0">
                <a:solidFill>
                  <a:srgbClr val="2DB5AE"/>
                </a:solidFill>
                <a:latin typeface="Arial"/>
                <a:ea typeface="Arial"/>
              </a:rPr>
              <a:t>AI</a:t>
            </a:r>
            <a:r>
              <a:rPr lang="zh-CN" altLang="en-US" sz="1800" b="1" spc="-10" dirty="0">
                <a:solidFill>
                  <a:srgbClr val="2DB5AE"/>
                </a:solidFill>
                <a:latin typeface="宋体"/>
                <a:ea typeface="宋体"/>
              </a:rPr>
              <a:t>伦理考</a:t>
            </a:r>
            <a:r>
              <a:rPr lang="zh-CN" altLang="en-US" sz="1800" b="1" dirty="0">
                <a:solidFill>
                  <a:srgbClr val="2DB5AE"/>
                </a:solidFill>
                <a:latin typeface="宋体"/>
                <a:ea typeface="宋体"/>
              </a:rPr>
              <a:t>虑要点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隐私保护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公平性和非歧视</a:t>
            </a:r>
          </a:p>
          <a:p>
            <a:pPr marL="0" hangingPunct="0">
              <a:lnSpc>
                <a:spcPct val="129583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透明度和可解释性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社会影响评估</a:t>
            </a:r>
          </a:p>
          <a:p>
            <a:pPr marL="0">
              <a:lnSpc>
                <a:spcPct val="116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安全和滥用防范</a:t>
            </a:r>
          </a:p>
        </p:txBody>
      </p:sp>
      <p:sp>
        <p:nvSpPr>
          <p:cNvPr id="298" name="TextBox 298"/>
          <p:cNvSpPr txBox="1"/>
          <p:nvPr/>
        </p:nvSpPr>
        <p:spPr>
          <a:xfrm>
            <a:off x="3404234" y="1992782"/>
            <a:ext cx="4259562" cy="1710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陷</a:t>
            </a:r>
            <a:r>
              <a:rPr lang="zh-CN" altLang="en-US" sz="1800" b="1" spc="-5" dirty="0">
                <a:solidFill>
                  <a:srgbClr val="5E94E5"/>
                </a:solidFill>
                <a:latin typeface="宋体"/>
                <a:ea typeface="宋体"/>
              </a:rPr>
              <a:t>阱症状：</a:t>
            </a:r>
          </a:p>
          <a:p>
            <a:pPr marL="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要求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生成有争议、不道德或非法内容。</a:t>
            </a:r>
          </a:p>
          <a:p>
            <a:pPr marL="0" hangingPunct="0">
              <a:lnSpc>
                <a:spcPct val="129583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对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的拒绝或警告感到困惑或不满。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尝试绕过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的安全机制。</a:t>
            </a:r>
          </a:p>
          <a:p>
            <a:pPr marL="0">
              <a:lnSpc>
                <a:spcPct val="116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忽视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输出可能带来的伦理影响。</a:t>
            </a:r>
          </a:p>
        </p:txBody>
      </p:sp>
      <p:sp>
        <p:nvSpPr>
          <p:cNvPr id="299" name="TextBox 299"/>
          <p:cNvSpPr txBox="1"/>
          <p:nvPr/>
        </p:nvSpPr>
        <p:spPr>
          <a:xfrm>
            <a:off x="8195309" y="2058187"/>
            <a:ext cx="2075160" cy="241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836684"/>
                </a:solidFill>
                <a:latin typeface="宋体"/>
                <a:ea typeface="宋体"/>
              </a:rPr>
              <a:t>提示语设计检查</a:t>
            </a:r>
            <a:r>
              <a:rPr lang="zh-CN" altLang="en-US" sz="1800" b="1" dirty="0">
                <a:solidFill>
                  <a:srgbClr val="836684"/>
                </a:solidFill>
                <a:latin typeface="宋体"/>
                <a:ea typeface="宋体"/>
              </a:rPr>
              <a:t>清单</a:t>
            </a:r>
          </a:p>
          <a:p>
            <a:pPr marL="0" hangingPunct="0">
              <a:lnSpc>
                <a:spcPct val="127083"/>
              </a:lnSpc>
              <a:spcBef>
                <a:spcPts val="354"/>
              </a:spcBef>
            </a:pPr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目标明确性</a:t>
            </a:r>
            <a:br/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信息充分性</a:t>
            </a:r>
            <a:br/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结构合理性</a:t>
            </a:r>
            <a:br/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语言中立性</a:t>
            </a:r>
            <a:br/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伦理合规性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可验证性</a:t>
            </a:r>
          </a:p>
        </p:txBody>
      </p:sp>
      <p:sp>
        <p:nvSpPr>
          <p:cNvPr id="300" name="TextBox 300"/>
          <p:cNvSpPr txBox="1"/>
          <p:nvPr/>
        </p:nvSpPr>
        <p:spPr>
          <a:xfrm>
            <a:off x="746759" y="4475632"/>
            <a:ext cx="5643863" cy="1748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9600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9600"/>
                </a:solidFill>
                <a:latin typeface="宋体"/>
                <a:ea typeface="宋体"/>
              </a:rPr>
              <a:t>对策略：</a:t>
            </a:r>
          </a:p>
          <a:p>
            <a:pPr marL="0" hangingPunct="0">
              <a:lnSpc>
                <a:spcPct val="129583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了解界限：熟悉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系统的基本伦理准则和限制。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合法合规：确保你的请求符合法律和道德标准。</a:t>
            </a:r>
          </a:p>
          <a:p>
            <a:pPr marL="0" hangingPunct="0">
              <a:lnSpc>
                <a:spcPct val="129583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伦理指南：在提示语中明确包含伦理考虑和指导原则。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影响评估：要求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评估其建议或输出的潜在社会影响。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8195309" y="4518914"/>
            <a:ext cx="1300462" cy="138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迭代空间</a:t>
            </a:r>
            <a:br/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输出格式</a:t>
            </a:r>
            <a:br/>
            <a:r>
              <a:rPr lang="en-US" altLang="zh-CN" sz="1800" spc="-5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难度适中</a:t>
            </a:r>
          </a:p>
          <a:p>
            <a:pPr marL="0">
              <a:lnSpc>
                <a:spcPct val="116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多样性考虑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icture 3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049780"/>
            <a:ext cx="11285220" cy="1188719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" y="4137660"/>
            <a:ext cx="11285220" cy="1554480"/>
          </a:xfrm>
          <a:prstGeom prst="rect">
            <a:avLst/>
          </a:prstGeom>
        </p:spPr>
      </p:pic>
      <p:sp>
        <p:nvSpPr>
          <p:cNvPr id="2" name="TextBox 304"/>
          <p:cNvSpPr txBox="1"/>
          <p:nvPr/>
        </p:nvSpPr>
        <p:spPr>
          <a:xfrm>
            <a:off x="376554" y="289633"/>
            <a:ext cx="11193763" cy="5331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常见陷阱与应对：新手必知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的提示语设计误区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50"/>
              </a:lnSpc>
            </a:pPr>
            <a:endParaRPr lang="en-US" dirty="0"/>
          </a:p>
          <a:p>
            <a:pPr marL="0" indent="262254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挖掘反向思维：从非传统角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度切入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63525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创新设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计策略：</a:t>
            </a:r>
          </a:p>
          <a:p>
            <a:pPr marL="263525" hangingPunct="0">
              <a:lnSpc>
                <a:spcPct val="129583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设定逆向任务：提示语可以引导</a:t>
            </a:r>
            <a:r>
              <a:rPr lang="en-US" altLang="zh-CN" sz="1800" spc="-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从相反的角度处理问题，提供不同于传统生成的内容。</a:t>
            </a:r>
            <a:br/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挑战预设思维模式：通过打破任务的常规设定，促使</a:t>
            </a:r>
            <a:r>
              <a:rPr lang="en-US" altLang="zh-CN" sz="1800" spc="-2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生成具有挑战性和创新性的内容。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50"/>
              </a:lnSpc>
            </a:pPr>
            <a:endParaRPr lang="en-US" dirty="0"/>
          </a:p>
          <a:p>
            <a:pPr marL="0" indent="290829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灵活运用任务开放性：给</a:t>
            </a:r>
            <a:r>
              <a:rPr lang="en-US" altLang="zh-CN" sz="2000" b="1" spc="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自由发挥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的空间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9210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创新设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计策略：</a:t>
            </a:r>
          </a:p>
          <a:p>
            <a:pPr marL="0" indent="29210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设定基本框架，留出探索余地：提示语应提供一个结构化的框架，包含具体的生成目标，但不应过度限制表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471805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达方式或细节内容，给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足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够的空间进行创造。</a:t>
            </a:r>
          </a:p>
          <a:p>
            <a:pPr marL="0" indent="292100">
              <a:lnSpc>
                <a:spcPct val="116250"/>
              </a:lnSpc>
              <a:spcBef>
                <a:spcPts val="354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多维度任务引导：通过引导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从多个角度看待问题，激发其对生成内容的多样化思考。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883919"/>
            <a:ext cx="5836920" cy="4678679"/>
          </a:xfrm>
          <a:prstGeom prst="rect">
            <a:avLst/>
          </a:prstGeom>
        </p:spPr>
      </p:pic>
      <p:pic>
        <p:nvPicPr>
          <p:cNvPr id="307" name="Picture 3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998219"/>
            <a:ext cx="5532120" cy="5547360"/>
          </a:xfrm>
          <a:prstGeom prst="rect">
            <a:avLst/>
          </a:prstGeom>
        </p:spPr>
      </p:pic>
      <p:sp>
        <p:nvSpPr>
          <p:cNvPr id="2" name="Freeform 307"/>
          <p:cNvSpPr/>
          <p:nvPr/>
        </p:nvSpPr>
        <p:spPr>
          <a:xfrm>
            <a:off x="722312" y="5738812"/>
            <a:ext cx="5564187" cy="1017587"/>
          </a:xfrm>
          <a:custGeom>
            <a:avLst/>
            <a:gdLst>
              <a:gd name="connsiteX0" fmla="*/ 25971 w 5564187"/>
              <a:gd name="connsiteY0" fmla="*/ 14287 h 1017587"/>
              <a:gd name="connsiteX1" fmla="*/ 5568759 w 5564187"/>
              <a:gd name="connsiteY1" fmla="*/ 14287 h 1017587"/>
              <a:gd name="connsiteX2" fmla="*/ 5568759 w 5564187"/>
              <a:gd name="connsiteY2" fmla="*/ 1020127 h 1017587"/>
              <a:gd name="connsiteX3" fmla="*/ 25971 w 5564187"/>
              <a:gd name="connsiteY3" fmla="*/ 1020127 h 1017587"/>
              <a:gd name="connsiteX4" fmla="*/ 25971 w 5564187"/>
              <a:gd name="connsiteY4" fmla="*/ 14287 h 1017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4187" h="1017587">
                <a:moveTo>
                  <a:pt x="25971" y="14287"/>
                </a:moveTo>
                <a:lnTo>
                  <a:pt x="5568759" y="14287"/>
                </a:lnTo>
                <a:lnTo>
                  <a:pt x="5568759" y="1020127"/>
                </a:lnTo>
                <a:lnTo>
                  <a:pt x="25971" y="1020127"/>
                </a:lnTo>
                <a:lnTo>
                  <a:pt x="25971" y="14287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TextBox 308"/>
          <p:cNvSpPr txBox="1"/>
          <p:nvPr/>
        </p:nvSpPr>
        <p:spPr>
          <a:xfrm>
            <a:off x="90169" y="26108"/>
            <a:ext cx="686939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12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4000" b="1" spc="245" dirty="0">
                <a:solidFill>
                  <a:srgbClr val="000000"/>
                </a:solidFill>
                <a:latin typeface="宋体"/>
                <a:ea typeface="宋体"/>
              </a:rPr>
              <a:t>缺陷：臆造之辞</a:t>
            </a:r>
            <a:r>
              <a:rPr lang="zh-CN" altLang="en-US" sz="4000" b="1" spc="-9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4000" b="1" spc="254" dirty="0">
                <a:solidFill>
                  <a:srgbClr val="000000"/>
                </a:solidFill>
                <a:latin typeface="宋体"/>
                <a:ea typeface="宋体"/>
              </a:rPr>
              <a:t>概率幻</a:t>
            </a:r>
            <a:r>
              <a:rPr lang="zh-CN" altLang="en-US" sz="4000" b="1" spc="250" dirty="0">
                <a:solidFill>
                  <a:srgbClr val="000000"/>
                </a:solidFill>
                <a:latin typeface="宋体"/>
                <a:ea typeface="宋体"/>
              </a:rPr>
              <a:t>觉</a:t>
            </a:r>
          </a:p>
        </p:txBody>
      </p:sp>
      <p:sp>
        <p:nvSpPr>
          <p:cNvPr id="309" name="TextBox 309"/>
          <p:cNvSpPr txBox="1"/>
          <p:nvPr/>
        </p:nvSpPr>
        <p:spPr>
          <a:xfrm>
            <a:off x="840105" y="1146327"/>
            <a:ext cx="5320647" cy="55507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9860" hangingPunct="0">
              <a:lnSpc>
                <a:spcPct val="149583"/>
              </a:lnSpc>
            </a:pP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800" b="1" spc="-35" dirty="0">
                <a:solidFill>
                  <a:srgbClr val="000000"/>
                </a:solidFill>
                <a:latin typeface="宋体"/>
                <a:ea typeface="宋体"/>
              </a:rPr>
              <a:t>幻觉（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800" b="1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Hallucinations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）</a:t>
            </a:r>
            <a:r>
              <a:rPr lang="zh-CN" altLang="en-US" sz="1800" spc="-34" dirty="0">
                <a:solidFill>
                  <a:srgbClr val="000000"/>
                </a:solidFill>
                <a:latin typeface="宋体"/>
                <a:ea typeface="宋体"/>
              </a:rPr>
              <a:t>是指生成式人工智能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模型在生成文本或回答问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题时，尽管表面上呈现出逻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辑性和语法正确的形式，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但其输出内容可能包含完全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虚构、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不准确或与事实不符的信息。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indent="2068195">
              <a:lnSpc>
                <a:spcPct val="101250"/>
              </a:lnSpc>
            </a:pPr>
            <a:r>
              <a:rPr lang="zh-CN" altLang="en-US" sz="2400" b="1" spc="-15" dirty="0">
                <a:solidFill>
                  <a:srgbClr val="000000"/>
                </a:solidFill>
                <a:latin typeface="宋体"/>
                <a:ea typeface="宋体"/>
              </a:rPr>
              <a:t>形成</a:t>
            </a:r>
            <a:r>
              <a:rPr lang="zh-CN" altLang="en-US" sz="2400" b="1" spc="-5" dirty="0">
                <a:solidFill>
                  <a:srgbClr val="000000"/>
                </a:solidFill>
                <a:latin typeface="宋体"/>
                <a:ea typeface="宋体"/>
              </a:rPr>
              <a:t>原因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50"/>
              </a:lnSpc>
            </a:pPr>
            <a:endParaRPr lang="en-US" dirty="0"/>
          </a:p>
          <a:p>
            <a:pPr marL="92709" hangingPunct="0">
              <a:lnSpc>
                <a:spcPct val="150000"/>
              </a:lnSpc>
            </a:pPr>
            <a:r>
              <a:rPr lang="zh-CN" altLang="en-US" sz="2000" spc="-5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2000" spc="-10" dirty="0">
                <a:solidFill>
                  <a:srgbClr val="000000"/>
                </a:solidFill>
                <a:latin typeface="宋体"/>
                <a:ea typeface="宋体"/>
              </a:rPr>
              <a:t>幻觉的产生通常是由于</a:t>
            </a:r>
            <a:r>
              <a:rPr lang="zh-CN" altLang="en-US" sz="2000" dirty="0">
                <a:solidFill>
                  <a:srgbClr val="000000"/>
                </a:solidFill>
                <a:latin typeface="宋体"/>
                <a:ea typeface="宋体"/>
              </a:rPr>
              <a:t>模型在缺乏相关信息</a:t>
            </a:r>
            <a:r>
              <a:rPr lang="zh-CN" altLang="en-US" sz="2000" spc="-5" dirty="0">
                <a:solidFill>
                  <a:srgbClr val="000000"/>
                </a:solidFill>
                <a:latin typeface="宋体"/>
                <a:ea typeface="宋体"/>
              </a:rPr>
              <a:t>的情况下，通过概率性</a:t>
            </a:r>
            <a:r>
              <a:rPr lang="zh-CN" altLang="en-US" sz="2000" dirty="0">
                <a:solidFill>
                  <a:srgbClr val="000000"/>
                </a:solidFill>
                <a:latin typeface="宋体"/>
                <a:ea typeface="宋体"/>
              </a:rPr>
              <a:t>选择生成内容，而非基</a:t>
            </a:r>
            <a:r>
              <a:rPr lang="zh-CN" altLang="en-US" sz="2000" spc="-5" dirty="0">
                <a:solidFill>
                  <a:srgbClr val="000000"/>
                </a:solidFill>
                <a:latin typeface="宋体"/>
                <a:ea typeface="宋体"/>
              </a:rPr>
              <a:t>于真实世界的知识库或</a:t>
            </a:r>
            <a:r>
              <a:rPr lang="zh-CN" altLang="en-US" sz="2000" dirty="0">
                <a:solidFill>
                  <a:srgbClr val="000000"/>
                </a:solidFill>
                <a:latin typeface="宋体"/>
                <a:ea typeface="宋体"/>
              </a:rPr>
              <a:t>逻辑推理，这使得其输</a:t>
            </a:r>
            <a:r>
              <a:rPr lang="zh-CN" altLang="en-US" sz="2000" spc="-5" dirty="0">
                <a:solidFill>
                  <a:srgbClr val="000000"/>
                </a:solidFill>
                <a:latin typeface="宋体"/>
                <a:ea typeface="宋体"/>
              </a:rPr>
              <a:t>出不</a:t>
            </a:r>
            <a:r>
              <a:rPr lang="zh-CN" altLang="en-US" sz="2000" dirty="0">
                <a:solidFill>
                  <a:srgbClr val="000000"/>
                </a:solidFill>
                <a:latin typeface="宋体"/>
                <a:ea typeface="宋体"/>
              </a:rPr>
              <a:t>仅难以信赖，且可能误导用户。</a:t>
            </a:r>
          </a:p>
          <a:p>
            <a:pPr>
              <a:lnSpc>
                <a:spcPts val="1700"/>
              </a:lnSpc>
            </a:pPr>
            <a:endParaRPr lang="en-US" dirty="0"/>
          </a:p>
          <a:p>
            <a:pPr marL="50164" hangingPunct="0">
              <a:lnSpc>
                <a:spcPct val="109583"/>
              </a:lnSpc>
            </a:pP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除AI</a:t>
            </a: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幻觉</a:t>
            </a: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这一关键缺陷外，潜在的缺点与局限还包括可解释性、计算成本、数据偏见、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实时更新、数据安</a:t>
            </a:r>
          </a:p>
          <a:p>
            <a:pPr marL="0" indent="1193165">
              <a:lnSpc>
                <a:spcPct val="101250"/>
              </a:lnSpc>
            </a:pP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全、个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人隐私、恶意输出等。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310"/>
          <p:cNvSpPr/>
          <p:nvPr/>
        </p:nvSpPr>
        <p:spPr>
          <a:xfrm>
            <a:off x="3524250" y="1441450"/>
            <a:ext cx="400050" cy="425450"/>
          </a:xfrm>
          <a:custGeom>
            <a:avLst/>
            <a:gdLst>
              <a:gd name="connsiteX0" fmla="*/ 11429 w 400050"/>
              <a:gd name="connsiteY0" fmla="*/ 231901 h 425450"/>
              <a:gd name="connsiteX1" fmla="*/ 112014 w 400050"/>
              <a:gd name="connsiteY1" fmla="*/ 231901 h 425450"/>
              <a:gd name="connsiteX2" fmla="*/ 112014 w 400050"/>
              <a:gd name="connsiteY2" fmla="*/ 9397 h 425450"/>
              <a:gd name="connsiteX3" fmla="*/ 311658 w 400050"/>
              <a:gd name="connsiteY3" fmla="*/ 9397 h 425450"/>
              <a:gd name="connsiteX4" fmla="*/ 311658 w 400050"/>
              <a:gd name="connsiteY4" fmla="*/ 231901 h 425450"/>
              <a:gd name="connsiteX5" fmla="*/ 412241 w 400050"/>
              <a:gd name="connsiteY5" fmla="*/ 231901 h 425450"/>
              <a:gd name="connsiteX6" fmla="*/ 211073 w 400050"/>
              <a:gd name="connsiteY6" fmla="*/ 433070 h 425450"/>
              <a:gd name="connsiteX7" fmla="*/ 11429 w 400050"/>
              <a:gd name="connsiteY7" fmla="*/ 231901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050" h="425450">
                <a:moveTo>
                  <a:pt x="11429" y="231901"/>
                </a:moveTo>
                <a:lnTo>
                  <a:pt x="112014" y="231901"/>
                </a:lnTo>
                <a:lnTo>
                  <a:pt x="112014" y="9397"/>
                </a:lnTo>
                <a:lnTo>
                  <a:pt x="311658" y="9397"/>
                </a:lnTo>
                <a:lnTo>
                  <a:pt x="311658" y="231901"/>
                </a:lnTo>
                <a:lnTo>
                  <a:pt x="412241" y="231901"/>
                </a:lnTo>
                <a:lnTo>
                  <a:pt x="211073" y="433070"/>
                </a:lnTo>
                <a:lnTo>
                  <a:pt x="11429" y="231901"/>
                </a:lnTo>
                <a:close/>
              </a:path>
            </a:pathLst>
          </a:custGeom>
          <a:solidFill>
            <a:srgbClr val="D8D8D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Freeform 311"/>
          <p:cNvSpPr/>
          <p:nvPr/>
        </p:nvSpPr>
        <p:spPr>
          <a:xfrm>
            <a:off x="222250" y="1860550"/>
            <a:ext cx="920750" cy="1136650"/>
          </a:xfrm>
          <a:custGeom>
            <a:avLst/>
            <a:gdLst>
              <a:gd name="connsiteX0" fmla="*/ 6350 w 920750"/>
              <a:gd name="connsiteY0" fmla="*/ 13970 h 1136650"/>
              <a:gd name="connsiteX1" fmla="*/ 920750 w 920750"/>
              <a:gd name="connsiteY1" fmla="*/ 13970 h 1136650"/>
              <a:gd name="connsiteX2" fmla="*/ 920750 w 920750"/>
              <a:gd name="connsiteY2" fmla="*/ 1138682 h 1136650"/>
              <a:gd name="connsiteX3" fmla="*/ 6350 w 920750"/>
              <a:gd name="connsiteY3" fmla="*/ 1138682 h 1136650"/>
              <a:gd name="connsiteX4" fmla="*/ 6350 w 9207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750" h="1136650">
                <a:moveTo>
                  <a:pt x="6350" y="13970"/>
                </a:moveTo>
                <a:lnTo>
                  <a:pt x="920750" y="13970"/>
                </a:lnTo>
                <a:lnTo>
                  <a:pt x="920750" y="1138682"/>
                </a:lnTo>
                <a:lnTo>
                  <a:pt x="6350" y="1138682"/>
                </a:lnTo>
                <a:lnTo>
                  <a:pt x="6350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Freeform 312"/>
          <p:cNvSpPr/>
          <p:nvPr/>
        </p:nvSpPr>
        <p:spPr>
          <a:xfrm>
            <a:off x="1136650" y="1860550"/>
            <a:ext cx="857250" cy="1136650"/>
          </a:xfrm>
          <a:custGeom>
            <a:avLst/>
            <a:gdLst>
              <a:gd name="connsiteX0" fmla="*/ 6350 w 857250"/>
              <a:gd name="connsiteY0" fmla="*/ 13970 h 1136650"/>
              <a:gd name="connsiteX1" fmla="*/ 859789 w 857250"/>
              <a:gd name="connsiteY1" fmla="*/ 13970 h 1136650"/>
              <a:gd name="connsiteX2" fmla="*/ 859789 w 857250"/>
              <a:gd name="connsiteY2" fmla="*/ 1138682 h 1136650"/>
              <a:gd name="connsiteX3" fmla="*/ 6350 w 857250"/>
              <a:gd name="connsiteY3" fmla="*/ 1138682 h 1136650"/>
              <a:gd name="connsiteX4" fmla="*/ 6350 w 8572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" h="1136650">
                <a:moveTo>
                  <a:pt x="6350" y="13970"/>
                </a:moveTo>
                <a:lnTo>
                  <a:pt x="859789" y="13970"/>
                </a:lnTo>
                <a:lnTo>
                  <a:pt x="859789" y="1138682"/>
                </a:lnTo>
                <a:lnTo>
                  <a:pt x="6350" y="1138682"/>
                </a:lnTo>
                <a:lnTo>
                  <a:pt x="6350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Freeform 313"/>
          <p:cNvSpPr/>
          <p:nvPr/>
        </p:nvSpPr>
        <p:spPr>
          <a:xfrm>
            <a:off x="1987550" y="1860550"/>
            <a:ext cx="539750" cy="1136650"/>
          </a:xfrm>
          <a:custGeom>
            <a:avLst/>
            <a:gdLst>
              <a:gd name="connsiteX0" fmla="*/ 8889 w 539750"/>
              <a:gd name="connsiteY0" fmla="*/ 13970 h 1136650"/>
              <a:gd name="connsiteX1" fmla="*/ 545338 w 539750"/>
              <a:gd name="connsiteY1" fmla="*/ 13970 h 1136650"/>
              <a:gd name="connsiteX2" fmla="*/ 545338 w 539750"/>
              <a:gd name="connsiteY2" fmla="*/ 1138682 h 1136650"/>
              <a:gd name="connsiteX3" fmla="*/ 8889 w 539750"/>
              <a:gd name="connsiteY3" fmla="*/ 1138682 h 1136650"/>
              <a:gd name="connsiteX4" fmla="*/ 8889 w 5397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750" h="1136650">
                <a:moveTo>
                  <a:pt x="8889" y="13970"/>
                </a:moveTo>
                <a:lnTo>
                  <a:pt x="545338" y="13970"/>
                </a:lnTo>
                <a:lnTo>
                  <a:pt x="545338" y="1138682"/>
                </a:lnTo>
                <a:lnTo>
                  <a:pt x="8889" y="1138682"/>
                </a:lnTo>
                <a:lnTo>
                  <a:pt x="8889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Freeform 314"/>
          <p:cNvSpPr/>
          <p:nvPr/>
        </p:nvSpPr>
        <p:spPr>
          <a:xfrm>
            <a:off x="2520950" y="1860550"/>
            <a:ext cx="742950" cy="1136650"/>
          </a:xfrm>
          <a:custGeom>
            <a:avLst/>
            <a:gdLst>
              <a:gd name="connsiteX0" fmla="*/ 11938 w 742950"/>
              <a:gd name="connsiteY0" fmla="*/ 13970 h 1136650"/>
              <a:gd name="connsiteX1" fmla="*/ 744982 w 742950"/>
              <a:gd name="connsiteY1" fmla="*/ 13970 h 1136650"/>
              <a:gd name="connsiteX2" fmla="*/ 744982 w 742950"/>
              <a:gd name="connsiteY2" fmla="*/ 1138682 h 1136650"/>
              <a:gd name="connsiteX3" fmla="*/ 11938 w 742950"/>
              <a:gd name="connsiteY3" fmla="*/ 1138682 h 1136650"/>
              <a:gd name="connsiteX4" fmla="*/ 11938 w 7429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1136650">
                <a:moveTo>
                  <a:pt x="11938" y="13970"/>
                </a:moveTo>
                <a:lnTo>
                  <a:pt x="744982" y="13970"/>
                </a:lnTo>
                <a:lnTo>
                  <a:pt x="744982" y="1138682"/>
                </a:lnTo>
                <a:lnTo>
                  <a:pt x="11938" y="1138682"/>
                </a:lnTo>
                <a:lnTo>
                  <a:pt x="11938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Freeform 315"/>
          <p:cNvSpPr/>
          <p:nvPr/>
        </p:nvSpPr>
        <p:spPr>
          <a:xfrm>
            <a:off x="3257550" y="1860550"/>
            <a:ext cx="844550" cy="1136650"/>
          </a:xfrm>
          <a:custGeom>
            <a:avLst/>
            <a:gdLst>
              <a:gd name="connsiteX0" fmla="*/ 8382 w 844550"/>
              <a:gd name="connsiteY0" fmla="*/ 13970 h 1136650"/>
              <a:gd name="connsiteX1" fmla="*/ 851154 w 844550"/>
              <a:gd name="connsiteY1" fmla="*/ 13970 h 1136650"/>
              <a:gd name="connsiteX2" fmla="*/ 851154 w 844550"/>
              <a:gd name="connsiteY2" fmla="*/ 1138682 h 1136650"/>
              <a:gd name="connsiteX3" fmla="*/ 8382 w 844550"/>
              <a:gd name="connsiteY3" fmla="*/ 1138682 h 1136650"/>
              <a:gd name="connsiteX4" fmla="*/ 8382 w 8445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4550" h="1136650">
                <a:moveTo>
                  <a:pt x="8382" y="13970"/>
                </a:moveTo>
                <a:lnTo>
                  <a:pt x="851154" y="13970"/>
                </a:lnTo>
                <a:lnTo>
                  <a:pt x="851154" y="1138682"/>
                </a:lnTo>
                <a:lnTo>
                  <a:pt x="8382" y="1138682"/>
                </a:lnTo>
                <a:lnTo>
                  <a:pt x="8382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Freeform 316"/>
          <p:cNvSpPr/>
          <p:nvPr/>
        </p:nvSpPr>
        <p:spPr>
          <a:xfrm>
            <a:off x="4095750" y="1860550"/>
            <a:ext cx="946150" cy="1136650"/>
          </a:xfrm>
          <a:custGeom>
            <a:avLst/>
            <a:gdLst>
              <a:gd name="connsiteX0" fmla="*/ 12953 w 946150"/>
              <a:gd name="connsiteY0" fmla="*/ 13970 h 1136650"/>
              <a:gd name="connsiteX1" fmla="*/ 954785 w 946150"/>
              <a:gd name="connsiteY1" fmla="*/ 13970 h 1136650"/>
              <a:gd name="connsiteX2" fmla="*/ 954785 w 946150"/>
              <a:gd name="connsiteY2" fmla="*/ 1138682 h 1136650"/>
              <a:gd name="connsiteX3" fmla="*/ 12953 w 946150"/>
              <a:gd name="connsiteY3" fmla="*/ 1138682 h 1136650"/>
              <a:gd name="connsiteX4" fmla="*/ 12953 w 9461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150" h="1136650">
                <a:moveTo>
                  <a:pt x="12953" y="13970"/>
                </a:moveTo>
                <a:lnTo>
                  <a:pt x="954785" y="13970"/>
                </a:lnTo>
                <a:lnTo>
                  <a:pt x="954785" y="1138682"/>
                </a:lnTo>
                <a:lnTo>
                  <a:pt x="12953" y="1138682"/>
                </a:lnTo>
                <a:lnTo>
                  <a:pt x="12953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Freeform 317"/>
          <p:cNvSpPr/>
          <p:nvPr/>
        </p:nvSpPr>
        <p:spPr>
          <a:xfrm>
            <a:off x="5035550" y="1860550"/>
            <a:ext cx="1568450" cy="1136650"/>
          </a:xfrm>
          <a:custGeom>
            <a:avLst/>
            <a:gdLst>
              <a:gd name="connsiteX0" fmla="*/ 14985 w 1568450"/>
              <a:gd name="connsiteY0" fmla="*/ 13970 h 1136650"/>
              <a:gd name="connsiteX1" fmla="*/ 1574038 w 1568450"/>
              <a:gd name="connsiteY1" fmla="*/ 13970 h 1136650"/>
              <a:gd name="connsiteX2" fmla="*/ 1574038 w 1568450"/>
              <a:gd name="connsiteY2" fmla="*/ 1138682 h 1136650"/>
              <a:gd name="connsiteX3" fmla="*/ 14985 w 1568450"/>
              <a:gd name="connsiteY3" fmla="*/ 1138682 h 1136650"/>
              <a:gd name="connsiteX4" fmla="*/ 14985 w 1568450"/>
              <a:gd name="connsiteY4" fmla="*/ 1397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1136650">
                <a:moveTo>
                  <a:pt x="14985" y="13970"/>
                </a:moveTo>
                <a:lnTo>
                  <a:pt x="1574038" y="13970"/>
                </a:lnTo>
                <a:lnTo>
                  <a:pt x="1574038" y="1138682"/>
                </a:lnTo>
                <a:lnTo>
                  <a:pt x="14985" y="1138682"/>
                </a:lnTo>
                <a:lnTo>
                  <a:pt x="14985" y="13970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Freeform 318"/>
          <p:cNvSpPr/>
          <p:nvPr/>
        </p:nvSpPr>
        <p:spPr>
          <a:xfrm>
            <a:off x="222250" y="2990850"/>
            <a:ext cx="920750" cy="755650"/>
          </a:xfrm>
          <a:custGeom>
            <a:avLst/>
            <a:gdLst>
              <a:gd name="connsiteX0" fmla="*/ 6350 w 920750"/>
              <a:gd name="connsiteY0" fmla="*/ 8382 h 755650"/>
              <a:gd name="connsiteX1" fmla="*/ 920750 w 920750"/>
              <a:gd name="connsiteY1" fmla="*/ 8382 h 755650"/>
              <a:gd name="connsiteX2" fmla="*/ 920750 w 920750"/>
              <a:gd name="connsiteY2" fmla="*/ 762761 h 755650"/>
              <a:gd name="connsiteX3" fmla="*/ 6350 w 920750"/>
              <a:gd name="connsiteY3" fmla="*/ 762761 h 755650"/>
              <a:gd name="connsiteX4" fmla="*/ 6350 w 9207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750" h="755650">
                <a:moveTo>
                  <a:pt x="6350" y="8382"/>
                </a:moveTo>
                <a:lnTo>
                  <a:pt x="920750" y="8382"/>
                </a:lnTo>
                <a:lnTo>
                  <a:pt x="920750" y="762761"/>
                </a:lnTo>
                <a:lnTo>
                  <a:pt x="6350" y="762761"/>
                </a:lnTo>
                <a:lnTo>
                  <a:pt x="6350" y="8382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Freeform 319"/>
          <p:cNvSpPr/>
          <p:nvPr/>
        </p:nvSpPr>
        <p:spPr>
          <a:xfrm>
            <a:off x="222250" y="3740150"/>
            <a:ext cx="920750" cy="755650"/>
          </a:xfrm>
          <a:custGeom>
            <a:avLst/>
            <a:gdLst>
              <a:gd name="connsiteX0" fmla="*/ 6350 w 920750"/>
              <a:gd name="connsiteY0" fmla="*/ 13461 h 755650"/>
              <a:gd name="connsiteX1" fmla="*/ 920750 w 920750"/>
              <a:gd name="connsiteY1" fmla="*/ 13461 h 755650"/>
              <a:gd name="connsiteX2" fmla="*/ 920750 w 920750"/>
              <a:gd name="connsiteY2" fmla="*/ 766317 h 755650"/>
              <a:gd name="connsiteX3" fmla="*/ 6350 w 920750"/>
              <a:gd name="connsiteY3" fmla="*/ 766317 h 755650"/>
              <a:gd name="connsiteX4" fmla="*/ 6350 w 9207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750" h="755650">
                <a:moveTo>
                  <a:pt x="6350" y="13461"/>
                </a:moveTo>
                <a:lnTo>
                  <a:pt x="920750" y="13461"/>
                </a:lnTo>
                <a:lnTo>
                  <a:pt x="920750" y="766317"/>
                </a:lnTo>
                <a:lnTo>
                  <a:pt x="6350" y="766317"/>
                </a:lnTo>
                <a:lnTo>
                  <a:pt x="6350" y="13461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Freeform 320"/>
          <p:cNvSpPr/>
          <p:nvPr/>
        </p:nvSpPr>
        <p:spPr>
          <a:xfrm>
            <a:off x="222250" y="4489450"/>
            <a:ext cx="920750" cy="603250"/>
          </a:xfrm>
          <a:custGeom>
            <a:avLst/>
            <a:gdLst>
              <a:gd name="connsiteX0" fmla="*/ 6350 w 920750"/>
              <a:gd name="connsiteY0" fmla="*/ 17017 h 603250"/>
              <a:gd name="connsiteX1" fmla="*/ 920750 w 920750"/>
              <a:gd name="connsiteY1" fmla="*/ 17017 h 603250"/>
              <a:gd name="connsiteX2" fmla="*/ 920750 w 920750"/>
              <a:gd name="connsiteY2" fmla="*/ 603758 h 603250"/>
              <a:gd name="connsiteX3" fmla="*/ 6350 w 920750"/>
              <a:gd name="connsiteY3" fmla="*/ 603758 h 603250"/>
              <a:gd name="connsiteX4" fmla="*/ 6350 w 9207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750" h="603250">
                <a:moveTo>
                  <a:pt x="6350" y="17017"/>
                </a:moveTo>
                <a:lnTo>
                  <a:pt x="920750" y="17017"/>
                </a:lnTo>
                <a:lnTo>
                  <a:pt x="920750" y="603758"/>
                </a:lnTo>
                <a:lnTo>
                  <a:pt x="6350" y="603758"/>
                </a:lnTo>
                <a:lnTo>
                  <a:pt x="6350" y="17017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Freeform 321"/>
          <p:cNvSpPr/>
          <p:nvPr/>
        </p:nvSpPr>
        <p:spPr>
          <a:xfrm>
            <a:off x="222250" y="5086350"/>
            <a:ext cx="920750" cy="590550"/>
          </a:xfrm>
          <a:custGeom>
            <a:avLst/>
            <a:gdLst>
              <a:gd name="connsiteX0" fmla="*/ 6350 w 920750"/>
              <a:gd name="connsiteY0" fmla="*/ 6858 h 590550"/>
              <a:gd name="connsiteX1" fmla="*/ 920750 w 920750"/>
              <a:gd name="connsiteY1" fmla="*/ 6858 h 590550"/>
              <a:gd name="connsiteX2" fmla="*/ 920750 w 920750"/>
              <a:gd name="connsiteY2" fmla="*/ 595122 h 590550"/>
              <a:gd name="connsiteX3" fmla="*/ 6350 w 920750"/>
              <a:gd name="connsiteY3" fmla="*/ 595122 h 590550"/>
              <a:gd name="connsiteX4" fmla="*/ 6350 w 9207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750" h="590550">
                <a:moveTo>
                  <a:pt x="6350" y="6858"/>
                </a:moveTo>
                <a:lnTo>
                  <a:pt x="920750" y="6858"/>
                </a:lnTo>
                <a:lnTo>
                  <a:pt x="920750" y="595122"/>
                </a:lnTo>
                <a:lnTo>
                  <a:pt x="6350" y="595122"/>
                </a:lnTo>
                <a:lnTo>
                  <a:pt x="6350" y="6858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Freeform 322"/>
          <p:cNvSpPr/>
          <p:nvPr/>
        </p:nvSpPr>
        <p:spPr>
          <a:xfrm>
            <a:off x="222250" y="5670550"/>
            <a:ext cx="920750" cy="755650"/>
          </a:xfrm>
          <a:custGeom>
            <a:avLst/>
            <a:gdLst>
              <a:gd name="connsiteX0" fmla="*/ 6350 w 920750"/>
              <a:gd name="connsiteY0" fmla="*/ 10921 h 755650"/>
              <a:gd name="connsiteX1" fmla="*/ 920750 w 920750"/>
              <a:gd name="connsiteY1" fmla="*/ 10921 h 755650"/>
              <a:gd name="connsiteX2" fmla="*/ 920750 w 920750"/>
              <a:gd name="connsiteY2" fmla="*/ 765301 h 755650"/>
              <a:gd name="connsiteX3" fmla="*/ 6350 w 920750"/>
              <a:gd name="connsiteY3" fmla="*/ 765301 h 755650"/>
              <a:gd name="connsiteX4" fmla="*/ 6350 w 9207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750" h="755650">
                <a:moveTo>
                  <a:pt x="6350" y="10921"/>
                </a:moveTo>
                <a:lnTo>
                  <a:pt x="920750" y="10921"/>
                </a:lnTo>
                <a:lnTo>
                  <a:pt x="920750" y="765301"/>
                </a:lnTo>
                <a:lnTo>
                  <a:pt x="6350" y="765301"/>
                </a:lnTo>
                <a:lnTo>
                  <a:pt x="6350" y="10921"/>
                </a:lnTo>
                <a:close/>
              </a:path>
            </a:pathLst>
          </a:custGeom>
          <a:solidFill>
            <a:srgbClr val="5E94E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Freeform 323"/>
          <p:cNvSpPr/>
          <p:nvPr/>
        </p:nvSpPr>
        <p:spPr>
          <a:xfrm>
            <a:off x="1136650" y="2990850"/>
            <a:ext cx="857250" cy="755650"/>
          </a:xfrm>
          <a:custGeom>
            <a:avLst/>
            <a:gdLst>
              <a:gd name="connsiteX0" fmla="*/ 6350 w 857250"/>
              <a:gd name="connsiteY0" fmla="*/ 8382 h 755650"/>
              <a:gd name="connsiteX1" fmla="*/ 859789 w 857250"/>
              <a:gd name="connsiteY1" fmla="*/ 8382 h 755650"/>
              <a:gd name="connsiteX2" fmla="*/ 859789 w 857250"/>
              <a:gd name="connsiteY2" fmla="*/ 762761 h 755650"/>
              <a:gd name="connsiteX3" fmla="*/ 6350 w 857250"/>
              <a:gd name="connsiteY3" fmla="*/ 762761 h 755650"/>
              <a:gd name="connsiteX4" fmla="*/ 6350 w 8572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" h="755650">
                <a:moveTo>
                  <a:pt x="6350" y="8382"/>
                </a:moveTo>
                <a:lnTo>
                  <a:pt x="859789" y="8382"/>
                </a:lnTo>
                <a:lnTo>
                  <a:pt x="859789" y="762761"/>
                </a:lnTo>
                <a:lnTo>
                  <a:pt x="6350" y="762761"/>
                </a:lnTo>
                <a:lnTo>
                  <a:pt x="6350" y="8382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Freeform 324"/>
          <p:cNvSpPr/>
          <p:nvPr/>
        </p:nvSpPr>
        <p:spPr>
          <a:xfrm>
            <a:off x="1987550" y="2990850"/>
            <a:ext cx="539750" cy="755650"/>
          </a:xfrm>
          <a:custGeom>
            <a:avLst/>
            <a:gdLst>
              <a:gd name="connsiteX0" fmla="*/ 8889 w 539750"/>
              <a:gd name="connsiteY0" fmla="*/ 8382 h 755650"/>
              <a:gd name="connsiteX1" fmla="*/ 545338 w 539750"/>
              <a:gd name="connsiteY1" fmla="*/ 8382 h 755650"/>
              <a:gd name="connsiteX2" fmla="*/ 545338 w 539750"/>
              <a:gd name="connsiteY2" fmla="*/ 762761 h 755650"/>
              <a:gd name="connsiteX3" fmla="*/ 8889 w 539750"/>
              <a:gd name="connsiteY3" fmla="*/ 762761 h 755650"/>
              <a:gd name="connsiteX4" fmla="*/ 8889 w 5397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750" h="755650">
                <a:moveTo>
                  <a:pt x="8889" y="8382"/>
                </a:moveTo>
                <a:lnTo>
                  <a:pt x="545338" y="8382"/>
                </a:lnTo>
                <a:lnTo>
                  <a:pt x="545338" y="762761"/>
                </a:lnTo>
                <a:lnTo>
                  <a:pt x="8889" y="762761"/>
                </a:lnTo>
                <a:lnTo>
                  <a:pt x="8889" y="8382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Freeform 325"/>
          <p:cNvSpPr/>
          <p:nvPr/>
        </p:nvSpPr>
        <p:spPr>
          <a:xfrm>
            <a:off x="2520950" y="2990850"/>
            <a:ext cx="742950" cy="755650"/>
          </a:xfrm>
          <a:custGeom>
            <a:avLst/>
            <a:gdLst>
              <a:gd name="connsiteX0" fmla="*/ 11938 w 742950"/>
              <a:gd name="connsiteY0" fmla="*/ 8382 h 755650"/>
              <a:gd name="connsiteX1" fmla="*/ 744982 w 742950"/>
              <a:gd name="connsiteY1" fmla="*/ 8382 h 755650"/>
              <a:gd name="connsiteX2" fmla="*/ 744982 w 742950"/>
              <a:gd name="connsiteY2" fmla="*/ 762761 h 755650"/>
              <a:gd name="connsiteX3" fmla="*/ 11938 w 742950"/>
              <a:gd name="connsiteY3" fmla="*/ 762761 h 755650"/>
              <a:gd name="connsiteX4" fmla="*/ 11938 w 7429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755650">
                <a:moveTo>
                  <a:pt x="11938" y="8382"/>
                </a:moveTo>
                <a:lnTo>
                  <a:pt x="744982" y="8382"/>
                </a:lnTo>
                <a:lnTo>
                  <a:pt x="744982" y="762761"/>
                </a:lnTo>
                <a:lnTo>
                  <a:pt x="11938" y="762761"/>
                </a:lnTo>
                <a:lnTo>
                  <a:pt x="11938" y="8382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Freeform 326"/>
          <p:cNvSpPr/>
          <p:nvPr/>
        </p:nvSpPr>
        <p:spPr>
          <a:xfrm>
            <a:off x="3257550" y="2990850"/>
            <a:ext cx="844550" cy="755650"/>
          </a:xfrm>
          <a:custGeom>
            <a:avLst/>
            <a:gdLst>
              <a:gd name="connsiteX0" fmla="*/ 8382 w 844550"/>
              <a:gd name="connsiteY0" fmla="*/ 8382 h 755650"/>
              <a:gd name="connsiteX1" fmla="*/ 851154 w 844550"/>
              <a:gd name="connsiteY1" fmla="*/ 8382 h 755650"/>
              <a:gd name="connsiteX2" fmla="*/ 851154 w 844550"/>
              <a:gd name="connsiteY2" fmla="*/ 762761 h 755650"/>
              <a:gd name="connsiteX3" fmla="*/ 8382 w 844550"/>
              <a:gd name="connsiteY3" fmla="*/ 762761 h 755650"/>
              <a:gd name="connsiteX4" fmla="*/ 8382 w 8445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4550" h="755650">
                <a:moveTo>
                  <a:pt x="8382" y="8382"/>
                </a:moveTo>
                <a:lnTo>
                  <a:pt x="851154" y="8382"/>
                </a:lnTo>
                <a:lnTo>
                  <a:pt x="851154" y="762761"/>
                </a:lnTo>
                <a:lnTo>
                  <a:pt x="8382" y="762761"/>
                </a:lnTo>
                <a:lnTo>
                  <a:pt x="8382" y="8382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Freeform 327"/>
          <p:cNvSpPr/>
          <p:nvPr/>
        </p:nvSpPr>
        <p:spPr>
          <a:xfrm>
            <a:off x="4095750" y="2990850"/>
            <a:ext cx="946150" cy="755650"/>
          </a:xfrm>
          <a:custGeom>
            <a:avLst/>
            <a:gdLst>
              <a:gd name="connsiteX0" fmla="*/ 12953 w 946150"/>
              <a:gd name="connsiteY0" fmla="*/ 8382 h 755650"/>
              <a:gd name="connsiteX1" fmla="*/ 954785 w 946150"/>
              <a:gd name="connsiteY1" fmla="*/ 8382 h 755650"/>
              <a:gd name="connsiteX2" fmla="*/ 954785 w 946150"/>
              <a:gd name="connsiteY2" fmla="*/ 762761 h 755650"/>
              <a:gd name="connsiteX3" fmla="*/ 12953 w 946150"/>
              <a:gd name="connsiteY3" fmla="*/ 762761 h 755650"/>
              <a:gd name="connsiteX4" fmla="*/ 12953 w 9461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150" h="755650">
                <a:moveTo>
                  <a:pt x="12953" y="8382"/>
                </a:moveTo>
                <a:lnTo>
                  <a:pt x="954785" y="8382"/>
                </a:lnTo>
                <a:lnTo>
                  <a:pt x="954785" y="762761"/>
                </a:lnTo>
                <a:lnTo>
                  <a:pt x="12953" y="762761"/>
                </a:lnTo>
                <a:lnTo>
                  <a:pt x="12953" y="8382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Freeform 328"/>
          <p:cNvSpPr/>
          <p:nvPr/>
        </p:nvSpPr>
        <p:spPr>
          <a:xfrm>
            <a:off x="5035550" y="2990850"/>
            <a:ext cx="1568450" cy="755650"/>
          </a:xfrm>
          <a:custGeom>
            <a:avLst/>
            <a:gdLst>
              <a:gd name="connsiteX0" fmla="*/ 14985 w 1568450"/>
              <a:gd name="connsiteY0" fmla="*/ 8382 h 755650"/>
              <a:gd name="connsiteX1" fmla="*/ 1574038 w 1568450"/>
              <a:gd name="connsiteY1" fmla="*/ 8382 h 755650"/>
              <a:gd name="connsiteX2" fmla="*/ 1574038 w 1568450"/>
              <a:gd name="connsiteY2" fmla="*/ 762761 h 755650"/>
              <a:gd name="connsiteX3" fmla="*/ 14985 w 1568450"/>
              <a:gd name="connsiteY3" fmla="*/ 762761 h 755650"/>
              <a:gd name="connsiteX4" fmla="*/ 14985 w 1568450"/>
              <a:gd name="connsiteY4" fmla="*/ 8382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755650">
                <a:moveTo>
                  <a:pt x="14985" y="8382"/>
                </a:moveTo>
                <a:lnTo>
                  <a:pt x="1574038" y="8382"/>
                </a:lnTo>
                <a:lnTo>
                  <a:pt x="1574038" y="762761"/>
                </a:lnTo>
                <a:lnTo>
                  <a:pt x="14985" y="762761"/>
                </a:lnTo>
                <a:lnTo>
                  <a:pt x="14985" y="8382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Freeform 329"/>
          <p:cNvSpPr/>
          <p:nvPr/>
        </p:nvSpPr>
        <p:spPr>
          <a:xfrm>
            <a:off x="1136650" y="4489450"/>
            <a:ext cx="857250" cy="603250"/>
          </a:xfrm>
          <a:custGeom>
            <a:avLst/>
            <a:gdLst>
              <a:gd name="connsiteX0" fmla="*/ 6350 w 857250"/>
              <a:gd name="connsiteY0" fmla="*/ 17017 h 603250"/>
              <a:gd name="connsiteX1" fmla="*/ 859789 w 857250"/>
              <a:gd name="connsiteY1" fmla="*/ 17017 h 603250"/>
              <a:gd name="connsiteX2" fmla="*/ 859789 w 857250"/>
              <a:gd name="connsiteY2" fmla="*/ 603758 h 603250"/>
              <a:gd name="connsiteX3" fmla="*/ 6350 w 857250"/>
              <a:gd name="connsiteY3" fmla="*/ 603758 h 603250"/>
              <a:gd name="connsiteX4" fmla="*/ 6350 w 8572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" h="603250">
                <a:moveTo>
                  <a:pt x="6350" y="17017"/>
                </a:moveTo>
                <a:lnTo>
                  <a:pt x="859789" y="17017"/>
                </a:lnTo>
                <a:lnTo>
                  <a:pt x="859789" y="603758"/>
                </a:lnTo>
                <a:lnTo>
                  <a:pt x="6350" y="603758"/>
                </a:lnTo>
                <a:lnTo>
                  <a:pt x="6350" y="17017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Freeform 330"/>
          <p:cNvSpPr/>
          <p:nvPr/>
        </p:nvSpPr>
        <p:spPr>
          <a:xfrm>
            <a:off x="1987550" y="4489450"/>
            <a:ext cx="539750" cy="603250"/>
          </a:xfrm>
          <a:custGeom>
            <a:avLst/>
            <a:gdLst>
              <a:gd name="connsiteX0" fmla="*/ 8889 w 539750"/>
              <a:gd name="connsiteY0" fmla="*/ 17017 h 603250"/>
              <a:gd name="connsiteX1" fmla="*/ 545338 w 539750"/>
              <a:gd name="connsiteY1" fmla="*/ 17017 h 603250"/>
              <a:gd name="connsiteX2" fmla="*/ 545338 w 539750"/>
              <a:gd name="connsiteY2" fmla="*/ 603758 h 603250"/>
              <a:gd name="connsiteX3" fmla="*/ 8889 w 539750"/>
              <a:gd name="connsiteY3" fmla="*/ 603758 h 603250"/>
              <a:gd name="connsiteX4" fmla="*/ 8889 w 5397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750" h="603250">
                <a:moveTo>
                  <a:pt x="8889" y="17017"/>
                </a:moveTo>
                <a:lnTo>
                  <a:pt x="545338" y="17017"/>
                </a:lnTo>
                <a:lnTo>
                  <a:pt x="545338" y="603758"/>
                </a:lnTo>
                <a:lnTo>
                  <a:pt x="8889" y="603758"/>
                </a:lnTo>
                <a:lnTo>
                  <a:pt x="8889" y="17017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Freeform 331"/>
          <p:cNvSpPr/>
          <p:nvPr/>
        </p:nvSpPr>
        <p:spPr>
          <a:xfrm>
            <a:off x="2520950" y="4489450"/>
            <a:ext cx="742950" cy="603250"/>
          </a:xfrm>
          <a:custGeom>
            <a:avLst/>
            <a:gdLst>
              <a:gd name="connsiteX0" fmla="*/ 11938 w 742950"/>
              <a:gd name="connsiteY0" fmla="*/ 17017 h 603250"/>
              <a:gd name="connsiteX1" fmla="*/ 744982 w 742950"/>
              <a:gd name="connsiteY1" fmla="*/ 17017 h 603250"/>
              <a:gd name="connsiteX2" fmla="*/ 744982 w 742950"/>
              <a:gd name="connsiteY2" fmla="*/ 603758 h 603250"/>
              <a:gd name="connsiteX3" fmla="*/ 11938 w 742950"/>
              <a:gd name="connsiteY3" fmla="*/ 603758 h 603250"/>
              <a:gd name="connsiteX4" fmla="*/ 11938 w 7429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603250">
                <a:moveTo>
                  <a:pt x="11938" y="17017"/>
                </a:moveTo>
                <a:lnTo>
                  <a:pt x="744982" y="17017"/>
                </a:lnTo>
                <a:lnTo>
                  <a:pt x="744982" y="603758"/>
                </a:lnTo>
                <a:lnTo>
                  <a:pt x="11938" y="603758"/>
                </a:lnTo>
                <a:lnTo>
                  <a:pt x="11938" y="17017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Freeform 332"/>
          <p:cNvSpPr/>
          <p:nvPr/>
        </p:nvSpPr>
        <p:spPr>
          <a:xfrm>
            <a:off x="3257550" y="4489450"/>
            <a:ext cx="844550" cy="603250"/>
          </a:xfrm>
          <a:custGeom>
            <a:avLst/>
            <a:gdLst>
              <a:gd name="connsiteX0" fmla="*/ 8382 w 844550"/>
              <a:gd name="connsiteY0" fmla="*/ 17017 h 603250"/>
              <a:gd name="connsiteX1" fmla="*/ 851154 w 844550"/>
              <a:gd name="connsiteY1" fmla="*/ 17017 h 603250"/>
              <a:gd name="connsiteX2" fmla="*/ 851154 w 844550"/>
              <a:gd name="connsiteY2" fmla="*/ 603758 h 603250"/>
              <a:gd name="connsiteX3" fmla="*/ 8382 w 844550"/>
              <a:gd name="connsiteY3" fmla="*/ 603758 h 603250"/>
              <a:gd name="connsiteX4" fmla="*/ 8382 w 8445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4550" h="603250">
                <a:moveTo>
                  <a:pt x="8382" y="17017"/>
                </a:moveTo>
                <a:lnTo>
                  <a:pt x="851154" y="17017"/>
                </a:lnTo>
                <a:lnTo>
                  <a:pt x="851154" y="603758"/>
                </a:lnTo>
                <a:lnTo>
                  <a:pt x="8382" y="603758"/>
                </a:lnTo>
                <a:lnTo>
                  <a:pt x="8382" y="17017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Freeform 333"/>
          <p:cNvSpPr/>
          <p:nvPr/>
        </p:nvSpPr>
        <p:spPr>
          <a:xfrm>
            <a:off x="4095750" y="4489450"/>
            <a:ext cx="946150" cy="603250"/>
          </a:xfrm>
          <a:custGeom>
            <a:avLst/>
            <a:gdLst>
              <a:gd name="connsiteX0" fmla="*/ 12953 w 946150"/>
              <a:gd name="connsiteY0" fmla="*/ 17017 h 603250"/>
              <a:gd name="connsiteX1" fmla="*/ 954785 w 946150"/>
              <a:gd name="connsiteY1" fmla="*/ 17017 h 603250"/>
              <a:gd name="connsiteX2" fmla="*/ 954785 w 946150"/>
              <a:gd name="connsiteY2" fmla="*/ 603758 h 603250"/>
              <a:gd name="connsiteX3" fmla="*/ 12953 w 946150"/>
              <a:gd name="connsiteY3" fmla="*/ 603758 h 603250"/>
              <a:gd name="connsiteX4" fmla="*/ 12953 w 9461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150" h="603250">
                <a:moveTo>
                  <a:pt x="12953" y="17017"/>
                </a:moveTo>
                <a:lnTo>
                  <a:pt x="954785" y="17017"/>
                </a:lnTo>
                <a:lnTo>
                  <a:pt x="954785" y="603758"/>
                </a:lnTo>
                <a:lnTo>
                  <a:pt x="12953" y="603758"/>
                </a:lnTo>
                <a:lnTo>
                  <a:pt x="12953" y="17017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Freeform 334"/>
          <p:cNvSpPr/>
          <p:nvPr/>
        </p:nvSpPr>
        <p:spPr>
          <a:xfrm>
            <a:off x="5035550" y="4489450"/>
            <a:ext cx="1568450" cy="603250"/>
          </a:xfrm>
          <a:custGeom>
            <a:avLst/>
            <a:gdLst>
              <a:gd name="connsiteX0" fmla="*/ 14985 w 1568450"/>
              <a:gd name="connsiteY0" fmla="*/ 17017 h 603250"/>
              <a:gd name="connsiteX1" fmla="*/ 1574038 w 1568450"/>
              <a:gd name="connsiteY1" fmla="*/ 17017 h 603250"/>
              <a:gd name="connsiteX2" fmla="*/ 1574038 w 1568450"/>
              <a:gd name="connsiteY2" fmla="*/ 603758 h 603250"/>
              <a:gd name="connsiteX3" fmla="*/ 14985 w 1568450"/>
              <a:gd name="connsiteY3" fmla="*/ 603758 h 603250"/>
              <a:gd name="connsiteX4" fmla="*/ 14985 w 1568450"/>
              <a:gd name="connsiteY4" fmla="*/ 17017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603250">
                <a:moveTo>
                  <a:pt x="14985" y="17017"/>
                </a:moveTo>
                <a:lnTo>
                  <a:pt x="1574038" y="17017"/>
                </a:lnTo>
                <a:lnTo>
                  <a:pt x="1574038" y="603758"/>
                </a:lnTo>
                <a:lnTo>
                  <a:pt x="14985" y="603758"/>
                </a:lnTo>
                <a:lnTo>
                  <a:pt x="14985" y="17017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Freeform 335"/>
          <p:cNvSpPr/>
          <p:nvPr/>
        </p:nvSpPr>
        <p:spPr>
          <a:xfrm>
            <a:off x="1136650" y="5670550"/>
            <a:ext cx="857250" cy="755650"/>
          </a:xfrm>
          <a:custGeom>
            <a:avLst/>
            <a:gdLst>
              <a:gd name="connsiteX0" fmla="*/ 6350 w 857250"/>
              <a:gd name="connsiteY0" fmla="*/ 10921 h 755650"/>
              <a:gd name="connsiteX1" fmla="*/ 859789 w 857250"/>
              <a:gd name="connsiteY1" fmla="*/ 10921 h 755650"/>
              <a:gd name="connsiteX2" fmla="*/ 859789 w 857250"/>
              <a:gd name="connsiteY2" fmla="*/ 765301 h 755650"/>
              <a:gd name="connsiteX3" fmla="*/ 6350 w 857250"/>
              <a:gd name="connsiteY3" fmla="*/ 765301 h 755650"/>
              <a:gd name="connsiteX4" fmla="*/ 6350 w 8572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" h="755650">
                <a:moveTo>
                  <a:pt x="6350" y="10921"/>
                </a:moveTo>
                <a:lnTo>
                  <a:pt x="859789" y="10921"/>
                </a:lnTo>
                <a:lnTo>
                  <a:pt x="859789" y="765301"/>
                </a:lnTo>
                <a:lnTo>
                  <a:pt x="6350" y="765301"/>
                </a:lnTo>
                <a:lnTo>
                  <a:pt x="6350" y="10921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Freeform 336"/>
          <p:cNvSpPr/>
          <p:nvPr/>
        </p:nvSpPr>
        <p:spPr>
          <a:xfrm>
            <a:off x="1987550" y="5670550"/>
            <a:ext cx="539750" cy="755650"/>
          </a:xfrm>
          <a:custGeom>
            <a:avLst/>
            <a:gdLst>
              <a:gd name="connsiteX0" fmla="*/ 8889 w 539750"/>
              <a:gd name="connsiteY0" fmla="*/ 10921 h 755650"/>
              <a:gd name="connsiteX1" fmla="*/ 545338 w 539750"/>
              <a:gd name="connsiteY1" fmla="*/ 10921 h 755650"/>
              <a:gd name="connsiteX2" fmla="*/ 545338 w 539750"/>
              <a:gd name="connsiteY2" fmla="*/ 765301 h 755650"/>
              <a:gd name="connsiteX3" fmla="*/ 8889 w 539750"/>
              <a:gd name="connsiteY3" fmla="*/ 765301 h 755650"/>
              <a:gd name="connsiteX4" fmla="*/ 8889 w 5397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750" h="755650">
                <a:moveTo>
                  <a:pt x="8889" y="10921"/>
                </a:moveTo>
                <a:lnTo>
                  <a:pt x="545338" y="10921"/>
                </a:lnTo>
                <a:lnTo>
                  <a:pt x="545338" y="765301"/>
                </a:lnTo>
                <a:lnTo>
                  <a:pt x="8889" y="765301"/>
                </a:lnTo>
                <a:lnTo>
                  <a:pt x="8889" y="10921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Freeform 337"/>
          <p:cNvSpPr/>
          <p:nvPr/>
        </p:nvSpPr>
        <p:spPr>
          <a:xfrm>
            <a:off x="2520950" y="5670550"/>
            <a:ext cx="742950" cy="755650"/>
          </a:xfrm>
          <a:custGeom>
            <a:avLst/>
            <a:gdLst>
              <a:gd name="connsiteX0" fmla="*/ 11938 w 742950"/>
              <a:gd name="connsiteY0" fmla="*/ 10921 h 755650"/>
              <a:gd name="connsiteX1" fmla="*/ 744982 w 742950"/>
              <a:gd name="connsiteY1" fmla="*/ 10921 h 755650"/>
              <a:gd name="connsiteX2" fmla="*/ 744982 w 742950"/>
              <a:gd name="connsiteY2" fmla="*/ 765301 h 755650"/>
              <a:gd name="connsiteX3" fmla="*/ 11938 w 742950"/>
              <a:gd name="connsiteY3" fmla="*/ 765301 h 755650"/>
              <a:gd name="connsiteX4" fmla="*/ 11938 w 7429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755650">
                <a:moveTo>
                  <a:pt x="11938" y="10921"/>
                </a:moveTo>
                <a:lnTo>
                  <a:pt x="744982" y="10921"/>
                </a:lnTo>
                <a:lnTo>
                  <a:pt x="744982" y="765301"/>
                </a:lnTo>
                <a:lnTo>
                  <a:pt x="11938" y="765301"/>
                </a:lnTo>
                <a:lnTo>
                  <a:pt x="11938" y="10921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Freeform 338"/>
          <p:cNvSpPr/>
          <p:nvPr/>
        </p:nvSpPr>
        <p:spPr>
          <a:xfrm>
            <a:off x="3257550" y="5670550"/>
            <a:ext cx="844550" cy="755650"/>
          </a:xfrm>
          <a:custGeom>
            <a:avLst/>
            <a:gdLst>
              <a:gd name="connsiteX0" fmla="*/ 8382 w 844550"/>
              <a:gd name="connsiteY0" fmla="*/ 10921 h 755650"/>
              <a:gd name="connsiteX1" fmla="*/ 851154 w 844550"/>
              <a:gd name="connsiteY1" fmla="*/ 10921 h 755650"/>
              <a:gd name="connsiteX2" fmla="*/ 851154 w 844550"/>
              <a:gd name="connsiteY2" fmla="*/ 765301 h 755650"/>
              <a:gd name="connsiteX3" fmla="*/ 8382 w 844550"/>
              <a:gd name="connsiteY3" fmla="*/ 765301 h 755650"/>
              <a:gd name="connsiteX4" fmla="*/ 8382 w 8445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4550" h="755650">
                <a:moveTo>
                  <a:pt x="8382" y="10921"/>
                </a:moveTo>
                <a:lnTo>
                  <a:pt x="851154" y="10921"/>
                </a:lnTo>
                <a:lnTo>
                  <a:pt x="851154" y="765301"/>
                </a:lnTo>
                <a:lnTo>
                  <a:pt x="8382" y="765301"/>
                </a:lnTo>
                <a:lnTo>
                  <a:pt x="8382" y="10921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Freeform 339"/>
          <p:cNvSpPr/>
          <p:nvPr/>
        </p:nvSpPr>
        <p:spPr>
          <a:xfrm>
            <a:off x="4095750" y="5670550"/>
            <a:ext cx="946150" cy="755650"/>
          </a:xfrm>
          <a:custGeom>
            <a:avLst/>
            <a:gdLst>
              <a:gd name="connsiteX0" fmla="*/ 12953 w 946150"/>
              <a:gd name="connsiteY0" fmla="*/ 10921 h 755650"/>
              <a:gd name="connsiteX1" fmla="*/ 954785 w 946150"/>
              <a:gd name="connsiteY1" fmla="*/ 10921 h 755650"/>
              <a:gd name="connsiteX2" fmla="*/ 954785 w 946150"/>
              <a:gd name="connsiteY2" fmla="*/ 765301 h 755650"/>
              <a:gd name="connsiteX3" fmla="*/ 12953 w 946150"/>
              <a:gd name="connsiteY3" fmla="*/ 765301 h 755650"/>
              <a:gd name="connsiteX4" fmla="*/ 12953 w 9461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150" h="755650">
                <a:moveTo>
                  <a:pt x="12953" y="10921"/>
                </a:moveTo>
                <a:lnTo>
                  <a:pt x="954785" y="10921"/>
                </a:lnTo>
                <a:lnTo>
                  <a:pt x="954785" y="765301"/>
                </a:lnTo>
                <a:lnTo>
                  <a:pt x="12953" y="765301"/>
                </a:lnTo>
                <a:lnTo>
                  <a:pt x="12953" y="10921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Freeform 340"/>
          <p:cNvSpPr/>
          <p:nvPr/>
        </p:nvSpPr>
        <p:spPr>
          <a:xfrm>
            <a:off x="5035550" y="5670550"/>
            <a:ext cx="1568450" cy="755650"/>
          </a:xfrm>
          <a:custGeom>
            <a:avLst/>
            <a:gdLst>
              <a:gd name="connsiteX0" fmla="*/ 14985 w 1568450"/>
              <a:gd name="connsiteY0" fmla="*/ 10921 h 755650"/>
              <a:gd name="connsiteX1" fmla="*/ 1574038 w 1568450"/>
              <a:gd name="connsiteY1" fmla="*/ 10921 h 755650"/>
              <a:gd name="connsiteX2" fmla="*/ 1574038 w 1568450"/>
              <a:gd name="connsiteY2" fmla="*/ 765301 h 755650"/>
              <a:gd name="connsiteX3" fmla="*/ 14985 w 1568450"/>
              <a:gd name="connsiteY3" fmla="*/ 765301 h 755650"/>
              <a:gd name="connsiteX4" fmla="*/ 14985 w 1568450"/>
              <a:gd name="connsiteY4" fmla="*/ 1092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755650">
                <a:moveTo>
                  <a:pt x="14985" y="10921"/>
                </a:moveTo>
                <a:lnTo>
                  <a:pt x="1574038" y="10921"/>
                </a:lnTo>
                <a:lnTo>
                  <a:pt x="1574038" y="765301"/>
                </a:lnTo>
                <a:lnTo>
                  <a:pt x="14985" y="765301"/>
                </a:lnTo>
                <a:lnTo>
                  <a:pt x="14985" y="10921"/>
                </a:lnTo>
                <a:close/>
              </a:path>
            </a:pathLst>
          </a:custGeom>
          <a:solidFill>
            <a:srgbClr val="D1DC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Freeform 341"/>
          <p:cNvSpPr/>
          <p:nvPr/>
        </p:nvSpPr>
        <p:spPr>
          <a:xfrm>
            <a:off x="1136650" y="3740150"/>
            <a:ext cx="857250" cy="755650"/>
          </a:xfrm>
          <a:custGeom>
            <a:avLst/>
            <a:gdLst>
              <a:gd name="connsiteX0" fmla="*/ 6350 w 857250"/>
              <a:gd name="connsiteY0" fmla="*/ 13461 h 755650"/>
              <a:gd name="connsiteX1" fmla="*/ 859789 w 857250"/>
              <a:gd name="connsiteY1" fmla="*/ 13461 h 755650"/>
              <a:gd name="connsiteX2" fmla="*/ 859789 w 857250"/>
              <a:gd name="connsiteY2" fmla="*/ 766317 h 755650"/>
              <a:gd name="connsiteX3" fmla="*/ 6350 w 857250"/>
              <a:gd name="connsiteY3" fmla="*/ 766317 h 755650"/>
              <a:gd name="connsiteX4" fmla="*/ 6350 w 8572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" h="755650">
                <a:moveTo>
                  <a:pt x="6350" y="13461"/>
                </a:moveTo>
                <a:lnTo>
                  <a:pt x="859789" y="13461"/>
                </a:lnTo>
                <a:lnTo>
                  <a:pt x="859789" y="766317"/>
                </a:lnTo>
                <a:lnTo>
                  <a:pt x="6350" y="766317"/>
                </a:lnTo>
                <a:lnTo>
                  <a:pt x="6350" y="13461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Freeform 342"/>
          <p:cNvSpPr/>
          <p:nvPr/>
        </p:nvSpPr>
        <p:spPr>
          <a:xfrm>
            <a:off x="1987550" y="3740150"/>
            <a:ext cx="539750" cy="755650"/>
          </a:xfrm>
          <a:custGeom>
            <a:avLst/>
            <a:gdLst>
              <a:gd name="connsiteX0" fmla="*/ 8889 w 539750"/>
              <a:gd name="connsiteY0" fmla="*/ 13461 h 755650"/>
              <a:gd name="connsiteX1" fmla="*/ 545338 w 539750"/>
              <a:gd name="connsiteY1" fmla="*/ 13461 h 755650"/>
              <a:gd name="connsiteX2" fmla="*/ 545338 w 539750"/>
              <a:gd name="connsiteY2" fmla="*/ 766317 h 755650"/>
              <a:gd name="connsiteX3" fmla="*/ 8889 w 539750"/>
              <a:gd name="connsiteY3" fmla="*/ 766317 h 755650"/>
              <a:gd name="connsiteX4" fmla="*/ 8889 w 5397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750" h="755650">
                <a:moveTo>
                  <a:pt x="8889" y="13461"/>
                </a:moveTo>
                <a:lnTo>
                  <a:pt x="545338" y="13461"/>
                </a:lnTo>
                <a:lnTo>
                  <a:pt x="545338" y="766317"/>
                </a:lnTo>
                <a:lnTo>
                  <a:pt x="8889" y="766317"/>
                </a:lnTo>
                <a:lnTo>
                  <a:pt x="8889" y="13461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Freeform 343"/>
          <p:cNvSpPr/>
          <p:nvPr/>
        </p:nvSpPr>
        <p:spPr>
          <a:xfrm>
            <a:off x="2520950" y="3740150"/>
            <a:ext cx="742950" cy="755650"/>
          </a:xfrm>
          <a:custGeom>
            <a:avLst/>
            <a:gdLst>
              <a:gd name="connsiteX0" fmla="*/ 11938 w 742950"/>
              <a:gd name="connsiteY0" fmla="*/ 13461 h 755650"/>
              <a:gd name="connsiteX1" fmla="*/ 744982 w 742950"/>
              <a:gd name="connsiteY1" fmla="*/ 13461 h 755650"/>
              <a:gd name="connsiteX2" fmla="*/ 744982 w 742950"/>
              <a:gd name="connsiteY2" fmla="*/ 766317 h 755650"/>
              <a:gd name="connsiteX3" fmla="*/ 11938 w 742950"/>
              <a:gd name="connsiteY3" fmla="*/ 766317 h 755650"/>
              <a:gd name="connsiteX4" fmla="*/ 11938 w 7429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755650">
                <a:moveTo>
                  <a:pt x="11938" y="13461"/>
                </a:moveTo>
                <a:lnTo>
                  <a:pt x="744982" y="13461"/>
                </a:lnTo>
                <a:lnTo>
                  <a:pt x="744982" y="766317"/>
                </a:lnTo>
                <a:lnTo>
                  <a:pt x="11938" y="766317"/>
                </a:lnTo>
                <a:lnTo>
                  <a:pt x="11938" y="13461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Freeform 344"/>
          <p:cNvSpPr/>
          <p:nvPr/>
        </p:nvSpPr>
        <p:spPr>
          <a:xfrm>
            <a:off x="3257550" y="3740150"/>
            <a:ext cx="844550" cy="755650"/>
          </a:xfrm>
          <a:custGeom>
            <a:avLst/>
            <a:gdLst>
              <a:gd name="connsiteX0" fmla="*/ 8382 w 844550"/>
              <a:gd name="connsiteY0" fmla="*/ 13461 h 755650"/>
              <a:gd name="connsiteX1" fmla="*/ 851154 w 844550"/>
              <a:gd name="connsiteY1" fmla="*/ 13461 h 755650"/>
              <a:gd name="connsiteX2" fmla="*/ 851154 w 844550"/>
              <a:gd name="connsiteY2" fmla="*/ 766317 h 755650"/>
              <a:gd name="connsiteX3" fmla="*/ 8382 w 844550"/>
              <a:gd name="connsiteY3" fmla="*/ 766317 h 755650"/>
              <a:gd name="connsiteX4" fmla="*/ 8382 w 8445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4550" h="755650">
                <a:moveTo>
                  <a:pt x="8382" y="13461"/>
                </a:moveTo>
                <a:lnTo>
                  <a:pt x="851154" y="13461"/>
                </a:lnTo>
                <a:lnTo>
                  <a:pt x="851154" y="766317"/>
                </a:lnTo>
                <a:lnTo>
                  <a:pt x="8382" y="766317"/>
                </a:lnTo>
                <a:lnTo>
                  <a:pt x="8382" y="13461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Freeform 345"/>
          <p:cNvSpPr/>
          <p:nvPr/>
        </p:nvSpPr>
        <p:spPr>
          <a:xfrm>
            <a:off x="4095750" y="3740150"/>
            <a:ext cx="946150" cy="755650"/>
          </a:xfrm>
          <a:custGeom>
            <a:avLst/>
            <a:gdLst>
              <a:gd name="connsiteX0" fmla="*/ 12953 w 946150"/>
              <a:gd name="connsiteY0" fmla="*/ 13461 h 755650"/>
              <a:gd name="connsiteX1" fmla="*/ 954785 w 946150"/>
              <a:gd name="connsiteY1" fmla="*/ 13461 h 755650"/>
              <a:gd name="connsiteX2" fmla="*/ 954785 w 946150"/>
              <a:gd name="connsiteY2" fmla="*/ 766317 h 755650"/>
              <a:gd name="connsiteX3" fmla="*/ 12953 w 946150"/>
              <a:gd name="connsiteY3" fmla="*/ 766317 h 755650"/>
              <a:gd name="connsiteX4" fmla="*/ 12953 w 9461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150" h="755650">
                <a:moveTo>
                  <a:pt x="12953" y="13461"/>
                </a:moveTo>
                <a:lnTo>
                  <a:pt x="954785" y="13461"/>
                </a:lnTo>
                <a:lnTo>
                  <a:pt x="954785" y="766317"/>
                </a:lnTo>
                <a:lnTo>
                  <a:pt x="12953" y="766317"/>
                </a:lnTo>
                <a:lnTo>
                  <a:pt x="12953" y="13461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Freeform 346"/>
          <p:cNvSpPr/>
          <p:nvPr/>
        </p:nvSpPr>
        <p:spPr>
          <a:xfrm>
            <a:off x="5035550" y="3740150"/>
            <a:ext cx="1568450" cy="755650"/>
          </a:xfrm>
          <a:custGeom>
            <a:avLst/>
            <a:gdLst>
              <a:gd name="connsiteX0" fmla="*/ 14985 w 1568450"/>
              <a:gd name="connsiteY0" fmla="*/ 13461 h 755650"/>
              <a:gd name="connsiteX1" fmla="*/ 1574038 w 1568450"/>
              <a:gd name="connsiteY1" fmla="*/ 13461 h 755650"/>
              <a:gd name="connsiteX2" fmla="*/ 1574038 w 1568450"/>
              <a:gd name="connsiteY2" fmla="*/ 766317 h 755650"/>
              <a:gd name="connsiteX3" fmla="*/ 14985 w 1568450"/>
              <a:gd name="connsiteY3" fmla="*/ 766317 h 755650"/>
              <a:gd name="connsiteX4" fmla="*/ 14985 w 1568450"/>
              <a:gd name="connsiteY4" fmla="*/ 13461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755650">
                <a:moveTo>
                  <a:pt x="14985" y="13461"/>
                </a:moveTo>
                <a:lnTo>
                  <a:pt x="1574038" y="13461"/>
                </a:lnTo>
                <a:lnTo>
                  <a:pt x="1574038" y="766317"/>
                </a:lnTo>
                <a:lnTo>
                  <a:pt x="14985" y="766317"/>
                </a:lnTo>
                <a:lnTo>
                  <a:pt x="14985" y="13461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Freeform 347"/>
          <p:cNvSpPr/>
          <p:nvPr/>
        </p:nvSpPr>
        <p:spPr>
          <a:xfrm>
            <a:off x="1136650" y="5086350"/>
            <a:ext cx="857250" cy="590550"/>
          </a:xfrm>
          <a:custGeom>
            <a:avLst/>
            <a:gdLst>
              <a:gd name="connsiteX0" fmla="*/ 6350 w 857250"/>
              <a:gd name="connsiteY0" fmla="*/ 6858 h 590550"/>
              <a:gd name="connsiteX1" fmla="*/ 859789 w 857250"/>
              <a:gd name="connsiteY1" fmla="*/ 6858 h 590550"/>
              <a:gd name="connsiteX2" fmla="*/ 859789 w 857250"/>
              <a:gd name="connsiteY2" fmla="*/ 595122 h 590550"/>
              <a:gd name="connsiteX3" fmla="*/ 6350 w 857250"/>
              <a:gd name="connsiteY3" fmla="*/ 595122 h 590550"/>
              <a:gd name="connsiteX4" fmla="*/ 6350 w 8572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" h="590550">
                <a:moveTo>
                  <a:pt x="6350" y="6858"/>
                </a:moveTo>
                <a:lnTo>
                  <a:pt x="859789" y="6858"/>
                </a:lnTo>
                <a:lnTo>
                  <a:pt x="859789" y="595122"/>
                </a:lnTo>
                <a:lnTo>
                  <a:pt x="6350" y="595122"/>
                </a:lnTo>
                <a:lnTo>
                  <a:pt x="6350" y="6858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Freeform 348"/>
          <p:cNvSpPr/>
          <p:nvPr/>
        </p:nvSpPr>
        <p:spPr>
          <a:xfrm>
            <a:off x="1987550" y="5086350"/>
            <a:ext cx="539750" cy="590550"/>
          </a:xfrm>
          <a:custGeom>
            <a:avLst/>
            <a:gdLst>
              <a:gd name="connsiteX0" fmla="*/ 8889 w 539750"/>
              <a:gd name="connsiteY0" fmla="*/ 6858 h 590550"/>
              <a:gd name="connsiteX1" fmla="*/ 545338 w 539750"/>
              <a:gd name="connsiteY1" fmla="*/ 6858 h 590550"/>
              <a:gd name="connsiteX2" fmla="*/ 545338 w 539750"/>
              <a:gd name="connsiteY2" fmla="*/ 595122 h 590550"/>
              <a:gd name="connsiteX3" fmla="*/ 8889 w 539750"/>
              <a:gd name="connsiteY3" fmla="*/ 595122 h 590550"/>
              <a:gd name="connsiteX4" fmla="*/ 8889 w 5397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750" h="590550">
                <a:moveTo>
                  <a:pt x="8889" y="6858"/>
                </a:moveTo>
                <a:lnTo>
                  <a:pt x="545338" y="6858"/>
                </a:lnTo>
                <a:lnTo>
                  <a:pt x="545338" y="595122"/>
                </a:lnTo>
                <a:lnTo>
                  <a:pt x="8889" y="595122"/>
                </a:lnTo>
                <a:lnTo>
                  <a:pt x="8889" y="6858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Freeform 349"/>
          <p:cNvSpPr/>
          <p:nvPr/>
        </p:nvSpPr>
        <p:spPr>
          <a:xfrm>
            <a:off x="2520950" y="5086350"/>
            <a:ext cx="742950" cy="590550"/>
          </a:xfrm>
          <a:custGeom>
            <a:avLst/>
            <a:gdLst>
              <a:gd name="connsiteX0" fmla="*/ 11938 w 742950"/>
              <a:gd name="connsiteY0" fmla="*/ 6858 h 590550"/>
              <a:gd name="connsiteX1" fmla="*/ 744982 w 742950"/>
              <a:gd name="connsiteY1" fmla="*/ 6858 h 590550"/>
              <a:gd name="connsiteX2" fmla="*/ 744982 w 742950"/>
              <a:gd name="connsiteY2" fmla="*/ 595122 h 590550"/>
              <a:gd name="connsiteX3" fmla="*/ 11938 w 742950"/>
              <a:gd name="connsiteY3" fmla="*/ 595122 h 590550"/>
              <a:gd name="connsiteX4" fmla="*/ 11938 w 7429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590550">
                <a:moveTo>
                  <a:pt x="11938" y="6858"/>
                </a:moveTo>
                <a:lnTo>
                  <a:pt x="744982" y="6858"/>
                </a:lnTo>
                <a:lnTo>
                  <a:pt x="744982" y="595122"/>
                </a:lnTo>
                <a:lnTo>
                  <a:pt x="11938" y="595122"/>
                </a:lnTo>
                <a:lnTo>
                  <a:pt x="11938" y="6858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Freeform 350"/>
          <p:cNvSpPr/>
          <p:nvPr/>
        </p:nvSpPr>
        <p:spPr>
          <a:xfrm>
            <a:off x="3257550" y="5086350"/>
            <a:ext cx="844550" cy="590550"/>
          </a:xfrm>
          <a:custGeom>
            <a:avLst/>
            <a:gdLst>
              <a:gd name="connsiteX0" fmla="*/ 8382 w 844550"/>
              <a:gd name="connsiteY0" fmla="*/ 6858 h 590550"/>
              <a:gd name="connsiteX1" fmla="*/ 851154 w 844550"/>
              <a:gd name="connsiteY1" fmla="*/ 6858 h 590550"/>
              <a:gd name="connsiteX2" fmla="*/ 851154 w 844550"/>
              <a:gd name="connsiteY2" fmla="*/ 595122 h 590550"/>
              <a:gd name="connsiteX3" fmla="*/ 8382 w 844550"/>
              <a:gd name="connsiteY3" fmla="*/ 595122 h 590550"/>
              <a:gd name="connsiteX4" fmla="*/ 8382 w 8445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4550" h="590550">
                <a:moveTo>
                  <a:pt x="8382" y="6858"/>
                </a:moveTo>
                <a:lnTo>
                  <a:pt x="851154" y="6858"/>
                </a:lnTo>
                <a:lnTo>
                  <a:pt x="851154" y="595122"/>
                </a:lnTo>
                <a:lnTo>
                  <a:pt x="8382" y="595122"/>
                </a:lnTo>
                <a:lnTo>
                  <a:pt x="8382" y="6858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Freeform 351"/>
          <p:cNvSpPr/>
          <p:nvPr/>
        </p:nvSpPr>
        <p:spPr>
          <a:xfrm>
            <a:off x="4095750" y="5086350"/>
            <a:ext cx="946150" cy="590550"/>
          </a:xfrm>
          <a:custGeom>
            <a:avLst/>
            <a:gdLst>
              <a:gd name="connsiteX0" fmla="*/ 12953 w 946150"/>
              <a:gd name="connsiteY0" fmla="*/ 6858 h 590550"/>
              <a:gd name="connsiteX1" fmla="*/ 954785 w 946150"/>
              <a:gd name="connsiteY1" fmla="*/ 6858 h 590550"/>
              <a:gd name="connsiteX2" fmla="*/ 954785 w 946150"/>
              <a:gd name="connsiteY2" fmla="*/ 595122 h 590550"/>
              <a:gd name="connsiteX3" fmla="*/ 12953 w 946150"/>
              <a:gd name="connsiteY3" fmla="*/ 595122 h 590550"/>
              <a:gd name="connsiteX4" fmla="*/ 12953 w 9461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6150" h="590550">
                <a:moveTo>
                  <a:pt x="12953" y="6858"/>
                </a:moveTo>
                <a:lnTo>
                  <a:pt x="954785" y="6858"/>
                </a:lnTo>
                <a:lnTo>
                  <a:pt x="954785" y="595122"/>
                </a:lnTo>
                <a:lnTo>
                  <a:pt x="12953" y="595122"/>
                </a:lnTo>
                <a:lnTo>
                  <a:pt x="12953" y="6858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Freeform 352"/>
          <p:cNvSpPr/>
          <p:nvPr/>
        </p:nvSpPr>
        <p:spPr>
          <a:xfrm>
            <a:off x="5035550" y="5086350"/>
            <a:ext cx="1568450" cy="590550"/>
          </a:xfrm>
          <a:custGeom>
            <a:avLst/>
            <a:gdLst>
              <a:gd name="connsiteX0" fmla="*/ 14985 w 1568450"/>
              <a:gd name="connsiteY0" fmla="*/ 6858 h 590550"/>
              <a:gd name="connsiteX1" fmla="*/ 1574038 w 1568450"/>
              <a:gd name="connsiteY1" fmla="*/ 6858 h 590550"/>
              <a:gd name="connsiteX2" fmla="*/ 1574038 w 1568450"/>
              <a:gd name="connsiteY2" fmla="*/ 595122 h 590550"/>
              <a:gd name="connsiteX3" fmla="*/ 14985 w 1568450"/>
              <a:gd name="connsiteY3" fmla="*/ 595122 h 590550"/>
              <a:gd name="connsiteX4" fmla="*/ 14985 w 1568450"/>
              <a:gd name="connsiteY4" fmla="*/ 6858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450" h="590550">
                <a:moveTo>
                  <a:pt x="14985" y="6858"/>
                </a:moveTo>
                <a:lnTo>
                  <a:pt x="1574038" y="6858"/>
                </a:lnTo>
                <a:lnTo>
                  <a:pt x="1574038" y="595122"/>
                </a:lnTo>
                <a:lnTo>
                  <a:pt x="14985" y="595122"/>
                </a:lnTo>
                <a:lnTo>
                  <a:pt x="14985" y="6858"/>
                </a:lnTo>
                <a:close/>
              </a:path>
            </a:pathLst>
          </a:custGeom>
          <a:solidFill>
            <a:srgbClr val="E9ED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Freeform 353"/>
          <p:cNvSpPr/>
          <p:nvPr/>
        </p:nvSpPr>
        <p:spPr>
          <a:xfrm>
            <a:off x="222250" y="1860550"/>
            <a:ext cx="6381750" cy="19050"/>
          </a:xfrm>
          <a:custGeom>
            <a:avLst/>
            <a:gdLst>
              <a:gd name="connsiteX0" fmla="*/ 6984 w 6381750"/>
              <a:gd name="connsiteY0" fmla="*/ 13335 h 19050"/>
              <a:gd name="connsiteX1" fmla="*/ 6386830 w 6381750"/>
              <a:gd name="connsiteY1" fmla="*/ 1333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81750" h="19050">
                <a:moveTo>
                  <a:pt x="6984" y="13335"/>
                </a:moveTo>
                <a:lnTo>
                  <a:pt x="6386830" y="1333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Freeform 354"/>
          <p:cNvSpPr/>
          <p:nvPr/>
        </p:nvSpPr>
        <p:spPr>
          <a:xfrm>
            <a:off x="222250" y="2978150"/>
            <a:ext cx="6394450" cy="57150"/>
          </a:xfrm>
          <a:custGeom>
            <a:avLst/>
            <a:gdLst>
              <a:gd name="connsiteX0" fmla="*/ 6984 w 6394450"/>
              <a:gd name="connsiteY0" fmla="*/ 20320 h 57150"/>
              <a:gd name="connsiteX1" fmla="*/ 6386830 w 6394450"/>
              <a:gd name="connsiteY1" fmla="*/ 2032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94450" h="57150">
                <a:moveTo>
                  <a:pt x="6984" y="20320"/>
                </a:moveTo>
                <a:lnTo>
                  <a:pt x="6386830" y="20320"/>
                </a:lnTo>
              </a:path>
            </a:pathLst>
          </a:custGeom>
          <a:ln w="381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Freeform 355"/>
          <p:cNvSpPr/>
          <p:nvPr/>
        </p:nvSpPr>
        <p:spPr>
          <a:xfrm>
            <a:off x="209550" y="1860550"/>
            <a:ext cx="31750" cy="4578350"/>
          </a:xfrm>
          <a:custGeom>
            <a:avLst/>
            <a:gdLst>
              <a:gd name="connsiteX0" fmla="*/ 19684 w 31750"/>
              <a:gd name="connsiteY0" fmla="*/ 13335 h 4578350"/>
              <a:gd name="connsiteX1" fmla="*/ 19684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19684" y="13335"/>
                </a:moveTo>
                <a:lnTo>
                  <a:pt x="19684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Freeform 356"/>
          <p:cNvSpPr/>
          <p:nvPr/>
        </p:nvSpPr>
        <p:spPr>
          <a:xfrm>
            <a:off x="1123950" y="1860550"/>
            <a:ext cx="31750" cy="4578350"/>
          </a:xfrm>
          <a:custGeom>
            <a:avLst/>
            <a:gdLst>
              <a:gd name="connsiteX0" fmla="*/ 19050 w 31750"/>
              <a:gd name="connsiteY0" fmla="*/ 13335 h 4578350"/>
              <a:gd name="connsiteX1" fmla="*/ 19050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19050" y="13335"/>
                </a:moveTo>
                <a:lnTo>
                  <a:pt x="19050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Freeform 357"/>
          <p:cNvSpPr/>
          <p:nvPr/>
        </p:nvSpPr>
        <p:spPr>
          <a:xfrm>
            <a:off x="1974850" y="1860550"/>
            <a:ext cx="31750" cy="4578350"/>
          </a:xfrm>
          <a:custGeom>
            <a:avLst/>
            <a:gdLst>
              <a:gd name="connsiteX0" fmla="*/ 21589 w 31750"/>
              <a:gd name="connsiteY0" fmla="*/ 13335 h 4578350"/>
              <a:gd name="connsiteX1" fmla="*/ 21589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21589" y="13335"/>
                </a:moveTo>
                <a:lnTo>
                  <a:pt x="21589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Freeform 358"/>
          <p:cNvSpPr/>
          <p:nvPr/>
        </p:nvSpPr>
        <p:spPr>
          <a:xfrm>
            <a:off x="2508250" y="1860550"/>
            <a:ext cx="31750" cy="4578350"/>
          </a:xfrm>
          <a:custGeom>
            <a:avLst/>
            <a:gdLst>
              <a:gd name="connsiteX0" fmla="*/ 24129 w 31750"/>
              <a:gd name="connsiteY0" fmla="*/ 13335 h 4578350"/>
              <a:gd name="connsiteX1" fmla="*/ 24129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24129" y="13335"/>
                </a:moveTo>
                <a:lnTo>
                  <a:pt x="24129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Freeform 359"/>
          <p:cNvSpPr/>
          <p:nvPr/>
        </p:nvSpPr>
        <p:spPr>
          <a:xfrm>
            <a:off x="3244850" y="1860550"/>
            <a:ext cx="31750" cy="4578350"/>
          </a:xfrm>
          <a:custGeom>
            <a:avLst/>
            <a:gdLst>
              <a:gd name="connsiteX0" fmla="*/ 20954 w 31750"/>
              <a:gd name="connsiteY0" fmla="*/ 13335 h 4578350"/>
              <a:gd name="connsiteX1" fmla="*/ 20954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20954" y="13335"/>
                </a:moveTo>
                <a:lnTo>
                  <a:pt x="20954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Freeform 360"/>
          <p:cNvSpPr/>
          <p:nvPr/>
        </p:nvSpPr>
        <p:spPr>
          <a:xfrm>
            <a:off x="4083050" y="1860550"/>
            <a:ext cx="31750" cy="4578350"/>
          </a:xfrm>
          <a:custGeom>
            <a:avLst/>
            <a:gdLst>
              <a:gd name="connsiteX0" fmla="*/ 26034 w 31750"/>
              <a:gd name="connsiteY0" fmla="*/ 13335 h 4578350"/>
              <a:gd name="connsiteX1" fmla="*/ 26034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26034" y="13335"/>
                </a:moveTo>
                <a:lnTo>
                  <a:pt x="26034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Freeform 361"/>
          <p:cNvSpPr/>
          <p:nvPr/>
        </p:nvSpPr>
        <p:spPr>
          <a:xfrm>
            <a:off x="5022850" y="1860550"/>
            <a:ext cx="31750" cy="4578350"/>
          </a:xfrm>
          <a:custGeom>
            <a:avLst/>
            <a:gdLst>
              <a:gd name="connsiteX0" fmla="*/ 27940 w 31750"/>
              <a:gd name="connsiteY0" fmla="*/ 13335 h 4578350"/>
              <a:gd name="connsiteX1" fmla="*/ 27940 w 31750"/>
              <a:gd name="connsiteY1" fmla="*/ 4575175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4578350">
                <a:moveTo>
                  <a:pt x="27940" y="13335"/>
                </a:moveTo>
                <a:lnTo>
                  <a:pt x="27940" y="45751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Freeform 362"/>
          <p:cNvSpPr/>
          <p:nvPr/>
        </p:nvSpPr>
        <p:spPr>
          <a:xfrm>
            <a:off x="209550" y="3727450"/>
            <a:ext cx="6394450" cy="31750"/>
          </a:xfrm>
          <a:custGeom>
            <a:avLst/>
            <a:gdLst>
              <a:gd name="connsiteX0" fmla="*/ 19684 w 6394450"/>
              <a:gd name="connsiteY0" fmla="*/ 25400 h 31750"/>
              <a:gd name="connsiteX1" fmla="*/ 6399530 w 6394450"/>
              <a:gd name="connsiteY1" fmla="*/ 254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94450" h="31750">
                <a:moveTo>
                  <a:pt x="19684" y="25400"/>
                </a:moveTo>
                <a:lnTo>
                  <a:pt x="6399530" y="25400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Freeform 363"/>
          <p:cNvSpPr/>
          <p:nvPr/>
        </p:nvSpPr>
        <p:spPr>
          <a:xfrm>
            <a:off x="209550" y="4476750"/>
            <a:ext cx="6394450" cy="31750"/>
          </a:xfrm>
          <a:custGeom>
            <a:avLst/>
            <a:gdLst>
              <a:gd name="connsiteX0" fmla="*/ 19684 w 6394450"/>
              <a:gd name="connsiteY0" fmla="*/ 29209 h 31750"/>
              <a:gd name="connsiteX1" fmla="*/ 6399530 w 6394450"/>
              <a:gd name="connsiteY1" fmla="*/ 2920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94450" h="31750">
                <a:moveTo>
                  <a:pt x="19684" y="29209"/>
                </a:moveTo>
                <a:lnTo>
                  <a:pt x="6399530" y="29209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Freeform 364"/>
          <p:cNvSpPr/>
          <p:nvPr/>
        </p:nvSpPr>
        <p:spPr>
          <a:xfrm>
            <a:off x="209550" y="5073650"/>
            <a:ext cx="6394450" cy="31750"/>
          </a:xfrm>
          <a:custGeom>
            <a:avLst/>
            <a:gdLst>
              <a:gd name="connsiteX0" fmla="*/ 19684 w 6394450"/>
              <a:gd name="connsiteY0" fmla="*/ 19684 h 31750"/>
              <a:gd name="connsiteX1" fmla="*/ 6399530 w 6394450"/>
              <a:gd name="connsiteY1" fmla="*/ 1968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94450" h="31750">
                <a:moveTo>
                  <a:pt x="19684" y="19684"/>
                </a:moveTo>
                <a:lnTo>
                  <a:pt x="6399530" y="19684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Freeform 365"/>
          <p:cNvSpPr/>
          <p:nvPr/>
        </p:nvSpPr>
        <p:spPr>
          <a:xfrm>
            <a:off x="209550" y="5657850"/>
            <a:ext cx="6394450" cy="31750"/>
          </a:xfrm>
          <a:custGeom>
            <a:avLst/>
            <a:gdLst>
              <a:gd name="connsiteX0" fmla="*/ 19684 w 6394450"/>
              <a:gd name="connsiteY0" fmla="*/ 23495 h 31750"/>
              <a:gd name="connsiteX1" fmla="*/ 6399530 w 6394450"/>
              <a:gd name="connsiteY1" fmla="*/ 2349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94450" h="31750">
                <a:moveTo>
                  <a:pt x="19684" y="23495"/>
                </a:moveTo>
                <a:lnTo>
                  <a:pt x="6399530" y="2349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Freeform 366"/>
          <p:cNvSpPr/>
          <p:nvPr/>
        </p:nvSpPr>
        <p:spPr>
          <a:xfrm>
            <a:off x="209550" y="6407150"/>
            <a:ext cx="6394450" cy="31750"/>
          </a:xfrm>
          <a:custGeom>
            <a:avLst/>
            <a:gdLst>
              <a:gd name="connsiteX0" fmla="*/ 19684 w 6394450"/>
              <a:gd name="connsiteY0" fmla="*/ 28575 h 31750"/>
              <a:gd name="connsiteX1" fmla="*/ 6399530 w 6394450"/>
              <a:gd name="connsiteY1" fmla="*/ 285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94450" h="31750">
                <a:moveTo>
                  <a:pt x="19684" y="28575"/>
                </a:moveTo>
                <a:lnTo>
                  <a:pt x="6399530" y="28575"/>
                </a:lnTo>
              </a:path>
            </a:pathLst>
          </a:custGeom>
          <a:ln w="12700">
            <a:solidFill>
              <a:srgbClr val="FEFEF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Freeform 367"/>
          <p:cNvSpPr/>
          <p:nvPr/>
        </p:nvSpPr>
        <p:spPr>
          <a:xfrm>
            <a:off x="209550" y="908050"/>
            <a:ext cx="11804650" cy="565150"/>
          </a:xfrm>
          <a:custGeom>
            <a:avLst/>
            <a:gdLst>
              <a:gd name="connsiteX0" fmla="*/ 19050 w 11804650"/>
              <a:gd name="connsiteY0" fmla="*/ 24638 h 565150"/>
              <a:gd name="connsiteX1" fmla="*/ 11810238 w 11804650"/>
              <a:gd name="connsiteY1" fmla="*/ 24638 h 565150"/>
              <a:gd name="connsiteX2" fmla="*/ 11810238 w 11804650"/>
              <a:gd name="connsiteY2" fmla="*/ 574802 h 565150"/>
              <a:gd name="connsiteX3" fmla="*/ 19050 w 11804650"/>
              <a:gd name="connsiteY3" fmla="*/ 574802 h 565150"/>
              <a:gd name="connsiteX4" fmla="*/ 19050 w 11804650"/>
              <a:gd name="connsiteY4" fmla="*/ 24638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04650" h="565150">
                <a:moveTo>
                  <a:pt x="19050" y="24638"/>
                </a:moveTo>
                <a:lnTo>
                  <a:pt x="11810238" y="24638"/>
                </a:lnTo>
                <a:lnTo>
                  <a:pt x="11810238" y="574802"/>
                </a:lnTo>
                <a:lnTo>
                  <a:pt x="19050" y="574802"/>
                </a:lnTo>
                <a:lnTo>
                  <a:pt x="19050" y="24638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9" name="Picture 3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880"/>
            <a:ext cx="1371600" cy="1394460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980" y="579120"/>
            <a:ext cx="5913120" cy="5875020"/>
          </a:xfrm>
          <a:prstGeom prst="rect">
            <a:avLst/>
          </a:prstGeom>
        </p:spPr>
      </p:pic>
      <p:sp>
        <p:nvSpPr>
          <p:cNvPr id="2" name="TextBox 370"/>
          <p:cNvSpPr txBox="1"/>
          <p:nvPr/>
        </p:nvSpPr>
        <p:spPr>
          <a:xfrm>
            <a:off x="90169" y="26108"/>
            <a:ext cx="686939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12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4000" b="1" spc="245" dirty="0">
                <a:solidFill>
                  <a:srgbClr val="000000"/>
                </a:solidFill>
                <a:latin typeface="宋体"/>
                <a:ea typeface="宋体"/>
              </a:rPr>
              <a:t>幻觉：五类七特</a:t>
            </a:r>
            <a:r>
              <a:rPr lang="zh-CN" altLang="en-US" sz="4000" b="1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4000" b="1" spc="250" dirty="0">
                <a:solidFill>
                  <a:srgbClr val="000000"/>
                </a:solidFill>
                <a:latin typeface="宋体"/>
                <a:ea typeface="宋体"/>
              </a:rPr>
              <a:t>虚实迷域</a:t>
            </a:r>
          </a:p>
        </p:txBody>
      </p:sp>
      <p:sp>
        <p:nvSpPr>
          <p:cNvPr id="371" name="TextBox 371"/>
          <p:cNvSpPr txBox="1"/>
          <p:nvPr/>
        </p:nvSpPr>
        <p:spPr>
          <a:xfrm>
            <a:off x="2310129" y="1011123"/>
            <a:ext cx="7753962" cy="370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  <a:tabLst>
                <a:tab pos="6405879" algn="l"/>
              </a:tabLst>
            </a:pPr>
            <a:r>
              <a:rPr lang="zh-CN" altLang="en-US" sz="2400" b="1" spc="-5" dirty="0">
                <a:solidFill>
                  <a:srgbClr val="000000"/>
                </a:solidFill>
                <a:latin typeface="宋体"/>
                <a:ea typeface="宋体"/>
              </a:rPr>
              <a:t>五“类</a:t>
            </a:r>
            <a:r>
              <a:rPr lang="zh-CN" altLang="en-US" sz="2400" b="1" spc="-10" dirty="0">
                <a:solidFill>
                  <a:srgbClr val="000000"/>
                </a:solidFill>
                <a:latin typeface="宋体"/>
                <a:ea typeface="宋体"/>
              </a:rPr>
              <a:t>”	</a:t>
            </a:r>
            <a:r>
              <a:rPr lang="zh-CN" altLang="en-US" sz="2400" b="1" spc="-15" dirty="0">
                <a:solidFill>
                  <a:srgbClr val="000000"/>
                </a:solidFill>
                <a:latin typeface="宋体"/>
                <a:ea typeface="宋体"/>
              </a:rPr>
              <a:t>七“特</a:t>
            </a:r>
            <a:r>
              <a:rPr lang="zh-CN" altLang="en-US" sz="2400" b="1" spc="-20" dirty="0">
                <a:solidFill>
                  <a:srgbClr val="000000"/>
                </a:solidFill>
                <a:latin typeface="宋体"/>
                <a:ea typeface="宋体"/>
              </a:rPr>
              <a:t>”</a:t>
            </a:r>
          </a:p>
        </p:txBody>
      </p:sp>
      <p:sp>
        <p:nvSpPr>
          <p:cNvPr id="372" name="TextBox 372"/>
          <p:cNvSpPr txBox="1"/>
          <p:nvPr/>
        </p:nvSpPr>
        <p:spPr>
          <a:xfrm>
            <a:off x="380365" y="2340076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幻觉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类型</a:t>
            </a:r>
          </a:p>
        </p:txBody>
      </p:sp>
      <p:sp>
        <p:nvSpPr>
          <p:cNvPr id="373" name="TextBox 373"/>
          <p:cNvSpPr txBox="1"/>
          <p:nvPr/>
        </p:nvSpPr>
        <p:spPr>
          <a:xfrm>
            <a:off x="1264285" y="2249932"/>
            <a:ext cx="62228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数据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可用</a:t>
            </a:r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FEFEFE"/>
                </a:solidFill>
                <a:latin typeface="宋体"/>
                <a:ea typeface="宋体"/>
              </a:rPr>
              <a:t>性</a:t>
            </a:r>
          </a:p>
        </p:txBody>
      </p:sp>
      <p:sp>
        <p:nvSpPr>
          <p:cNvPr id="374" name="TextBox 374"/>
          <p:cNvSpPr txBox="1"/>
          <p:nvPr/>
        </p:nvSpPr>
        <p:spPr>
          <a:xfrm>
            <a:off x="2111375" y="2158923"/>
            <a:ext cx="317488" cy="5495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0000"/>
              </a:lnSpc>
            </a:pPr>
            <a:r>
              <a:rPr lang="zh-CN" altLang="en-US" sz="1200" spc="-30" dirty="0">
                <a:solidFill>
                  <a:srgbClr val="FEFEFE"/>
                </a:solidFill>
                <a:latin typeface="宋体"/>
                <a:ea typeface="宋体"/>
              </a:rPr>
              <a:t>理解能力</a:t>
            </a:r>
            <a:r>
              <a:rPr lang="zh-CN" altLang="en-US" sz="1200" spc="-40" dirty="0">
                <a:solidFill>
                  <a:srgbClr val="FEFEFE"/>
                </a:solidFill>
                <a:latin typeface="宋体"/>
                <a:ea typeface="宋体"/>
              </a:rPr>
              <a:t>深度</a:t>
            </a:r>
          </a:p>
        </p:txBody>
      </p:sp>
      <p:sp>
        <p:nvSpPr>
          <p:cNvPr id="375" name="TextBox 375"/>
          <p:cNvSpPr txBox="1"/>
          <p:nvPr/>
        </p:nvSpPr>
        <p:spPr>
          <a:xfrm>
            <a:off x="2669539" y="2249932"/>
            <a:ext cx="46988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语境精</a:t>
            </a:r>
          </a:p>
          <a:p>
            <a:pPr marL="0" indent="76200">
              <a:lnSpc>
                <a:spcPct val="10000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确度</a:t>
            </a:r>
          </a:p>
        </p:txBody>
      </p:sp>
      <p:sp>
        <p:nvSpPr>
          <p:cNvPr id="376" name="TextBox 376"/>
          <p:cNvSpPr txBox="1"/>
          <p:nvPr/>
        </p:nvSpPr>
        <p:spPr>
          <a:xfrm>
            <a:off x="3382009" y="2249932"/>
            <a:ext cx="62228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外部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信息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整合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能力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4197984" y="2249932"/>
            <a:ext cx="77468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逻辑推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理和</a:t>
            </a:r>
          </a:p>
          <a:p>
            <a:pPr marL="0" indent="76200">
              <a:lnSpc>
                <a:spcPct val="10000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抽象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能力</a:t>
            </a:r>
          </a:p>
        </p:txBody>
      </p:sp>
      <p:sp>
        <p:nvSpPr>
          <p:cNvPr id="378" name="TextBox 378"/>
          <p:cNvSpPr txBox="1"/>
          <p:nvPr/>
        </p:nvSpPr>
        <p:spPr>
          <a:xfrm>
            <a:off x="5372100" y="2340076"/>
            <a:ext cx="927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典型错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误表现</a:t>
            </a:r>
          </a:p>
        </p:txBody>
      </p:sp>
      <p:sp>
        <p:nvSpPr>
          <p:cNvPr id="379" name="TextBox 379"/>
          <p:cNvSpPr txBox="1"/>
          <p:nvPr/>
        </p:nvSpPr>
        <p:spPr>
          <a:xfrm>
            <a:off x="380365" y="3279876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数据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误用</a:t>
            </a:r>
          </a:p>
        </p:txBody>
      </p:sp>
      <p:sp>
        <p:nvSpPr>
          <p:cNvPr id="380" name="TextBox 380"/>
          <p:cNvSpPr txBox="1"/>
          <p:nvPr/>
        </p:nvSpPr>
        <p:spPr>
          <a:xfrm>
            <a:off x="1340485" y="3279876"/>
            <a:ext cx="4698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有数据</a:t>
            </a:r>
          </a:p>
        </p:txBody>
      </p:sp>
      <p:sp>
        <p:nvSpPr>
          <p:cNvPr id="381" name="TextBox 381"/>
          <p:cNvSpPr txBox="1"/>
          <p:nvPr/>
        </p:nvSpPr>
        <p:spPr>
          <a:xfrm>
            <a:off x="2187575" y="327987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382" name="TextBox 382"/>
          <p:cNvSpPr txBox="1"/>
          <p:nvPr/>
        </p:nvSpPr>
        <p:spPr>
          <a:xfrm>
            <a:off x="2821939" y="327987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383" name="TextBox 383"/>
          <p:cNvSpPr txBox="1"/>
          <p:nvPr/>
        </p:nvSpPr>
        <p:spPr>
          <a:xfrm>
            <a:off x="3610609" y="327987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384" name="TextBox 384"/>
          <p:cNvSpPr txBox="1"/>
          <p:nvPr/>
        </p:nvSpPr>
        <p:spPr>
          <a:xfrm>
            <a:off x="4502784" y="327987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中</a:t>
            </a:r>
          </a:p>
        </p:txBody>
      </p:sp>
      <p:sp>
        <p:nvSpPr>
          <p:cNvPr id="385" name="TextBox 385"/>
          <p:cNvSpPr txBox="1"/>
          <p:nvPr/>
        </p:nvSpPr>
        <p:spPr>
          <a:xfrm>
            <a:off x="5132704" y="3189731"/>
            <a:ext cx="140587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宋体"/>
                <a:ea typeface="宋体"/>
              </a:rPr>
              <a:t>误用已有数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据，回答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部分不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符或细节错误</a:t>
            </a:r>
          </a:p>
        </p:txBody>
      </p:sp>
      <p:sp>
        <p:nvSpPr>
          <p:cNvPr id="386" name="TextBox 386"/>
          <p:cNvSpPr txBox="1"/>
          <p:nvPr/>
        </p:nvSpPr>
        <p:spPr>
          <a:xfrm>
            <a:off x="380365" y="4033621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语境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误解</a:t>
            </a:r>
          </a:p>
        </p:txBody>
      </p:sp>
      <p:sp>
        <p:nvSpPr>
          <p:cNvPr id="387" name="TextBox 387"/>
          <p:cNvSpPr txBox="1"/>
          <p:nvPr/>
        </p:nvSpPr>
        <p:spPr>
          <a:xfrm>
            <a:off x="1340485" y="4033621"/>
            <a:ext cx="4698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有数据</a:t>
            </a:r>
          </a:p>
        </p:txBody>
      </p:sp>
      <p:sp>
        <p:nvSpPr>
          <p:cNvPr id="388" name="TextBox 388"/>
          <p:cNvSpPr txBox="1"/>
          <p:nvPr/>
        </p:nvSpPr>
        <p:spPr>
          <a:xfrm>
            <a:off x="2187575" y="403362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389" name="TextBox 389"/>
          <p:cNvSpPr txBox="1"/>
          <p:nvPr/>
        </p:nvSpPr>
        <p:spPr>
          <a:xfrm>
            <a:off x="2821939" y="403362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390" name="TextBox 390"/>
          <p:cNvSpPr txBox="1"/>
          <p:nvPr/>
        </p:nvSpPr>
        <p:spPr>
          <a:xfrm>
            <a:off x="3610609" y="403362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391" name="TextBox 391"/>
          <p:cNvSpPr txBox="1"/>
          <p:nvPr/>
        </p:nvSpPr>
        <p:spPr>
          <a:xfrm>
            <a:off x="4502784" y="403362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中</a:t>
            </a:r>
          </a:p>
        </p:txBody>
      </p:sp>
      <p:sp>
        <p:nvSpPr>
          <p:cNvPr id="392" name="TextBox 392"/>
          <p:cNvSpPr txBox="1"/>
          <p:nvPr/>
        </p:nvSpPr>
        <p:spPr>
          <a:xfrm>
            <a:off x="5132704" y="3943477"/>
            <a:ext cx="140587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宋体"/>
                <a:ea typeface="宋体"/>
              </a:rPr>
              <a:t>对问题的意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图理解错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误，回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答偏离主题</a:t>
            </a:r>
          </a:p>
        </p:txBody>
      </p:sp>
      <p:sp>
        <p:nvSpPr>
          <p:cNvPr id="393" name="TextBox 393"/>
          <p:cNvSpPr txBox="1"/>
          <p:nvPr/>
        </p:nvSpPr>
        <p:spPr>
          <a:xfrm>
            <a:off x="380365" y="4703546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信息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缺失</a:t>
            </a:r>
          </a:p>
        </p:txBody>
      </p:sp>
      <p:sp>
        <p:nvSpPr>
          <p:cNvPr id="394" name="TextBox 394"/>
          <p:cNvSpPr txBox="1"/>
          <p:nvPr/>
        </p:nvSpPr>
        <p:spPr>
          <a:xfrm>
            <a:off x="1340485" y="4703546"/>
            <a:ext cx="4698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无数据</a:t>
            </a:r>
          </a:p>
        </p:txBody>
      </p:sp>
      <p:sp>
        <p:nvSpPr>
          <p:cNvPr id="395" name="TextBox 395"/>
          <p:cNvSpPr txBox="1"/>
          <p:nvPr/>
        </p:nvSpPr>
        <p:spPr>
          <a:xfrm>
            <a:off x="2187575" y="470354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中</a:t>
            </a:r>
          </a:p>
        </p:txBody>
      </p:sp>
      <p:sp>
        <p:nvSpPr>
          <p:cNvPr id="396" name="TextBox 396"/>
          <p:cNvSpPr txBox="1"/>
          <p:nvPr/>
        </p:nvSpPr>
        <p:spPr>
          <a:xfrm>
            <a:off x="2821939" y="470354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397" name="TextBox 397"/>
          <p:cNvSpPr txBox="1"/>
          <p:nvPr/>
        </p:nvSpPr>
        <p:spPr>
          <a:xfrm>
            <a:off x="3610609" y="470354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398" name="TextBox 398"/>
          <p:cNvSpPr txBox="1"/>
          <p:nvPr/>
        </p:nvSpPr>
        <p:spPr>
          <a:xfrm>
            <a:off x="4502784" y="470354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中</a:t>
            </a:r>
          </a:p>
        </p:txBody>
      </p:sp>
      <p:sp>
        <p:nvSpPr>
          <p:cNvPr id="399" name="TextBox 399"/>
          <p:cNvSpPr txBox="1"/>
          <p:nvPr/>
        </p:nvSpPr>
        <p:spPr>
          <a:xfrm>
            <a:off x="5132704" y="4613402"/>
            <a:ext cx="140587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宋体"/>
                <a:ea typeface="宋体"/>
              </a:rPr>
              <a:t>未能正确获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取或整合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外部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信息</a:t>
            </a:r>
          </a:p>
        </p:txBody>
      </p:sp>
      <p:sp>
        <p:nvSpPr>
          <p:cNvPr id="400" name="TextBox 400"/>
          <p:cNvSpPr txBox="1"/>
          <p:nvPr/>
        </p:nvSpPr>
        <p:spPr>
          <a:xfrm>
            <a:off x="380365" y="5291556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推理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错误</a:t>
            </a:r>
          </a:p>
        </p:txBody>
      </p:sp>
      <p:sp>
        <p:nvSpPr>
          <p:cNvPr id="401" name="TextBox 401"/>
          <p:cNvSpPr txBox="1"/>
          <p:nvPr/>
        </p:nvSpPr>
        <p:spPr>
          <a:xfrm>
            <a:off x="1264285" y="5291556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部分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数据</a:t>
            </a:r>
          </a:p>
        </p:txBody>
      </p:sp>
      <p:sp>
        <p:nvSpPr>
          <p:cNvPr id="402" name="TextBox 402"/>
          <p:cNvSpPr txBox="1"/>
          <p:nvPr/>
        </p:nvSpPr>
        <p:spPr>
          <a:xfrm>
            <a:off x="2187575" y="529155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403" name="TextBox 403"/>
          <p:cNvSpPr txBox="1"/>
          <p:nvPr/>
        </p:nvSpPr>
        <p:spPr>
          <a:xfrm>
            <a:off x="2821939" y="529155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高</a:t>
            </a:r>
          </a:p>
        </p:txBody>
      </p:sp>
      <p:sp>
        <p:nvSpPr>
          <p:cNvPr id="404" name="TextBox 404"/>
          <p:cNvSpPr txBox="1"/>
          <p:nvPr/>
        </p:nvSpPr>
        <p:spPr>
          <a:xfrm>
            <a:off x="3610609" y="529155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中</a:t>
            </a:r>
          </a:p>
        </p:txBody>
      </p:sp>
      <p:sp>
        <p:nvSpPr>
          <p:cNvPr id="405" name="TextBox 405"/>
          <p:cNvSpPr txBox="1"/>
          <p:nvPr/>
        </p:nvSpPr>
        <p:spPr>
          <a:xfrm>
            <a:off x="4502784" y="5291556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5132704" y="5201412"/>
            <a:ext cx="140587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宋体"/>
                <a:ea typeface="宋体"/>
              </a:rPr>
              <a:t>逻辑推理中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存在漏洞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或错误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假设</a:t>
            </a:r>
          </a:p>
        </p:txBody>
      </p:sp>
      <p:sp>
        <p:nvSpPr>
          <p:cNvPr id="407" name="TextBox 407"/>
          <p:cNvSpPr txBox="1"/>
          <p:nvPr/>
        </p:nvSpPr>
        <p:spPr>
          <a:xfrm>
            <a:off x="380365" y="5962751"/>
            <a:ext cx="6222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无中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生有</a:t>
            </a:r>
          </a:p>
        </p:txBody>
      </p:sp>
      <p:sp>
        <p:nvSpPr>
          <p:cNvPr id="408" name="TextBox 408"/>
          <p:cNvSpPr txBox="1"/>
          <p:nvPr/>
        </p:nvSpPr>
        <p:spPr>
          <a:xfrm>
            <a:off x="1340485" y="5962751"/>
            <a:ext cx="4698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无数据</a:t>
            </a:r>
          </a:p>
        </p:txBody>
      </p:sp>
      <p:sp>
        <p:nvSpPr>
          <p:cNvPr id="409" name="TextBox 409"/>
          <p:cNvSpPr txBox="1"/>
          <p:nvPr/>
        </p:nvSpPr>
        <p:spPr>
          <a:xfrm>
            <a:off x="2187575" y="596275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2821939" y="596275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中</a:t>
            </a:r>
          </a:p>
        </p:txBody>
      </p:sp>
      <p:sp>
        <p:nvSpPr>
          <p:cNvPr id="411" name="TextBox 411"/>
          <p:cNvSpPr txBox="1"/>
          <p:nvPr/>
        </p:nvSpPr>
        <p:spPr>
          <a:xfrm>
            <a:off x="3610609" y="596275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412" name="TextBox 412"/>
          <p:cNvSpPr txBox="1"/>
          <p:nvPr/>
        </p:nvSpPr>
        <p:spPr>
          <a:xfrm>
            <a:off x="4502784" y="5962751"/>
            <a:ext cx="165088" cy="185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低</a:t>
            </a:r>
          </a:p>
        </p:txBody>
      </p:sp>
      <p:sp>
        <p:nvSpPr>
          <p:cNvPr id="413" name="TextBox 413"/>
          <p:cNvSpPr txBox="1"/>
          <p:nvPr/>
        </p:nvSpPr>
        <p:spPr>
          <a:xfrm>
            <a:off x="5132704" y="5872606"/>
            <a:ext cx="1405878" cy="3664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宋体"/>
                <a:ea typeface="宋体"/>
              </a:rPr>
              <a:t>在无数据支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持下，生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成完全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虚构的信息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Picture 4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79" y="1021080"/>
            <a:ext cx="4747260" cy="4800600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780" y="2773680"/>
            <a:ext cx="5875020" cy="3185160"/>
          </a:xfrm>
          <a:prstGeom prst="rect">
            <a:avLst/>
          </a:prstGeom>
        </p:spPr>
      </p:pic>
      <p:sp>
        <p:nvSpPr>
          <p:cNvPr id="2" name="TextBox 416"/>
          <p:cNvSpPr txBox="1"/>
          <p:nvPr/>
        </p:nvSpPr>
        <p:spPr>
          <a:xfrm>
            <a:off x="101600" y="51140"/>
            <a:ext cx="11297902" cy="60178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-5" dirty="0">
                <a:solidFill>
                  <a:srgbClr val="000000"/>
                </a:solidFill>
                <a:latin typeface="Arial"/>
                <a:ea typeface="Arial"/>
              </a:rPr>
              <a:t>AIGC</a:t>
            </a:r>
            <a:r>
              <a:rPr lang="zh-CN" altLang="en-US" sz="4000" b="1" spc="-10" dirty="0">
                <a:solidFill>
                  <a:srgbClr val="000000"/>
                </a:solidFill>
                <a:latin typeface="宋体"/>
                <a:ea typeface="宋体"/>
              </a:rPr>
              <a:t>评测：</a:t>
            </a:r>
            <a:r>
              <a:rPr lang="en-US" altLang="zh-CN" sz="4000" b="1" spc="-10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4000" b="1" spc="-10" dirty="0">
                <a:solidFill>
                  <a:srgbClr val="000000"/>
                </a:solidFill>
                <a:latin typeface="宋体"/>
                <a:ea typeface="宋体"/>
              </a:rPr>
              <a:t>个国家级项目</a:t>
            </a:r>
            <a:r>
              <a:rPr lang="en-US" altLang="zh-CN" sz="4000" b="1" spc="-5" dirty="0">
                <a:solidFill>
                  <a:srgbClr val="000000"/>
                </a:solidFill>
                <a:latin typeface="Arial"/>
                <a:ea typeface="Arial"/>
              </a:rPr>
              <a:t>+1</a:t>
            </a:r>
            <a:r>
              <a:rPr lang="zh-CN" altLang="en-US" sz="4000" b="1" spc="-10" dirty="0">
                <a:solidFill>
                  <a:srgbClr val="000000"/>
                </a:solidFill>
                <a:latin typeface="宋体"/>
                <a:ea typeface="宋体"/>
              </a:rPr>
              <a:t>套</a:t>
            </a:r>
            <a:r>
              <a:rPr lang="zh-CN" altLang="en-US" sz="4000" b="1" spc="-15" dirty="0">
                <a:solidFill>
                  <a:srgbClr val="000000"/>
                </a:solidFill>
                <a:latin typeface="宋体"/>
                <a:ea typeface="宋体"/>
              </a:rPr>
              <a:t>自动化测</a:t>
            </a:r>
            <a:r>
              <a:rPr lang="zh-CN" altLang="en-US" sz="4000" b="1" spc="-5" dirty="0">
                <a:solidFill>
                  <a:srgbClr val="000000"/>
                </a:solidFill>
                <a:latin typeface="宋体"/>
                <a:ea typeface="宋体"/>
              </a:rPr>
              <a:t>评系统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64"/>
              </a:lnSpc>
            </a:pPr>
            <a:endParaRPr lang="en-US" dirty="0"/>
          </a:p>
          <a:p>
            <a:pPr marL="0" indent="5347334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两项国家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级项目：</a:t>
            </a:r>
          </a:p>
          <a:p>
            <a:pPr>
              <a:lnSpc>
                <a:spcPts val="400"/>
              </a:lnSpc>
            </a:pPr>
            <a:endParaRPr lang="en-US" dirty="0"/>
          </a:p>
          <a:p>
            <a:pPr marL="0" indent="5347334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b="1" spc="15" dirty="0">
                <a:solidFill>
                  <a:srgbClr val="000000"/>
                </a:solidFill>
                <a:latin typeface="宋体"/>
                <a:ea typeface="宋体"/>
              </a:rPr>
              <a:t>2023</a:t>
            </a:r>
            <a:r>
              <a:rPr lang="zh-CN" altLang="en-US" sz="1800" b="1" spc="34" dirty="0">
                <a:solidFill>
                  <a:srgbClr val="000000"/>
                </a:solidFill>
                <a:latin typeface="宋体"/>
                <a:ea typeface="宋体"/>
              </a:rPr>
              <a:t>国家自然科学基金青年项目</a:t>
            </a:r>
            <a:r>
              <a:rPr lang="zh-CN" altLang="en-US" sz="1800" b="1" spc="94" dirty="0">
                <a:solidFill>
                  <a:srgbClr val="000000"/>
                </a:solidFill>
                <a:latin typeface="宋体"/>
                <a:ea typeface="宋体"/>
              </a:rPr>
              <a:t>“</a:t>
            </a:r>
            <a:r>
              <a:rPr lang="zh-CN" altLang="en-US" sz="1800" b="1" spc="34" dirty="0">
                <a:solidFill>
                  <a:srgbClr val="000000"/>
                </a:solidFill>
                <a:latin typeface="宋体"/>
                <a:ea typeface="宋体"/>
              </a:rPr>
              <a:t>面向人工智能生成内</a:t>
            </a:r>
          </a:p>
          <a:p>
            <a:pPr>
              <a:lnSpc>
                <a:spcPts val="400"/>
              </a:lnSpc>
            </a:pPr>
            <a:endParaRPr lang="en-US" dirty="0"/>
          </a:p>
          <a:p>
            <a:pPr marL="0" indent="5633084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容的风险识别与治理策略研究</a:t>
            </a:r>
            <a:r>
              <a:rPr lang="zh-CN" altLang="en-US" sz="1800" b="1" spc="10" dirty="0">
                <a:solidFill>
                  <a:srgbClr val="000000"/>
                </a:solidFill>
                <a:latin typeface="宋体"/>
                <a:ea typeface="宋体"/>
              </a:rPr>
              <a:t>”</a:t>
            </a:r>
          </a:p>
          <a:p>
            <a:pPr>
              <a:lnSpc>
                <a:spcPts val="400"/>
              </a:lnSpc>
            </a:pPr>
            <a:endParaRPr lang="en-US" dirty="0"/>
          </a:p>
          <a:p>
            <a:pPr marL="0" indent="5347334">
              <a:lnSpc>
                <a:spcPct val="101250"/>
              </a:lnSpc>
            </a:pP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b="1" spc="40" dirty="0">
                <a:solidFill>
                  <a:srgbClr val="000000"/>
                </a:solidFill>
                <a:latin typeface="宋体"/>
                <a:ea typeface="宋体"/>
              </a:rPr>
              <a:t>2023</a:t>
            </a:r>
            <a:r>
              <a:rPr lang="zh-CN" altLang="en-US" sz="1800" b="1" spc="85" dirty="0">
                <a:solidFill>
                  <a:srgbClr val="000000"/>
                </a:solidFill>
                <a:latin typeface="宋体"/>
                <a:ea typeface="宋体"/>
              </a:rPr>
              <a:t>国家资助博士后研究人员计划</a:t>
            </a:r>
            <a:r>
              <a:rPr lang="zh-CN" altLang="en-US" sz="1800" b="1" spc="80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800" b="1" spc="85" dirty="0">
                <a:solidFill>
                  <a:srgbClr val="000000"/>
                </a:solidFill>
                <a:latin typeface="宋体"/>
                <a:ea typeface="宋体"/>
              </a:rPr>
              <a:t>档</a:t>
            </a:r>
            <a:r>
              <a:rPr lang="zh-CN" altLang="en-US" sz="1800" b="1" spc="89" dirty="0">
                <a:solidFill>
                  <a:srgbClr val="000000"/>
                </a:solidFill>
                <a:latin typeface="宋体"/>
                <a:ea typeface="宋体"/>
              </a:rPr>
              <a:t>“</a:t>
            </a:r>
            <a:r>
              <a:rPr lang="zh-CN" altLang="en-US" sz="1800" b="1" spc="40" dirty="0">
                <a:solidFill>
                  <a:srgbClr val="000000"/>
                </a:solidFill>
                <a:latin typeface="宋体"/>
                <a:ea typeface="宋体"/>
              </a:rPr>
              <a:t>AIGC</a:t>
            </a:r>
            <a:r>
              <a:rPr lang="zh-CN" altLang="en-US" sz="1800" b="1" spc="89" dirty="0">
                <a:solidFill>
                  <a:srgbClr val="000000"/>
                </a:solidFill>
                <a:latin typeface="宋体"/>
                <a:ea typeface="宋体"/>
              </a:rPr>
              <a:t>意识形态</a:t>
            </a:r>
          </a:p>
          <a:p>
            <a:pPr>
              <a:lnSpc>
                <a:spcPts val="400"/>
              </a:lnSpc>
            </a:pPr>
            <a:endParaRPr lang="en-US" dirty="0"/>
          </a:p>
          <a:p>
            <a:pPr marL="0" indent="5633084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安全评估</a:t>
            </a: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”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50"/>
              </a:lnSpc>
            </a:pPr>
            <a:endParaRPr lang="en-US" dirty="0"/>
          </a:p>
          <a:p>
            <a:pPr marL="0" indent="2671317">
              <a:lnSpc>
                <a:spcPct val="100000"/>
              </a:lnSpc>
            </a:pPr>
            <a:r>
              <a:rPr lang="en-US" altLang="zh-CN" sz="1800" dirty="0">
                <a:solidFill>
                  <a:srgbClr val="FEFEFE"/>
                </a:solidFill>
                <a:latin typeface="Arial"/>
                <a:ea typeface="Arial"/>
              </a:rPr>
              <a:t>AIGC</a:t>
            </a: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评测</a:t>
            </a:r>
          </a:p>
          <a:p>
            <a:pPr marL="0" indent="2722117">
              <a:lnSpc>
                <a:spcPct val="101250"/>
              </a:lnSpc>
            </a:pP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指标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体系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70"/>
              </a:lnSpc>
            </a:pPr>
            <a:endParaRPr lang="en-US" dirty="0"/>
          </a:p>
          <a:p>
            <a:pPr marL="0" indent="1757781">
              <a:lnSpc>
                <a:spcPct val="10083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共计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26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个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细分指标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Freeform 417"/>
          <p:cNvSpPr/>
          <p:nvPr/>
        </p:nvSpPr>
        <p:spPr>
          <a:xfrm>
            <a:off x="3968750" y="1873250"/>
            <a:ext cx="298450" cy="146050"/>
          </a:xfrm>
          <a:custGeom>
            <a:avLst/>
            <a:gdLst>
              <a:gd name="connsiteX0" fmla="*/ 14985 w 298450"/>
              <a:gd name="connsiteY0" fmla="*/ 48514 h 146050"/>
              <a:gd name="connsiteX1" fmla="*/ 242061 w 298450"/>
              <a:gd name="connsiteY1" fmla="*/ 48514 h 146050"/>
              <a:gd name="connsiteX2" fmla="*/ 242061 w 298450"/>
              <a:gd name="connsiteY2" fmla="*/ 13461 h 146050"/>
              <a:gd name="connsiteX3" fmla="*/ 310641 w 298450"/>
              <a:gd name="connsiteY3" fmla="*/ 83566 h 146050"/>
              <a:gd name="connsiteX4" fmla="*/ 242061 w 298450"/>
              <a:gd name="connsiteY4" fmla="*/ 152145 h 146050"/>
              <a:gd name="connsiteX5" fmla="*/ 242061 w 298450"/>
              <a:gd name="connsiteY5" fmla="*/ 117094 h 146050"/>
              <a:gd name="connsiteX6" fmla="*/ 14985 w 298450"/>
              <a:gd name="connsiteY6" fmla="*/ 117094 h 146050"/>
              <a:gd name="connsiteX7" fmla="*/ 14985 w 298450"/>
              <a:gd name="connsiteY7" fmla="*/ 48514 h 14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8450" h="146050">
                <a:moveTo>
                  <a:pt x="14985" y="48514"/>
                </a:moveTo>
                <a:lnTo>
                  <a:pt x="242061" y="48514"/>
                </a:lnTo>
                <a:lnTo>
                  <a:pt x="242061" y="13461"/>
                </a:lnTo>
                <a:lnTo>
                  <a:pt x="310641" y="83566"/>
                </a:lnTo>
                <a:lnTo>
                  <a:pt x="242061" y="152145"/>
                </a:lnTo>
                <a:lnTo>
                  <a:pt x="242061" y="117094"/>
                </a:lnTo>
                <a:lnTo>
                  <a:pt x="14985" y="117094"/>
                </a:lnTo>
                <a:lnTo>
                  <a:pt x="14985" y="48514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9" name="Picture 4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" y="1645920"/>
            <a:ext cx="3474720" cy="4564379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645920"/>
            <a:ext cx="1828800" cy="4556760"/>
          </a:xfrm>
          <a:prstGeom prst="rect">
            <a:avLst/>
          </a:prstGeom>
        </p:spPr>
      </p:pic>
      <p:sp>
        <p:nvSpPr>
          <p:cNvPr id="2" name="Freeform 420"/>
          <p:cNvSpPr/>
          <p:nvPr/>
        </p:nvSpPr>
        <p:spPr>
          <a:xfrm>
            <a:off x="3968750" y="5734050"/>
            <a:ext cx="298450" cy="146050"/>
          </a:xfrm>
          <a:custGeom>
            <a:avLst/>
            <a:gdLst>
              <a:gd name="connsiteX0" fmla="*/ 13461 w 298450"/>
              <a:gd name="connsiteY0" fmla="*/ 51053 h 146050"/>
              <a:gd name="connsiteX1" fmla="*/ 242061 w 298450"/>
              <a:gd name="connsiteY1" fmla="*/ 51053 h 146050"/>
              <a:gd name="connsiteX2" fmla="*/ 242061 w 298450"/>
              <a:gd name="connsiteY2" fmla="*/ 16002 h 146050"/>
              <a:gd name="connsiteX3" fmla="*/ 310641 w 298450"/>
              <a:gd name="connsiteY3" fmla="*/ 84582 h 146050"/>
              <a:gd name="connsiteX4" fmla="*/ 242061 w 298450"/>
              <a:gd name="connsiteY4" fmla="*/ 154685 h 146050"/>
              <a:gd name="connsiteX5" fmla="*/ 242061 w 298450"/>
              <a:gd name="connsiteY5" fmla="*/ 119634 h 146050"/>
              <a:gd name="connsiteX6" fmla="*/ 13461 w 298450"/>
              <a:gd name="connsiteY6" fmla="*/ 119634 h 146050"/>
              <a:gd name="connsiteX7" fmla="*/ 13461 w 298450"/>
              <a:gd name="connsiteY7" fmla="*/ 51053 h 14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8450" h="146050">
                <a:moveTo>
                  <a:pt x="13461" y="51053"/>
                </a:moveTo>
                <a:lnTo>
                  <a:pt x="242061" y="51053"/>
                </a:lnTo>
                <a:lnTo>
                  <a:pt x="242061" y="16002"/>
                </a:lnTo>
                <a:lnTo>
                  <a:pt x="310641" y="84582"/>
                </a:lnTo>
                <a:lnTo>
                  <a:pt x="242061" y="154685"/>
                </a:lnTo>
                <a:lnTo>
                  <a:pt x="242061" y="119634"/>
                </a:lnTo>
                <a:lnTo>
                  <a:pt x="13461" y="119634"/>
                </a:lnTo>
                <a:lnTo>
                  <a:pt x="13461" y="51053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2" name="Picture 4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0" y="1127760"/>
            <a:ext cx="60960" cy="5494020"/>
          </a:xfrm>
          <a:prstGeom prst="rect">
            <a:avLst/>
          </a:prstGeom>
        </p:spPr>
      </p:pic>
      <p:pic>
        <p:nvPicPr>
          <p:cNvPr id="423" name="Picture 4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59" y="1493520"/>
            <a:ext cx="5173980" cy="2407920"/>
          </a:xfrm>
          <a:prstGeom prst="rect">
            <a:avLst/>
          </a:prstGeom>
        </p:spPr>
      </p:pic>
      <p:sp>
        <p:nvSpPr>
          <p:cNvPr id="3" name="TextBox 423"/>
          <p:cNvSpPr txBox="1"/>
          <p:nvPr/>
        </p:nvSpPr>
        <p:spPr>
          <a:xfrm>
            <a:off x="376554" y="289633"/>
            <a:ext cx="1102228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创新的火花：如何设计出独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具匠心的提示语？</a:t>
            </a:r>
          </a:p>
        </p:txBody>
      </p:sp>
      <p:sp>
        <p:nvSpPr>
          <p:cNvPr id="424" name="TextBox 424"/>
          <p:cNvSpPr txBox="1"/>
          <p:nvPr/>
        </p:nvSpPr>
        <p:spPr>
          <a:xfrm>
            <a:off x="638809" y="1125654"/>
            <a:ext cx="9525613" cy="320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4999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抽象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具体循环法：在不同抽象层次间灵活切换</a:t>
            </a:r>
            <a:r>
              <a:rPr lang="zh-CN" altLang="en-US" sz="2000" b="1" spc="234" dirty="0">
                <a:solidFill>
                  <a:srgbClr val="000000"/>
                </a:solidFill>
                <a:latin typeface="宋体"/>
                <a:cs typeface="宋体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矛盾思维法：利用对立促进创新</a:t>
            </a:r>
          </a:p>
        </p:txBody>
      </p:sp>
      <p:sp>
        <p:nvSpPr>
          <p:cNvPr id="425" name="TextBox 425"/>
          <p:cNvSpPr txBox="1"/>
          <p:nvPr/>
        </p:nvSpPr>
        <p:spPr>
          <a:xfrm>
            <a:off x="720648" y="1804746"/>
            <a:ext cx="11556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抽象化</a:t>
            </a: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问题</a:t>
            </a:r>
          </a:p>
        </p:txBody>
      </p:sp>
      <p:sp>
        <p:nvSpPr>
          <p:cNvPr id="426" name="TextBox 426"/>
          <p:cNvSpPr txBox="1"/>
          <p:nvPr/>
        </p:nvSpPr>
        <p:spPr>
          <a:xfrm>
            <a:off x="2612313" y="1809826"/>
            <a:ext cx="11556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具体化</a:t>
            </a: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反馈</a:t>
            </a:r>
          </a:p>
        </p:txBody>
      </p:sp>
      <p:sp>
        <p:nvSpPr>
          <p:cNvPr id="427" name="TextBox 427"/>
          <p:cNvSpPr txBox="1"/>
          <p:nvPr/>
        </p:nvSpPr>
        <p:spPr>
          <a:xfrm>
            <a:off x="4601768" y="1804746"/>
            <a:ext cx="9270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迭代优化</a:t>
            </a:r>
          </a:p>
        </p:txBody>
      </p:sp>
      <p:sp>
        <p:nvSpPr>
          <p:cNvPr id="428" name="TextBox 428"/>
          <p:cNvSpPr txBox="1"/>
          <p:nvPr/>
        </p:nvSpPr>
        <p:spPr>
          <a:xfrm>
            <a:off x="6748157" y="1657553"/>
            <a:ext cx="11556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引入对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立概</a:t>
            </a:r>
          </a:p>
          <a:p>
            <a:pPr marL="0" indent="457200">
              <a:lnSpc>
                <a:spcPct val="10000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念</a:t>
            </a:r>
          </a:p>
        </p:txBody>
      </p:sp>
      <p:sp>
        <p:nvSpPr>
          <p:cNvPr id="429" name="TextBox 429"/>
          <p:cNvSpPr txBox="1"/>
          <p:nvPr/>
        </p:nvSpPr>
        <p:spPr>
          <a:xfrm>
            <a:off x="8847340" y="1592618"/>
            <a:ext cx="2070120" cy="6664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利用矛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盾性促进创新</a:t>
            </a:r>
          </a:p>
          <a:p>
            <a:pPr>
              <a:lnSpc>
                <a:spcPts val="86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提出冲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突性任务要求</a:t>
            </a:r>
          </a:p>
        </p:txBody>
      </p:sp>
      <p:sp>
        <p:nvSpPr>
          <p:cNvPr id="430" name="TextBox 430"/>
          <p:cNvSpPr txBox="1"/>
          <p:nvPr/>
        </p:nvSpPr>
        <p:spPr>
          <a:xfrm>
            <a:off x="667384" y="2447089"/>
            <a:ext cx="9030313" cy="4457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46249"/>
              </a:lnSpc>
              <a:tabLst>
                <a:tab pos="5847715" algn="l"/>
              </a:tabLst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运用类比与隐喻：增强创意表达	</a:t>
            </a: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融合批判性思维与创新推理</a:t>
            </a:r>
          </a:p>
        </p:txBody>
      </p:sp>
      <p:sp>
        <p:nvSpPr>
          <p:cNvPr id="431" name="TextBox 431"/>
          <p:cNvSpPr txBox="1"/>
          <p:nvPr/>
        </p:nvSpPr>
        <p:spPr>
          <a:xfrm>
            <a:off x="1236903" y="3020605"/>
            <a:ext cx="2527282" cy="8964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4134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使用类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比说明复杂概念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7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隐喻增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强语言的表达层次</a:t>
            </a:r>
          </a:p>
        </p:txBody>
      </p:sp>
      <p:sp>
        <p:nvSpPr>
          <p:cNvPr id="432" name="TextBox 432"/>
          <p:cNvSpPr txBox="1"/>
          <p:nvPr/>
        </p:nvSpPr>
        <p:spPr>
          <a:xfrm>
            <a:off x="6699948" y="3132035"/>
            <a:ext cx="1670032" cy="633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质疑既有框架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创新推理</a:t>
            </a:r>
          </a:p>
        </p:txBody>
      </p:sp>
      <p:sp>
        <p:nvSpPr>
          <p:cNvPr id="433" name="TextBox 433"/>
          <p:cNvSpPr txBox="1"/>
          <p:nvPr/>
        </p:nvSpPr>
        <p:spPr>
          <a:xfrm>
            <a:off x="9099613" y="3142830"/>
            <a:ext cx="2298682" cy="633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多方论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证与批判结合，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增强生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成内容的全面性</a:t>
            </a:r>
          </a:p>
        </p:txBody>
      </p:sp>
      <p:sp>
        <p:nvSpPr>
          <p:cNvPr id="434" name="TextBox 434"/>
          <p:cNvSpPr txBox="1"/>
          <p:nvPr/>
        </p:nvSpPr>
        <p:spPr>
          <a:xfrm>
            <a:off x="668019" y="4292041"/>
            <a:ext cx="4341474" cy="9293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83183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选择具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备启发性的类比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89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反向设计思维：从生成结果倒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推提示语</a:t>
            </a:r>
          </a:p>
        </p:txBody>
      </p:sp>
      <p:sp>
        <p:nvSpPr>
          <p:cNvPr id="435" name="TextBox 435"/>
          <p:cNvSpPr txBox="1"/>
          <p:nvPr/>
        </p:nvSpPr>
        <p:spPr>
          <a:xfrm>
            <a:off x="6367779" y="4134284"/>
            <a:ext cx="5186662" cy="1140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8750">
              <a:lnSpc>
                <a:spcPct val="101666"/>
              </a:lnSpc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涌现思维模型：利用集体智慧的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提示语设计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>
              <a:lnSpc>
                <a:spcPct val="116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分解与重组：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先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将复杂问题分解为简单组件，再设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179704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计其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交互方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式。</a:t>
            </a:r>
          </a:p>
        </p:txBody>
      </p:sp>
      <p:sp>
        <p:nvSpPr>
          <p:cNvPr id="436" name="TextBox 436"/>
          <p:cNvSpPr txBox="1"/>
          <p:nvPr/>
        </p:nvSpPr>
        <p:spPr>
          <a:xfrm>
            <a:off x="720102" y="5512003"/>
            <a:ext cx="11556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从期望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结果</a:t>
            </a:r>
          </a:p>
          <a:p>
            <a:pPr marL="0" indent="342899">
              <a:lnSpc>
                <a:spcPct val="100000"/>
              </a:lnSpc>
            </a:pP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开始</a:t>
            </a:r>
          </a:p>
        </p:txBody>
      </p:sp>
      <p:sp>
        <p:nvSpPr>
          <p:cNvPr id="437" name="TextBox 437"/>
          <p:cNvSpPr txBox="1"/>
          <p:nvPr/>
        </p:nvSpPr>
        <p:spPr>
          <a:xfrm>
            <a:off x="2611767" y="5517083"/>
            <a:ext cx="11556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倒推提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示语</a:t>
            </a:r>
          </a:p>
          <a:p>
            <a:pPr marL="0" indent="342900">
              <a:lnSpc>
                <a:spcPct val="100000"/>
              </a:lnSpc>
            </a:pP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结构</a:t>
            </a:r>
          </a:p>
        </p:txBody>
      </p:sp>
      <p:sp>
        <p:nvSpPr>
          <p:cNvPr id="438" name="TextBox 438"/>
          <p:cNvSpPr txBox="1"/>
          <p:nvPr/>
        </p:nvSpPr>
        <p:spPr>
          <a:xfrm>
            <a:off x="4486922" y="5512003"/>
            <a:ext cx="11556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5" dirty="0">
                <a:solidFill>
                  <a:srgbClr val="FEFEFE"/>
                </a:solidFill>
                <a:latin typeface="宋体"/>
                <a:ea typeface="宋体"/>
              </a:rPr>
              <a:t>灵活调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整提</a:t>
            </a:r>
          </a:p>
          <a:p>
            <a:pPr marL="0" indent="114300">
              <a:lnSpc>
                <a:spcPct val="100000"/>
              </a:lnSpc>
            </a:pPr>
            <a:r>
              <a:rPr lang="zh-CN" altLang="en-US" sz="1800" spc="-10" dirty="0">
                <a:solidFill>
                  <a:srgbClr val="FEFEFE"/>
                </a:solidFill>
                <a:latin typeface="宋体"/>
                <a:ea typeface="宋体"/>
              </a:rPr>
              <a:t>示语</a:t>
            </a:r>
            <a:r>
              <a:rPr lang="zh-CN" altLang="en-US" sz="1800" dirty="0">
                <a:solidFill>
                  <a:srgbClr val="FEFEFE"/>
                </a:solidFill>
                <a:latin typeface="宋体"/>
                <a:ea typeface="宋体"/>
              </a:rPr>
              <a:t>细节</a:t>
            </a:r>
          </a:p>
        </p:txBody>
      </p:sp>
      <p:sp>
        <p:nvSpPr>
          <p:cNvPr id="439" name="TextBox 439"/>
          <p:cNvSpPr txBox="1"/>
          <p:nvPr/>
        </p:nvSpPr>
        <p:spPr>
          <a:xfrm>
            <a:off x="6367779" y="5320284"/>
            <a:ext cx="5186662" cy="10231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6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互动规则设定：在提示语中定义组件互动规则。</a:t>
            </a:r>
          </a:p>
          <a:p>
            <a:pPr marL="0">
              <a:lnSpc>
                <a:spcPct val="116250"/>
              </a:lnSpc>
              <a:spcBef>
                <a:spcPts val="29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8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整体行为观察：设计机制来观察和解释从互动中涌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179704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现的整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体行为。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4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036319"/>
            <a:ext cx="4465320" cy="1554480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980"/>
            <a:ext cx="12153900" cy="3756660"/>
          </a:xfrm>
          <a:prstGeom prst="rect">
            <a:avLst/>
          </a:prstGeom>
        </p:spPr>
      </p:pic>
      <p:sp>
        <p:nvSpPr>
          <p:cNvPr id="2" name="TextBox 442"/>
          <p:cNvSpPr txBox="1"/>
          <p:nvPr/>
        </p:nvSpPr>
        <p:spPr>
          <a:xfrm>
            <a:off x="376554" y="289633"/>
            <a:ext cx="6980537" cy="38481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提示语链</a:t>
            </a:r>
            <a:r>
              <a:rPr lang="zh-CN" altLang="en-US" sz="4000" b="1" spc="254" dirty="0">
                <a:solidFill>
                  <a:srgbClr val="242424"/>
                </a:solidFill>
                <a:latin typeface="宋体"/>
                <a:ea typeface="宋体"/>
              </a:rPr>
              <a:t>的概念与特征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85"/>
              </a:lnSpc>
            </a:pPr>
            <a:endParaRPr lang="en-US" dirty="0"/>
          </a:p>
          <a:p>
            <a:pPr marL="262254" hangingPunct="0">
              <a:lnSpc>
                <a:spcPct val="129583"/>
              </a:lnSpc>
            </a:pP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提示语链是用于引导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40" dirty="0">
                <a:solidFill>
                  <a:srgbClr val="000000"/>
                </a:solidFill>
                <a:latin typeface="宋体"/>
                <a:ea typeface="宋体"/>
              </a:rPr>
              <a:t>生成内容的连续性提示语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序列。通过将复</a:t>
            </a:r>
            <a:r>
              <a:rPr lang="zh-CN" altLang="en-US" sz="1800" spc="35" dirty="0">
                <a:solidFill>
                  <a:srgbClr val="000000"/>
                </a:solidFill>
                <a:latin typeface="宋体"/>
                <a:ea typeface="宋体"/>
              </a:rPr>
              <a:t>杂任务分解成多个可操作的子任务，确保生成的内容逻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辑清晰、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主题连贯。从本质上看，提示语链是一种</a:t>
            </a:r>
            <a:r>
              <a:rPr lang="en-US" altLang="zh-CN" sz="1800" spc="-3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元提示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meta-prompt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）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策略，它不仅告诉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做什么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，更重要的是指导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如何做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39"/>
              </a:lnSpc>
            </a:pPr>
            <a:endParaRPr lang="en-US" dirty="0"/>
          </a:p>
          <a:p>
            <a:pPr marL="262254" hangingPunct="0">
              <a:lnSpc>
                <a:spcPct val="129583"/>
              </a:lnSpc>
            </a:pPr>
            <a:r>
              <a:rPr lang="zh-CN" altLang="en-US" sz="1800" spc="10" dirty="0">
                <a:solidFill>
                  <a:srgbClr val="000000"/>
                </a:solidFill>
                <a:latin typeface="宋体"/>
                <a:ea typeface="宋体"/>
              </a:rPr>
              <a:t>提示语链的设计和应用建立在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多个理论基础之上，包括认知</a:t>
            </a:r>
            <a:br/>
            <a:r>
              <a:rPr lang="zh-CN" altLang="en-US" sz="1800" spc="10" dirty="0">
                <a:solidFill>
                  <a:srgbClr val="000000"/>
                </a:solidFill>
                <a:latin typeface="宋体"/>
                <a:ea typeface="宋体"/>
              </a:rPr>
              <a:t>心理学、信息处理理论、系统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理论、创造性思维理论和元认</a:t>
            </a:r>
            <a:br/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知理论，核心特征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包括：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Picture 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" y="2065020"/>
            <a:ext cx="5775960" cy="2080260"/>
          </a:xfrm>
          <a:prstGeom prst="rect">
            <a:avLst/>
          </a:prstGeom>
        </p:spPr>
      </p:pic>
      <p:pic>
        <p:nvPicPr>
          <p:cNvPr id="445" name="Picture 4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" y="4236720"/>
            <a:ext cx="5775960" cy="2354580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080260"/>
            <a:ext cx="5608320" cy="2065020"/>
          </a:xfrm>
          <a:prstGeom prst="rect">
            <a:avLst/>
          </a:prstGeom>
        </p:spPr>
      </p:pic>
      <p:pic>
        <p:nvPicPr>
          <p:cNvPr id="447" name="Picture 4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4274820"/>
            <a:ext cx="5608320" cy="2331720"/>
          </a:xfrm>
          <a:prstGeom prst="rect">
            <a:avLst/>
          </a:prstGeom>
        </p:spPr>
      </p:pic>
      <p:sp>
        <p:nvSpPr>
          <p:cNvPr id="2" name="TextBox 447"/>
          <p:cNvSpPr txBox="1"/>
          <p:nvPr/>
        </p:nvSpPr>
        <p:spPr>
          <a:xfrm>
            <a:off x="376554" y="289633"/>
            <a:ext cx="664841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提示语链的作用机制（</a:t>
            </a:r>
            <a:r>
              <a:rPr lang="zh-CN" altLang="en-US" sz="4000" b="1" spc="290" dirty="0">
                <a:solidFill>
                  <a:srgbClr val="242424"/>
                </a:solidFill>
                <a:latin typeface="Arial Unicode MS"/>
                <a:ea typeface="Arial Unicode MS"/>
              </a:rPr>
              <a:t>一）</a:t>
            </a:r>
          </a:p>
        </p:txBody>
      </p:sp>
      <p:sp>
        <p:nvSpPr>
          <p:cNvPr id="448" name="TextBox 448"/>
          <p:cNvSpPr txBox="1"/>
          <p:nvPr/>
        </p:nvSpPr>
        <p:spPr>
          <a:xfrm>
            <a:off x="639444" y="1266342"/>
            <a:ext cx="10858484" cy="712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在提示语设计中，提示语链发挥着至关重要的作用，通过系统性地引导</a:t>
            </a:r>
            <a:r>
              <a:rPr lang="en-US" altLang="zh-CN" sz="1800" spc="5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生成高质量、创新性的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内容。以下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是提示语链在内容生成过程中的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七个主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要作用机制</a:t>
            </a:r>
          </a:p>
        </p:txBody>
      </p:sp>
      <p:sp>
        <p:nvSpPr>
          <p:cNvPr id="449" name="TextBox 449"/>
          <p:cNvSpPr txBox="1"/>
          <p:nvPr/>
        </p:nvSpPr>
        <p:spPr>
          <a:xfrm>
            <a:off x="696976" y="2160904"/>
            <a:ext cx="9565875" cy="3028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416"/>
              </a:lnSpc>
              <a:tabLst>
                <a:tab pos="2196719" algn="l"/>
                <a:tab pos="5864225" algn="l"/>
                <a:tab pos="8064118" algn="l"/>
              </a:tabLst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任务分解与整合	�实战技巧：	知识激活与联想	�</a:t>
            </a:r>
            <a:r>
              <a:rPr lang="zh-CN" altLang="en-US" sz="18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</a:t>
            </a:r>
          </a:p>
        </p:txBody>
      </p:sp>
      <p:sp>
        <p:nvSpPr>
          <p:cNvPr id="450" name="TextBox 450"/>
          <p:cNvSpPr txBox="1"/>
          <p:nvPr/>
        </p:nvSpPr>
        <p:spPr>
          <a:xfrm>
            <a:off x="379729" y="2931665"/>
            <a:ext cx="1110599" cy="5627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任务分解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结果整合</a:t>
            </a:r>
          </a:p>
        </p:txBody>
      </p:sp>
      <p:sp>
        <p:nvSpPr>
          <p:cNvPr id="451" name="TextBox 451"/>
          <p:cNvSpPr txBox="1"/>
          <p:nvPr/>
        </p:nvSpPr>
        <p:spPr>
          <a:xfrm>
            <a:off x="1733550" y="2762935"/>
            <a:ext cx="4470388" cy="13004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将这个复杂的主题分解为几个主要部分，逐一讨论每个部分。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对每个子任务设定具体目标和预期成果。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在每个子任务完成后，总结其关键点并与整体主题关联。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通过层次结构图或思维导图展示分解后的各部分及其关系。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结合各部分的结果，撰写一段总结性内容，确保整体连贯。</a:t>
            </a:r>
          </a:p>
        </p:txBody>
      </p:sp>
      <p:sp>
        <p:nvSpPr>
          <p:cNvPr id="452" name="TextBox 452"/>
          <p:cNvSpPr txBox="1"/>
          <p:nvPr/>
        </p:nvSpPr>
        <p:spPr>
          <a:xfrm>
            <a:off x="6374765" y="2759125"/>
            <a:ext cx="4724388" cy="1300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列出与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相关的所有关键知识点，逐一进行详细解释。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从不同领域中寻找与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问题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相关的知识点，并进行创造性联想。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通过比喻或类比，将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复杂概念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与日常经验联系起来，便于理解。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使用头脑风暴技术，生成多个可能的联想和创新点。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将联想到的新观点或概念，整合进现有的知识体系中。</a:t>
            </a:r>
          </a:p>
        </p:txBody>
      </p:sp>
      <p:sp>
        <p:nvSpPr>
          <p:cNvPr id="453" name="TextBox 453"/>
          <p:cNvSpPr txBox="1"/>
          <p:nvPr/>
        </p:nvSpPr>
        <p:spPr>
          <a:xfrm>
            <a:off x="811276" y="4324248"/>
            <a:ext cx="9451575" cy="339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3749"/>
              </a:lnSpc>
              <a:tabLst>
                <a:tab pos="2082419" algn="l"/>
                <a:tab pos="5749925" algn="l"/>
                <a:tab pos="7949818" algn="l"/>
              </a:tabLst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思维框架构建	�实战技巧：	创意引导与拓展	�</a:t>
            </a:r>
            <a:r>
              <a:rPr lang="zh-CN" altLang="en-US" sz="18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</a:t>
            </a:r>
          </a:p>
        </p:txBody>
      </p:sp>
      <p:sp>
        <p:nvSpPr>
          <p:cNvPr id="454" name="TextBox 454"/>
          <p:cNvSpPr txBox="1"/>
          <p:nvPr/>
        </p:nvSpPr>
        <p:spPr>
          <a:xfrm>
            <a:off x="379729" y="5154800"/>
            <a:ext cx="1110599" cy="1196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问题定义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信息收集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分析综合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结论形成</a:t>
            </a:r>
          </a:p>
        </p:txBody>
      </p:sp>
      <p:sp>
        <p:nvSpPr>
          <p:cNvPr id="455" name="TextBox 455"/>
          <p:cNvSpPr txBox="1"/>
          <p:nvPr/>
        </p:nvSpPr>
        <p:spPr>
          <a:xfrm>
            <a:off x="1733550" y="4934635"/>
            <a:ext cx="4470388" cy="157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明确这个问题的核心要点，然后系统地收集相关信息进行分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析。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列出与主题相关的所有关键概念和理论，并进行系统梳理。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使用逻辑框架图展示信息收集、分析和结论的过程。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针对每个关键概念，撰写简要解释并说明其在文章中的作用。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通过案例分析或实例应用，验证思维框架的有效性和适用性。</a:t>
            </a:r>
          </a:p>
        </p:txBody>
      </p:sp>
      <p:sp>
        <p:nvSpPr>
          <p:cNvPr id="456" name="TextBox 456"/>
          <p:cNvSpPr txBox="1"/>
          <p:nvPr/>
        </p:nvSpPr>
        <p:spPr>
          <a:xfrm>
            <a:off x="6374765" y="4938445"/>
            <a:ext cx="5386058" cy="157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请从一个全新的角度重新思考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问题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主题]，并提出与众不同的见解。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请将其他领域中与此不相关的概念结合起来，探索其在</a:t>
            </a:r>
            <a:r>
              <a:rPr lang="zh-CN" altLang="en-US" sz="1200" spc="69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上的应用。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请设定一个全新的情境，讨论在此情境下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问题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主题]会有怎样的发展。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请挑战现有的常规观点，从反面角度思考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问题/主题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，并提出新的可能性。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请结合不同学科的理论，提出一个创新的解决方案。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6.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请从结果出发，倒推可能的原因和过程，探索新的解决途径。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1036319"/>
            <a:ext cx="5608320" cy="3497579"/>
          </a:xfrm>
          <a:prstGeom prst="rect">
            <a:avLst/>
          </a:prstGeom>
        </p:spPr>
      </p:pic>
      <p:pic>
        <p:nvPicPr>
          <p:cNvPr id="459" name="Picture 4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" y="1036319"/>
            <a:ext cx="5775960" cy="5707380"/>
          </a:xfrm>
          <a:prstGeom prst="rect">
            <a:avLst/>
          </a:prstGeom>
        </p:spPr>
      </p:pic>
      <p:sp>
        <p:nvSpPr>
          <p:cNvPr id="3" name="TextBox 459"/>
          <p:cNvSpPr txBox="1"/>
          <p:nvPr/>
        </p:nvSpPr>
        <p:spPr>
          <a:xfrm>
            <a:off x="376554" y="289633"/>
            <a:ext cx="664841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提示语链的作用机制（</a:t>
            </a:r>
            <a:r>
              <a:rPr lang="zh-CN" altLang="en-US" sz="4000" b="1" spc="290" dirty="0">
                <a:solidFill>
                  <a:srgbClr val="242424"/>
                </a:solidFill>
                <a:latin typeface="Arial Unicode MS"/>
                <a:ea typeface="Arial Unicode MS"/>
              </a:rPr>
              <a:t>二）</a:t>
            </a:r>
          </a:p>
        </p:txBody>
      </p:sp>
      <p:sp>
        <p:nvSpPr>
          <p:cNvPr id="460" name="TextBox 460"/>
          <p:cNvSpPr txBox="1"/>
          <p:nvPr/>
        </p:nvSpPr>
        <p:spPr>
          <a:xfrm>
            <a:off x="696976" y="1124585"/>
            <a:ext cx="9565875" cy="3028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416"/>
              </a:lnSpc>
              <a:tabLst>
                <a:tab pos="2196719" algn="l"/>
                <a:tab pos="5748020" algn="l"/>
              </a:tabLst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质量控制与优化	�实战技巧：	</a:t>
            </a:r>
            <a:r>
              <a:rPr lang="zh-CN" altLang="en-US" sz="1800" b="1" spc="30" dirty="0">
                <a:solidFill>
                  <a:srgbClr val="000000"/>
                </a:solidFill>
                <a:latin typeface="Arial Unicode MS"/>
                <a:ea typeface="Arial Unicode MS"/>
              </a:rPr>
              <a:t>反馈整合与动态调整</a:t>
            </a:r>
            <a:r>
              <a:rPr lang="zh-CN" altLang="en-US" sz="1800" b="1" spc="15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b="1" spc="55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1800" b="1" spc="30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</a:t>
            </a:r>
          </a:p>
        </p:txBody>
      </p:sp>
      <p:sp>
        <p:nvSpPr>
          <p:cNvPr id="461" name="TextBox 461"/>
          <p:cNvSpPr txBox="1"/>
          <p:nvPr/>
        </p:nvSpPr>
        <p:spPr>
          <a:xfrm>
            <a:off x="510540" y="1722805"/>
            <a:ext cx="4013188" cy="1300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在每个步骤完成后，进行自我评估和质量检查。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使用清单核对每个部分是否满足预期目标和质量标准。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设立中期检查点，对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任务进度和质量进行评估和调整。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请求同行或专家对内容进行审阅并提供反馈。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根据反馈意见，逐步优化和完善文章的各个部分。</a:t>
            </a:r>
          </a:p>
        </p:txBody>
      </p:sp>
      <p:sp>
        <p:nvSpPr>
          <p:cNvPr id="462" name="TextBox 462"/>
          <p:cNvSpPr txBox="1"/>
          <p:nvPr/>
        </p:nvSpPr>
        <p:spPr>
          <a:xfrm>
            <a:off x="6374765" y="1736140"/>
            <a:ext cx="5384788" cy="157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请对当前内容进行评估，列出主要优缺点，并提出具体的改进建议。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请根据前一阶段的反馈，逐步修改和完善内容，列出修改的具体步骤。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请根据内容生成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过程中出现的新问题，动态调整后续提示语，并解释调整原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因。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请收集多方反馈，综合考虑并调整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内容生成方向，列出不同来源的反馈及其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对生成内容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的影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响。</a:t>
            </a:r>
          </a:p>
        </p:txBody>
      </p:sp>
      <p:sp>
        <p:nvSpPr>
          <p:cNvPr id="463" name="TextBox 463"/>
          <p:cNvSpPr txBox="1"/>
          <p:nvPr/>
        </p:nvSpPr>
        <p:spPr>
          <a:xfrm>
            <a:off x="696976" y="3316503"/>
            <a:ext cx="173099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多模态信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息处理</a:t>
            </a:r>
          </a:p>
        </p:txBody>
      </p:sp>
      <p:sp>
        <p:nvSpPr>
          <p:cNvPr id="464" name="TextBox 464"/>
          <p:cNvSpPr txBox="1"/>
          <p:nvPr/>
        </p:nvSpPr>
        <p:spPr>
          <a:xfrm>
            <a:off x="2893695" y="3319145"/>
            <a:ext cx="1501756" cy="299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166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实战技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巧：</a:t>
            </a:r>
          </a:p>
        </p:txBody>
      </p:sp>
      <p:sp>
        <p:nvSpPr>
          <p:cNvPr id="465" name="TextBox 465"/>
          <p:cNvSpPr txBox="1"/>
          <p:nvPr/>
        </p:nvSpPr>
        <p:spPr>
          <a:xfrm>
            <a:off x="6374765" y="3412540"/>
            <a:ext cx="5384788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请定期对生成的内容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进行检查，确保各部分内容协调一致，并列出检查的具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体方法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和步骤。</a:t>
            </a:r>
          </a:p>
        </p:txBody>
      </p:sp>
      <p:sp>
        <p:nvSpPr>
          <p:cNvPr id="466" name="TextBox 466"/>
          <p:cNvSpPr txBox="1"/>
          <p:nvPr/>
        </p:nvSpPr>
        <p:spPr>
          <a:xfrm>
            <a:off x="510540" y="3949115"/>
            <a:ext cx="5486388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请将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相关的文本描述与数据结合，生成一个全面的分析报告。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请根据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创建一个包含图像和数据可视化的报告，详细描述可视化方法。</a:t>
            </a:r>
          </a:p>
        </p:txBody>
      </p:sp>
      <p:sp>
        <p:nvSpPr>
          <p:cNvPr id="467" name="TextBox 467"/>
          <p:cNvSpPr txBox="1"/>
          <p:nvPr/>
        </p:nvSpPr>
        <p:spPr>
          <a:xfrm>
            <a:off x="6374765" y="3971340"/>
            <a:ext cx="5384788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6.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请将新获取的信息和反馈整合到已有内容中，形成一个有机整体，详细描述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整合的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步骤和方法。</a:t>
            </a:r>
          </a:p>
        </p:txBody>
      </p:sp>
      <p:sp>
        <p:nvSpPr>
          <p:cNvPr id="468" name="TextBox 468"/>
          <p:cNvSpPr txBox="1"/>
          <p:nvPr/>
        </p:nvSpPr>
        <p:spPr>
          <a:xfrm>
            <a:off x="510540" y="4507915"/>
            <a:ext cx="5537188" cy="2138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请设计一个融合文本、图像、音频或视频元素的多媒体内容，增强内容的丰富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899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性。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请设计一个互动数据展示方案，使读者可以与数据进行互动，并详细描述设计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89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步骤。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请将不同媒体形式的内容进行联动展示，例如将文字内容与图像和数据可视化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89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结合起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来。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6.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请选用合适的数据可视化工具，并详细描述其使用方法，生成可视化内容。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899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7.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请将具体案例与数据分析相结合，生成一份包含案例分析的多模态报告。</a:t>
            </a:r>
          </a:p>
        </p:txBody>
      </p:sp>
      <p:sp>
        <p:nvSpPr>
          <p:cNvPr id="469" name="TextBox 469"/>
          <p:cNvSpPr txBox="1"/>
          <p:nvPr/>
        </p:nvSpPr>
        <p:spPr>
          <a:xfrm>
            <a:off x="7945119" y="4567691"/>
            <a:ext cx="2298700" cy="3051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语链的优势与挑战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23634" y="4911090"/>
          <a:ext cx="5742305" cy="1839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6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189">
                <a:tc>
                  <a:txBody>
                    <a:bodyPr/>
                    <a:lstStyle/>
                    <a:p>
                      <a:pPr marL="0" indent="340359">
                        <a:lnSpc>
                          <a:spcPct val="101666"/>
                        </a:lnSpc>
                        <a:spcBef>
                          <a:spcPts val="18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类别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97584">
                        <a:lnSpc>
                          <a:spcPct val="101666"/>
                        </a:lnSpc>
                        <a:spcBef>
                          <a:spcPts val="18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优势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068705">
                        <a:lnSpc>
                          <a:spcPct val="101666"/>
                        </a:lnSpc>
                        <a:spcBef>
                          <a:spcPts val="18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挑战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13081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结构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化思维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233044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引导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按照预设逻辑进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行创作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9080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设计合理的逻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辑结构需要经验和技巧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15"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20066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内容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深度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9534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通过多步引导，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实现更深入的内容</a:t>
                      </a:r>
                    </a:p>
                    <a:p>
                      <a:pPr marL="0" indent="997584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探讨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9080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控制每个步骤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的输出深度，避免冗余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9">
                <a:tc>
                  <a:txBody>
                    <a:bodyPr/>
                    <a:lstStyle/>
                    <a:p>
                      <a:pPr marL="0" indent="200660">
                        <a:lnSpc>
                          <a:spcPct val="101666"/>
                        </a:lnSpc>
                        <a:spcBef>
                          <a:spcPts val="300"/>
                        </a:spcBef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创意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激发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63194">
                        <a:lnSpc>
                          <a:spcPct val="101666"/>
                        </a:lnSpc>
                        <a:spcBef>
                          <a:spcPts val="30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多角度提示激发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的创造性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思维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70205">
                        <a:lnSpc>
                          <a:spcPct val="101666"/>
                        </a:lnSpc>
                        <a:spcBef>
                          <a:spcPts val="30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在创意和连贯之间找到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平衡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0" indent="200660">
                        <a:lnSpc>
                          <a:spcPct val="101666"/>
                        </a:lnSpc>
                        <a:spcBef>
                          <a:spcPts val="350"/>
                        </a:spcBef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质量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控制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38784">
                        <a:lnSpc>
                          <a:spcPct val="101666"/>
                        </a:lnSpc>
                        <a:spcBef>
                          <a:spcPts val="350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多次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迭代提高内容质量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70205">
                        <a:lnSpc>
                          <a:spcPct val="101666"/>
                        </a:lnSpc>
                        <a:spcBef>
                          <a:spcPts val="35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需要更多的实践和计算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资源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4"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20066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灵活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调整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89534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可根据中奖结果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随时调整后续提示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9080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实时调整需要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较高的判断和决策能力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Freeform 471"/>
          <p:cNvSpPr/>
          <p:nvPr/>
        </p:nvSpPr>
        <p:spPr>
          <a:xfrm>
            <a:off x="565150" y="2914650"/>
            <a:ext cx="654050" cy="654050"/>
          </a:xfrm>
          <a:custGeom>
            <a:avLst/>
            <a:gdLst>
              <a:gd name="connsiteX0" fmla="*/ 12445 w 654050"/>
              <a:gd name="connsiteY0" fmla="*/ 342138 h 654050"/>
              <a:gd name="connsiteX1" fmla="*/ 336537 w 654050"/>
              <a:gd name="connsiteY1" fmla="*/ 17030 h 654050"/>
              <a:gd name="connsiteX2" fmla="*/ 661161 w 654050"/>
              <a:gd name="connsiteY2" fmla="*/ 341668 h 654050"/>
              <a:gd name="connsiteX3" fmla="*/ 336537 w 654050"/>
              <a:gd name="connsiteY3" fmla="*/ 666305 h 654050"/>
              <a:gd name="connsiteX4" fmla="*/ 12445 w 654050"/>
              <a:gd name="connsiteY4" fmla="*/ 342138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050" h="654050">
                <a:moveTo>
                  <a:pt x="12445" y="342138"/>
                </a:moveTo>
                <a:cubicBezTo>
                  <a:pt x="11899" y="162382"/>
                  <a:pt x="157238" y="17030"/>
                  <a:pt x="336537" y="17030"/>
                </a:cubicBezTo>
                <a:cubicBezTo>
                  <a:pt x="515823" y="17030"/>
                  <a:pt x="661161" y="162382"/>
                  <a:pt x="661161" y="341668"/>
                </a:cubicBezTo>
                <a:cubicBezTo>
                  <a:pt x="661161" y="520966"/>
                  <a:pt x="515823" y="666305"/>
                  <a:pt x="336537" y="666305"/>
                </a:cubicBezTo>
                <a:cubicBezTo>
                  <a:pt x="157238" y="666305"/>
                  <a:pt x="11899" y="520966"/>
                  <a:pt x="12445" y="342138"/>
                </a:cubicBezTo>
                <a:close/>
              </a:path>
            </a:pathLst>
          </a:custGeom>
          <a:solidFill>
            <a:srgbClr val="1C6BC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Freeform 472"/>
          <p:cNvSpPr/>
          <p:nvPr/>
        </p:nvSpPr>
        <p:spPr>
          <a:xfrm>
            <a:off x="3587750" y="2914650"/>
            <a:ext cx="654050" cy="654050"/>
          </a:xfrm>
          <a:custGeom>
            <a:avLst/>
            <a:gdLst>
              <a:gd name="connsiteX0" fmla="*/ 10414 w 654050"/>
              <a:gd name="connsiteY0" fmla="*/ 342138 h 654050"/>
              <a:gd name="connsiteX1" fmla="*/ 335140 w 654050"/>
              <a:gd name="connsiteY1" fmla="*/ 17030 h 654050"/>
              <a:gd name="connsiteX2" fmla="*/ 659777 w 654050"/>
              <a:gd name="connsiteY2" fmla="*/ 341668 h 654050"/>
              <a:gd name="connsiteX3" fmla="*/ 335140 w 654050"/>
              <a:gd name="connsiteY3" fmla="*/ 666305 h 654050"/>
              <a:gd name="connsiteX4" fmla="*/ 10414 w 654050"/>
              <a:gd name="connsiteY4" fmla="*/ 342138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050" h="654050">
                <a:moveTo>
                  <a:pt x="10414" y="342138"/>
                </a:moveTo>
                <a:cubicBezTo>
                  <a:pt x="10502" y="162382"/>
                  <a:pt x="155841" y="17030"/>
                  <a:pt x="335140" y="17030"/>
                </a:cubicBezTo>
                <a:cubicBezTo>
                  <a:pt x="514426" y="17030"/>
                  <a:pt x="659777" y="162382"/>
                  <a:pt x="659777" y="341668"/>
                </a:cubicBezTo>
                <a:cubicBezTo>
                  <a:pt x="659777" y="520966"/>
                  <a:pt x="514426" y="666305"/>
                  <a:pt x="335140" y="666305"/>
                </a:cubicBezTo>
                <a:cubicBezTo>
                  <a:pt x="155841" y="666305"/>
                  <a:pt x="10502" y="520966"/>
                  <a:pt x="10414" y="342138"/>
                </a:cubicBezTo>
                <a:close/>
              </a:path>
            </a:pathLst>
          </a:custGeom>
          <a:solidFill>
            <a:srgbClr val="1C6BC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Freeform 473"/>
          <p:cNvSpPr/>
          <p:nvPr/>
        </p:nvSpPr>
        <p:spPr>
          <a:xfrm>
            <a:off x="565150" y="3892550"/>
            <a:ext cx="654050" cy="654050"/>
          </a:xfrm>
          <a:custGeom>
            <a:avLst/>
            <a:gdLst>
              <a:gd name="connsiteX0" fmla="*/ 12445 w 654050"/>
              <a:gd name="connsiteY0" fmla="*/ 341121 h 654050"/>
              <a:gd name="connsiteX1" fmla="*/ 336537 w 654050"/>
              <a:gd name="connsiteY1" fmla="*/ 16167 h 654050"/>
              <a:gd name="connsiteX2" fmla="*/ 661161 w 654050"/>
              <a:gd name="connsiteY2" fmla="*/ 340804 h 654050"/>
              <a:gd name="connsiteX3" fmla="*/ 336537 w 654050"/>
              <a:gd name="connsiteY3" fmla="*/ 665429 h 654050"/>
              <a:gd name="connsiteX4" fmla="*/ 12445 w 654050"/>
              <a:gd name="connsiteY4" fmla="*/ 341121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050" h="654050">
                <a:moveTo>
                  <a:pt x="12445" y="341121"/>
                </a:moveTo>
                <a:cubicBezTo>
                  <a:pt x="11899" y="161506"/>
                  <a:pt x="157238" y="16167"/>
                  <a:pt x="336537" y="16167"/>
                </a:cubicBezTo>
                <a:cubicBezTo>
                  <a:pt x="515823" y="16167"/>
                  <a:pt x="661161" y="161506"/>
                  <a:pt x="661161" y="340804"/>
                </a:cubicBezTo>
                <a:cubicBezTo>
                  <a:pt x="661161" y="520090"/>
                  <a:pt x="515823" y="665429"/>
                  <a:pt x="336537" y="665429"/>
                </a:cubicBezTo>
                <a:cubicBezTo>
                  <a:pt x="157238" y="665429"/>
                  <a:pt x="11899" y="520090"/>
                  <a:pt x="12445" y="341121"/>
                </a:cubicBezTo>
                <a:close/>
              </a:path>
            </a:pathLst>
          </a:custGeom>
          <a:solidFill>
            <a:srgbClr val="1C6BC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Freeform 474"/>
          <p:cNvSpPr/>
          <p:nvPr/>
        </p:nvSpPr>
        <p:spPr>
          <a:xfrm>
            <a:off x="3587750" y="3892550"/>
            <a:ext cx="654050" cy="654050"/>
          </a:xfrm>
          <a:custGeom>
            <a:avLst/>
            <a:gdLst>
              <a:gd name="connsiteX0" fmla="*/ 10414 w 654050"/>
              <a:gd name="connsiteY0" fmla="*/ 341121 h 654050"/>
              <a:gd name="connsiteX1" fmla="*/ 335140 w 654050"/>
              <a:gd name="connsiteY1" fmla="*/ 16167 h 654050"/>
              <a:gd name="connsiteX2" fmla="*/ 659777 w 654050"/>
              <a:gd name="connsiteY2" fmla="*/ 340804 h 654050"/>
              <a:gd name="connsiteX3" fmla="*/ 335140 w 654050"/>
              <a:gd name="connsiteY3" fmla="*/ 665429 h 654050"/>
              <a:gd name="connsiteX4" fmla="*/ 10414 w 654050"/>
              <a:gd name="connsiteY4" fmla="*/ 341121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050" h="654050">
                <a:moveTo>
                  <a:pt x="10414" y="341121"/>
                </a:moveTo>
                <a:cubicBezTo>
                  <a:pt x="10502" y="161506"/>
                  <a:pt x="155841" y="16167"/>
                  <a:pt x="335140" y="16167"/>
                </a:cubicBezTo>
                <a:cubicBezTo>
                  <a:pt x="514426" y="16167"/>
                  <a:pt x="659777" y="161506"/>
                  <a:pt x="659777" y="340804"/>
                </a:cubicBezTo>
                <a:cubicBezTo>
                  <a:pt x="659777" y="520090"/>
                  <a:pt x="514426" y="665429"/>
                  <a:pt x="335140" y="665429"/>
                </a:cubicBezTo>
                <a:cubicBezTo>
                  <a:pt x="155841" y="665429"/>
                  <a:pt x="10502" y="520090"/>
                  <a:pt x="10414" y="341121"/>
                </a:cubicBezTo>
                <a:close/>
              </a:path>
            </a:pathLst>
          </a:custGeom>
          <a:solidFill>
            <a:srgbClr val="1C6BC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Freeform 475"/>
          <p:cNvSpPr/>
          <p:nvPr/>
        </p:nvSpPr>
        <p:spPr>
          <a:xfrm>
            <a:off x="565150" y="4870450"/>
            <a:ext cx="654050" cy="654050"/>
          </a:xfrm>
          <a:custGeom>
            <a:avLst/>
            <a:gdLst>
              <a:gd name="connsiteX0" fmla="*/ 12445 w 654050"/>
              <a:gd name="connsiteY0" fmla="*/ 340105 h 654050"/>
              <a:gd name="connsiteX1" fmla="*/ 336537 w 654050"/>
              <a:gd name="connsiteY1" fmla="*/ 15290 h 654050"/>
              <a:gd name="connsiteX2" fmla="*/ 661161 w 654050"/>
              <a:gd name="connsiteY2" fmla="*/ 339928 h 654050"/>
              <a:gd name="connsiteX3" fmla="*/ 336537 w 654050"/>
              <a:gd name="connsiteY3" fmla="*/ 664565 h 654050"/>
              <a:gd name="connsiteX4" fmla="*/ 12445 w 654050"/>
              <a:gd name="connsiteY4" fmla="*/ 340105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050" h="654050">
                <a:moveTo>
                  <a:pt x="12445" y="340105"/>
                </a:moveTo>
                <a:cubicBezTo>
                  <a:pt x="11899" y="160642"/>
                  <a:pt x="157238" y="15290"/>
                  <a:pt x="336537" y="15290"/>
                </a:cubicBezTo>
                <a:cubicBezTo>
                  <a:pt x="515823" y="15290"/>
                  <a:pt x="661161" y="160642"/>
                  <a:pt x="661161" y="339928"/>
                </a:cubicBezTo>
                <a:cubicBezTo>
                  <a:pt x="661161" y="519214"/>
                  <a:pt x="515823" y="664565"/>
                  <a:pt x="336537" y="664565"/>
                </a:cubicBezTo>
                <a:cubicBezTo>
                  <a:pt x="157238" y="664565"/>
                  <a:pt x="11899" y="519214"/>
                  <a:pt x="12445" y="340105"/>
                </a:cubicBezTo>
                <a:close/>
              </a:path>
            </a:pathLst>
          </a:custGeom>
          <a:solidFill>
            <a:srgbClr val="1C6BC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Freeform 476"/>
          <p:cNvSpPr/>
          <p:nvPr/>
        </p:nvSpPr>
        <p:spPr>
          <a:xfrm>
            <a:off x="3587750" y="4870450"/>
            <a:ext cx="654050" cy="654050"/>
          </a:xfrm>
          <a:custGeom>
            <a:avLst/>
            <a:gdLst>
              <a:gd name="connsiteX0" fmla="*/ 10414 w 654050"/>
              <a:gd name="connsiteY0" fmla="*/ 340105 h 654050"/>
              <a:gd name="connsiteX1" fmla="*/ 335140 w 654050"/>
              <a:gd name="connsiteY1" fmla="*/ 15290 h 654050"/>
              <a:gd name="connsiteX2" fmla="*/ 659777 w 654050"/>
              <a:gd name="connsiteY2" fmla="*/ 339928 h 654050"/>
              <a:gd name="connsiteX3" fmla="*/ 335140 w 654050"/>
              <a:gd name="connsiteY3" fmla="*/ 664565 h 654050"/>
              <a:gd name="connsiteX4" fmla="*/ 10414 w 654050"/>
              <a:gd name="connsiteY4" fmla="*/ 340105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050" h="654050">
                <a:moveTo>
                  <a:pt x="10414" y="340105"/>
                </a:moveTo>
                <a:cubicBezTo>
                  <a:pt x="10502" y="160642"/>
                  <a:pt x="155841" y="15290"/>
                  <a:pt x="335140" y="15290"/>
                </a:cubicBezTo>
                <a:cubicBezTo>
                  <a:pt x="514426" y="15290"/>
                  <a:pt x="659777" y="160642"/>
                  <a:pt x="659777" y="339928"/>
                </a:cubicBezTo>
                <a:cubicBezTo>
                  <a:pt x="659777" y="519214"/>
                  <a:pt x="514426" y="664565"/>
                  <a:pt x="335140" y="664565"/>
                </a:cubicBezTo>
                <a:cubicBezTo>
                  <a:pt x="155841" y="664565"/>
                  <a:pt x="10502" y="519214"/>
                  <a:pt x="10414" y="340105"/>
                </a:cubicBezTo>
                <a:close/>
              </a:path>
            </a:pathLst>
          </a:custGeom>
          <a:solidFill>
            <a:srgbClr val="1C6BC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8" name="Picture 4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620" y="4312920"/>
            <a:ext cx="5478780" cy="1813560"/>
          </a:xfrm>
          <a:prstGeom prst="rect">
            <a:avLst/>
          </a:prstGeom>
        </p:spPr>
      </p:pic>
      <p:pic>
        <p:nvPicPr>
          <p:cNvPr id="479" name="Picture 4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3116580"/>
            <a:ext cx="312420" cy="289560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80" y="2369820"/>
            <a:ext cx="5143500" cy="1874520"/>
          </a:xfrm>
          <a:prstGeom prst="rect">
            <a:avLst/>
          </a:prstGeom>
        </p:spPr>
      </p:pic>
      <p:sp>
        <p:nvSpPr>
          <p:cNvPr id="2" name="TextBox 480"/>
          <p:cNvSpPr txBox="1"/>
          <p:nvPr/>
        </p:nvSpPr>
        <p:spPr>
          <a:xfrm>
            <a:off x="376554" y="289633"/>
            <a:ext cx="11133909" cy="26505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4" dirty="0">
                <a:solidFill>
                  <a:srgbClr val="242424"/>
                </a:solidFill>
                <a:latin typeface="宋体"/>
                <a:ea typeface="宋体"/>
              </a:rPr>
              <a:t>提示语链的设计</a:t>
            </a:r>
            <a:r>
              <a:rPr lang="zh-CN" altLang="en-US" sz="4000" b="1" spc="250" dirty="0">
                <a:solidFill>
                  <a:srgbClr val="242424"/>
                </a:solidFill>
                <a:latin typeface="宋体"/>
                <a:ea typeface="宋体"/>
              </a:rPr>
              <a:t>原则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9"/>
              </a:lnSpc>
            </a:pPr>
            <a:endParaRPr lang="en-US" dirty="0"/>
          </a:p>
          <a:p>
            <a:pPr marL="262889" hangingPunct="0">
              <a:lnSpc>
                <a:spcPct val="129583"/>
              </a:lnSpc>
            </a:pPr>
            <a:r>
              <a:rPr lang="zh-CN" altLang="en-US" sz="1800" spc="20" dirty="0">
                <a:solidFill>
                  <a:srgbClr val="000000"/>
                </a:solidFill>
                <a:latin typeface="宋体"/>
                <a:ea typeface="宋体"/>
              </a:rPr>
              <a:t>提示语链的设计需要</a:t>
            </a:r>
            <a:r>
              <a:rPr lang="zh-CN" altLang="en-US" sz="1800" spc="15" dirty="0">
                <a:solidFill>
                  <a:srgbClr val="000000"/>
                </a:solidFill>
                <a:latin typeface="宋体"/>
                <a:ea typeface="宋体"/>
              </a:rPr>
              <a:t>遵循一定的原则，以确保其在任务执行中的有效性和连贯性。这些原则为提示语链的构</a:t>
            </a:r>
            <a:r>
              <a:rPr lang="zh-CN" altLang="en-US" sz="1800" spc="20" dirty="0">
                <a:solidFill>
                  <a:srgbClr val="000000"/>
                </a:solidFill>
                <a:latin typeface="宋体"/>
                <a:ea typeface="宋体"/>
              </a:rPr>
              <a:t>建提供了清晰的指导</a:t>
            </a:r>
            <a:r>
              <a:rPr lang="zh-CN" altLang="en-US" sz="1800" spc="15" dirty="0">
                <a:solidFill>
                  <a:srgbClr val="000000"/>
                </a:solidFill>
                <a:latin typeface="宋体"/>
                <a:ea typeface="宋体"/>
              </a:rPr>
              <a:t>，帮助系统地组织和引导任务的分解与处理，以下是设计提示语链时应该考虑的关键原</a:t>
            </a: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则：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50"/>
              </a:lnSpc>
            </a:pPr>
            <a:endParaRPr lang="en-US" dirty="0"/>
          </a:p>
          <a:p>
            <a:pPr marL="0" indent="6448260">
              <a:lnSpc>
                <a:spcPct val="100416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确保提示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语之间存在清晰的逻辑关系，避免跳跃性太</a:t>
            </a:r>
          </a:p>
        </p:txBody>
      </p:sp>
      <p:sp>
        <p:nvSpPr>
          <p:cNvPr id="481" name="TextBox 481"/>
          <p:cNvSpPr txBox="1"/>
          <p:nvPr/>
        </p:nvSpPr>
        <p:spPr>
          <a:xfrm>
            <a:off x="679513" y="2940136"/>
            <a:ext cx="510049" cy="29310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246250"/>
              </a:lnSpc>
            </a:pPr>
            <a:r>
              <a:rPr lang="en-US" altLang="zh-CN" sz="2600" spc="125" dirty="0">
                <a:solidFill>
                  <a:srgbClr val="FEFEFE"/>
                </a:solidFill>
                <a:latin typeface="Arial"/>
                <a:ea typeface="Arial"/>
              </a:rPr>
              <a:t>01</a:t>
            </a:r>
            <a:r>
              <a:rPr lang="en-US" altLang="zh-CN" sz="260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lang="en-US" altLang="zh-CN" sz="2600" spc="125" dirty="0">
                <a:solidFill>
                  <a:srgbClr val="FEFEFE"/>
                </a:solidFill>
                <a:latin typeface="Arial"/>
                <a:ea typeface="Arial"/>
              </a:rPr>
              <a:t>03</a:t>
            </a:r>
            <a:r>
              <a:rPr lang="en-US" altLang="zh-CN" sz="260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lang="en-US" altLang="zh-CN" sz="2600" spc="145" dirty="0">
                <a:solidFill>
                  <a:srgbClr val="FEFEFE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482" name="TextBox 482"/>
          <p:cNvSpPr txBox="1"/>
          <p:nvPr/>
        </p:nvSpPr>
        <p:spPr>
          <a:xfrm>
            <a:off x="1541297" y="3121469"/>
            <a:ext cx="1231882" cy="2231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19" dirty="0">
                <a:solidFill>
                  <a:srgbClr val="3F3F3F"/>
                </a:solidFill>
                <a:latin typeface="宋体"/>
                <a:ea typeface="宋体"/>
              </a:rPr>
              <a:t>目标明</a:t>
            </a:r>
            <a:r>
              <a:rPr lang="zh-CN" altLang="en-US" sz="1800" spc="114" dirty="0">
                <a:solidFill>
                  <a:srgbClr val="3F3F3F"/>
                </a:solidFill>
                <a:latin typeface="宋体"/>
                <a:ea typeface="宋体"/>
              </a:rPr>
              <a:t>确性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119" dirty="0">
                <a:solidFill>
                  <a:srgbClr val="3F3F3F"/>
                </a:solidFill>
                <a:latin typeface="宋体"/>
                <a:ea typeface="宋体"/>
              </a:rPr>
              <a:t>渐进复</a:t>
            </a:r>
            <a:r>
              <a:rPr lang="zh-CN" altLang="en-US" sz="1800" spc="114" dirty="0">
                <a:solidFill>
                  <a:srgbClr val="3F3F3F"/>
                </a:solidFill>
                <a:latin typeface="宋体"/>
                <a:ea typeface="宋体"/>
              </a:rPr>
              <a:t>杂性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119" dirty="0">
                <a:solidFill>
                  <a:srgbClr val="3F3F3F"/>
                </a:solidFill>
                <a:latin typeface="宋体"/>
                <a:ea typeface="宋体"/>
              </a:rPr>
              <a:t>多样性</a:t>
            </a:r>
            <a:r>
              <a:rPr lang="zh-CN" altLang="en-US" sz="1800" spc="114" dirty="0">
                <a:solidFill>
                  <a:srgbClr val="3F3F3F"/>
                </a:solidFill>
                <a:latin typeface="宋体"/>
                <a:ea typeface="宋体"/>
              </a:rPr>
              <a:t>思考</a:t>
            </a:r>
          </a:p>
        </p:txBody>
      </p:sp>
      <p:sp>
        <p:nvSpPr>
          <p:cNvPr id="483" name="TextBox 483"/>
          <p:cNvSpPr txBox="1"/>
          <p:nvPr/>
        </p:nvSpPr>
        <p:spPr>
          <a:xfrm>
            <a:off x="3700716" y="2940136"/>
            <a:ext cx="510049" cy="29310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246250"/>
              </a:lnSpc>
            </a:pPr>
            <a:r>
              <a:rPr lang="en-US" altLang="zh-CN" sz="2600" spc="125" dirty="0">
                <a:solidFill>
                  <a:srgbClr val="FEFEFE"/>
                </a:solidFill>
                <a:latin typeface="Arial"/>
                <a:ea typeface="Arial"/>
              </a:rPr>
              <a:t>02</a:t>
            </a:r>
            <a:r>
              <a:rPr lang="en-US" altLang="zh-CN" sz="260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lang="en-US" altLang="zh-CN" sz="2600" spc="125" dirty="0">
                <a:solidFill>
                  <a:srgbClr val="FEFEFE"/>
                </a:solidFill>
                <a:latin typeface="Arial"/>
                <a:ea typeface="Arial"/>
              </a:rPr>
              <a:t>04</a:t>
            </a:r>
            <a:r>
              <a:rPr lang="en-US" altLang="zh-CN" sz="260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lang="en-US" altLang="zh-CN" sz="2600" spc="145" dirty="0">
                <a:solidFill>
                  <a:srgbClr val="FEFEFE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484" name="TextBox 484"/>
          <p:cNvSpPr txBox="1"/>
          <p:nvPr/>
        </p:nvSpPr>
        <p:spPr>
          <a:xfrm>
            <a:off x="4633620" y="3121469"/>
            <a:ext cx="1403968" cy="2211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19" dirty="0">
                <a:solidFill>
                  <a:srgbClr val="3F3F3F"/>
                </a:solidFill>
                <a:latin typeface="宋体"/>
                <a:ea typeface="宋体"/>
              </a:rPr>
              <a:t>逻辑连</a:t>
            </a:r>
            <a:r>
              <a:rPr lang="zh-CN" altLang="en-US" sz="1800" spc="114" dirty="0">
                <a:solidFill>
                  <a:srgbClr val="3F3F3F"/>
                </a:solidFill>
                <a:latin typeface="宋体"/>
                <a:ea typeface="宋体"/>
              </a:rPr>
              <a:t>贯性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119" dirty="0">
                <a:solidFill>
                  <a:srgbClr val="3F3F3F"/>
                </a:solidFill>
                <a:latin typeface="宋体"/>
                <a:ea typeface="宋体"/>
              </a:rPr>
              <a:t>灵活适</a:t>
            </a:r>
            <a:r>
              <a:rPr lang="zh-CN" altLang="en-US" sz="1800" spc="114" dirty="0">
                <a:solidFill>
                  <a:srgbClr val="3F3F3F"/>
                </a:solidFill>
                <a:latin typeface="宋体"/>
                <a:ea typeface="宋体"/>
              </a:rPr>
              <a:t>应性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0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700" spc="130" dirty="0">
                <a:solidFill>
                  <a:srgbClr val="3F3F3F"/>
                </a:solidFill>
                <a:latin typeface="宋体"/>
                <a:ea typeface="宋体"/>
              </a:rPr>
              <a:t>反馈整</a:t>
            </a:r>
            <a:r>
              <a:rPr lang="zh-CN" altLang="en-US" sz="1700" spc="120" dirty="0">
                <a:solidFill>
                  <a:srgbClr val="3F3F3F"/>
                </a:solidFill>
                <a:latin typeface="宋体"/>
                <a:ea typeface="宋体"/>
              </a:rPr>
              <a:t>合机制</a:t>
            </a:r>
          </a:p>
        </p:txBody>
      </p:sp>
      <p:sp>
        <p:nvSpPr>
          <p:cNvPr id="485" name="TextBox 485"/>
          <p:cNvSpPr txBox="1"/>
          <p:nvPr/>
        </p:nvSpPr>
        <p:spPr>
          <a:xfrm>
            <a:off x="6824815" y="2940908"/>
            <a:ext cx="4685649" cy="33905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强。每个提示语应该自然地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引导到下一个提示语，形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成一个连贯的思维链条。这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个过程可以将提示语链设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计成模块化的结构，使其易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于调整和重用，提高提示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语链的灵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活性和效率。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45"/>
              </a:lnSpc>
            </a:pPr>
            <a:endParaRPr lang="en-US" dirty="0"/>
          </a:p>
          <a:p>
            <a:pPr marL="0" indent="1234604">
              <a:lnSpc>
                <a:spcPct val="111249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模块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化提示语链设计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Freeform 486"/>
          <p:cNvSpPr/>
          <p:nvPr/>
        </p:nvSpPr>
        <p:spPr>
          <a:xfrm>
            <a:off x="4641850" y="2597150"/>
            <a:ext cx="2952750" cy="2965450"/>
          </a:xfrm>
          <a:custGeom>
            <a:avLst/>
            <a:gdLst>
              <a:gd name="connsiteX0" fmla="*/ 6350 w 2952750"/>
              <a:gd name="connsiteY0" fmla="*/ 1491741 h 2965450"/>
              <a:gd name="connsiteX1" fmla="*/ 1480820 w 2952750"/>
              <a:gd name="connsiteY1" fmla="*/ 17145 h 2965450"/>
              <a:gd name="connsiteX2" fmla="*/ 2955925 w 2952750"/>
              <a:gd name="connsiteY2" fmla="*/ 1492250 h 2965450"/>
              <a:gd name="connsiteX3" fmla="*/ 1480820 w 2952750"/>
              <a:gd name="connsiteY3" fmla="*/ 2967354 h 2965450"/>
              <a:gd name="connsiteX4" fmla="*/ 6350 w 2952750"/>
              <a:gd name="connsiteY4" fmla="*/ 1491741 h 296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750" h="2965450">
                <a:moveTo>
                  <a:pt x="6350" y="1491741"/>
                </a:moveTo>
                <a:cubicBezTo>
                  <a:pt x="5715" y="677570"/>
                  <a:pt x="666140" y="17145"/>
                  <a:pt x="1480820" y="17145"/>
                </a:cubicBezTo>
                <a:cubicBezTo>
                  <a:pt x="2295499" y="17145"/>
                  <a:pt x="2955925" y="677570"/>
                  <a:pt x="2955925" y="1492250"/>
                </a:cubicBezTo>
                <a:cubicBezTo>
                  <a:pt x="2955925" y="2306929"/>
                  <a:pt x="2295499" y="2967354"/>
                  <a:pt x="1480820" y="2967354"/>
                </a:cubicBezTo>
                <a:cubicBezTo>
                  <a:pt x="666140" y="2967354"/>
                  <a:pt x="5715" y="2306929"/>
                  <a:pt x="6350" y="1491741"/>
                </a:cubicBezTo>
                <a:close/>
              </a:path>
            </a:pathLst>
          </a:custGeom>
          <a:solidFill>
            <a:srgbClr val="9EBFE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8" name="Picture 4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" y="2484120"/>
            <a:ext cx="9852660" cy="2994660"/>
          </a:xfrm>
          <a:prstGeom prst="rect">
            <a:avLst/>
          </a:prstGeom>
        </p:spPr>
      </p:pic>
      <p:sp>
        <p:nvSpPr>
          <p:cNvPr id="2" name="TextBox 488"/>
          <p:cNvSpPr txBox="1"/>
          <p:nvPr/>
        </p:nvSpPr>
        <p:spPr>
          <a:xfrm>
            <a:off x="376554" y="289633"/>
            <a:ext cx="11121373" cy="16891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4" dirty="0">
                <a:solidFill>
                  <a:srgbClr val="242424"/>
                </a:solidFill>
                <a:latin typeface="宋体"/>
                <a:ea typeface="宋体"/>
              </a:rPr>
              <a:t>提示语链的设计</a:t>
            </a:r>
            <a:r>
              <a:rPr lang="zh-CN" altLang="en-US" sz="4000" b="1" spc="250" dirty="0">
                <a:solidFill>
                  <a:srgbClr val="242424"/>
                </a:solidFill>
                <a:latin typeface="宋体"/>
                <a:ea typeface="宋体"/>
              </a:rPr>
              <a:t>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9"/>
              </a:lnSpc>
            </a:pPr>
            <a:endParaRPr lang="en-US" dirty="0"/>
          </a:p>
          <a:p>
            <a:pPr marL="262889" hangingPunct="0">
              <a:lnSpc>
                <a:spcPct val="129583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为了更好地理解和设计提示语链，可采用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CIRS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模型（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Context,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Instruction,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Refinement,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Synthesis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）。这个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模型概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括了提示语链设计的四个关键环节：</a:t>
            </a:r>
          </a:p>
        </p:txBody>
      </p:sp>
      <p:sp>
        <p:nvSpPr>
          <p:cNvPr id="489" name="TextBox 489"/>
          <p:cNvSpPr txBox="1"/>
          <p:nvPr/>
        </p:nvSpPr>
        <p:spPr>
          <a:xfrm>
            <a:off x="1908810" y="2719222"/>
            <a:ext cx="8320387" cy="2891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5416"/>
              </a:lnSpc>
              <a:tabLst>
                <a:tab pos="5843905" algn="l"/>
              </a:tabLst>
            </a:pPr>
            <a:r>
              <a:rPr lang="zh-CN" altLang="en-US" sz="1800" spc="259" dirty="0">
                <a:solidFill>
                  <a:srgbClr val="A2CB87"/>
                </a:solidFill>
                <a:latin typeface="宋体"/>
                <a:ea typeface="宋体"/>
              </a:rPr>
              <a:t>Refinement</a:t>
            </a:r>
            <a:r>
              <a:rPr lang="zh-CN" altLang="en-US" sz="1800" spc="525" dirty="0">
                <a:solidFill>
                  <a:srgbClr val="A2CB87"/>
                </a:solidFill>
                <a:latin typeface="宋体"/>
                <a:ea typeface="宋体"/>
              </a:rPr>
              <a:t>（优化）	</a:t>
            </a:r>
            <a:r>
              <a:rPr lang="en-US" altLang="zh-CN" sz="1800" spc="154" dirty="0">
                <a:solidFill>
                  <a:srgbClr val="77D2C6"/>
                </a:solidFill>
                <a:latin typeface="Arial"/>
                <a:ea typeface="Arial"/>
              </a:rPr>
              <a:t>Context</a:t>
            </a:r>
            <a:r>
              <a:rPr lang="en-US" altLang="zh-CN" sz="1800" spc="94" dirty="0">
                <a:solidFill>
                  <a:srgbClr val="77D2C6"/>
                </a:solidFill>
                <a:latin typeface="Arial"/>
                <a:cs typeface="Arial"/>
              </a:rPr>
              <a:t> </a:t>
            </a:r>
            <a:r>
              <a:rPr lang="zh-CN" altLang="en-US" sz="1800" spc="315" dirty="0">
                <a:solidFill>
                  <a:srgbClr val="77D2C6"/>
                </a:solidFill>
                <a:latin typeface="宋体"/>
                <a:ea typeface="宋体"/>
              </a:rPr>
              <a:t>（上下文）</a:t>
            </a:r>
          </a:p>
        </p:txBody>
      </p:sp>
      <p:sp>
        <p:nvSpPr>
          <p:cNvPr id="490" name="TextBox 490"/>
          <p:cNvSpPr txBox="1"/>
          <p:nvPr/>
        </p:nvSpPr>
        <p:spPr>
          <a:xfrm>
            <a:off x="1438910" y="3463442"/>
            <a:ext cx="3345797" cy="24881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39" dirty="0">
                <a:solidFill>
                  <a:srgbClr val="3F3F3F"/>
                </a:solidFill>
                <a:latin typeface="宋体"/>
                <a:ea typeface="宋体"/>
              </a:rPr>
              <a:t>对初步输</a:t>
            </a:r>
            <a:r>
              <a:rPr lang="zh-CN" altLang="en-US" sz="1800" spc="135" dirty="0">
                <a:solidFill>
                  <a:srgbClr val="3F3F3F"/>
                </a:solidFill>
                <a:latin typeface="宋体"/>
                <a:ea typeface="宋体"/>
              </a:rPr>
              <a:t>出进行修改和完善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19"/>
              </a:lnSpc>
            </a:pPr>
            <a:endParaRPr lang="en-US" dirty="0"/>
          </a:p>
          <a:p>
            <a:pPr marL="0" indent="235585">
              <a:lnSpc>
                <a:spcPct val="100000"/>
              </a:lnSpc>
            </a:pPr>
            <a:r>
              <a:rPr lang="zh-CN" altLang="en-US" sz="2000" spc="209" dirty="0">
                <a:solidFill>
                  <a:srgbClr val="006EBF"/>
                </a:solidFill>
                <a:latin typeface="宋体"/>
                <a:ea typeface="宋体"/>
              </a:rPr>
              <a:t>Synthesis</a:t>
            </a:r>
            <a:r>
              <a:rPr lang="zh-CN" altLang="en-US" sz="2000" spc="435" dirty="0">
                <a:solidFill>
                  <a:srgbClr val="006EBF"/>
                </a:solidFill>
                <a:latin typeface="宋体"/>
                <a:ea typeface="宋体"/>
              </a:rPr>
              <a:t>（</a:t>
            </a:r>
            <a:r>
              <a:rPr lang="zh-CN" altLang="en-US" sz="2000" spc="430" dirty="0">
                <a:solidFill>
                  <a:srgbClr val="006EBF"/>
                </a:solidFill>
                <a:latin typeface="宋体"/>
                <a:ea typeface="宋体"/>
              </a:rPr>
              <a:t>综合）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94"/>
              </a:lnSpc>
            </a:pPr>
            <a:endParaRPr lang="en-US" dirty="0"/>
          </a:p>
          <a:p>
            <a:pPr marL="0" indent="132714">
              <a:lnSpc>
                <a:spcPct val="101250"/>
              </a:lnSpc>
            </a:pPr>
            <a:r>
              <a:rPr lang="zh-CN" altLang="en-US" sz="1800" spc="139" dirty="0">
                <a:solidFill>
                  <a:srgbClr val="3F3F3F"/>
                </a:solidFill>
                <a:latin typeface="宋体"/>
                <a:ea typeface="宋体"/>
              </a:rPr>
              <a:t>整合所有输出，</a:t>
            </a:r>
            <a:r>
              <a:rPr lang="zh-CN" altLang="en-US" sz="1800" spc="135" dirty="0">
                <a:solidFill>
                  <a:srgbClr val="3F3F3F"/>
                </a:solidFill>
                <a:latin typeface="宋体"/>
                <a:ea typeface="宋体"/>
              </a:rPr>
              <a:t>形成最终成果</a:t>
            </a:r>
          </a:p>
        </p:txBody>
      </p:sp>
      <p:sp>
        <p:nvSpPr>
          <p:cNvPr id="491" name="TextBox 491"/>
          <p:cNvSpPr txBox="1"/>
          <p:nvPr/>
        </p:nvSpPr>
        <p:spPr>
          <a:xfrm>
            <a:off x="7822565" y="3463442"/>
            <a:ext cx="3003532" cy="24881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85750">
              <a:lnSpc>
                <a:spcPct val="101250"/>
              </a:lnSpc>
            </a:pPr>
            <a:r>
              <a:rPr lang="zh-CN" altLang="en-US" sz="1800" spc="139" dirty="0">
                <a:solidFill>
                  <a:srgbClr val="3F3F3F"/>
                </a:solidFill>
                <a:latin typeface="宋体"/>
                <a:ea typeface="宋体"/>
              </a:rPr>
              <a:t>提</a:t>
            </a:r>
            <a:r>
              <a:rPr lang="zh-CN" altLang="en-US" sz="1800" spc="135" dirty="0">
                <a:solidFill>
                  <a:srgbClr val="3F3F3F"/>
                </a:solidFill>
                <a:latin typeface="宋体"/>
                <a:ea typeface="宋体"/>
              </a:rPr>
              <a:t>供背景信息和任务概述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spc="185" dirty="0">
                <a:solidFill>
                  <a:srgbClr val="FEB853"/>
                </a:solidFill>
                <a:latin typeface="Arial"/>
                <a:ea typeface="Arial"/>
              </a:rPr>
              <a:t>Instruction</a:t>
            </a:r>
            <a:r>
              <a:rPr lang="en-US" altLang="zh-CN" sz="1800" spc="-189" dirty="0">
                <a:solidFill>
                  <a:srgbClr val="FEB853"/>
                </a:solidFill>
                <a:latin typeface="Arial"/>
                <a:cs typeface="Arial"/>
              </a:rPr>
              <a:t> </a:t>
            </a:r>
            <a:r>
              <a:rPr lang="zh-CN" altLang="en-US" sz="1800" spc="459" dirty="0">
                <a:solidFill>
                  <a:srgbClr val="FEB853"/>
                </a:solidFill>
                <a:latin typeface="宋体"/>
                <a:ea typeface="宋体"/>
              </a:rPr>
              <a:t>（指令）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0"/>
              </a:lnSpc>
            </a:pPr>
            <a:endParaRPr lang="en-US" dirty="0"/>
          </a:p>
          <a:p>
            <a:pPr marL="0" indent="993140">
              <a:lnSpc>
                <a:spcPct val="101250"/>
              </a:lnSpc>
            </a:pPr>
            <a:r>
              <a:rPr lang="zh-CN" altLang="en-US" sz="1800" spc="129" dirty="0">
                <a:solidFill>
                  <a:srgbClr val="3F3F3F"/>
                </a:solidFill>
                <a:latin typeface="宋体"/>
                <a:ea typeface="宋体"/>
              </a:rPr>
              <a:t>给出具</a:t>
            </a:r>
            <a:r>
              <a:rPr lang="zh-CN" altLang="en-US" sz="1800" spc="125" dirty="0">
                <a:solidFill>
                  <a:srgbClr val="3F3F3F"/>
                </a:solidFill>
                <a:latin typeface="宋体"/>
                <a:ea typeface="宋体"/>
              </a:rPr>
              <a:t>体的指示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Picture 4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2232660"/>
            <a:ext cx="11856720" cy="2506980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433060"/>
            <a:ext cx="1356360" cy="868680"/>
          </a:xfrm>
          <a:prstGeom prst="rect">
            <a:avLst/>
          </a:prstGeom>
        </p:spPr>
      </p:pic>
      <p:sp>
        <p:nvSpPr>
          <p:cNvPr id="2" name="Freeform 494"/>
          <p:cNvSpPr/>
          <p:nvPr/>
        </p:nvSpPr>
        <p:spPr>
          <a:xfrm>
            <a:off x="1670050" y="5835650"/>
            <a:ext cx="285750" cy="95250"/>
          </a:xfrm>
          <a:custGeom>
            <a:avLst/>
            <a:gdLst>
              <a:gd name="connsiteX0" fmla="*/ 12445 w 285750"/>
              <a:gd name="connsiteY0" fmla="*/ 33273 h 95250"/>
              <a:gd name="connsiteX1" fmla="*/ 239522 w 285750"/>
              <a:gd name="connsiteY1" fmla="*/ 33273 h 95250"/>
              <a:gd name="connsiteX2" fmla="*/ 239522 w 285750"/>
              <a:gd name="connsiteY2" fmla="*/ 8890 h 95250"/>
              <a:gd name="connsiteX3" fmla="*/ 288289 w 285750"/>
              <a:gd name="connsiteY3" fmla="*/ 57658 h 95250"/>
              <a:gd name="connsiteX4" fmla="*/ 239522 w 285750"/>
              <a:gd name="connsiteY4" fmla="*/ 106426 h 95250"/>
              <a:gd name="connsiteX5" fmla="*/ 239522 w 285750"/>
              <a:gd name="connsiteY5" fmla="*/ 82041 h 95250"/>
              <a:gd name="connsiteX6" fmla="*/ 12445 w 285750"/>
              <a:gd name="connsiteY6" fmla="*/ 82041 h 95250"/>
              <a:gd name="connsiteX7" fmla="*/ 12445 w 285750"/>
              <a:gd name="connsiteY7" fmla="*/ 33273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50" h="95250">
                <a:moveTo>
                  <a:pt x="12445" y="33273"/>
                </a:moveTo>
                <a:lnTo>
                  <a:pt x="239522" y="33273"/>
                </a:lnTo>
                <a:lnTo>
                  <a:pt x="239522" y="8890"/>
                </a:lnTo>
                <a:lnTo>
                  <a:pt x="288289" y="57658"/>
                </a:lnTo>
                <a:lnTo>
                  <a:pt x="239522" y="106426"/>
                </a:lnTo>
                <a:lnTo>
                  <a:pt x="239522" y="82041"/>
                </a:lnTo>
                <a:lnTo>
                  <a:pt x="12445" y="82041"/>
                </a:lnTo>
                <a:lnTo>
                  <a:pt x="12445" y="33273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Freeform 495"/>
          <p:cNvSpPr/>
          <p:nvPr/>
        </p:nvSpPr>
        <p:spPr>
          <a:xfrm>
            <a:off x="3359150" y="5810250"/>
            <a:ext cx="285750" cy="107950"/>
          </a:xfrm>
          <a:custGeom>
            <a:avLst/>
            <a:gdLst>
              <a:gd name="connsiteX0" fmla="*/ 16509 w 285750"/>
              <a:gd name="connsiteY0" fmla="*/ 40385 h 107950"/>
              <a:gd name="connsiteX1" fmla="*/ 243585 w 285750"/>
              <a:gd name="connsiteY1" fmla="*/ 40385 h 107950"/>
              <a:gd name="connsiteX2" fmla="*/ 243585 w 285750"/>
              <a:gd name="connsiteY2" fmla="*/ 16002 h 107950"/>
              <a:gd name="connsiteX3" fmla="*/ 292353 w 285750"/>
              <a:gd name="connsiteY3" fmla="*/ 64770 h 107950"/>
              <a:gd name="connsiteX4" fmla="*/ 243585 w 285750"/>
              <a:gd name="connsiteY4" fmla="*/ 113538 h 107950"/>
              <a:gd name="connsiteX5" fmla="*/ 243585 w 285750"/>
              <a:gd name="connsiteY5" fmla="*/ 89153 h 107950"/>
              <a:gd name="connsiteX6" fmla="*/ 16509 w 285750"/>
              <a:gd name="connsiteY6" fmla="*/ 89153 h 107950"/>
              <a:gd name="connsiteX7" fmla="*/ 16509 w 285750"/>
              <a:gd name="connsiteY7" fmla="*/ 40385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50" h="107950">
                <a:moveTo>
                  <a:pt x="16509" y="40385"/>
                </a:moveTo>
                <a:lnTo>
                  <a:pt x="243585" y="40385"/>
                </a:lnTo>
                <a:lnTo>
                  <a:pt x="243585" y="16002"/>
                </a:lnTo>
                <a:lnTo>
                  <a:pt x="292353" y="64770"/>
                </a:lnTo>
                <a:lnTo>
                  <a:pt x="243585" y="113538"/>
                </a:lnTo>
                <a:lnTo>
                  <a:pt x="243585" y="89153"/>
                </a:lnTo>
                <a:lnTo>
                  <a:pt x="16509" y="89153"/>
                </a:lnTo>
                <a:lnTo>
                  <a:pt x="16509" y="40385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7" name="Picture 4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580" y="5417820"/>
            <a:ext cx="1341120" cy="883919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5417820"/>
            <a:ext cx="1348740" cy="883919"/>
          </a:xfrm>
          <a:prstGeom prst="rect">
            <a:avLst/>
          </a:prstGeom>
        </p:spPr>
      </p:pic>
      <p:sp>
        <p:nvSpPr>
          <p:cNvPr id="3" name="Freeform 498"/>
          <p:cNvSpPr/>
          <p:nvPr/>
        </p:nvSpPr>
        <p:spPr>
          <a:xfrm>
            <a:off x="5060950" y="5835650"/>
            <a:ext cx="285750" cy="95250"/>
          </a:xfrm>
          <a:custGeom>
            <a:avLst/>
            <a:gdLst>
              <a:gd name="connsiteX0" fmla="*/ 17017 w 285750"/>
              <a:gd name="connsiteY0" fmla="*/ 33273 h 95250"/>
              <a:gd name="connsiteX1" fmla="*/ 244094 w 285750"/>
              <a:gd name="connsiteY1" fmla="*/ 33273 h 95250"/>
              <a:gd name="connsiteX2" fmla="*/ 244094 w 285750"/>
              <a:gd name="connsiteY2" fmla="*/ 8890 h 95250"/>
              <a:gd name="connsiteX3" fmla="*/ 292861 w 285750"/>
              <a:gd name="connsiteY3" fmla="*/ 57658 h 95250"/>
              <a:gd name="connsiteX4" fmla="*/ 244094 w 285750"/>
              <a:gd name="connsiteY4" fmla="*/ 106426 h 95250"/>
              <a:gd name="connsiteX5" fmla="*/ 244094 w 285750"/>
              <a:gd name="connsiteY5" fmla="*/ 82041 h 95250"/>
              <a:gd name="connsiteX6" fmla="*/ 17017 w 285750"/>
              <a:gd name="connsiteY6" fmla="*/ 82041 h 95250"/>
              <a:gd name="connsiteX7" fmla="*/ 17017 w 285750"/>
              <a:gd name="connsiteY7" fmla="*/ 33273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50" h="95250">
                <a:moveTo>
                  <a:pt x="17017" y="33273"/>
                </a:moveTo>
                <a:lnTo>
                  <a:pt x="244094" y="33273"/>
                </a:lnTo>
                <a:lnTo>
                  <a:pt x="244094" y="8890"/>
                </a:lnTo>
                <a:lnTo>
                  <a:pt x="292861" y="57658"/>
                </a:lnTo>
                <a:lnTo>
                  <a:pt x="244094" y="106426"/>
                </a:lnTo>
                <a:lnTo>
                  <a:pt x="244094" y="82041"/>
                </a:lnTo>
                <a:lnTo>
                  <a:pt x="17017" y="82041"/>
                </a:lnTo>
                <a:lnTo>
                  <a:pt x="17017" y="33273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580" y="5433060"/>
            <a:ext cx="1318260" cy="883919"/>
          </a:xfrm>
          <a:prstGeom prst="rect">
            <a:avLst/>
          </a:prstGeom>
        </p:spPr>
      </p:pic>
      <p:pic>
        <p:nvPicPr>
          <p:cNvPr id="501" name="Picture 5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8980" y="5417820"/>
            <a:ext cx="1318260" cy="899160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8720" y="5417820"/>
            <a:ext cx="1318260" cy="883919"/>
          </a:xfrm>
          <a:prstGeom prst="rect">
            <a:avLst/>
          </a:prstGeom>
        </p:spPr>
      </p:pic>
      <p:pic>
        <p:nvPicPr>
          <p:cNvPr id="503" name="Picture 50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6080" y="5402580"/>
            <a:ext cx="1341120" cy="914400"/>
          </a:xfrm>
          <a:prstGeom prst="rect">
            <a:avLst/>
          </a:prstGeom>
        </p:spPr>
      </p:pic>
      <p:sp>
        <p:nvSpPr>
          <p:cNvPr id="4" name="Freeform 503"/>
          <p:cNvSpPr/>
          <p:nvPr/>
        </p:nvSpPr>
        <p:spPr>
          <a:xfrm>
            <a:off x="8439150" y="5810250"/>
            <a:ext cx="285750" cy="107950"/>
          </a:xfrm>
          <a:custGeom>
            <a:avLst/>
            <a:gdLst>
              <a:gd name="connsiteX0" fmla="*/ 17526 w 285750"/>
              <a:gd name="connsiteY0" fmla="*/ 40385 h 107950"/>
              <a:gd name="connsiteX1" fmla="*/ 244602 w 285750"/>
              <a:gd name="connsiteY1" fmla="*/ 40385 h 107950"/>
              <a:gd name="connsiteX2" fmla="*/ 244602 w 285750"/>
              <a:gd name="connsiteY2" fmla="*/ 16002 h 107950"/>
              <a:gd name="connsiteX3" fmla="*/ 293369 w 285750"/>
              <a:gd name="connsiteY3" fmla="*/ 64770 h 107950"/>
              <a:gd name="connsiteX4" fmla="*/ 244602 w 285750"/>
              <a:gd name="connsiteY4" fmla="*/ 113538 h 107950"/>
              <a:gd name="connsiteX5" fmla="*/ 244602 w 285750"/>
              <a:gd name="connsiteY5" fmla="*/ 89153 h 107950"/>
              <a:gd name="connsiteX6" fmla="*/ 17526 w 285750"/>
              <a:gd name="connsiteY6" fmla="*/ 89153 h 107950"/>
              <a:gd name="connsiteX7" fmla="*/ 17526 w 285750"/>
              <a:gd name="connsiteY7" fmla="*/ 40385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50" h="107950">
                <a:moveTo>
                  <a:pt x="17526" y="40385"/>
                </a:moveTo>
                <a:lnTo>
                  <a:pt x="244602" y="40385"/>
                </a:lnTo>
                <a:lnTo>
                  <a:pt x="244602" y="16002"/>
                </a:lnTo>
                <a:lnTo>
                  <a:pt x="293369" y="64770"/>
                </a:lnTo>
                <a:lnTo>
                  <a:pt x="244602" y="113538"/>
                </a:lnTo>
                <a:lnTo>
                  <a:pt x="244602" y="89153"/>
                </a:lnTo>
                <a:lnTo>
                  <a:pt x="17526" y="89153"/>
                </a:lnTo>
                <a:lnTo>
                  <a:pt x="17526" y="40385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Freeform 504"/>
          <p:cNvSpPr/>
          <p:nvPr/>
        </p:nvSpPr>
        <p:spPr>
          <a:xfrm>
            <a:off x="6762750" y="5810250"/>
            <a:ext cx="285750" cy="107950"/>
          </a:xfrm>
          <a:custGeom>
            <a:avLst/>
            <a:gdLst>
              <a:gd name="connsiteX0" fmla="*/ 16002 w 285750"/>
              <a:gd name="connsiteY0" fmla="*/ 40385 h 107950"/>
              <a:gd name="connsiteX1" fmla="*/ 243078 w 285750"/>
              <a:gd name="connsiteY1" fmla="*/ 40385 h 107950"/>
              <a:gd name="connsiteX2" fmla="*/ 243078 w 285750"/>
              <a:gd name="connsiteY2" fmla="*/ 16002 h 107950"/>
              <a:gd name="connsiteX3" fmla="*/ 291845 w 285750"/>
              <a:gd name="connsiteY3" fmla="*/ 64770 h 107950"/>
              <a:gd name="connsiteX4" fmla="*/ 243078 w 285750"/>
              <a:gd name="connsiteY4" fmla="*/ 113538 h 107950"/>
              <a:gd name="connsiteX5" fmla="*/ 243078 w 285750"/>
              <a:gd name="connsiteY5" fmla="*/ 89153 h 107950"/>
              <a:gd name="connsiteX6" fmla="*/ 16002 w 285750"/>
              <a:gd name="connsiteY6" fmla="*/ 89153 h 107950"/>
              <a:gd name="connsiteX7" fmla="*/ 16002 w 285750"/>
              <a:gd name="connsiteY7" fmla="*/ 40385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50" h="107950">
                <a:moveTo>
                  <a:pt x="16002" y="40385"/>
                </a:moveTo>
                <a:lnTo>
                  <a:pt x="243078" y="40385"/>
                </a:lnTo>
                <a:lnTo>
                  <a:pt x="243078" y="16002"/>
                </a:lnTo>
                <a:lnTo>
                  <a:pt x="291845" y="64770"/>
                </a:lnTo>
                <a:lnTo>
                  <a:pt x="243078" y="113538"/>
                </a:lnTo>
                <a:lnTo>
                  <a:pt x="243078" y="89153"/>
                </a:lnTo>
                <a:lnTo>
                  <a:pt x="16002" y="89153"/>
                </a:lnTo>
                <a:lnTo>
                  <a:pt x="16002" y="40385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Freeform 505"/>
          <p:cNvSpPr/>
          <p:nvPr/>
        </p:nvSpPr>
        <p:spPr>
          <a:xfrm>
            <a:off x="10179050" y="5810250"/>
            <a:ext cx="273050" cy="107950"/>
          </a:xfrm>
          <a:custGeom>
            <a:avLst/>
            <a:gdLst>
              <a:gd name="connsiteX0" fmla="*/ 7366 w 273050"/>
              <a:gd name="connsiteY0" fmla="*/ 40385 h 107950"/>
              <a:gd name="connsiteX1" fmla="*/ 234442 w 273050"/>
              <a:gd name="connsiteY1" fmla="*/ 40385 h 107950"/>
              <a:gd name="connsiteX2" fmla="*/ 234442 w 273050"/>
              <a:gd name="connsiteY2" fmla="*/ 16002 h 107950"/>
              <a:gd name="connsiteX3" fmla="*/ 283209 w 273050"/>
              <a:gd name="connsiteY3" fmla="*/ 64770 h 107950"/>
              <a:gd name="connsiteX4" fmla="*/ 234442 w 273050"/>
              <a:gd name="connsiteY4" fmla="*/ 113538 h 107950"/>
              <a:gd name="connsiteX5" fmla="*/ 234442 w 273050"/>
              <a:gd name="connsiteY5" fmla="*/ 89153 h 107950"/>
              <a:gd name="connsiteX6" fmla="*/ 7366 w 273050"/>
              <a:gd name="connsiteY6" fmla="*/ 89153 h 107950"/>
              <a:gd name="connsiteX7" fmla="*/ 7366 w 273050"/>
              <a:gd name="connsiteY7" fmla="*/ 40385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050" h="107950">
                <a:moveTo>
                  <a:pt x="7366" y="40385"/>
                </a:moveTo>
                <a:lnTo>
                  <a:pt x="234442" y="40385"/>
                </a:lnTo>
                <a:lnTo>
                  <a:pt x="234442" y="16002"/>
                </a:lnTo>
                <a:lnTo>
                  <a:pt x="283209" y="64770"/>
                </a:lnTo>
                <a:lnTo>
                  <a:pt x="234442" y="113538"/>
                </a:lnTo>
                <a:lnTo>
                  <a:pt x="234442" y="89153"/>
                </a:lnTo>
                <a:lnTo>
                  <a:pt x="7366" y="89153"/>
                </a:lnTo>
                <a:lnTo>
                  <a:pt x="7366" y="40385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TextBox 506"/>
          <p:cNvSpPr txBox="1"/>
          <p:nvPr/>
        </p:nvSpPr>
        <p:spPr>
          <a:xfrm>
            <a:off x="376554" y="289633"/>
            <a:ext cx="11121374" cy="48117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9" dirty="0">
                <a:solidFill>
                  <a:srgbClr val="242424"/>
                </a:solidFill>
                <a:latin typeface="宋体"/>
                <a:ea typeface="宋体"/>
              </a:rPr>
              <a:t>任务分解的提</a:t>
            </a: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示语链设计步骤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9"/>
              </a:lnSpc>
            </a:pPr>
            <a:endParaRPr lang="en-US" dirty="0"/>
          </a:p>
          <a:p>
            <a:pPr marL="0" indent="262889">
              <a:lnSpc>
                <a:spcPct val="101250"/>
              </a:lnSpc>
            </a:pPr>
            <a:r>
              <a:rPr lang="zh-CN" altLang="en-US" sz="1800" spc="20" dirty="0">
                <a:solidFill>
                  <a:srgbClr val="000000"/>
                </a:solidFill>
                <a:latin typeface="宋体"/>
                <a:ea typeface="宋体"/>
              </a:rPr>
              <a:t>任务分解的概念源于问题解决理论和系</a:t>
            </a:r>
            <a:r>
              <a:rPr lang="zh-CN" altLang="en-US" sz="1800" spc="15" dirty="0">
                <a:solidFill>
                  <a:srgbClr val="000000"/>
                </a:solidFill>
                <a:latin typeface="宋体"/>
                <a:ea typeface="宋体"/>
              </a:rPr>
              <a:t>统工程学。将任务分解应用于提示语设计，实际上是在模拟人类处理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62889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复杂问题的方式。这种方法主要基于分而治之原则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层级结构理论以及认知负荷理论作为其理论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基础。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4"/>
              </a:lnSpc>
            </a:pPr>
            <a:endParaRPr lang="en-US" dirty="0"/>
          </a:p>
          <a:p>
            <a:pPr marL="0" indent="262889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设计基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于任务分解的提示语链涉及以下步骤：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499986" y="5587796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明确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总体</a:t>
            </a:r>
          </a:p>
          <a:p>
            <a:pPr marL="0" indent="22860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目标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2191677" y="5581497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识别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主要</a:t>
            </a:r>
          </a:p>
          <a:p>
            <a:pPr marL="0" indent="22860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任务</a:t>
            </a:r>
          </a:p>
        </p:txBody>
      </p:sp>
      <p:sp>
        <p:nvSpPr>
          <p:cNvPr id="509" name="TextBox 509"/>
          <p:cNvSpPr txBox="1"/>
          <p:nvPr/>
        </p:nvSpPr>
        <p:spPr>
          <a:xfrm>
            <a:off x="3901465" y="5583771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细化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子任</a:t>
            </a:r>
          </a:p>
          <a:p>
            <a:pPr marL="0" indent="342900">
              <a:lnSpc>
                <a:spcPct val="10000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务</a:t>
            </a:r>
          </a:p>
        </p:txBody>
      </p:sp>
      <p:sp>
        <p:nvSpPr>
          <p:cNvPr id="510" name="TextBox 510"/>
          <p:cNvSpPr txBox="1"/>
          <p:nvPr/>
        </p:nvSpPr>
        <p:spPr>
          <a:xfrm>
            <a:off x="5614352" y="5594858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定义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微任</a:t>
            </a:r>
          </a:p>
          <a:p>
            <a:pPr marL="0" indent="342900">
              <a:lnSpc>
                <a:spcPct val="10000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务</a:t>
            </a:r>
          </a:p>
        </p:txBody>
      </p:sp>
      <p:sp>
        <p:nvSpPr>
          <p:cNvPr id="511" name="TextBox 511"/>
          <p:cNvSpPr txBox="1"/>
          <p:nvPr/>
        </p:nvSpPr>
        <p:spPr>
          <a:xfrm>
            <a:off x="7286625" y="5592635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设计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对应</a:t>
            </a:r>
          </a:p>
          <a:p>
            <a:pPr marL="0" indent="11430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提示语</a:t>
            </a:r>
          </a:p>
        </p:txBody>
      </p:sp>
      <p:sp>
        <p:nvSpPr>
          <p:cNvPr id="512" name="TextBox 512"/>
          <p:cNvSpPr txBox="1"/>
          <p:nvPr/>
        </p:nvSpPr>
        <p:spPr>
          <a:xfrm>
            <a:off x="9019476" y="5591936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建立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任务</a:t>
            </a:r>
          </a:p>
          <a:p>
            <a:pPr marL="0" indent="11430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间联系</a:t>
            </a:r>
          </a:p>
        </p:txBody>
      </p:sp>
      <p:sp>
        <p:nvSpPr>
          <p:cNvPr id="513" name="TextBox 513"/>
          <p:cNvSpPr txBox="1"/>
          <p:nvPr/>
        </p:nvSpPr>
        <p:spPr>
          <a:xfrm>
            <a:off x="10769168" y="5583313"/>
            <a:ext cx="927082" cy="549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加入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反馈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调整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机制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Picture 5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2202180"/>
            <a:ext cx="5974080" cy="4122420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59" y="2255520"/>
            <a:ext cx="5135880" cy="4069079"/>
          </a:xfrm>
          <a:prstGeom prst="rect">
            <a:avLst/>
          </a:prstGeom>
        </p:spPr>
      </p:pic>
      <p:sp>
        <p:nvSpPr>
          <p:cNvPr id="2" name="TextBox 516"/>
          <p:cNvSpPr txBox="1"/>
          <p:nvPr/>
        </p:nvSpPr>
        <p:spPr>
          <a:xfrm>
            <a:off x="376554" y="289633"/>
            <a:ext cx="11121528" cy="12544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225" dirty="0">
                <a:solidFill>
                  <a:srgbClr val="242424"/>
                </a:solidFill>
                <a:latin typeface="Arial"/>
                <a:ea typeface="Arial"/>
              </a:rPr>
              <a:t>SPECTRA</a:t>
            </a:r>
            <a:r>
              <a:rPr lang="zh-CN" altLang="en-US" sz="4000" b="1" spc="345" dirty="0">
                <a:solidFill>
                  <a:srgbClr val="242424"/>
                </a:solidFill>
                <a:latin typeface="Arial Unicode MS"/>
                <a:ea typeface="Arial Unicode MS"/>
              </a:rPr>
              <a:t>任务</a:t>
            </a:r>
            <a:r>
              <a:rPr lang="zh-CN" altLang="en-US" sz="4000" b="1" spc="340" dirty="0">
                <a:solidFill>
                  <a:srgbClr val="242424"/>
                </a:solidFill>
                <a:latin typeface="Arial Unicode MS"/>
                <a:ea typeface="Arial Unicode MS"/>
              </a:rPr>
              <a:t>分解模型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9"/>
              </a:lnSpc>
            </a:pPr>
            <a:endParaRPr lang="en-US" dirty="0"/>
          </a:p>
          <a:p>
            <a:pPr marL="0" indent="262889">
              <a:lnSpc>
                <a:spcPct val="101250"/>
              </a:lnSpc>
            </a:pPr>
            <a:r>
              <a:rPr lang="zh-CN" altLang="en-US" sz="1800" spc="69" dirty="0">
                <a:solidFill>
                  <a:srgbClr val="000000"/>
                </a:solidFill>
                <a:latin typeface="Arial Unicode MS"/>
                <a:ea typeface="Arial Unicode MS"/>
              </a:rPr>
              <a:t>为了更有效地进行任务分解，可以采用</a:t>
            </a:r>
            <a:r>
              <a:rPr lang="en-US" altLang="zh-CN" sz="1800" spc="55" dirty="0">
                <a:solidFill>
                  <a:srgbClr val="000000"/>
                </a:solidFill>
                <a:latin typeface="Arial"/>
                <a:ea typeface="Arial"/>
              </a:rPr>
              <a:t>SPECTRA</a:t>
            </a:r>
            <a:r>
              <a:rPr lang="zh-CN" altLang="en-US" sz="1800" spc="80" dirty="0">
                <a:solidFill>
                  <a:srgbClr val="000000"/>
                </a:solidFill>
                <a:latin typeface="Arial Unicode MS"/>
                <a:ea typeface="Arial Unicode MS"/>
              </a:rPr>
              <a:t>模型（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ea typeface="Arial"/>
              </a:rPr>
              <a:t>Systematic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Partitioning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40" dirty="0">
                <a:solidFill>
                  <a:srgbClr val="000000"/>
                </a:solidFill>
                <a:latin typeface="Arial"/>
                <a:ea typeface="Arial"/>
              </a:rPr>
              <a:t>for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40" dirty="0">
                <a:solidFill>
                  <a:srgbClr val="000000"/>
                </a:solidFill>
                <a:latin typeface="Arial"/>
                <a:ea typeface="Arial"/>
              </a:rPr>
              <a:t>Enhanced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ea typeface="Arial"/>
              </a:rPr>
              <a:t>Cognitive</a:t>
            </a:r>
          </a:p>
        </p:txBody>
      </p:sp>
      <p:sp>
        <p:nvSpPr>
          <p:cNvPr id="517" name="TextBox 517"/>
          <p:cNvSpPr txBox="1"/>
          <p:nvPr/>
        </p:nvSpPr>
        <p:spPr>
          <a:xfrm>
            <a:off x="497205" y="1622577"/>
            <a:ext cx="5776576" cy="4591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223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Task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Resolution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in</a:t>
            </a:r>
            <a:r>
              <a:rPr lang="en-US" altLang="zh-CN" sz="18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2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Segmentation</a:t>
            </a:r>
            <a:r>
              <a:rPr lang="zh-CN" altLang="en-US" sz="1800" spc="60" dirty="0">
                <a:solidFill>
                  <a:srgbClr val="000000"/>
                </a:solidFill>
                <a:latin typeface="Arial Unicode MS"/>
                <a:ea typeface="Arial Unicode MS"/>
              </a:rPr>
              <a:t>（分割）：将大任务分为独立但相关的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部分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Prioritization</a:t>
            </a:r>
            <a:r>
              <a:rPr lang="zh-CN" altLang="en-US" sz="1800" spc="34" dirty="0">
                <a:solidFill>
                  <a:srgbClr val="000000"/>
                </a:solidFill>
                <a:latin typeface="Arial Unicode MS"/>
                <a:ea typeface="Arial Unicode MS"/>
              </a:rPr>
              <a:t>（优先级）：确定子任务的重要性和执行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顺序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Elaboration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（细化）：深入探讨每个子任务的细节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Connection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（连接）：建立子任务之间的逻辑关联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Temporal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Arrangement</a:t>
            </a:r>
            <a:r>
              <a:rPr lang="zh-CN" altLang="en-US" sz="1800" spc="55" dirty="0">
                <a:solidFill>
                  <a:srgbClr val="000000"/>
                </a:solidFill>
                <a:latin typeface="Arial Unicode MS"/>
                <a:ea typeface="Arial Unicode MS"/>
              </a:rPr>
              <a:t>（时序安排）：考虑任务的时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间维度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5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Resource</a:t>
            </a:r>
            <a:r>
              <a:rPr lang="en-US" altLang="zh-CN" sz="1800" spc="6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Allocation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（资源分配）：为每个子任务分配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适当的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注意力资源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Adaptation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（适应）：根据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反馈动态调整任务结构</a:t>
            </a:r>
          </a:p>
        </p:txBody>
      </p:sp>
      <p:sp>
        <p:nvSpPr>
          <p:cNvPr id="518" name="TextBox 518"/>
          <p:cNvSpPr txBox="1"/>
          <p:nvPr/>
        </p:nvSpPr>
        <p:spPr>
          <a:xfrm>
            <a:off x="6717030" y="1840864"/>
            <a:ext cx="4927588" cy="4377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166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�基于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SPECTRA</a:t>
            </a:r>
            <a:r>
              <a:rPr lang="zh-CN" altLang="en-US" sz="18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模型的提示语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链设技巧：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分割提示：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将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总任务描述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分解为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个主要组成部分，确保每个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部分都是相对独立但与整体目标相关的。</a:t>
            </a:r>
            <a:r>
              <a:rPr lang="zh-CN" altLang="en-US" sz="1200" spc="69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优先级提示：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对上述分解的任务进行优先级排序，考虑它们对总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体目标的重要性和逻辑顺序。</a:t>
            </a:r>
            <a:r>
              <a:rPr lang="zh-CN" altLang="en-US" sz="1200" spc="7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细化提示：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选择优先级最高的子任务，将其进一步细化为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个具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75" dirty="0">
                <a:solidFill>
                  <a:srgbClr val="000000"/>
                </a:solidFill>
                <a:latin typeface="Arial Unicode MS"/>
                <a:ea typeface="Arial Unicode MS"/>
              </a:rPr>
              <a:t>体的行动项或小目标。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连接提示：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分析各个子任务之间的关系，确定它们如何相互支持和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影响，以及如何共同推进总体目标的实现。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时序提示：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为每个子任务制定一个粗略的时间表，考虑它们的依赖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关系和完成所需的相对时间。</a:t>
            </a:r>
            <a:r>
              <a:rPr lang="zh-CN" altLang="en-US" sz="1200" spc="7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6.	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资源分配提示：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评估每个子任务的复杂度，分配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10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'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注意力分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数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'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，指导在执行过程中如何分配计算资源。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7.	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适应提示：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在执行每个子任务后，评估其输出质量和对总体目标的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42900">
              <a:lnSpc>
                <a:spcPct val="100000"/>
              </a:lnSpc>
            </a:pP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贡献，必要时调整后续任务的优先级或内容。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Picture 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" y="2103120"/>
            <a:ext cx="5509260" cy="1165860"/>
          </a:xfrm>
          <a:prstGeom prst="rect">
            <a:avLst/>
          </a:prstGeom>
        </p:spPr>
      </p:pic>
      <p:pic>
        <p:nvPicPr>
          <p:cNvPr id="521" name="Picture 5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20" y="1912620"/>
            <a:ext cx="5417820" cy="2575560"/>
          </a:xfrm>
          <a:prstGeom prst="rect">
            <a:avLst/>
          </a:prstGeom>
        </p:spPr>
      </p:pic>
      <p:sp>
        <p:nvSpPr>
          <p:cNvPr id="2" name="Freeform 521"/>
          <p:cNvSpPr/>
          <p:nvPr/>
        </p:nvSpPr>
        <p:spPr>
          <a:xfrm>
            <a:off x="5905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Freeform 522"/>
          <p:cNvSpPr/>
          <p:nvPr/>
        </p:nvSpPr>
        <p:spPr>
          <a:xfrm>
            <a:off x="641350" y="4845050"/>
            <a:ext cx="31750" cy="19050"/>
          </a:xfrm>
          <a:custGeom>
            <a:avLst/>
            <a:gdLst>
              <a:gd name="connsiteX0" fmla="*/ 8255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5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Freeform 523"/>
          <p:cNvSpPr/>
          <p:nvPr/>
        </p:nvSpPr>
        <p:spPr>
          <a:xfrm>
            <a:off x="692150" y="4845050"/>
            <a:ext cx="44450" cy="19050"/>
          </a:xfrm>
          <a:custGeom>
            <a:avLst/>
            <a:gdLst>
              <a:gd name="connsiteX0" fmla="*/ 10794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4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Freeform 524"/>
          <p:cNvSpPr/>
          <p:nvPr/>
        </p:nvSpPr>
        <p:spPr>
          <a:xfrm>
            <a:off x="7429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Freeform 525"/>
          <p:cNvSpPr/>
          <p:nvPr/>
        </p:nvSpPr>
        <p:spPr>
          <a:xfrm>
            <a:off x="8064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Freeform 526"/>
          <p:cNvSpPr/>
          <p:nvPr/>
        </p:nvSpPr>
        <p:spPr>
          <a:xfrm>
            <a:off x="8572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Freeform 527"/>
          <p:cNvSpPr/>
          <p:nvPr/>
        </p:nvSpPr>
        <p:spPr>
          <a:xfrm>
            <a:off x="908050" y="4845050"/>
            <a:ext cx="31750" cy="19050"/>
          </a:xfrm>
          <a:custGeom>
            <a:avLst/>
            <a:gdLst>
              <a:gd name="connsiteX0" fmla="*/ 8255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5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Freeform 528"/>
          <p:cNvSpPr/>
          <p:nvPr/>
        </p:nvSpPr>
        <p:spPr>
          <a:xfrm>
            <a:off x="958850" y="4845050"/>
            <a:ext cx="44450" cy="19050"/>
          </a:xfrm>
          <a:custGeom>
            <a:avLst/>
            <a:gdLst>
              <a:gd name="connsiteX0" fmla="*/ 10794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4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Freeform 529"/>
          <p:cNvSpPr/>
          <p:nvPr/>
        </p:nvSpPr>
        <p:spPr>
          <a:xfrm>
            <a:off x="10096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Freeform 530"/>
          <p:cNvSpPr/>
          <p:nvPr/>
        </p:nvSpPr>
        <p:spPr>
          <a:xfrm>
            <a:off x="10731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Freeform 531"/>
          <p:cNvSpPr/>
          <p:nvPr/>
        </p:nvSpPr>
        <p:spPr>
          <a:xfrm>
            <a:off x="11239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Freeform 532"/>
          <p:cNvSpPr/>
          <p:nvPr/>
        </p:nvSpPr>
        <p:spPr>
          <a:xfrm>
            <a:off x="1174750" y="4845050"/>
            <a:ext cx="31750" cy="19050"/>
          </a:xfrm>
          <a:custGeom>
            <a:avLst/>
            <a:gdLst>
              <a:gd name="connsiteX0" fmla="*/ 8255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5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Freeform 533"/>
          <p:cNvSpPr/>
          <p:nvPr/>
        </p:nvSpPr>
        <p:spPr>
          <a:xfrm>
            <a:off x="1225550" y="4845050"/>
            <a:ext cx="44450" cy="19050"/>
          </a:xfrm>
          <a:custGeom>
            <a:avLst/>
            <a:gdLst>
              <a:gd name="connsiteX0" fmla="*/ 10794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4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Freeform 534"/>
          <p:cNvSpPr/>
          <p:nvPr/>
        </p:nvSpPr>
        <p:spPr>
          <a:xfrm>
            <a:off x="12763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Freeform 535"/>
          <p:cNvSpPr/>
          <p:nvPr/>
        </p:nvSpPr>
        <p:spPr>
          <a:xfrm>
            <a:off x="13398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6" name="Freeform 536"/>
          <p:cNvSpPr/>
          <p:nvPr/>
        </p:nvSpPr>
        <p:spPr>
          <a:xfrm>
            <a:off x="13906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Freeform 537"/>
          <p:cNvSpPr/>
          <p:nvPr/>
        </p:nvSpPr>
        <p:spPr>
          <a:xfrm>
            <a:off x="1441450" y="4845050"/>
            <a:ext cx="31750" cy="19050"/>
          </a:xfrm>
          <a:custGeom>
            <a:avLst/>
            <a:gdLst>
              <a:gd name="connsiteX0" fmla="*/ 8255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5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Freeform 538"/>
          <p:cNvSpPr/>
          <p:nvPr/>
        </p:nvSpPr>
        <p:spPr>
          <a:xfrm>
            <a:off x="1492250" y="4845050"/>
            <a:ext cx="44450" cy="19050"/>
          </a:xfrm>
          <a:custGeom>
            <a:avLst/>
            <a:gdLst>
              <a:gd name="connsiteX0" fmla="*/ 10794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4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Freeform 539"/>
          <p:cNvSpPr/>
          <p:nvPr/>
        </p:nvSpPr>
        <p:spPr>
          <a:xfrm>
            <a:off x="15430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Freeform 540"/>
          <p:cNvSpPr/>
          <p:nvPr/>
        </p:nvSpPr>
        <p:spPr>
          <a:xfrm>
            <a:off x="16065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Freeform 541"/>
          <p:cNvSpPr/>
          <p:nvPr/>
        </p:nvSpPr>
        <p:spPr>
          <a:xfrm>
            <a:off x="16573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Freeform 542"/>
          <p:cNvSpPr/>
          <p:nvPr/>
        </p:nvSpPr>
        <p:spPr>
          <a:xfrm>
            <a:off x="17081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Freeform 543"/>
          <p:cNvSpPr/>
          <p:nvPr/>
        </p:nvSpPr>
        <p:spPr>
          <a:xfrm>
            <a:off x="17589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Freeform 544"/>
          <p:cNvSpPr/>
          <p:nvPr/>
        </p:nvSpPr>
        <p:spPr>
          <a:xfrm>
            <a:off x="18097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Freeform 545"/>
          <p:cNvSpPr/>
          <p:nvPr/>
        </p:nvSpPr>
        <p:spPr>
          <a:xfrm>
            <a:off x="18732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Freeform 546"/>
          <p:cNvSpPr/>
          <p:nvPr/>
        </p:nvSpPr>
        <p:spPr>
          <a:xfrm>
            <a:off x="19240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" name="Freeform 547"/>
          <p:cNvSpPr/>
          <p:nvPr/>
        </p:nvSpPr>
        <p:spPr>
          <a:xfrm>
            <a:off x="19748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Freeform 548"/>
          <p:cNvSpPr/>
          <p:nvPr/>
        </p:nvSpPr>
        <p:spPr>
          <a:xfrm>
            <a:off x="20256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9" name="Freeform 549"/>
          <p:cNvSpPr/>
          <p:nvPr/>
        </p:nvSpPr>
        <p:spPr>
          <a:xfrm>
            <a:off x="20764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Freeform 550"/>
          <p:cNvSpPr/>
          <p:nvPr/>
        </p:nvSpPr>
        <p:spPr>
          <a:xfrm>
            <a:off x="21399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Freeform 551"/>
          <p:cNvSpPr/>
          <p:nvPr/>
        </p:nvSpPr>
        <p:spPr>
          <a:xfrm>
            <a:off x="21907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Freeform 552"/>
          <p:cNvSpPr/>
          <p:nvPr/>
        </p:nvSpPr>
        <p:spPr>
          <a:xfrm>
            <a:off x="22415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Freeform 553"/>
          <p:cNvSpPr/>
          <p:nvPr/>
        </p:nvSpPr>
        <p:spPr>
          <a:xfrm>
            <a:off x="22923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Freeform 554"/>
          <p:cNvSpPr/>
          <p:nvPr/>
        </p:nvSpPr>
        <p:spPr>
          <a:xfrm>
            <a:off x="23431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Freeform 555"/>
          <p:cNvSpPr/>
          <p:nvPr/>
        </p:nvSpPr>
        <p:spPr>
          <a:xfrm>
            <a:off x="24066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Freeform 556"/>
          <p:cNvSpPr/>
          <p:nvPr/>
        </p:nvSpPr>
        <p:spPr>
          <a:xfrm>
            <a:off x="24574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Freeform 557"/>
          <p:cNvSpPr/>
          <p:nvPr/>
        </p:nvSpPr>
        <p:spPr>
          <a:xfrm>
            <a:off x="25082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Freeform 558"/>
          <p:cNvSpPr/>
          <p:nvPr/>
        </p:nvSpPr>
        <p:spPr>
          <a:xfrm>
            <a:off x="25590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Freeform 559"/>
          <p:cNvSpPr/>
          <p:nvPr/>
        </p:nvSpPr>
        <p:spPr>
          <a:xfrm>
            <a:off x="26098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Freeform 560"/>
          <p:cNvSpPr/>
          <p:nvPr/>
        </p:nvSpPr>
        <p:spPr>
          <a:xfrm>
            <a:off x="26733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Freeform 561"/>
          <p:cNvSpPr/>
          <p:nvPr/>
        </p:nvSpPr>
        <p:spPr>
          <a:xfrm>
            <a:off x="27241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Freeform 562"/>
          <p:cNvSpPr/>
          <p:nvPr/>
        </p:nvSpPr>
        <p:spPr>
          <a:xfrm>
            <a:off x="27749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Freeform 563"/>
          <p:cNvSpPr/>
          <p:nvPr/>
        </p:nvSpPr>
        <p:spPr>
          <a:xfrm>
            <a:off x="28257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 564"/>
          <p:cNvSpPr/>
          <p:nvPr/>
        </p:nvSpPr>
        <p:spPr>
          <a:xfrm>
            <a:off x="28765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Freeform 565"/>
          <p:cNvSpPr/>
          <p:nvPr/>
        </p:nvSpPr>
        <p:spPr>
          <a:xfrm>
            <a:off x="29400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Freeform 566"/>
          <p:cNvSpPr/>
          <p:nvPr/>
        </p:nvSpPr>
        <p:spPr>
          <a:xfrm>
            <a:off x="2990850" y="4845050"/>
            <a:ext cx="31750" cy="19050"/>
          </a:xfrm>
          <a:custGeom>
            <a:avLst/>
            <a:gdLst>
              <a:gd name="connsiteX0" fmla="*/ 5714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4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Freeform 567"/>
          <p:cNvSpPr/>
          <p:nvPr/>
        </p:nvSpPr>
        <p:spPr>
          <a:xfrm>
            <a:off x="30416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Freeform 568"/>
          <p:cNvSpPr/>
          <p:nvPr/>
        </p:nvSpPr>
        <p:spPr>
          <a:xfrm>
            <a:off x="30924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Freeform 569"/>
          <p:cNvSpPr/>
          <p:nvPr/>
        </p:nvSpPr>
        <p:spPr>
          <a:xfrm>
            <a:off x="3143250" y="4845050"/>
            <a:ext cx="44450" cy="19050"/>
          </a:xfrm>
          <a:custGeom>
            <a:avLst/>
            <a:gdLst>
              <a:gd name="connsiteX0" fmla="*/ 13335 w 44450"/>
              <a:gd name="connsiteY0" fmla="*/ 14605 h 19050"/>
              <a:gd name="connsiteX1" fmla="*/ 43814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5" y="14605"/>
                </a:moveTo>
                <a:lnTo>
                  <a:pt x="4381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Freeform 570"/>
          <p:cNvSpPr/>
          <p:nvPr/>
        </p:nvSpPr>
        <p:spPr>
          <a:xfrm>
            <a:off x="32067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Freeform 571"/>
          <p:cNvSpPr/>
          <p:nvPr/>
        </p:nvSpPr>
        <p:spPr>
          <a:xfrm>
            <a:off x="32575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Freeform 572"/>
          <p:cNvSpPr/>
          <p:nvPr/>
        </p:nvSpPr>
        <p:spPr>
          <a:xfrm>
            <a:off x="33083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Freeform 573"/>
          <p:cNvSpPr/>
          <p:nvPr/>
        </p:nvSpPr>
        <p:spPr>
          <a:xfrm>
            <a:off x="33591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Freeform 574"/>
          <p:cNvSpPr/>
          <p:nvPr/>
        </p:nvSpPr>
        <p:spPr>
          <a:xfrm>
            <a:off x="34099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Freeform 575"/>
          <p:cNvSpPr/>
          <p:nvPr/>
        </p:nvSpPr>
        <p:spPr>
          <a:xfrm>
            <a:off x="34734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Freeform 576"/>
          <p:cNvSpPr/>
          <p:nvPr/>
        </p:nvSpPr>
        <p:spPr>
          <a:xfrm>
            <a:off x="35242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Freeform 577"/>
          <p:cNvSpPr/>
          <p:nvPr/>
        </p:nvSpPr>
        <p:spPr>
          <a:xfrm>
            <a:off x="35750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Freeform 578"/>
          <p:cNvSpPr/>
          <p:nvPr/>
        </p:nvSpPr>
        <p:spPr>
          <a:xfrm>
            <a:off x="36258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Freeform 579"/>
          <p:cNvSpPr/>
          <p:nvPr/>
        </p:nvSpPr>
        <p:spPr>
          <a:xfrm>
            <a:off x="36766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0" name="Freeform 580"/>
          <p:cNvSpPr/>
          <p:nvPr/>
        </p:nvSpPr>
        <p:spPr>
          <a:xfrm>
            <a:off x="37401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Freeform 581"/>
          <p:cNvSpPr/>
          <p:nvPr/>
        </p:nvSpPr>
        <p:spPr>
          <a:xfrm>
            <a:off x="37909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Freeform 582"/>
          <p:cNvSpPr/>
          <p:nvPr/>
        </p:nvSpPr>
        <p:spPr>
          <a:xfrm>
            <a:off x="38417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Freeform 583"/>
          <p:cNvSpPr/>
          <p:nvPr/>
        </p:nvSpPr>
        <p:spPr>
          <a:xfrm>
            <a:off x="38925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4" name="Freeform 584"/>
          <p:cNvSpPr/>
          <p:nvPr/>
        </p:nvSpPr>
        <p:spPr>
          <a:xfrm>
            <a:off x="39433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5" name="Freeform 585"/>
          <p:cNvSpPr/>
          <p:nvPr/>
        </p:nvSpPr>
        <p:spPr>
          <a:xfrm>
            <a:off x="40068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Freeform 586"/>
          <p:cNvSpPr/>
          <p:nvPr/>
        </p:nvSpPr>
        <p:spPr>
          <a:xfrm>
            <a:off x="40576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Freeform 587"/>
          <p:cNvSpPr/>
          <p:nvPr/>
        </p:nvSpPr>
        <p:spPr>
          <a:xfrm>
            <a:off x="41084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Freeform 588"/>
          <p:cNvSpPr/>
          <p:nvPr/>
        </p:nvSpPr>
        <p:spPr>
          <a:xfrm>
            <a:off x="41592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Freeform 589"/>
          <p:cNvSpPr/>
          <p:nvPr/>
        </p:nvSpPr>
        <p:spPr>
          <a:xfrm>
            <a:off x="42100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Freeform 590"/>
          <p:cNvSpPr/>
          <p:nvPr/>
        </p:nvSpPr>
        <p:spPr>
          <a:xfrm>
            <a:off x="42735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Freeform 591"/>
          <p:cNvSpPr/>
          <p:nvPr/>
        </p:nvSpPr>
        <p:spPr>
          <a:xfrm>
            <a:off x="43243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Freeform 592"/>
          <p:cNvSpPr/>
          <p:nvPr/>
        </p:nvSpPr>
        <p:spPr>
          <a:xfrm>
            <a:off x="43751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Freeform 593"/>
          <p:cNvSpPr/>
          <p:nvPr/>
        </p:nvSpPr>
        <p:spPr>
          <a:xfrm>
            <a:off x="44259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Freeform 594"/>
          <p:cNvSpPr/>
          <p:nvPr/>
        </p:nvSpPr>
        <p:spPr>
          <a:xfrm>
            <a:off x="44767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Freeform 595"/>
          <p:cNvSpPr/>
          <p:nvPr/>
        </p:nvSpPr>
        <p:spPr>
          <a:xfrm>
            <a:off x="45402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Freeform 596"/>
          <p:cNvSpPr/>
          <p:nvPr/>
        </p:nvSpPr>
        <p:spPr>
          <a:xfrm>
            <a:off x="45910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Freeform 597"/>
          <p:cNvSpPr/>
          <p:nvPr/>
        </p:nvSpPr>
        <p:spPr>
          <a:xfrm>
            <a:off x="46418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Freeform 598"/>
          <p:cNvSpPr/>
          <p:nvPr/>
        </p:nvSpPr>
        <p:spPr>
          <a:xfrm>
            <a:off x="46926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Freeform 599"/>
          <p:cNvSpPr/>
          <p:nvPr/>
        </p:nvSpPr>
        <p:spPr>
          <a:xfrm>
            <a:off x="47434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Freeform 600"/>
          <p:cNvSpPr/>
          <p:nvPr/>
        </p:nvSpPr>
        <p:spPr>
          <a:xfrm>
            <a:off x="48069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Freeform 601"/>
          <p:cNvSpPr/>
          <p:nvPr/>
        </p:nvSpPr>
        <p:spPr>
          <a:xfrm>
            <a:off x="48577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Freeform 602"/>
          <p:cNvSpPr/>
          <p:nvPr/>
        </p:nvSpPr>
        <p:spPr>
          <a:xfrm>
            <a:off x="49085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Freeform 603"/>
          <p:cNvSpPr/>
          <p:nvPr/>
        </p:nvSpPr>
        <p:spPr>
          <a:xfrm>
            <a:off x="49593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Freeform 604"/>
          <p:cNvSpPr/>
          <p:nvPr/>
        </p:nvSpPr>
        <p:spPr>
          <a:xfrm>
            <a:off x="50101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Freeform 605"/>
          <p:cNvSpPr/>
          <p:nvPr/>
        </p:nvSpPr>
        <p:spPr>
          <a:xfrm>
            <a:off x="50736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Freeform 606"/>
          <p:cNvSpPr/>
          <p:nvPr/>
        </p:nvSpPr>
        <p:spPr>
          <a:xfrm>
            <a:off x="51244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Freeform 607"/>
          <p:cNvSpPr/>
          <p:nvPr/>
        </p:nvSpPr>
        <p:spPr>
          <a:xfrm>
            <a:off x="51752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Freeform 608"/>
          <p:cNvSpPr/>
          <p:nvPr/>
        </p:nvSpPr>
        <p:spPr>
          <a:xfrm>
            <a:off x="52260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Freeform 609"/>
          <p:cNvSpPr/>
          <p:nvPr/>
        </p:nvSpPr>
        <p:spPr>
          <a:xfrm>
            <a:off x="52768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Freeform 610"/>
          <p:cNvSpPr/>
          <p:nvPr/>
        </p:nvSpPr>
        <p:spPr>
          <a:xfrm>
            <a:off x="53403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Freeform 611"/>
          <p:cNvSpPr/>
          <p:nvPr/>
        </p:nvSpPr>
        <p:spPr>
          <a:xfrm>
            <a:off x="53911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Freeform 612"/>
          <p:cNvSpPr/>
          <p:nvPr/>
        </p:nvSpPr>
        <p:spPr>
          <a:xfrm>
            <a:off x="54419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Freeform 613"/>
          <p:cNvSpPr/>
          <p:nvPr/>
        </p:nvSpPr>
        <p:spPr>
          <a:xfrm>
            <a:off x="54927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Freeform 614"/>
          <p:cNvSpPr/>
          <p:nvPr/>
        </p:nvSpPr>
        <p:spPr>
          <a:xfrm>
            <a:off x="55435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Freeform 615"/>
          <p:cNvSpPr/>
          <p:nvPr/>
        </p:nvSpPr>
        <p:spPr>
          <a:xfrm>
            <a:off x="56070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Freeform 616"/>
          <p:cNvSpPr/>
          <p:nvPr/>
        </p:nvSpPr>
        <p:spPr>
          <a:xfrm>
            <a:off x="5657850" y="4845050"/>
            <a:ext cx="31750" cy="19050"/>
          </a:xfrm>
          <a:custGeom>
            <a:avLst/>
            <a:gdLst>
              <a:gd name="connsiteX0" fmla="*/ 5715 w 31750"/>
              <a:gd name="connsiteY0" fmla="*/ 14605 h 19050"/>
              <a:gd name="connsiteX1" fmla="*/ 3619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5715" y="14605"/>
                </a:moveTo>
                <a:lnTo>
                  <a:pt x="3619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Freeform 617"/>
          <p:cNvSpPr/>
          <p:nvPr/>
        </p:nvSpPr>
        <p:spPr>
          <a:xfrm>
            <a:off x="5708650" y="4845050"/>
            <a:ext cx="31750" cy="19050"/>
          </a:xfrm>
          <a:custGeom>
            <a:avLst/>
            <a:gdLst>
              <a:gd name="connsiteX0" fmla="*/ 8254 w 31750"/>
              <a:gd name="connsiteY0" fmla="*/ 14605 h 19050"/>
              <a:gd name="connsiteX1" fmla="*/ 38734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254" y="14605"/>
                </a:moveTo>
                <a:lnTo>
                  <a:pt x="38734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" name="Freeform 618"/>
          <p:cNvSpPr/>
          <p:nvPr/>
        </p:nvSpPr>
        <p:spPr>
          <a:xfrm>
            <a:off x="5759450" y="4845050"/>
            <a:ext cx="44450" cy="19050"/>
          </a:xfrm>
          <a:custGeom>
            <a:avLst/>
            <a:gdLst>
              <a:gd name="connsiteX0" fmla="*/ 10795 w 44450"/>
              <a:gd name="connsiteY0" fmla="*/ 14605 h 19050"/>
              <a:gd name="connsiteX1" fmla="*/ 4127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0795" y="14605"/>
                </a:moveTo>
                <a:lnTo>
                  <a:pt x="4127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Freeform 619"/>
          <p:cNvSpPr/>
          <p:nvPr/>
        </p:nvSpPr>
        <p:spPr>
          <a:xfrm>
            <a:off x="58102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Freeform 620"/>
          <p:cNvSpPr/>
          <p:nvPr/>
        </p:nvSpPr>
        <p:spPr>
          <a:xfrm>
            <a:off x="476250" y="4845050"/>
            <a:ext cx="44450" cy="19050"/>
          </a:xfrm>
          <a:custGeom>
            <a:avLst/>
            <a:gdLst>
              <a:gd name="connsiteX0" fmla="*/ 13334 w 44450"/>
              <a:gd name="connsiteY0" fmla="*/ 14605 h 19050"/>
              <a:gd name="connsiteX1" fmla="*/ 43815 w 444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3334" y="14605"/>
                </a:moveTo>
                <a:lnTo>
                  <a:pt x="4381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Freeform 621"/>
          <p:cNvSpPr/>
          <p:nvPr/>
        </p:nvSpPr>
        <p:spPr>
          <a:xfrm>
            <a:off x="539750" y="4845050"/>
            <a:ext cx="31750" cy="19050"/>
          </a:xfrm>
          <a:custGeom>
            <a:avLst/>
            <a:gdLst>
              <a:gd name="connsiteX0" fmla="*/ 3175 w 31750"/>
              <a:gd name="connsiteY0" fmla="*/ 14605 h 19050"/>
              <a:gd name="connsiteX1" fmla="*/ 33655 w 31750"/>
              <a:gd name="connsiteY1" fmla="*/ 1460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175" y="14605"/>
                </a:moveTo>
                <a:lnTo>
                  <a:pt x="33655" y="14605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3" name="Picture 6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" y="4846320"/>
            <a:ext cx="5417820" cy="1623060"/>
          </a:xfrm>
          <a:prstGeom prst="rect">
            <a:avLst/>
          </a:prstGeom>
        </p:spPr>
      </p:pic>
      <p:pic>
        <p:nvPicPr>
          <p:cNvPr id="624" name="Picture 6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280" y="4846320"/>
            <a:ext cx="5151120" cy="1623060"/>
          </a:xfrm>
          <a:prstGeom prst="rect">
            <a:avLst/>
          </a:prstGeom>
        </p:spPr>
      </p:pic>
      <p:sp>
        <p:nvSpPr>
          <p:cNvPr id="3" name="TextBox 624"/>
          <p:cNvSpPr txBox="1"/>
          <p:nvPr/>
        </p:nvSpPr>
        <p:spPr>
          <a:xfrm>
            <a:off x="376554" y="289633"/>
            <a:ext cx="11311237" cy="4020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思维</a:t>
            </a: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拓展的认知理论基础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25"/>
              </a:lnSpc>
            </a:pPr>
            <a:endParaRPr lang="en-US" dirty="0"/>
          </a:p>
          <a:p>
            <a:pPr marL="198754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思维拓展的提示语链设计建立在创造性认知理论的基础上。根据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Geneplore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模型（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Generate-Explore</a:t>
            </a:r>
            <a:r>
              <a:rPr lang="en-US" altLang="zh-CN" sz="1800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Model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），创造性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思维包括两个主要阶段：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44"/>
              </a:lnSpc>
            </a:pPr>
            <a:endParaRPr lang="en-US" dirty="0"/>
          </a:p>
          <a:p>
            <a:pPr marL="219075" hangingPunct="0">
              <a:lnSpc>
                <a:spcPct val="129583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生成阶段（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Generate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）和探索阶段（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Explore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），可</a:t>
            </a:r>
            <a:br/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以将这一理论应用到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5" dirty="0">
                <a:solidFill>
                  <a:srgbClr val="000000"/>
                </a:solidFill>
                <a:latin typeface="Arial Unicode MS"/>
                <a:ea typeface="Arial Unicode MS"/>
              </a:rPr>
              <a:t>内容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生成的过程中，设计相</a:t>
            </a:r>
            <a:br/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应的提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示语策略。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29"/>
              </a:lnSpc>
            </a:pPr>
            <a:endParaRPr lang="en-US" dirty="0"/>
          </a:p>
          <a:p>
            <a:pPr marL="0" indent="220345">
              <a:lnSpc>
                <a:spcPct val="100000"/>
              </a:lnSpc>
            </a:pP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发散思维的提示语链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</a:p>
        </p:txBody>
      </p:sp>
      <p:sp>
        <p:nvSpPr>
          <p:cNvPr id="625" name="TextBox 625"/>
          <p:cNvSpPr txBox="1"/>
          <p:nvPr/>
        </p:nvSpPr>
        <p:spPr>
          <a:xfrm>
            <a:off x="596900" y="4310179"/>
            <a:ext cx="4403072" cy="2044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295" dirty="0">
                <a:solidFill>
                  <a:srgbClr val="000000"/>
                </a:solidFill>
                <a:latin typeface="Arial Unicode MS"/>
                <a:ea typeface="Arial Unicode MS"/>
              </a:rPr>
              <a:t>（基于</a:t>
            </a:r>
            <a:r>
              <a:rPr lang="zh-CN" altLang="en-US" sz="2000" b="1" spc="10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en-US" altLang="zh-CN" sz="2000" b="1" spc="175" dirty="0">
                <a:solidFill>
                  <a:srgbClr val="000000"/>
                </a:solidFill>
                <a:latin typeface="Arial"/>
                <a:ea typeface="Arial"/>
              </a:rPr>
              <a:t>IDEA</a:t>
            </a:r>
            <a:r>
              <a:rPr lang="zh-CN" altLang="en-US" sz="2000" b="1" spc="11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2000" b="1" spc="295" dirty="0">
                <a:solidFill>
                  <a:srgbClr val="000000"/>
                </a:solidFill>
                <a:latin typeface="Arial Unicode MS"/>
                <a:ea typeface="Arial Unicode MS"/>
              </a:rPr>
              <a:t>框架）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55"/>
              </a:lnSpc>
            </a:pPr>
            <a:endParaRPr lang="en-US" dirty="0"/>
          </a:p>
          <a:p>
            <a:pPr marL="0" indent="9144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Imagine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（想象）：鼓励超越常规的思考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9144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Diverge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（发散）：探索多个可能性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9144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Expand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（扩展）：深化和拓展初始想法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9144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Alternate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（替代）：寻找替代方案</a:t>
            </a:r>
          </a:p>
        </p:txBody>
      </p:sp>
      <p:sp>
        <p:nvSpPr>
          <p:cNvPr id="626" name="TextBox 626"/>
          <p:cNvSpPr txBox="1"/>
          <p:nvPr/>
        </p:nvSpPr>
        <p:spPr>
          <a:xfrm>
            <a:off x="6544944" y="4345940"/>
            <a:ext cx="2641588" cy="18536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72085">
              <a:lnSpc>
                <a:spcPct val="109166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实战技巧：操作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方法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假设情景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提示激发想象力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应用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多角度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提示探索不同视角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深化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提示拓展初始想法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反转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提示寻找替代方案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Picture 6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9" y="1935480"/>
            <a:ext cx="5623560" cy="2004060"/>
          </a:xfrm>
          <a:prstGeom prst="rect">
            <a:avLst/>
          </a:prstGeom>
        </p:spPr>
      </p:pic>
      <p:sp>
        <p:nvSpPr>
          <p:cNvPr id="2" name="Freeform 628"/>
          <p:cNvSpPr/>
          <p:nvPr/>
        </p:nvSpPr>
        <p:spPr>
          <a:xfrm>
            <a:off x="6216650" y="20510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6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6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Freeform 629"/>
          <p:cNvSpPr/>
          <p:nvPr/>
        </p:nvSpPr>
        <p:spPr>
          <a:xfrm>
            <a:off x="6216650" y="21018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Freeform 630"/>
          <p:cNvSpPr/>
          <p:nvPr/>
        </p:nvSpPr>
        <p:spPr>
          <a:xfrm>
            <a:off x="6216650" y="2152650"/>
            <a:ext cx="6350" cy="44450"/>
          </a:xfrm>
          <a:custGeom>
            <a:avLst/>
            <a:gdLst>
              <a:gd name="connsiteX0" fmla="*/ 10794 w 6350"/>
              <a:gd name="connsiteY0" fmla="*/ 10160 h 44450"/>
              <a:gd name="connsiteX1" fmla="*/ 10794 w 6350"/>
              <a:gd name="connsiteY1" fmla="*/ 4063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60"/>
                </a:moveTo>
                <a:lnTo>
                  <a:pt x="10794" y="4063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Freeform 631"/>
          <p:cNvSpPr/>
          <p:nvPr/>
        </p:nvSpPr>
        <p:spPr>
          <a:xfrm>
            <a:off x="6216650" y="22034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Freeform 632"/>
          <p:cNvSpPr/>
          <p:nvPr/>
        </p:nvSpPr>
        <p:spPr>
          <a:xfrm>
            <a:off x="6216650" y="2266950"/>
            <a:ext cx="6350" cy="31750"/>
          </a:xfrm>
          <a:custGeom>
            <a:avLst/>
            <a:gdLst>
              <a:gd name="connsiteX0" fmla="*/ 10794 w 6350"/>
              <a:gd name="connsiteY0" fmla="*/ 2539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39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Freeform 633"/>
          <p:cNvSpPr/>
          <p:nvPr/>
        </p:nvSpPr>
        <p:spPr>
          <a:xfrm>
            <a:off x="6216650" y="23177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6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6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" name="Freeform 634"/>
          <p:cNvSpPr/>
          <p:nvPr/>
        </p:nvSpPr>
        <p:spPr>
          <a:xfrm>
            <a:off x="6216650" y="23685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5" name="Freeform 635"/>
          <p:cNvSpPr/>
          <p:nvPr/>
        </p:nvSpPr>
        <p:spPr>
          <a:xfrm>
            <a:off x="6216650" y="2419350"/>
            <a:ext cx="6350" cy="44450"/>
          </a:xfrm>
          <a:custGeom>
            <a:avLst/>
            <a:gdLst>
              <a:gd name="connsiteX0" fmla="*/ 10794 w 6350"/>
              <a:gd name="connsiteY0" fmla="*/ 10160 h 44450"/>
              <a:gd name="connsiteX1" fmla="*/ 10794 w 6350"/>
              <a:gd name="connsiteY1" fmla="*/ 4063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60"/>
                </a:moveTo>
                <a:lnTo>
                  <a:pt x="10794" y="4063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" name="Freeform 636"/>
          <p:cNvSpPr/>
          <p:nvPr/>
        </p:nvSpPr>
        <p:spPr>
          <a:xfrm>
            <a:off x="6216650" y="24701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Freeform 637"/>
          <p:cNvSpPr/>
          <p:nvPr/>
        </p:nvSpPr>
        <p:spPr>
          <a:xfrm>
            <a:off x="6216650" y="2533650"/>
            <a:ext cx="6350" cy="31750"/>
          </a:xfrm>
          <a:custGeom>
            <a:avLst/>
            <a:gdLst>
              <a:gd name="connsiteX0" fmla="*/ 10794 w 6350"/>
              <a:gd name="connsiteY0" fmla="*/ 2539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39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Freeform 638"/>
          <p:cNvSpPr/>
          <p:nvPr/>
        </p:nvSpPr>
        <p:spPr>
          <a:xfrm>
            <a:off x="6216650" y="25844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6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6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Freeform 639"/>
          <p:cNvSpPr/>
          <p:nvPr/>
        </p:nvSpPr>
        <p:spPr>
          <a:xfrm>
            <a:off x="6216650" y="26352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Freeform 640"/>
          <p:cNvSpPr/>
          <p:nvPr/>
        </p:nvSpPr>
        <p:spPr>
          <a:xfrm>
            <a:off x="6216650" y="2686050"/>
            <a:ext cx="6350" cy="44450"/>
          </a:xfrm>
          <a:custGeom>
            <a:avLst/>
            <a:gdLst>
              <a:gd name="connsiteX0" fmla="*/ 10794 w 6350"/>
              <a:gd name="connsiteY0" fmla="*/ 10160 h 44450"/>
              <a:gd name="connsiteX1" fmla="*/ 10794 w 6350"/>
              <a:gd name="connsiteY1" fmla="*/ 4063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60"/>
                </a:moveTo>
                <a:lnTo>
                  <a:pt x="10794" y="4063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Freeform 641"/>
          <p:cNvSpPr/>
          <p:nvPr/>
        </p:nvSpPr>
        <p:spPr>
          <a:xfrm>
            <a:off x="6216650" y="27368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Freeform 642"/>
          <p:cNvSpPr/>
          <p:nvPr/>
        </p:nvSpPr>
        <p:spPr>
          <a:xfrm>
            <a:off x="6216650" y="2800350"/>
            <a:ext cx="6350" cy="31750"/>
          </a:xfrm>
          <a:custGeom>
            <a:avLst/>
            <a:gdLst>
              <a:gd name="connsiteX0" fmla="*/ 10794 w 6350"/>
              <a:gd name="connsiteY0" fmla="*/ 2539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39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Freeform 643"/>
          <p:cNvSpPr/>
          <p:nvPr/>
        </p:nvSpPr>
        <p:spPr>
          <a:xfrm>
            <a:off x="6216650" y="28511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6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6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Freeform 644"/>
          <p:cNvSpPr/>
          <p:nvPr/>
        </p:nvSpPr>
        <p:spPr>
          <a:xfrm>
            <a:off x="6216650" y="29019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Freeform 645"/>
          <p:cNvSpPr/>
          <p:nvPr/>
        </p:nvSpPr>
        <p:spPr>
          <a:xfrm>
            <a:off x="6216650" y="2952750"/>
            <a:ext cx="6350" cy="44450"/>
          </a:xfrm>
          <a:custGeom>
            <a:avLst/>
            <a:gdLst>
              <a:gd name="connsiteX0" fmla="*/ 10794 w 6350"/>
              <a:gd name="connsiteY0" fmla="*/ 10160 h 44450"/>
              <a:gd name="connsiteX1" fmla="*/ 10794 w 6350"/>
              <a:gd name="connsiteY1" fmla="*/ 4063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60"/>
                </a:moveTo>
                <a:lnTo>
                  <a:pt x="10794" y="4063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Freeform 646"/>
          <p:cNvSpPr/>
          <p:nvPr/>
        </p:nvSpPr>
        <p:spPr>
          <a:xfrm>
            <a:off x="6216650" y="30035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Freeform 647"/>
          <p:cNvSpPr/>
          <p:nvPr/>
        </p:nvSpPr>
        <p:spPr>
          <a:xfrm>
            <a:off x="6216650" y="3067050"/>
            <a:ext cx="6350" cy="31750"/>
          </a:xfrm>
          <a:custGeom>
            <a:avLst/>
            <a:gdLst>
              <a:gd name="connsiteX0" fmla="*/ 10794 w 6350"/>
              <a:gd name="connsiteY0" fmla="*/ 2539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39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Freeform 648"/>
          <p:cNvSpPr/>
          <p:nvPr/>
        </p:nvSpPr>
        <p:spPr>
          <a:xfrm>
            <a:off x="6216650" y="31178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6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6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Freeform 649"/>
          <p:cNvSpPr/>
          <p:nvPr/>
        </p:nvSpPr>
        <p:spPr>
          <a:xfrm>
            <a:off x="6216650" y="31686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Freeform 650"/>
          <p:cNvSpPr/>
          <p:nvPr/>
        </p:nvSpPr>
        <p:spPr>
          <a:xfrm>
            <a:off x="6216650" y="3219450"/>
            <a:ext cx="6350" cy="44450"/>
          </a:xfrm>
          <a:custGeom>
            <a:avLst/>
            <a:gdLst>
              <a:gd name="connsiteX0" fmla="*/ 10794 w 6350"/>
              <a:gd name="connsiteY0" fmla="*/ 10160 h 44450"/>
              <a:gd name="connsiteX1" fmla="*/ 10794 w 6350"/>
              <a:gd name="connsiteY1" fmla="*/ 4064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60"/>
                </a:moveTo>
                <a:lnTo>
                  <a:pt x="10794" y="4064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Freeform 651"/>
          <p:cNvSpPr/>
          <p:nvPr/>
        </p:nvSpPr>
        <p:spPr>
          <a:xfrm>
            <a:off x="6216650" y="32702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Freeform 652"/>
          <p:cNvSpPr/>
          <p:nvPr/>
        </p:nvSpPr>
        <p:spPr>
          <a:xfrm>
            <a:off x="6216650" y="3333750"/>
            <a:ext cx="6350" cy="31750"/>
          </a:xfrm>
          <a:custGeom>
            <a:avLst/>
            <a:gdLst>
              <a:gd name="connsiteX0" fmla="*/ 10794 w 6350"/>
              <a:gd name="connsiteY0" fmla="*/ 2540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40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Freeform 653"/>
          <p:cNvSpPr/>
          <p:nvPr/>
        </p:nvSpPr>
        <p:spPr>
          <a:xfrm>
            <a:off x="6216650" y="33845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5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5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Freeform 654"/>
          <p:cNvSpPr/>
          <p:nvPr/>
        </p:nvSpPr>
        <p:spPr>
          <a:xfrm>
            <a:off x="6216650" y="34353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Freeform 655"/>
          <p:cNvSpPr/>
          <p:nvPr/>
        </p:nvSpPr>
        <p:spPr>
          <a:xfrm>
            <a:off x="6216650" y="3486150"/>
            <a:ext cx="6350" cy="44450"/>
          </a:xfrm>
          <a:custGeom>
            <a:avLst/>
            <a:gdLst>
              <a:gd name="connsiteX0" fmla="*/ 10794 w 6350"/>
              <a:gd name="connsiteY0" fmla="*/ 10159 h 44450"/>
              <a:gd name="connsiteX1" fmla="*/ 10794 w 6350"/>
              <a:gd name="connsiteY1" fmla="*/ 4064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59"/>
                </a:moveTo>
                <a:lnTo>
                  <a:pt x="10794" y="4064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Freeform 656"/>
          <p:cNvSpPr/>
          <p:nvPr/>
        </p:nvSpPr>
        <p:spPr>
          <a:xfrm>
            <a:off x="6216650" y="35369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Freeform 657"/>
          <p:cNvSpPr/>
          <p:nvPr/>
        </p:nvSpPr>
        <p:spPr>
          <a:xfrm>
            <a:off x="6216650" y="3600450"/>
            <a:ext cx="6350" cy="31750"/>
          </a:xfrm>
          <a:custGeom>
            <a:avLst/>
            <a:gdLst>
              <a:gd name="connsiteX0" fmla="*/ 10794 w 6350"/>
              <a:gd name="connsiteY0" fmla="*/ 2540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40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8" name="Freeform 658"/>
          <p:cNvSpPr/>
          <p:nvPr/>
        </p:nvSpPr>
        <p:spPr>
          <a:xfrm>
            <a:off x="6216650" y="36512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5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5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Freeform 659"/>
          <p:cNvSpPr/>
          <p:nvPr/>
        </p:nvSpPr>
        <p:spPr>
          <a:xfrm>
            <a:off x="6216650" y="37020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Freeform 660"/>
          <p:cNvSpPr/>
          <p:nvPr/>
        </p:nvSpPr>
        <p:spPr>
          <a:xfrm>
            <a:off x="6216650" y="3752850"/>
            <a:ext cx="6350" cy="44450"/>
          </a:xfrm>
          <a:custGeom>
            <a:avLst/>
            <a:gdLst>
              <a:gd name="connsiteX0" fmla="*/ 10794 w 6350"/>
              <a:gd name="connsiteY0" fmla="*/ 10159 h 44450"/>
              <a:gd name="connsiteX1" fmla="*/ 10794 w 6350"/>
              <a:gd name="connsiteY1" fmla="*/ 4064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59"/>
                </a:moveTo>
                <a:lnTo>
                  <a:pt x="10794" y="4064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Freeform 661"/>
          <p:cNvSpPr/>
          <p:nvPr/>
        </p:nvSpPr>
        <p:spPr>
          <a:xfrm>
            <a:off x="6216650" y="38036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Freeform 662"/>
          <p:cNvSpPr/>
          <p:nvPr/>
        </p:nvSpPr>
        <p:spPr>
          <a:xfrm>
            <a:off x="6216650" y="3867150"/>
            <a:ext cx="6350" cy="31750"/>
          </a:xfrm>
          <a:custGeom>
            <a:avLst/>
            <a:gdLst>
              <a:gd name="connsiteX0" fmla="*/ 10794 w 6350"/>
              <a:gd name="connsiteY0" fmla="*/ 2540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40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Freeform 663"/>
          <p:cNvSpPr/>
          <p:nvPr/>
        </p:nvSpPr>
        <p:spPr>
          <a:xfrm>
            <a:off x="6216650" y="39179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5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5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4" name="Freeform 664"/>
          <p:cNvSpPr/>
          <p:nvPr/>
        </p:nvSpPr>
        <p:spPr>
          <a:xfrm>
            <a:off x="6216650" y="39687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" name="Freeform 665"/>
          <p:cNvSpPr/>
          <p:nvPr/>
        </p:nvSpPr>
        <p:spPr>
          <a:xfrm>
            <a:off x="6216650" y="4019550"/>
            <a:ext cx="6350" cy="44450"/>
          </a:xfrm>
          <a:custGeom>
            <a:avLst/>
            <a:gdLst>
              <a:gd name="connsiteX0" fmla="*/ 10794 w 6350"/>
              <a:gd name="connsiteY0" fmla="*/ 10159 h 44450"/>
              <a:gd name="connsiteX1" fmla="*/ 10794 w 6350"/>
              <a:gd name="connsiteY1" fmla="*/ 4064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59"/>
                </a:moveTo>
                <a:lnTo>
                  <a:pt x="10794" y="4064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6" name="Freeform 666"/>
          <p:cNvSpPr/>
          <p:nvPr/>
        </p:nvSpPr>
        <p:spPr>
          <a:xfrm>
            <a:off x="6216650" y="40703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Freeform 667"/>
          <p:cNvSpPr/>
          <p:nvPr/>
        </p:nvSpPr>
        <p:spPr>
          <a:xfrm>
            <a:off x="6216650" y="4133850"/>
            <a:ext cx="6350" cy="31750"/>
          </a:xfrm>
          <a:custGeom>
            <a:avLst/>
            <a:gdLst>
              <a:gd name="connsiteX0" fmla="*/ 10794 w 6350"/>
              <a:gd name="connsiteY0" fmla="*/ 2540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40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Freeform 668"/>
          <p:cNvSpPr/>
          <p:nvPr/>
        </p:nvSpPr>
        <p:spPr>
          <a:xfrm>
            <a:off x="6216650" y="41846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5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5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Freeform 669"/>
          <p:cNvSpPr/>
          <p:nvPr/>
        </p:nvSpPr>
        <p:spPr>
          <a:xfrm>
            <a:off x="6216650" y="42354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Freeform 670"/>
          <p:cNvSpPr/>
          <p:nvPr/>
        </p:nvSpPr>
        <p:spPr>
          <a:xfrm>
            <a:off x="6216650" y="4286250"/>
            <a:ext cx="6350" cy="44450"/>
          </a:xfrm>
          <a:custGeom>
            <a:avLst/>
            <a:gdLst>
              <a:gd name="connsiteX0" fmla="*/ 10794 w 6350"/>
              <a:gd name="connsiteY0" fmla="*/ 10159 h 44450"/>
              <a:gd name="connsiteX1" fmla="*/ 10794 w 6350"/>
              <a:gd name="connsiteY1" fmla="*/ 4064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59"/>
                </a:moveTo>
                <a:lnTo>
                  <a:pt x="10794" y="4064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Freeform 671"/>
          <p:cNvSpPr/>
          <p:nvPr/>
        </p:nvSpPr>
        <p:spPr>
          <a:xfrm>
            <a:off x="6216650" y="43370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Freeform 672"/>
          <p:cNvSpPr/>
          <p:nvPr/>
        </p:nvSpPr>
        <p:spPr>
          <a:xfrm>
            <a:off x="6216650" y="4400550"/>
            <a:ext cx="6350" cy="31750"/>
          </a:xfrm>
          <a:custGeom>
            <a:avLst/>
            <a:gdLst>
              <a:gd name="connsiteX0" fmla="*/ 10794 w 6350"/>
              <a:gd name="connsiteY0" fmla="*/ 2540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40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Freeform 673"/>
          <p:cNvSpPr/>
          <p:nvPr/>
        </p:nvSpPr>
        <p:spPr>
          <a:xfrm>
            <a:off x="6216650" y="4451350"/>
            <a:ext cx="6350" cy="31750"/>
          </a:xfrm>
          <a:custGeom>
            <a:avLst/>
            <a:gdLst>
              <a:gd name="connsiteX0" fmla="*/ 10794 w 6350"/>
              <a:gd name="connsiteY0" fmla="*/ 5079 h 31750"/>
              <a:gd name="connsiteX1" fmla="*/ 10794 w 6350"/>
              <a:gd name="connsiteY1" fmla="*/ 35559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5079"/>
                </a:moveTo>
                <a:lnTo>
                  <a:pt x="10794" y="3555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Freeform 674"/>
          <p:cNvSpPr/>
          <p:nvPr/>
        </p:nvSpPr>
        <p:spPr>
          <a:xfrm>
            <a:off x="6216650" y="4502150"/>
            <a:ext cx="6350" cy="31750"/>
          </a:xfrm>
          <a:custGeom>
            <a:avLst/>
            <a:gdLst>
              <a:gd name="connsiteX0" fmla="*/ 10794 w 6350"/>
              <a:gd name="connsiteY0" fmla="*/ 7620 h 31750"/>
              <a:gd name="connsiteX1" fmla="*/ 10794 w 6350"/>
              <a:gd name="connsiteY1" fmla="*/ 3810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7620"/>
                </a:moveTo>
                <a:lnTo>
                  <a:pt x="10794" y="3810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" name="Freeform 675"/>
          <p:cNvSpPr/>
          <p:nvPr/>
        </p:nvSpPr>
        <p:spPr>
          <a:xfrm>
            <a:off x="6216650" y="4552950"/>
            <a:ext cx="6350" cy="44450"/>
          </a:xfrm>
          <a:custGeom>
            <a:avLst/>
            <a:gdLst>
              <a:gd name="connsiteX0" fmla="*/ 10794 w 6350"/>
              <a:gd name="connsiteY0" fmla="*/ 10159 h 44450"/>
              <a:gd name="connsiteX1" fmla="*/ 10794 w 6350"/>
              <a:gd name="connsiteY1" fmla="*/ 40640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0159"/>
                </a:moveTo>
                <a:lnTo>
                  <a:pt x="10794" y="4064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Freeform 676"/>
          <p:cNvSpPr/>
          <p:nvPr/>
        </p:nvSpPr>
        <p:spPr>
          <a:xfrm>
            <a:off x="6216650" y="4603750"/>
            <a:ext cx="6350" cy="44450"/>
          </a:xfrm>
          <a:custGeom>
            <a:avLst/>
            <a:gdLst>
              <a:gd name="connsiteX0" fmla="*/ 10794 w 6350"/>
              <a:gd name="connsiteY0" fmla="*/ 12700 h 44450"/>
              <a:gd name="connsiteX1" fmla="*/ 10794 w 6350"/>
              <a:gd name="connsiteY1" fmla="*/ 43179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44450">
                <a:moveTo>
                  <a:pt x="10794" y="12700"/>
                </a:moveTo>
                <a:lnTo>
                  <a:pt x="10794" y="43179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Freeform 677"/>
          <p:cNvSpPr/>
          <p:nvPr/>
        </p:nvSpPr>
        <p:spPr>
          <a:xfrm>
            <a:off x="6216650" y="2000250"/>
            <a:ext cx="6350" cy="31750"/>
          </a:xfrm>
          <a:custGeom>
            <a:avLst/>
            <a:gdLst>
              <a:gd name="connsiteX0" fmla="*/ 10794 w 6350"/>
              <a:gd name="connsiteY0" fmla="*/ 2539 h 31750"/>
              <a:gd name="connsiteX1" fmla="*/ 10794 w 6350"/>
              <a:gd name="connsiteY1" fmla="*/ 33020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31750">
                <a:moveTo>
                  <a:pt x="10794" y="2539"/>
                </a:moveTo>
                <a:lnTo>
                  <a:pt x="10794" y="3302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9" name="Picture 6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" y="4617720"/>
            <a:ext cx="5623560" cy="1821180"/>
          </a:xfrm>
          <a:prstGeom prst="rect">
            <a:avLst/>
          </a:prstGeom>
        </p:spPr>
      </p:pic>
      <p:pic>
        <p:nvPicPr>
          <p:cNvPr id="680" name="Picture 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0" y="5135880"/>
            <a:ext cx="5608320" cy="1303020"/>
          </a:xfrm>
          <a:prstGeom prst="rect">
            <a:avLst/>
          </a:prstGeom>
        </p:spPr>
      </p:pic>
      <p:sp>
        <p:nvSpPr>
          <p:cNvPr id="3" name="TextBox 680"/>
          <p:cNvSpPr txBox="1"/>
          <p:nvPr/>
        </p:nvSpPr>
        <p:spPr>
          <a:xfrm>
            <a:off x="376554" y="289633"/>
            <a:ext cx="610167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思维拓展的提示语链设计</a:t>
            </a:r>
          </a:p>
        </p:txBody>
      </p:sp>
      <p:sp>
        <p:nvSpPr>
          <p:cNvPr id="681" name="TextBox 681"/>
          <p:cNvSpPr txBox="1"/>
          <p:nvPr/>
        </p:nvSpPr>
        <p:spPr>
          <a:xfrm>
            <a:off x="521969" y="1252019"/>
            <a:ext cx="4705332" cy="25704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6840">
              <a:lnSpc>
                <a:spcPct val="100000"/>
              </a:lnSpc>
            </a:pP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聚合思维的提示语链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</a:p>
          <a:p>
            <a:pPr marL="0" indent="116840">
              <a:lnSpc>
                <a:spcPct val="101666"/>
              </a:lnSpc>
            </a:pPr>
            <a:r>
              <a:rPr lang="zh-CN" altLang="en-US" sz="2000" b="1" spc="325" dirty="0">
                <a:solidFill>
                  <a:srgbClr val="000000"/>
                </a:solidFill>
                <a:latin typeface="Arial Unicode MS"/>
                <a:ea typeface="Arial Unicode MS"/>
              </a:rPr>
              <a:t>基于</a:t>
            </a:r>
            <a:r>
              <a:rPr lang="zh-CN" altLang="en-US" sz="2000" b="1" spc="11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en-US" altLang="zh-CN" sz="2000" b="1" spc="229" dirty="0">
                <a:solidFill>
                  <a:srgbClr val="000000"/>
                </a:solidFill>
                <a:latin typeface="Arial"/>
                <a:ea typeface="Arial"/>
              </a:rPr>
              <a:t>FOCUS</a:t>
            </a:r>
            <a:r>
              <a:rPr lang="zh-CN" altLang="en-US" sz="2000" b="1" spc="11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2000" b="1" spc="329" dirty="0">
                <a:solidFill>
                  <a:srgbClr val="000000"/>
                </a:solidFill>
                <a:latin typeface="Arial Unicode MS"/>
                <a:ea typeface="Arial Unicode MS"/>
              </a:rPr>
              <a:t>框架</a:t>
            </a:r>
          </a:p>
          <a:p>
            <a:pPr>
              <a:lnSpc>
                <a:spcPts val="198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Filter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（筛选）：评估和选择最佳想法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Optimize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（优化）：改进选定的想法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Combine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（组合）：整合多个想法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Unify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（统一）：创建一致的叙述或解决方案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Synthesize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（综合）：形成最终结论</a:t>
            </a:r>
          </a:p>
        </p:txBody>
      </p:sp>
      <p:sp>
        <p:nvSpPr>
          <p:cNvPr id="682" name="TextBox 682"/>
          <p:cNvSpPr txBox="1"/>
          <p:nvPr/>
        </p:nvSpPr>
        <p:spPr>
          <a:xfrm>
            <a:off x="6426834" y="1252019"/>
            <a:ext cx="5124432" cy="29247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79400">
              <a:lnSpc>
                <a:spcPct val="100000"/>
              </a:lnSpc>
            </a:pP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跨界思维的提示语链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</a:p>
          <a:p>
            <a:pPr marL="0" indent="279400">
              <a:lnSpc>
                <a:spcPct val="101666"/>
              </a:lnSpc>
            </a:pPr>
            <a:r>
              <a:rPr lang="zh-CN" altLang="en-US" sz="2000" b="1" spc="309" dirty="0">
                <a:solidFill>
                  <a:srgbClr val="000000"/>
                </a:solidFill>
                <a:latin typeface="Arial Unicode MS"/>
                <a:ea typeface="Arial Unicode MS"/>
              </a:rPr>
              <a:t>基于</a:t>
            </a:r>
            <a:r>
              <a:rPr lang="zh-CN" altLang="en-US" sz="2000" b="1" spc="11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en-US" altLang="zh-CN" sz="2000" b="1" spc="200" dirty="0">
                <a:solidFill>
                  <a:srgbClr val="000000"/>
                </a:solidFill>
                <a:latin typeface="Arial"/>
                <a:ea typeface="Arial"/>
              </a:rPr>
              <a:t>BRIDGE</a:t>
            </a:r>
            <a:r>
              <a:rPr lang="zh-CN" altLang="en-US" sz="2000" b="1" spc="129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2000" b="1" spc="309" dirty="0">
                <a:solidFill>
                  <a:srgbClr val="000000"/>
                </a:solidFill>
                <a:latin typeface="Arial Unicode MS"/>
                <a:ea typeface="Arial Unicode MS"/>
              </a:rPr>
              <a:t>框架</a:t>
            </a:r>
          </a:p>
          <a:p>
            <a:pPr>
              <a:lnSpc>
                <a:spcPts val="197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Blend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（混合）：融合不同领域的概念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Reframe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（重构）：用新视角看待问题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Interconnect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（互联）：建立领域间的联系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Decontextualize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（去情境化）：将概念从原始环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境中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抽离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Generalize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（泛化）：寻找普适原则</a:t>
            </a:r>
          </a:p>
        </p:txBody>
      </p:sp>
      <p:sp>
        <p:nvSpPr>
          <p:cNvPr id="683" name="TextBox 683"/>
          <p:cNvSpPr txBox="1"/>
          <p:nvPr/>
        </p:nvSpPr>
        <p:spPr>
          <a:xfrm>
            <a:off x="443865" y="4189729"/>
            <a:ext cx="10751801" cy="3429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5000"/>
              </a:lnSpc>
              <a:tabLst>
                <a:tab pos="5982969" algn="l"/>
              </a:tabLst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�实战技巧：操作方法	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Extrapolate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（推演）：将原理应用到新领域</a:t>
            </a:r>
          </a:p>
        </p:txBody>
      </p:sp>
      <p:sp>
        <p:nvSpPr>
          <p:cNvPr id="684" name="TextBox 684"/>
          <p:cNvSpPr txBox="1"/>
          <p:nvPr/>
        </p:nvSpPr>
        <p:spPr>
          <a:xfrm>
            <a:off x="414019" y="4910505"/>
            <a:ext cx="3098788" cy="1300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94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00" dirty="0">
                <a:solidFill>
                  <a:srgbClr val="000000"/>
                </a:solidFill>
                <a:latin typeface="Arial Unicode MS"/>
                <a:ea typeface="Arial Unicode MS"/>
              </a:rPr>
              <a:t>评估矩阵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00" dirty="0">
                <a:solidFill>
                  <a:srgbClr val="000000"/>
                </a:solidFill>
                <a:latin typeface="Arial Unicode MS"/>
                <a:ea typeface="Arial Unicode MS"/>
              </a:rPr>
              <a:t>提示进行系统性筛选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应用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优化循环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提示迭代改进想法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创意组合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提示融合不同概念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叙事架构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提示创建统一的故事线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5.	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应用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综合提炼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04" dirty="0">
                <a:solidFill>
                  <a:srgbClr val="000000"/>
                </a:solidFill>
                <a:latin typeface="Arial Unicode MS"/>
                <a:ea typeface="Arial Unicode MS"/>
              </a:rPr>
              <a:t>提示形成最终观点</a:t>
            </a:r>
          </a:p>
        </p:txBody>
      </p:sp>
      <p:sp>
        <p:nvSpPr>
          <p:cNvPr id="685" name="TextBox 685"/>
          <p:cNvSpPr txBox="1"/>
          <p:nvPr/>
        </p:nvSpPr>
        <p:spPr>
          <a:xfrm>
            <a:off x="6318884" y="4774565"/>
            <a:ext cx="3098788" cy="15589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72085">
              <a:lnSpc>
                <a:spcPct val="109166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实战技巧：操作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方法</a:t>
            </a:r>
          </a:p>
          <a:p>
            <a:pPr>
              <a:lnSpc>
                <a:spcPts val="18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1.	</a:t>
            </a:r>
            <a:r>
              <a:rPr lang="zh-CN" altLang="en-US" sz="1200" spc="94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00" dirty="0">
                <a:solidFill>
                  <a:srgbClr val="000000"/>
                </a:solidFill>
                <a:latin typeface="Arial Unicode MS"/>
                <a:ea typeface="Arial Unicode MS"/>
              </a:rPr>
              <a:t>随机输入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00" dirty="0">
                <a:solidFill>
                  <a:srgbClr val="000000"/>
                </a:solidFill>
                <a:latin typeface="Arial Unicode MS"/>
                <a:ea typeface="Arial Unicode MS"/>
              </a:rPr>
              <a:t>提示引入跨领域元素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2.	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应用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类比映射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提示建立领域间的联系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3.	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抽象化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10" dirty="0">
                <a:solidFill>
                  <a:srgbClr val="000000"/>
                </a:solidFill>
                <a:latin typeface="Arial Unicode MS"/>
                <a:ea typeface="Arial Unicode MS"/>
              </a:rPr>
              <a:t>提示提取核心原理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4.	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跨域应用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89" dirty="0">
                <a:solidFill>
                  <a:srgbClr val="000000"/>
                </a:solidFill>
                <a:latin typeface="Arial Unicode MS"/>
                <a:ea typeface="Arial Unicode MS"/>
              </a:rPr>
              <a:t>提示探索新的应用场景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Picture 6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2583180"/>
            <a:ext cx="7840980" cy="1493520"/>
          </a:xfrm>
          <a:prstGeom prst="rect">
            <a:avLst/>
          </a:prstGeom>
        </p:spPr>
      </p:pic>
      <p:sp>
        <p:nvSpPr>
          <p:cNvPr id="2" name="Freeform 687"/>
          <p:cNvSpPr/>
          <p:nvPr/>
        </p:nvSpPr>
        <p:spPr>
          <a:xfrm>
            <a:off x="374650" y="2279650"/>
            <a:ext cx="2025650" cy="336550"/>
          </a:xfrm>
          <a:custGeom>
            <a:avLst/>
            <a:gdLst>
              <a:gd name="connsiteX0" fmla="*/ 18541 w 2025650"/>
              <a:gd name="connsiteY0" fmla="*/ 17017 h 336550"/>
              <a:gd name="connsiteX1" fmla="*/ 2030221 w 2025650"/>
              <a:gd name="connsiteY1" fmla="*/ 17017 h 336550"/>
              <a:gd name="connsiteX2" fmla="*/ 2030221 w 2025650"/>
              <a:gd name="connsiteY2" fmla="*/ 344677 h 336550"/>
              <a:gd name="connsiteX3" fmla="*/ 18541 w 2025650"/>
              <a:gd name="connsiteY3" fmla="*/ 344677 h 336550"/>
              <a:gd name="connsiteX4" fmla="*/ 18541 w 2025650"/>
              <a:gd name="connsiteY4" fmla="*/ 17017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5650" h="336550">
                <a:moveTo>
                  <a:pt x="18541" y="17017"/>
                </a:moveTo>
                <a:lnTo>
                  <a:pt x="2030221" y="17017"/>
                </a:lnTo>
                <a:lnTo>
                  <a:pt x="2030221" y="344677"/>
                </a:lnTo>
                <a:lnTo>
                  <a:pt x="18541" y="344677"/>
                </a:lnTo>
                <a:lnTo>
                  <a:pt x="18541" y="17017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Freeform 688"/>
          <p:cNvSpPr/>
          <p:nvPr/>
        </p:nvSpPr>
        <p:spPr>
          <a:xfrm>
            <a:off x="400050" y="4260850"/>
            <a:ext cx="2038350" cy="336550"/>
          </a:xfrm>
          <a:custGeom>
            <a:avLst/>
            <a:gdLst>
              <a:gd name="connsiteX0" fmla="*/ 8381 w 2038350"/>
              <a:gd name="connsiteY0" fmla="*/ 13970 h 336550"/>
              <a:gd name="connsiteX1" fmla="*/ 2039874 w 2038350"/>
              <a:gd name="connsiteY1" fmla="*/ 13970 h 336550"/>
              <a:gd name="connsiteX2" fmla="*/ 2039874 w 2038350"/>
              <a:gd name="connsiteY2" fmla="*/ 341629 h 336550"/>
              <a:gd name="connsiteX3" fmla="*/ 8381 w 2038350"/>
              <a:gd name="connsiteY3" fmla="*/ 341629 h 336550"/>
              <a:gd name="connsiteX4" fmla="*/ 8381 w 2038350"/>
              <a:gd name="connsiteY4" fmla="*/ 1397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8350" h="336550">
                <a:moveTo>
                  <a:pt x="8381" y="13970"/>
                </a:moveTo>
                <a:lnTo>
                  <a:pt x="2039874" y="13970"/>
                </a:lnTo>
                <a:lnTo>
                  <a:pt x="2039874" y="341629"/>
                </a:lnTo>
                <a:lnTo>
                  <a:pt x="8381" y="341629"/>
                </a:lnTo>
                <a:lnTo>
                  <a:pt x="8381" y="13970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Freeform 689"/>
          <p:cNvSpPr/>
          <p:nvPr/>
        </p:nvSpPr>
        <p:spPr>
          <a:xfrm>
            <a:off x="2901950" y="4260850"/>
            <a:ext cx="2012950" cy="336550"/>
          </a:xfrm>
          <a:custGeom>
            <a:avLst/>
            <a:gdLst>
              <a:gd name="connsiteX0" fmla="*/ 11938 w 2012950"/>
              <a:gd name="connsiteY0" fmla="*/ 13970 h 336550"/>
              <a:gd name="connsiteX1" fmla="*/ 2022094 w 2012950"/>
              <a:gd name="connsiteY1" fmla="*/ 13970 h 336550"/>
              <a:gd name="connsiteX2" fmla="*/ 2022094 w 2012950"/>
              <a:gd name="connsiteY2" fmla="*/ 341629 h 336550"/>
              <a:gd name="connsiteX3" fmla="*/ 11938 w 2012950"/>
              <a:gd name="connsiteY3" fmla="*/ 341629 h 336550"/>
              <a:gd name="connsiteX4" fmla="*/ 11938 w 2012950"/>
              <a:gd name="connsiteY4" fmla="*/ 1397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950" h="336550">
                <a:moveTo>
                  <a:pt x="11938" y="13970"/>
                </a:moveTo>
                <a:lnTo>
                  <a:pt x="2022094" y="13970"/>
                </a:lnTo>
                <a:lnTo>
                  <a:pt x="2022094" y="341629"/>
                </a:lnTo>
                <a:lnTo>
                  <a:pt x="11938" y="341629"/>
                </a:lnTo>
                <a:lnTo>
                  <a:pt x="11938" y="13970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1" name="Picture 6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4579620"/>
            <a:ext cx="2407920" cy="1798320"/>
          </a:xfrm>
          <a:prstGeom prst="rect">
            <a:avLst/>
          </a:prstGeom>
        </p:spPr>
      </p:pic>
      <p:pic>
        <p:nvPicPr>
          <p:cNvPr id="692" name="Picture 6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980" y="4579620"/>
            <a:ext cx="2613660" cy="1798320"/>
          </a:xfrm>
          <a:prstGeom prst="rect">
            <a:avLst/>
          </a:prstGeom>
        </p:spPr>
      </p:pic>
      <p:sp>
        <p:nvSpPr>
          <p:cNvPr id="3" name="Freeform 692"/>
          <p:cNvSpPr/>
          <p:nvPr/>
        </p:nvSpPr>
        <p:spPr>
          <a:xfrm>
            <a:off x="5607050" y="4260850"/>
            <a:ext cx="2025650" cy="336550"/>
          </a:xfrm>
          <a:custGeom>
            <a:avLst/>
            <a:gdLst>
              <a:gd name="connsiteX0" fmla="*/ 14985 w 2025650"/>
              <a:gd name="connsiteY0" fmla="*/ 13970 h 336550"/>
              <a:gd name="connsiteX1" fmla="*/ 2026665 w 2025650"/>
              <a:gd name="connsiteY1" fmla="*/ 13970 h 336550"/>
              <a:gd name="connsiteX2" fmla="*/ 2026665 w 2025650"/>
              <a:gd name="connsiteY2" fmla="*/ 341629 h 336550"/>
              <a:gd name="connsiteX3" fmla="*/ 14985 w 2025650"/>
              <a:gd name="connsiteY3" fmla="*/ 341629 h 336550"/>
              <a:gd name="connsiteX4" fmla="*/ 14985 w 2025650"/>
              <a:gd name="connsiteY4" fmla="*/ 1397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5650" h="336550">
                <a:moveTo>
                  <a:pt x="14985" y="13970"/>
                </a:moveTo>
                <a:lnTo>
                  <a:pt x="2026665" y="13970"/>
                </a:lnTo>
                <a:lnTo>
                  <a:pt x="2026665" y="341629"/>
                </a:lnTo>
                <a:lnTo>
                  <a:pt x="14985" y="341629"/>
                </a:lnTo>
                <a:lnTo>
                  <a:pt x="14985" y="13970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4" name="Picture 6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320" y="4579620"/>
            <a:ext cx="2621280" cy="1798320"/>
          </a:xfrm>
          <a:prstGeom prst="rect">
            <a:avLst/>
          </a:prstGeom>
        </p:spPr>
      </p:pic>
      <p:sp>
        <p:nvSpPr>
          <p:cNvPr id="4" name="Freeform 694"/>
          <p:cNvSpPr/>
          <p:nvPr/>
        </p:nvSpPr>
        <p:spPr>
          <a:xfrm>
            <a:off x="8464550" y="2152650"/>
            <a:ext cx="3270250" cy="336550"/>
          </a:xfrm>
          <a:custGeom>
            <a:avLst/>
            <a:gdLst>
              <a:gd name="connsiteX0" fmla="*/ 11938 w 3270250"/>
              <a:gd name="connsiteY0" fmla="*/ 12954 h 336550"/>
              <a:gd name="connsiteX1" fmla="*/ 3274821 w 3270250"/>
              <a:gd name="connsiteY1" fmla="*/ 12954 h 336550"/>
              <a:gd name="connsiteX2" fmla="*/ 3274821 w 3270250"/>
              <a:gd name="connsiteY2" fmla="*/ 339090 h 336550"/>
              <a:gd name="connsiteX3" fmla="*/ 11938 w 3270250"/>
              <a:gd name="connsiteY3" fmla="*/ 339090 h 336550"/>
              <a:gd name="connsiteX4" fmla="*/ 11938 w 3270250"/>
              <a:gd name="connsiteY4" fmla="*/ 12954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0250" h="336550">
                <a:moveTo>
                  <a:pt x="11938" y="12954"/>
                </a:moveTo>
                <a:lnTo>
                  <a:pt x="3274821" y="12954"/>
                </a:lnTo>
                <a:lnTo>
                  <a:pt x="3274821" y="339090"/>
                </a:lnTo>
                <a:lnTo>
                  <a:pt x="11938" y="339090"/>
                </a:lnTo>
                <a:lnTo>
                  <a:pt x="11938" y="12954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TextBox 695"/>
          <p:cNvSpPr txBox="1"/>
          <p:nvPr/>
        </p:nvSpPr>
        <p:spPr>
          <a:xfrm>
            <a:off x="376554" y="289633"/>
            <a:ext cx="11454724" cy="1799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深度融合：整合知识与创意的提示语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链优化策略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19"/>
              </a:lnSpc>
            </a:pPr>
            <a:endParaRPr lang="en-US" dirty="0"/>
          </a:p>
          <a:p>
            <a:pPr marL="0" indent="262254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优化提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示语链不仅在于提示语的微调，更在于逻辑链、知识链与创意链的有效整合与融合。通过整合这三条链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62254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条，可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以提升生成内容的逻辑严谨性、知识广度与创新深度，达到最佳平衡。</a:t>
            </a:r>
          </a:p>
        </p:txBody>
      </p:sp>
      <p:sp>
        <p:nvSpPr>
          <p:cNvPr id="696" name="TextBox 696"/>
          <p:cNvSpPr txBox="1"/>
          <p:nvPr/>
        </p:nvSpPr>
        <p:spPr>
          <a:xfrm>
            <a:off x="500380" y="2336317"/>
            <a:ext cx="6388083" cy="15166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10819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三链融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合模型</a:t>
            </a:r>
          </a:p>
          <a:p>
            <a:pPr>
              <a:lnSpc>
                <a:spcPts val="195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69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逻辑链（Logic</a:t>
            </a:r>
            <a:r>
              <a:rPr lang="zh-CN" altLang="en-US" sz="1800" spc="14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Chain）：确保推理的严密性和论证的连贯性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64" dirty="0">
                <a:solidFill>
                  <a:srgbClr val="000000"/>
                </a:solidFill>
                <a:latin typeface="宋体"/>
                <a:ea typeface="宋体"/>
              </a:rPr>
              <a:t>知识链（</a:t>
            </a: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Knowledge</a:t>
            </a:r>
            <a:r>
              <a:rPr lang="zh-CN" altLang="en-US" sz="1800" spc="4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Chain</a:t>
            </a:r>
            <a:r>
              <a:rPr lang="zh-CN" altLang="en-US" sz="1800" spc="64" dirty="0">
                <a:solidFill>
                  <a:srgbClr val="000000"/>
                </a:solidFill>
                <a:latin typeface="宋体"/>
                <a:ea typeface="宋体"/>
              </a:rPr>
              <a:t>）：激活和应用相关领域知识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-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-35" dirty="0">
                <a:solidFill>
                  <a:srgbClr val="000000"/>
                </a:solidFill>
                <a:latin typeface="宋体"/>
                <a:ea typeface="宋体"/>
              </a:rPr>
              <a:t>创意链（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Creativity</a:t>
            </a:r>
            <a:r>
              <a:rPr lang="zh-CN" altLang="en-US" sz="1800" spc="-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Chain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）：促进创新思维和独特见解</a:t>
            </a:r>
          </a:p>
        </p:txBody>
      </p:sp>
      <p:sp>
        <p:nvSpPr>
          <p:cNvPr id="697" name="TextBox 697"/>
          <p:cNvSpPr txBox="1"/>
          <p:nvPr/>
        </p:nvSpPr>
        <p:spPr>
          <a:xfrm>
            <a:off x="8496934" y="2204872"/>
            <a:ext cx="3270232" cy="2109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9884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三链融合的动态优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化系统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平衡评估器：实时评估三链的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贡献度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，确保均衡发展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285750" indent="-285750" hangingPunct="0">
              <a:lnSpc>
                <a:spcPct val="119166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适应性切换机制：根据任务需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求和当前输出，动态切换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侧重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点</a:t>
            </a:r>
          </a:p>
        </p:txBody>
      </p:sp>
      <p:sp>
        <p:nvSpPr>
          <p:cNvPr id="698" name="TextBox 698"/>
          <p:cNvSpPr txBox="1"/>
          <p:nvPr/>
        </p:nvSpPr>
        <p:spPr>
          <a:xfrm>
            <a:off x="500380" y="4314342"/>
            <a:ext cx="2127232" cy="18677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21919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逻辑链优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化策略</a:t>
            </a:r>
          </a:p>
          <a:p>
            <a:pPr>
              <a:lnSpc>
                <a:spcPts val="191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应用形式逻辑原理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构建论证结构图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使用逻辑关系词强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化连接</a:t>
            </a:r>
          </a:p>
        </p:txBody>
      </p:sp>
      <p:sp>
        <p:nvSpPr>
          <p:cNvPr id="699" name="TextBox 699"/>
          <p:cNvSpPr txBox="1"/>
          <p:nvPr/>
        </p:nvSpPr>
        <p:spPr>
          <a:xfrm>
            <a:off x="3004820" y="4314342"/>
            <a:ext cx="2355832" cy="1689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1759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知识链优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化策略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1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构建多层次知识图谱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实施知识检索与集成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进行跨域知识映射</a:t>
            </a:r>
          </a:p>
        </p:txBody>
      </p:sp>
      <p:sp>
        <p:nvSpPr>
          <p:cNvPr id="700" name="TextBox 700"/>
          <p:cNvSpPr txBox="1"/>
          <p:nvPr/>
        </p:nvSpPr>
        <p:spPr>
          <a:xfrm>
            <a:off x="5713729" y="4314342"/>
            <a:ext cx="2355833" cy="1689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176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创意链优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化策略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1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应用创造性思维技巧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实施概念重组与融合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进行情境转换与类比</a:t>
            </a:r>
          </a:p>
        </p:txBody>
      </p:sp>
      <p:sp>
        <p:nvSpPr>
          <p:cNvPr id="701" name="TextBox 701"/>
          <p:cNvSpPr txBox="1"/>
          <p:nvPr/>
        </p:nvSpPr>
        <p:spPr>
          <a:xfrm>
            <a:off x="8496934" y="4400702"/>
            <a:ext cx="3270232" cy="213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hangingPunct="0">
              <a:lnSpc>
                <a:spcPct val="129583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交叉强化策略：利用一个链条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的强点来补强另一个链条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的弱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点</a:t>
            </a:r>
          </a:p>
          <a:p>
            <a:pPr marL="285750" indent="-285750" hangingPunct="0">
              <a:lnSpc>
                <a:spcPct val="129583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整合检查点：定期综合评估输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出的逻辑性、知识深度和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创新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Picture 7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1242060"/>
            <a:ext cx="8183880" cy="662940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" y="3002280"/>
            <a:ext cx="7879080" cy="2689860"/>
          </a:xfrm>
          <a:prstGeom prst="rect">
            <a:avLst/>
          </a:prstGeom>
        </p:spPr>
      </p:pic>
      <p:sp>
        <p:nvSpPr>
          <p:cNvPr id="2" name="Freeform 704"/>
          <p:cNvSpPr/>
          <p:nvPr/>
        </p:nvSpPr>
        <p:spPr>
          <a:xfrm>
            <a:off x="8736012" y="1217612"/>
            <a:ext cx="39687" cy="5437187"/>
          </a:xfrm>
          <a:custGeom>
            <a:avLst/>
            <a:gdLst>
              <a:gd name="connsiteX0" fmla="*/ 23177 w 39687"/>
              <a:gd name="connsiteY0" fmla="*/ 6667 h 5437187"/>
              <a:gd name="connsiteX1" fmla="*/ 23177 w 39687"/>
              <a:gd name="connsiteY1" fmla="*/ 5431472 h 543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687" h="5437187">
                <a:moveTo>
                  <a:pt x="23177" y="6667"/>
                </a:moveTo>
                <a:lnTo>
                  <a:pt x="23177" y="5431472"/>
                </a:lnTo>
              </a:path>
            </a:pathLst>
          </a:custGeom>
          <a:ln w="28575">
            <a:solidFill>
              <a:srgbClr val="097FDE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6" name="Picture 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59" y="2621280"/>
            <a:ext cx="2202180" cy="3322320"/>
          </a:xfrm>
          <a:prstGeom prst="rect">
            <a:avLst/>
          </a:prstGeom>
        </p:spPr>
      </p:pic>
      <p:pic>
        <p:nvPicPr>
          <p:cNvPr id="707" name="Picture 7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59" y="6027420"/>
            <a:ext cx="2186939" cy="411480"/>
          </a:xfrm>
          <a:prstGeom prst="rect">
            <a:avLst/>
          </a:prstGeom>
        </p:spPr>
      </p:pic>
      <p:pic>
        <p:nvPicPr>
          <p:cNvPr id="708" name="Picture 7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6027420"/>
            <a:ext cx="1341120" cy="640080"/>
          </a:xfrm>
          <a:prstGeom prst="rect">
            <a:avLst/>
          </a:prstGeom>
        </p:spPr>
      </p:pic>
      <p:pic>
        <p:nvPicPr>
          <p:cNvPr id="709" name="Picture 7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8360" y="6027420"/>
            <a:ext cx="1341120" cy="640080"/>
          </a:xfrm>
          <a:prstGeom prst="rect">
            <a:avLst/>
          </a:prstGeom>
        </p:spPr>
      </p:pic>
      <p:pic>
        <p:nvPicPr>
          <p:cNvPr id="710" name="Picture 7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7620" y="6027420"/>
            <a:ext cx="1356360" cy="640080"/>
          </a:xfrm>
          <a:prstGeom prst="rect">
            <a:avLst/>
          </a:prstGeom>
        </p:spPr>
      </p:pic>
      <p:pic>
        <p:nvPicPr>
          <p:cNvPr id="711" name="Picture 7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6027420"/>
            <a:ext cx="1341120" cy="640080"/>
          </a:xfrm>
          <a:prstGeom prst="rect">
            <a:avLst/>
          </a:prstGeom>
        </p:spPr>
      </p:pic>
      <p:pic>
        <p:nvPicPr>
          <p:cNvPr id="712" name="Picture 7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1380" y="6027420"/>
            <a:ext cx="1356360" cy="640080"/>
          </a:xfrm>
          <a:prstGeom prst="rect">
            <a:avLst/>
          </a:prstGeom>
        </p:spPr>
      </p:pic>
      <p:pic>
        <p:nvPicPr>
          <p:cNvPr id="713" name="Picture 7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1180" y="6240780"/>
            <a:ext cx="266700" cy="266700"/>
          </a:xfrm>
          <a:prstGeom prst="rect">
            <a:avLst/>
          </a:prstGeom>
        </p:spPr>
      </p:pic>
      <p:pic>
        <p:nvPicPr>
          <p:cNvPr id="714" name="Picture 7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12820" y="6240780"/>
            <a:ext cx="259079" cy="266700"/>
          </a:xfrm>
          <a:prstGeom prst="rect">
            <a:avLst/>
          </a:prstGeom>
        </p:spPr>
      </p:pic>
      <p:pic>
        <p:nvPicPr>
          <p:cNvPr id="715" name="Picture 7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080" y="6240780"/>
            <a:ext cx="266700" cy="266700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6580" y="6240780"/>
            <a:ext cx="274320" cy="266700"/>
          </a:xfrm>
          <a:prstGeom prst="rect">
            <a:avLst/>
          </a:prstGeom>
        </p:spPr>
      </p:pic>
      <p:sp>
        <p:nvSpPr>
          <p:cNvPr id="3" name="TextBox 716"/>
          <p:cNvSpPr txBox="1"/>
          <p:nvPr/>
        </p:nvSpPr>
        <p:spPr>
          <a:xfrm>
            <a:off x="376554" y="289633"/>
            <a:ext cx="992881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即学即用：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复杂任务的提示语链设计实战</a:t>
            </a:r>
          </a:p>
        </p:txBody>
      </p:sp>
      <p:sp>
        <p:nvSpPr>
          <p:cNvPr id="717" name="TextBox 717"/>
          <p:cNvSpPr txBox="1"/>
          <p:nvPr/>
        </p:nvSpPr>
        <p:spPr>
          <a:xfrm>
            <a:off x="600709" y="1386004"/>
            <a:ext cx="10817839" cy="355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6666"/>
              </a:lnSpc>
              <a:tabLst>
                <a:tab pos="2129154" algn="l"/>
                <a:tab pos="8399145" algn="l"/>
              </a:tabLst>
            </a:pP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需要考虑</a:t>
            </a: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的因素	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任务目标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、目标受众、文章类型、字数要求、特殊要求	</a:t>
            </a: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成果展示与改进建议</a:t>
            </a:r>
          </a:p>
        </p:txBody>
      </p:sp>
      <p:sp>
        <p:nvSpPr>
          <p:cNvPr id="718" name="TextBox 718"/>
          <p:cNvSpPr txBox="1"/>
          <p:nvPr/>
        </p:nvSpPr>
        <p:spPr>
          <a:xfrm>
            <a:off x="401320" y="2039419"/>
            <a:ext cx="8281651" cy="11858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2000" b="1" spc="-10" dirty="0">
                <a:solidFill>
                  <a:srgbClr val="000000"/>
                </a:solidFill>
                <a:latin typeface="宋体"/>
                <a:ea typeface="宋体"/>
              </a:rPr>
              <a:t>整体提示语</a:t>
            </a:r>
            <a:r>
              <a:rPr lang="zh-CN" altLang="en-US" sz="2000" b="1" dirty="0">
                <a:solidFill>
                  <a:srgbClr val="000000"/>
                </a:solidFill>
                <a:latin typeface="宋体"/>
                <a:ea typeface="宋体"/>
              </a:rPr>
              <a:t>链设计框架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通过四个关键步骤：分析（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Analysis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）、构思（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Ideation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）、发展（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Development</a:t>
            </a:r>
            <a:r>
              <a:rPr lang="zh-CN" altLang="en-US" sz="1800" spc="-25" dirty="0">
                <a:solidFill>
                  <a:srgbClr val="000000"/>
                </a:solidFill>
                <a:latin typeface="宋体"/>
                <a:ea typeface="宋体"/>
              </a:rPr>
              <a:t>）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和评估（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Assessment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），为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提示语链的设计提供系统化的指导。</a:t>
            </a:r>
          </a:p>
        </p:txBody>
      </p:sp>
      <p:sp>
        <p:nvSpPr>
          <p:cNvPr id="719" name="TextBox 719"/>
          <p:cNvSpPr txBox="1"/>
          <p:nvPr/>
        </p:nvSpPr>
        <p:spPr>
          <a:xfrm>
            <a:off x="8985250" y="1915030"/>
            <a:ext cx="2856849" cy="15480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通过以下反思和评估的框架对</a:t>
            </a:r>
            <a:r>
              <a:rPr lang="en-US" altLang="zh-CN" sz="1600" spc="-1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生成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内容进行审查与质量评估：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 indent="897039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内容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全面性</a:t>
            </a:r>
          </a:p>
          <a:p>
            <a:pPr>
              <a:lnSpc>
                <a:spcPts val="1825"/>
              </a:lnSpc>
            </a:pPr>
            <a:endParaRPr lang="en-US" dirty="0"/>
          </a:p>
          <a:p>
            <a:pPr marL="0" indent="987844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论证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深度</a:t>
            </a:r>
          </a:p>
        </p:txBody>
      </p:sp>
      <p:sp>
        <p:nvSpPr>
          <p:cNvPr id="720" name="TextBox 720"/>
          <p:cNvSpPr txBox="1"/>
          <p:nvPr/>
        </p:nvSpPr>
        <p:spPr>
          <a:xfrm>
            <a:off x="735330" y="3513325"/>
            <a:ext cx="2044049" cy="18357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在分析阶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段，首先明确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任务目标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和关键问题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3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在发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展阶段，逐步深化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构思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并形成具体的内容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方案</a:t>
            </a:r>
          </a:p>
        </p:txBody>
      </p:sp>
      <p:sp>
        <p:nvSpPr>
          <p:cNvPr id="721" name="TextBox 721"/>
          <p:cNvSpPr txBox="1"/>
          <p:nvPr/>
        </p:nvSpPr>
        <p:spPr>
          <a:xfrm>
            <a:off x="6224904" y="3513325"/>
            <a:ext cx="2048494" cy="20274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构思阶段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注重创新性思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维，探索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多种解决方案</a:t>
            </a:r>
          </a:p>
          <a:p>
            <a:pPr>
              <a:lnSpc>
                <a:spcPts val="1889"/>
              </a:lnSpc>
            </a:pPr>
            <a:endParaRPr lang="en-US" dirty="0"/>
          </a:p>
          <a:p>
            <a:pPr marL="0" hangingPunct="0">
              <a:lnSpc>
                <a:spcPct val="125416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最后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的评估阶段用于反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思和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优化，确保生成内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容符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合预期标准并持续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改进</a:t>
            </a:r>
          </a:p>
        </p:txBody>
      </p:sp>
      <p:sp>
        <p:nvSpPr>
          <p:cNvPr id="722" name="TextBox 722"/>
          <p:cNvSpPr txBox="1"/>
          <p:nvPr/>
        </p:nvSpPr>
        <p:spPr>
          <a:xfrm>
            <a:off x="9871494" y="3695354"/>
            <a:ext cx="1028049" cy="1697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6679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创新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洞见</a:t>
            </a:r>
          </a:p>
          <a:p>
            <a:pPr>
              <a:lnSpc>
                <a:spcPts val="1825"/>
              </a:lnSpc>
            </a:pPr>
            <a:endParaRPr lang="en-US" dirty="0"/>
          </a:p>
          <a:p>
            <a:pPr marL="0" indent="10160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实践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指导</a:t>
            </a:r>
          </a:p>
          <a:p>
            <a:pPr>
              <a:lnSpc>
                <a:spcPts val="182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结构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清晰度</a:t>
            </a:r>
          </a:p>
          <a:p>
            <a:pPr>
              <a:lnSpc>
                <a:spcPts val="1960"/>
              </a:lnSpc>
            </a:pPr>
            <a:endParaRPr lang="en-US" dirty="0"/>
          </a:p>
          <a:p>
            <a:pPr marL="0" indent="10160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语言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表达</a:t>
            </a:r>
          </a:p>
        </p:txBody>
      </p:sp>
      <p:sp>
        <p:nvSpPr>
          <p:cNvPr id="723" name="TextBox 723"/>
          <p:cNvSpPr txBox="1"/>
          <p:nvPr/>
        </p:nvSpPr>
        <p:spPr>
          <a:xfrm>
            <a:off x="449580" y="5540809"/>
            <a:ext cx="10564263" cy="346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3750"/>
              </a:lnSpc>
              <a:tabLst>
                <a:tab pos="9421914" algn="l"/>
              </a:tabLst>
            </a:pPr>
            <a:r>
              <a:rPr lang="zh-CN" altLang="en-US" sz="2000" b="1" spc="-5" dirty="0">
                <a:solidFill>
                  <a:srgbClr val="000000"/>
                </a:solidFill>
                <a:latin typeface="宋体"/>
                <a:ea typeface="宋体"/>
              </a:rPr>
              <a:t>执行技巧与注意事项	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跨学科整合</a:t>
            </a:r>
          </a:p>
        </p:txBody>
      </p:sp>
      <p:sp>
        <p:nvSpPr>
          <p:cNvPr id="724" name="TextBox 724"/>
          <p:cNvSpPr txBox="1"/>
          <p:nvPr/>
        </p:nvSpPr>
        <p:spPr>
          <a:xfrm>
            <a:off x="576681" y="6137564"/>
            <a:ext cx="10335562" cy="330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35416"/>
              </a:lnSpc>
              <a:tabLst>
                <a:tab pos="1807209" algn="l"/>
                <a:tab pos="3512820" algn="l"/>
                <a:tab pos="5116830" algn="l"/>
                <a:tab pos="6924039" algn="l"/>
                <a:tab pos="9396412" algn="l"/>
              </a:tabLst>
            </a:pPr>
            <a:r>
              <a:rPr lang="zh-CN" altLang="en-US" sz="1600" spc="-5" dirty="0">
                <a:solidFill>
                  <a:srgbClr val="FEFEFE"/>
                </a:solidFill>
                <a:latin typeface="宋体"/>
                <a:ea typeface="宋体"/>
              </a:rPr>
              <a:t>递进式深化	动态调整	定期回顾	交互式改进	平衡控制	</a:t>
            </a:r>
            <a:r>
              <a:rPr lang="zh-CN" altLang="en-US" sz="1600" spc="-15" dirty="0">
                <a:solidFill>
                  <a:srgbClr val="000000"/>
                </a:solidFill>
                <a:latin typeface="宋体"/>
                <a:ea typeface="宋体"/>
              </a:rPr>
              <a:t>未来展望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Picture 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820" y="3764279"/>
            <a:ext cx="5440680" cy="2941320"/>
          </a:xfrm>
          <a:prstGeom prst="rect">
            <a:avLst/>
          </a:prstGeom>
        </p:spPr>
      </p:pic>
      <p:sp>
        <p:nvSpPr>
          <p:cNvPr id="3" name="Freeform 726"/>
          <p:cNvSpPr/>
          <p:nvPr/>
        </p:nvSpPr>
        <p:spPr>
          <a:xfrm>
            <a:off x="6191250" y="1136650"/>
            <a:ext cx="2114550" cy="361950"/>
          </a:xfrm>
          <a:custGeom>
            <a:avLst/>
            <a:gdLst>
              <a:gd name="connsiteX0" fmla="*/ 8382 w 2114550"/>
              <a:gd name="connsiteY0" fmla="*/ 71882 h 361950"/>
              <a:gd name="connsiteX1" fmla="*/ 66294 w 2114550"/>
              <a:gd name="connsiteY1" fmla="*/ 13969 h 361950"/>
              <a:gd name="connsiteX2" fmla="*/ 2056638 w 2114550"/>
              <a:gd name="connsiteY2" fmla="*/ 13969 h 361950"/>
              <a:gd name="connsiteX3" fmla="*/ 2114550 w 2114550"/>
              <a:gd name="connsiteY3" fmla="*/ 71882 h 361950"/>
              <a:gd name="connsiteX4" fmla="*/ 2114550 w 2114550"/>
              <a:gd name="connsiteY4" fmla="*/ 305053 h 361950"/>
              <a:gd name="connsiteX5" fmla="*/ 2056638 w 2114550"/>
              <a:gd name="connsiteY5" fmla="*/ 362966 h 361950"/>
              <a:gd name="connsiteX6" fmla="*/ 66294 w 2114550"/>
              <a:gd name="connsiteY6" fmla="*/ 362966 h 361950"/>
              <a:gd name="connsiteX7" fmla="*/ 8382 w 2114550"/>
              <a:gd name="connsiteY7" fmla="*/ 305053 h 361950"/>
              <a:gd name="connsiteX8" fmla="*/ 8382 w 2114550"/>
              <a:gd name="connsiteY8" fmla="*/ 71882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8382" y="71882"/>
                </a:moveTo>
                <a:cubicBezTo>
                  <a:pt x="8254" y="40030"/>
                  <a:pt x="34315" y="13969"/>
                  <a:pt x="66294" y="13969"/>
                </a:cubicBezTo>
                <a:lnTo>
                  <a:pt x="2056638" y="13969"/>
                </a:lnTo>
                <a:cubicBezTo>
                  <a:pt x="2088489" y="13969"/>
                  <a:pt x="2114550" y="40030"/>
                  <a:pt x="2114550" y="71882"/>
                </a:cubicBezTo>
                <a:lnTo>
                  <a:pt x="2114550" y="305053"/>
                </a:lnTo>
                <a:cubicBezTo>
                  <a:pt x="2114550" y="337159"/>
                  <a:pt x="2088489" y="363219"/>
                  <a:pt x="2056638" y="362966"/>
                </a:cubicBezTo>
                <a:lnTo>
                  <a:pt x="66294" y="362966"/>
                </a:lnTo>
                <a:cubicBezTo>
                  <a:pt x="34315" y="363219"/>
                  <a:pt x="8254" y="337159"/>
                  <a:pt x="8382" y="305053"/>
                </a:cubicBezTo>
                <a:lnTo>
                  <a:pt x="8382" y="7188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8" name="Picture 7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766060"/>
            <a:ext cx="2598420" cy="434340"/>
          </a:xfrm>
          <a:prstGeom prst="rect">
            <a:avLst/>
          </a:prstGeom>
        </p:spPr>
      </p:pic>
      <p:pic>
        <p:nvPicPr>
          <p:cNvPr id="729" name="Picture 7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345179"/>
            <a:ext cx="2598420" cy="1036319"/>
          </a:xfrm>
          <a:prstGeom prst="rect">
            <a:avLst/>
          </a:prstGeom>
        </p:spPr>
      </p:pic>
      <p:pic>
        <p:nvPicPr>
          <p:cNvPr id="730" name="Picture 7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20" y="2766060"/>
            <a:ext cx="2583180" cy="434340"/>
          </a:xfrm>
          <a:prstGeom prst="rect">
            <a:avLst/>
          </a:prstGeom>
        </p:spPr>
      </p:pic>
      <p:pic>
        <p:nvPicPr>
          <p:cNvPr id="731" name="Picture 7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920" y="3360420"/>
            <a:ext cx="2583180" cy="441959"/>
          </a:xfrm>
          <a:prstGeom prst="rect">
            <a:avLst/>
          </a:prstGeom>
        </p:spPr>
      </p:pic>
      <p:sp>
        <p:nvSpPr>
          <p:cNvPr id="4" name="TextBox 731"/>
          <p:cNvSpPr txBox="1"/>
          <p:nvPr/>
        </p:nvSpPr>
        <p:spPr>
          <a:xfrm>
            <a:off x="376554" y="289633"/>
            <a:ext cx="1034347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语用意图分析（</a:t>
            </a:r>
            <a:r>
              <a:rPr lang="en-US" altLang="zh-CN" sz="4000" b="1" spc="179" dirty="0">
                <a:solidFill>
                  <a:srgbClr val="242424"/>
                </a:solidFill>
                <a:latin typeface="Arial"/>
                <a:ea typeface="Arial"/>
              </a:rPr>
              <a:t>PIA</a:t>
            </a:r>
            <a:r>
              <a:rPr lang="zh-CN" altLang="en-US" sz="4000" b="1" spc="314" dirty="0">
                <a:solidFill>
                  <a:srgbClr val="242424"/>
                </a:solidFill>
                <a:latin typeface="Arial Unicode MS"/>
                <a:ea typeface="Arial Unicode MS"/>
              </a:rPr>
              <a:t>）：解码内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容生成目的</a:t>
            </a:r>
          </a:p>
        </p:txBody>
      </p:sp>
      <p:sp>
        <p:nvSpPr>
          <p:cNvPr id="732" name="TextBox 732"/>
          <p:cNvSpPr txBox="1"/>
          <p:nvPr/>
        </p:nvSpPr>
        <p:spPr>
          <a:xfrm>
            <a:off x="553084" y="1160144"/>
            <a:ext cx="5245082" cy="15305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PIA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PIA</a:t>
            </a:r>
            <a:r>
              <a:rPr lang="zh-CN" altLang="en-US" sz="1800" spc="25" dirty="0">
                <a:solidFill>
                  <a:srgbClr val="000000"/>
                </a:solidFill>
                <a:latin typeface="Arial Unicode MS"/>
                <a:ea typeface="Arial Unicode MS"/>
              </a:rPr>
              <a:t>建立在语用学和言语行为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理论的基础上，通过分</a:t>
            </a:r>
            <a:r>
              <a:rPr lang="zh-CN" altLang="en-US" sz="1800" spc="75" dirty="0">
                <a:solidFill>
                  <a:srgbClr val="000000"/>
                </a:solidFill>
                <a:latin typeface="Arial Unicode MS"/>
                <a:ea typeface="Arial Unicode MS"/>
              </a:rPr>
              <a:t>析任务的语用意图，为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80" dirty="0">
                <a:solidFill>
                  <a:srgbClr val="000000"/>
                </a:solidFill>
                <a:latin typeface="Arial Unicode MS"/>
                <a:ea typeface="Arial Unicode MS"/>
              </a:rPr>
              <a:t>设</a:t>
            </a:r>
            <a:r>
              <a:rPr lang="zh-CN" altLang="en-US" sz="1800" spc="75" dirty="0">
                <a:solidFill>
                  <a:srgbClr val="000000"/>
                </a:solidFill>
                <a:latin typeface="Arial Unicode MS"/>
                <a:ea typeface="Arial Unicode MS"/>
              </a:rPr>
              <a:t>定明确的任务目标，并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提出了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以下分类：</a:t>
            </a:r>
          </a:p>
        </p:txBody>
      </p:sp>
      <p:sp>
        <p:nvSpPr>
          <p:cNvPr id="733" name="TextBox 733"/>
          <p:cNvSpPr txBox="1"/>
          <p:nvPr/>
        </p:nvSpPr>
        <p:spPr>
          <a:xfrm>
            <a:off x="6289675" y="1209090"/>
            <a:ext cx="5245082" cy="1127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408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800" spc="94" dirty="0">
                <a:solidFill>
                  <a:srgbClr val="000000"/>
                </a:solidFill>
                <a:latin typeface="Arial Unicode MS"/>
                <a:ea typeface="Arial Unicode MS"/>
              </a:rPr>
              <a:t>假设需要撰写一篇关于</a:t>
            </a:r>
            <a:r>
              <a:rPr lang="en-US" altLang="zh-CN" sz="1800" spc="7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spc="94" dirty="0">
                <a:solidFill>
                  <a:srgbClr val="000000"/>
                </a:solidFill>
                <a:latin typeface="Arial Unicode MS"/>
                <a:ea typeface="Arial Unicode MS"/>
              </a:rPr>
              <a:t>气候变化</a:t>
            </a:r>
            <a:r>
              <a:rPr lang="en-US" altLang="zh-CN" sz="1800" spc="5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104" dirty="0">
                <a:solidFill>
                  <a:srgbClr val="000000"/>
                </a:solidFill>
                <a:latin typeface="Arial Unicode MS"/>
                <a:ea typeface="Arial Unicode MS"/>
              </a:rPr>
              <a:t>的文章，</a:t>
            </a:r>
            <a:r>
              <a:rPr lang="zh-CN" altLang="en-US" sz="1800" spc="94" dirty="0">
                <a:solidFill>
                  <a:srgbClr val="000000"/>
                </a:solidFill>
                <a:latin typeface="Arial Unicode MS"/>
                <a:ea typeface="Arial Unicode MS"/>
              </a:rPr>
              <a:t>目的是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增强公众意识并促进行动</a:t>
            </a:r>
            <a:r>
              <a:rPr lang="en-US" altLang="zh-CN" sz="1800" spc="-1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</a:p>
        </p:txBody>
      </p:sp>
      <p:sp>
        <p:nvSpPr>
          <p:cNvPr id="734" name="TextBox 734"/>
          <p:cNvSpPr txBox="1"/>
          <p:nvPr/>
        </p:nvSpPr>
        <p:spPr>
          <a:xfrm>
            <a:off x="751205" y="2874797"/>
            <a:ext cx="2095482" cy="8689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陈述型（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Assertive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4"/>
              </a:lnSpc>
            </a:pPr>
            <a:endParaRPr lang="en-US" dirty="0"/>
          </a:p>
          <a:p>
            <a:pPr marL="0" indent="2540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指令型（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Directive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</p:txBody>
      </p:sp>
      <p:sp>
        <p:nvSpPr>
          <p:cNvPr id="735" name="TextBox 735"/>
          <p:cNvSpPr txBox="1"/>
          <p:nvPr/>
        </p:nvSpPr>
        <p:spPr>
          <a:xfrm>
            <a:off x="3325495" y="2876702"/>
            <a:ext cx="2298682" cy="8695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270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表达型（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Expressive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宣告型（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Declarative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</p:txBody>
      </p:sp>
      <p:sp>
        <p:nvSpPr>
          <p:cNvPr id="736" name="TextBox 736"/>
          <p:cNvSpPr txBox="1"/>
          <p:nvPr/>
        </p:nvSpPr>
        <p:spPr>
          <a:xfrm>
            <a:off x="553084" y="4047642"/>
            <a:ext cx="5352397" cy="2436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2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承诺型（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Commissive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60"/>
              </a:lnSpc>
            </a:pPr>
            <a:endParaRPr lang="en-US" dirty="0"/>
          </a:p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PIA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实施步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  <a:p>
            <a:pPr>
              <a:lnSpc>
                <a:spcPts val="150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识别主要语用意图：确定任务的首要目的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分析次要语用意图：识别可能的辅助目的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评估语用意图的强度：量化每种意图的强度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构建语用意图矩阵：创建语用意图及其强度的矩阵</a:t>
            </a:r>
          </a:p>
        </p:txBody>
      </p:sp>
      <p:sp>
        <p:nvSpPr>
          <p:cNvPr id="737" name="TextBox 737"/>
          <p:cNvSpPr txBox="1"/>
          <p:nvPr/>
        </p:nvSpPr>
        <p:spPr>
          <a:xfrm>
            <a:off x="6266815" y="3876725"/>
            <a:ext cx="5365738" cy="2745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23850" hangingPunct="0">
              <a:lnSpc>
                <a:spcPct val="152499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任务目标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：创作一篇关于气候变化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的文章，旨在提高公众意识并促进行动。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主要语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用意图：</a:t>
            </a:r>
          </a:p>
          <a:p>
            <a:pPr marL="0" indent="224789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（1）陈述型（强度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：提供可靠的气候变化数据和科学发现。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478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（2）指令型（强度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7）：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鼓励读者采取具体的环保行动。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478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（3）表达型（强度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6）：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传达对气候变化威胁的紧迫感。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4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请确保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文章：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4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包含来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自权威来源的最新气候数据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4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解释气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候变化的原因和影响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4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提供至少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个读者可以立即采取的行动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建议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4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使用引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人入胜的语言来激发读者的环保意识。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98870" y="2335529"/>
          <a:ext cx="5427345" cy="1426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585">
                <a:tc>
                  <a:txBody>
                    <a:bodyPr/>
                    <a:lstStyle/>
                    <a:p>
                      <a:pPr marL="0" indent="20764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语用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意图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7368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强度（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1-10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）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34937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说明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indent="27749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陈述型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54050">
                        <a:lnSpc>
                          <a:spcPct val="100000"/>
                        </a:lnSpc>
                        <a:spcBef>
                          <a:spcPts val="164"/>
                        </a:spcBef>
                      </a:pPr>
                      <a:r>
                        <a:rPr lang="en-US" altLang="zh-CN" sz="1100" spc="-109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51117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提供关于气候变化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的事实和数据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indent="27749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指令型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54050">
                        <a:lnSpc>
                          <a:spcPct val="100000"/>
                        </a:lnSpc>
                        <a:spcBef>
                          <a:spcPts val="164"/>
                        </a:spcBef>
                      </a:pPr>
                      <a:r>
                        <a:rPr lang="en-US" altLang="zh-CN" sz="1100" spc="-109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9057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鼓励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读者采取环保行动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0" indent="27749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表达型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54050">
                        <a:lnSpc>
                          <a:spcPct val="100000"/>
                        </a:lnSpc>
                        <a:spcBef>
                          <a:spcPts val="164"/>
                        </a:spcBef>
                      </a:pPr>
                      <a:r>
                        <a:rPr lang="en-US" altLang="zh-CN" sz="1100" spc="-109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9057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表达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对气候变化的关切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84">
                <a:tc>
                  <a:txBody>
                    <a:bodyPr/>
                    <a:lstStyle/>
                    <a:p>
                      <a:pPr marL="0" indent="27749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承诺型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54050">
                        <a:lnSpc>
                          <a:spcPct val="100000"/>
                        </a:lnSpc>
                        <a:spcBef>
                          <a:spcPts val="164"/>
                        </a:spcBef>
                      </a:pPr>
                      <a:r>
                        <a:rPr lang="en-US" altLang="zh-CN" sz="1100" spc="-109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6042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提出未来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行动的建议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indent="27749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宣告型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54050">
                        <a:lnSpc>
                          <a:spcPct val="100000"/>
                        </a:lnSpc>
                        <a:spcBef>
                          <a:spcPts val="164"/>
                        </a:spcBef>
                      </a:pPr>
                      <a:r>
                        <a:rPr lang="en-US" altLang="zh-CN" sz="1100" spc="-109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0012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不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适用于此文章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Freeform 739"/>
          <p:cNvSpPr/>
          <p:nvPr/>
        </p:nvSpPr>
        <p:spPr>
          <a:xfrm>
            <a:off x="6191250" y="1136650"/>
            <a:ext cx="2114550" cy="361950"/>
          </a:xfrm>
          <a:custGeom>
            <a:avLst/>
            <a:gdLst>
              <a:gd name="connsiteX0" fmla="*/ 8382 w 2114550"/>
              <a:gd name="connsiteY0" fmla="*/ 71882 h 361950"/>
              <a:gd name="connsiteX1" fmla="*/ 66294 w 2114550"/>
              <a:gd name="connsiteY1" fmla="*/ 13969 h 361950"/>
              <a:gd name="connsiteX2" fmla="*/ 2056638 w 2114550"/>
              <a:gd name="connsiteY2" fmla="*/ 13969 h 361950"/>
              <a:gd name="connsiteX3" fmla="*/ 2114550 w 2114550"/>
              <a:gd name="connsiteY3" fmla="*/ 71882 h 361950"/>
              <a:gd name="connsiteX4" fmla="*/ 2114550 w 2114550"/>
              <a:gd name="connsiteY4" fmla="*/ 305053 h 361950"/>
              <a:gd name="connsiteX5" fmla="*/ 2056638 w 2114550"/>
              <a:gd name="connsiteY5" fmla="*/ 362966 h 361950"/>
              <a:gd name="connsiteX6" fmla="*/ 66294 w 2114550"/>
              <a:gd name="connsiteY6" fmla="*/ 362966 h 361950"/>
              <a:gd name="connsiteX7" fmla="*/ 8382 w 2114550"/>
              <a:gd name="connsiteY7" fmla="*/ 305053 h 361950"/>
              <a:gd name="connsiteX8" fmla="*/ 8382 w 2114550"/>
              <a:gd name="connsiteY8" fmla="*/ 71882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8382" y="71882"/>
                </a:moveTo>
                <a:cubicBezTo>
                  <a:pt x="8254" y="40030"/>
                  <a:pt x="34315" y="13969"/>
                  <a:pt x="66294" y="13969"/>
                </a:cubicBezTo>
                <a:lnTo>
                  <a:pt x="2056638" y="13969"/>
                </a:lnTo>
                <a:cubicBezTo>
                  <a:pt x="2088489" y="13969"/>
                  <a:pt x="2114550" y="40030"/>
                  <a:pt x="2114550" y="71882"/>
                </a:cubicBezTo>
                <a:lnTo>
                  <a:pt x="2114550" y="305053"/>
                </a:lnTo>
                <a:cubicBezTo>
                  <a:pt x="2114550" y="337159"/>
                  <a:pt x="2088489" y="363219"/>
                  <a:pt x="2056638" y="362966"/>
                </a:cubicBezTo>
                <a:lnTo>
                  <a:pt x="66294" y="362966"/>
                </a:lnTo>
                <a:cubicBezTo>
                  <a:pt x="34315" y="363219"/>
                  <a:pt x="8254" y="337159"/>
                  <a:pt x="8382" y="305053"/>
                </a:cubicBezTo>
                <a:lnTo>
                  <a:pt x="8382" y="7188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1" name="Picture 7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407920"/>
            <a:ext cx="1912620" cy="1661160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569720"/>
            <a:ext cx="1493520" cy="373380"/>
          </a:xfrm>
          <a:prstGeom prst="rect">
            <a:avLst/>
          </a:prstGeom>
        </p:spPr>
      </p:pic>
      <p:pic>
        <p:nvPicPr>
          <p:cNvPr id="743" name="Picture 7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0" y="2499360"/>
            <a:ext cx="5821680" cy="2125980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5722620"/>
            <a:ext cx="1706880" cy="373380"/>
          </a:xfrm>
          <a:prstGeom prst="rect">
            <a:avLst/>
          </a:prstGeom>
        </p:spPr>
      </p:pic>
      <p:sp>
        <p:nvSpPr>
          <p:cNvPr id="2" name="TextBox 744"/>
          <p:cNvSpPr txBox="1"/>
          <p:nvPr/>
        </p:nvSpPr>
        <p:spPr>
          <a:xfrm>
            <a:off x="376554" y="289633"/>
            <a:ext cx="944685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主题聚焦机制（</a:t>
            </a:r>
            <a:r>
              <a:rPr lang="en-US" altLang="zh-CN" sz="4000" b="1" spc="209" dirty="0">
                <a:solidFill>
                  <a:srgbClr val="242424"/>
                </a:solidFill>
                <a:latin typeface="Arial"/>
                <a:ea typeface="Arial"/>
              </a:rPr>
              <a:t>TFM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）：锁定核心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内容</a:t>
            </a:r>
          </a:p>
        </p:txBody>
      </p:sp>
      <p:sp>
        <p:nvSpPr>
          <p:cNvPr id="745" name="TextBox 745"/>
          <p:cNvSpPr txBox="1"/>
          <p:nvPr/>
        </p:nvSpPr>
        <p:spPr>
          <a:xfrm>
            <a:off x="553084" y="1160144"/>
            <a:ext cx="5245082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TFM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spc="44" dirty="0">
                <a:solidFill>
                  <a:srgbClr val="000000"/>
                </a:solidFill>
                <a:latin typeface="Arial"/>
                <a:ea typeface="Arial"/>
              </a:rPr>
              <a:t>TFM</a:t>
            </a:r>
            <a:r>
              <a:rPr lang="zh-CN" altLang="en-US" sz="1800" spc="64" dirty="0">
                <a:solidFill>
                  <a:srgbClr val="000000"/>
                </a:solidFill>
                <a:latin typeface="Arial Unicode MS"/>
                <a:ea typeface="Arial Unicode MS"/>
              </a:rPr>
              <a:t>借鉴了认知语言学中的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spc="64" dirty="0">
                <a:solidFill>
                  <a:srgbClr val="000000"/>
                </a:solidFill>
                <a:latin typeface="Arial Unicode MS"/>
                <a:ea typeface="Arial Unicode MS"/>
              </a:rPr>
              <a:t>原型理论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64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spc="69" dirty="0">
                <a:solidFill>
                  <a:srgbClr val="000000"/>
                </a:solidFill>
                <a:latin typeface="Arial Unicode MS"/>
                <a:ea typeface="Arial Unicode MS"/>
              </a:rPr>
              <a:t>框架</a:t>
            </a:r>
            <a:r>
              <a:rPr lang="zh-CN" altLang="en-US" sz="1800" spc="64" dirty="0">
                <a:solidFill>
                  <a:srgbClr val="000000"/>
                </a:solidFill>
                <a:latin typeface="Arial Unicode MS"/>
                <a:ea typeface="Arial Unicode MS"/>
              </a:rPr>
              <a:t>语义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学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，可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开发以下技巧：</a:t>
            </a:r>
          </a:p>
        </p:txBody>
      </p:sp>
      <p:sp>
        <p:nvSpPr>
          <p:cNvPr id="746" name="TextBox 746"/>
          <p:cNvSpPr txBox="1"/>
          <p:nvPr/>
        </p:nvSpPr>
        <p:spPr>
          <a:xfrm>
            <a:off x="6289675" y="1209090"/>
            <a:ext cx="5099671" cy="12554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408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主题原型</a:t>
            </a:r>
          </a:p>
          <a:p>
            <a:pPr>
              <a:lnSpc>
                <a:spcPts val="500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关键特征：全球变暖、极端天气、海平面上升、生态系统变化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代表性例子：北极冰盖融化、热带雨林减少、珊瑚白化</a:t>
            </a:r>
          </a:p>
        </p:txBody>
      </p:sp>
      <p:sp>
        <p:nvSpPr>
          <p:cNvPr id="747" name="TextBox 747"/>
          <p:cNvSpPr txBox="1"/>
          <p:nvPr/>
        </p:nvSpPr>
        <p:spPr>
          <a:xfrm>
            <a:off x="767080" y="2518562"/>
            <a:ext cx="6819881" cy="29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8749"/>
              </a:lnSpc>
              <a:tabLst>
                <a:tab pos="1824354" algn="l"/>
                <a:tab pos="5522595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主题原型构建	确定主题的核心特征和典型例子	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语义框架</a:t>
            </a:r>
          </a:p>
        </p:txBody>
      </p:sp>
      <p:sp>
        <p:nvSpPr>
          <p:cNvPr id="748" name="TextBox 748"/>
          <p:cNvSpPr txBox="1"/>
          <p:nvPr/>
        </p:nvSpPr>
        <p:spPr>
          <a:xfrm>
            <a:off x="767080" y="3128162"/>
            <a:ext cx="4696442" cy="285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4166"/>
              </a:lnSpc>
              <a:tabLst>
                <a:tab pos="1826259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语义框架设置	创建与主题相关的概念网络</a:t>
            </a:r>
          </a:p>
        </p:txBody>
      </p:sp>
      <p:sp>
        <p:nvSpPr>
          <p:cNvPr id="749" name="TextBox 749"/>
          <p:cNvSpPr txBox="1"/>
          <p:nvPr/>
        </p:nvSpPr>
        <p:spPr>
          <a:xfrm>
            <a:off x="767080" y="3719347"/>
            <a:ext cx="4692632" cy="292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6666"/>
              </a:lnSpc>
              <a:tabLst>
                <a:tab pos="1822450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重点梯度建立	设定主题相关性的层级结构</a:t>
            </a:r>
          </a:p>
        </p:txBody>
      </p:sp>
      <p:sp>
        <p:nvSpPr>
          <p:cNvPr id="750" name="TextBox 750"/>
          <p:cNvSpPr txBox="1"/>
          <p:nvPr/>
        </p:nvSpPr>
        <p:spPr>
          <a:xfrm>
            <a:off x="553084" y="4288790"/>
            <a:ext cx="5464159" cy="22083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TFM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步骤：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定义主题原型：列出主题的关键特征和代表性例子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构建语义框架：创建与主题相关的概念图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设置重点梯度：按重要性排序相关概念和子主题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6515">
              <a:lnSpc>
                <a:spcPct val="101250"/>
              </a:lnSpc>
            </a:pPr>
            <a:r>
              <a:rPr lang="en-US" altLang="zh-CN" sz="1800" spc="5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1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创建主题引导符：设计特定的关键词或短语来保持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99415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聚焦</a:t>
            </a:r>
          </a:p>
        </p:txBody>
      </p:sp>
      <p:sp>
        <p:nvSpPr>
          <p:cNvPr id="751" name="TextBox 751"/>
          <p:cNvSpPr txBox="1"/>
          <p:nvPr/>
        </p:nvSpPr>
        <p:spPr>
          <a:xfrm>
            <a:off x="6289675" y="4320057"/>
            <a:ext cx="4032871" cy="2299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b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重点梯度</a:t>
            </a:r>
          </a:p>
          <a:p>
            <a:pPr>
              <a:lnSpc>
                <a:spcPts val="500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气候变化的科学证据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当前和预期的影响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减缓和适应策略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个人和集体行动的重要性</a:t>
            </a:r>
          </a:p>
          <a:p>
            <a:pPr>
              <a:lnSpc>
                <a:spcPts val="58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主题引导符</a:t>
            </a:r>
          </a:p>
          <a:p>
            <a:pPr>
              <a:lnSpc>
                <a:spcPts val="500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主要关键词：气候变化、全球变暖、环境保护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次要关键词：碳排放、可再生能源、可持续发展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Picture 7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103120"/>
            <a:ext cx="2598420" cy="449580"/>
          </a:xfrm>
          <a:prstGeom prst="rect">
            <a:avLst/>
          </a:prstGeom>
        </p:spPr>
      </p:pic>
      <p:pic>
        <p:nvPicPr>
          <p:cNvPr id="754" name="Picture 7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0" y="2103120"/>
            <a:ext cx="2598420" cy="449580"/>
          </a:xfrm>
          <a:prstGeom prst="rect">
            <a:avLst/>
          </a:prstGeom>
        </p:spPr>
      </p:pic>
      <p:pic>
        <p:nvPicPr>
          <p:cNvPr id="755" name="Picture 7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820" y="2118360"/>
            <a:ext cx="2583180" cy="434340"/>
          </a:xfrm>
          <a:prstGeom prst="rect">
            <a:avLst/>
          </a:prstGeom>
        </p:spPr>
      </p:pic>
      <p:pic>
        <p:nvPicPr>
          <p:cNvPr id="756" name="Picture 7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2080" y="2118360"/>
            <a:ext cx="2590800" cy="434340"/>
          </a:xfrm>
          <a:prstGeom prst="rect">
            <a:avLst/>
          </a:prstGeom>
        </p:spPr>
      </p:pic>
      <p:pic>
        <p:nvPicPr>
          <p:cNvPr id="757" name="Picture 7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" y="2766060"/>
            <a:ext cx="2598420" cy="434340"/>
          </a:xfrm>
          <a:prstGeom prst="rect">
            <a:avLst/>
          </a:prstGeom>
        </p:spPr>
      </p:pic>
      <p:sp>
        <p:nvSpPr>
          <p:cNvPr id="3" name="TextBox 757"/>
          <p:cNvSpPr txBox="1"/>
          <p:nvPr/>
        </p:nvSpPr>
        <p:spPr>
          <a:xfrm>
            <a:off x="376554" y="289633"/>
            <a:ext cx="944812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细节增强策略（</a:t>
            </a:r>
            <a:r>
              <a:rPr lang="en-US" altLang="zh-CN" sz="4000" b="1" spc="209" dirty="0">
                <a:solidFill>
                  <a:srgbClr val="242424"/>
                </a:solidFill>
                <a:latin typeface="Arial"/>
                <a:ea typeface="Arial"/>
              </a:rPr>
              <a:t>DES</a:t>
            </a:r>
            <a:r>
              <a:rPr lang="zh-CN" altLang="en-US" sz="4000" b="1" spc="309" dirty="0">
                <a:solidFill>
                  <a:srgbClr val="242424"/>
                </a:solidFill>
                <a:latin typeface="Arial Unicode MS"/>
                <a:ea typeface="Arial Unicode MS"/>
              </a:rPr>
              <a:t>）：深化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内容质量</a:t>
            </a:r>
          </a:p>
        </p:txBody>
      </p:sp>
      <p:sp>
        <p:nvSpPr>
          <p:cNvPr id="758" name="TextBox 758"/>
          <p:cNvSpPr txBox="1"/>
          <p:nvPr/>
        </p:nvSpPr>
        <p:spPr>
          <a:xfrm>
            <a:off x="553084" y="1160144"/>
            <a:ext cx="5968982" cy="739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DES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DES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整合了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认知叙事学和信息处理理论，开发了以下策略：</a:t>
            </a:r>
          </a:p>
        </p:txBody>
      </p:sp>
      <p:sp>
        <p:nvSpPr>
          <p:cNvPr id="759" name="TextBox 759"/>
          <p:cNvSpPr txBox="1"/>
          <p:nvPr/>
        </p:nvSpPr>
        <p:spPr>
          <a:xfrm>
            <a:off x="1221105" y="2216937"/>
            <a:ext cx="9685636" cy="2868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4583"/>
              </a:lnSpc>
              <a:tabLst>
                <a:tab pos="2611754" algn="l"/>
                <a:tab pos="5799454" algn="l"/>
                <a:tab pos="8644254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多模态描述	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微观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宏观连接	对比强化	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时空定位</a:t>
            </a:r>
          </a:p>
        </p:txBody>
      </p:sp>
      <p:sp>
        <p:nvSpPr>
          <p:cNvPr id="760" name="TextBox 760"/>
          <p:cNvSpPr txBox="1"/>
          <p:nvPr/>
        </p:nvSpPr>
        <p:spPr>
          <a:xfrm>
            <a:off x="1220469" y="2876702"/>
            <a:ext cx="7247870" cy="389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7916"/>
              </a:lnSpc>
              <a:tabLst>
                <a:tab pos="5070475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数据可视化	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DES</a:t>
            </a:r>
            <a:r>
              <a:rPr lang="zh-CN" altLang="en-US" sz="20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实施步骤：</a:t>
            </a:r>
          </a:p>
        </p:txBody>
      </p:sp>
      <p:sp>
        <p:nvSpPr>
          <p:cNvPr id="761" name="TextBox 761"/>
          <p:cNvSpPr txBox="1"/>
          <p:nvPr/>
        </p:nvSpPr>
        <p:spPr>
          <a:xfrm>
            <a:off x="556259" y="3491382"/>
            <a:ext cx="5245082" cy="10687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spc="75" dirty="0">
                <a:solidFill>
                  <a:srgbClr val="000000"/>
                </a:solidFill>
                <a:latin typeface="Arial Unicode MS"/>
                <a:ea typeface="Arial Unicode MS"/>
              </a:rPr>
              <a:t>为了</a:t>
            </a:r>
            <a:r>
              <a:rPr lang="zh-CN" altLang="en-US" sz="1800" spc="69" dirty="0">
                <a:solidFill>
                  <a:srgbClr val="000000"/>
                </a:solidFill>
                <a:latin typeface="Arial Unicode MS"/>
                <a:ea typeface="Arial Unicode MS"/>
              </a:rPr>
              <a:t>使生成的气候变化文章变得更加深度和细节，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ea typeface="Arial Unicode MS"/>
              </a:rPr>
              <a:t>可以利用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ea typeface="Arial"/>
              </a:rPr>
              <a:t>DES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Detailed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Explanation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Strategy</a:t>
            </a:r>
            <a:r>
              <a:rPr lang="zh-CN" altLang="en-US" sz="1800" spc="55" dirty="0">
                <a:solidFill>
                  <a:srgbClr val="000000"/>
                </a:solidFill>
                <a:latin typeface="Arial Unicode MS"/>
                <a:ea typeface="Arial Unicode MS"/>
              </a:rPr>
              <a:t>）来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构建一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个关键概念细节矩阵。</a:t>
            </a:r>
          </a:p>
        </p:txBody>
      </p:sp>
      <p:sp>
        <p:nvSpPr>
          <p:cNvPr id="762" name="TextBox 762"/>
          <p:cNvSpPr txBox="1"/>
          <p:nvPr/>
        </p:nvSpPr>
        <p:spPr>
          <a:xfrm>
            <a:off x="6290945" y="3422802"/>
            <a:ext cx="5351764" cy="3127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识别关键概念：确定需要详细阐述的核心想法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75" dirty="0">
                <a:solidFill>
                  <a:srgbClr val="000000"/>
                </a:solidFill>
                <a:latin typeface="Arial Unicode MS"/>
                <a:ea typeface="Arial Unicode MS"/>
              </a:rPr>
              <a:t>设计细节矩阵：为每个关键概念创建多维度的细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42899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节要求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5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ea typeface="Arial Unicode MS"/>
              </a:rPr>
              <a:t>构建微观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zh-CN" altLang="en-US" sz="1800" spc="44" dirty="0">
                <a:solidFill>
                  <a:srgbClr val="000000"/>
                </a:solidFill>
                <a:latin typeface="Arial Unicode MS"/>
                <a:ea typeface="Arial Unicode MS"/>
              </a:rPr>
              <a:t>宏观桥接：设计连接具体事例和抽象概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42899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念的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提示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75" dirty="0">
                <a:solidFill>
                  <a:srgbClr val="000000"/>
                </a:solidFill>
                <a:latin typeface="Arial Unicode MS"/>
                <a:ea typeface="Arial Unicode MS"/>
              </a:rPr>
              <a:t>创建感官描述指南：为抽象概念设计具体的感官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42899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描述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要求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75" dirty="0">
                <a:solidFill>
                  <a:srgbClr val="000000"/>
                </a:solidFill>
                <a:latin typeface="Arial Unicode MS"/>
                <a:ea typeface="Arial Unicode MS"/>
              </a:rPr>
              <a:t>制定数据展示策略：规划如何将数据转化为生动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42899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的叙述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或可视化形式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8159" y="4585970"/>
          <a:ext cx="5534660" cy="1964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2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584">
                <a:tc>
                  <a:txBody>
                    <a:bodyPr/>
                    <a:lstStyle/>
                    <a:p>
                      <a:pPr marL="0" indent="159384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概念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4386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数据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63550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案例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43534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感官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描述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47675">
                        <a:lnSpc>
                          <a:spcPct val="101666"/>
                        </a:lnSpc>
                        <a:spcBef>
                          <a:spcPts val="129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对比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89534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全球变</a:t>
                      </a:r>
                    </a:p>
                    <a:p>
                      <a:pPr marL="0" indent="229234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暖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129540" hangingPunct="0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过去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年平均</a:t>
                      </a:r>
                      <a:br/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温度上升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1.1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°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/>
                    </a:p>
                    <a:p>
                      <a:pPr marL="0" indent="18415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北极冰盖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融化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64134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夏日的炎热，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冬天</a:t>
                      </a:r>
                    </a:p>
                    <a:p>
                      <a:pPr marL="0" indent="273684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的反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常温暖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121920">
                        <a:lnSpc>
                          <a:spcPct val="100000"/>
                        </a:lnSpc>
                      </a:pP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年前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vs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现在</a:t>
                      </a:r>
                    </a:p>
                    <a:p>
                      <a:pPr marL="0" indent="238125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的平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均温度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89534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海平面</a:t>
                      </a:r>
                    </a:p>
                    <a:p>
                      <a:pPr marL="0" indent="159384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上升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/>
                    </a:p>
                    <a:p>
                      <a:pPr marL="0" indent="67945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每年上升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3.3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毫米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114300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马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尔代夫岛屿被</a:t>
                      </a:r>
                    </a:p>
                    <a:p>
                      <a:pPr marL="0" indent="25400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淹没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的风险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64134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海浪拍打着曾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经的</a:t>
                      </a:r>
                    </a:p>
                    <a:p>
                      <a:pPr marL="0" indent="64134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陆地，咸涩的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海风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90805">
                        <a:lnSpc>
                          <a:spcPct val="100000"/>
                        </a:lnSpc>
                      </a:pP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50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年前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vs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现在的</a:t>
                      </a:r>
                    </a:p>
                    <a:p>
                      <a:pPr marL="0" indent="377825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海岸线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34"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89534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极端天</a:t>
                      </a:r>
                    </a:p>
                    <a:p>
                      <a:pPr marL="0" indent="229234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气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94615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强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飓风发生频率</a:t>
                      </a:r>
                    </a:p>
                    <a:p>
                      <a:pPr marL="0" indent="304165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增加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20%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/>
                    </a:p>
                    <a:p>
                      <a:pPr marL="0" indent="99060">
                        <a:lnSpc>
                          <a:spcPct val="101666"/>
                        </a:lnSpc>
                      </a:pP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2022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年欧洲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热浪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413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狂风呼啸，暴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雨如</a:t>
                      </a:r>
                    </a:p>
                    <a:p>
                      <a:pPr marL="0" indent="64134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注，令人窒息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的高</a:t>
                      </a:r>
                    </a:p>
                    <a:p>
                      <a:pPr marL="0" indent="553084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温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4"/>
                        </a:lnSpc>
                      </a:pPr>
                      <a:endParaRPr lang="en-US" dirty="0"/>
                    </a:p>
                    <a:p>
                      <a:pPr marL="0" indent="9842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正常夏天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vs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热浪</a:t>
                      </a:r>
                    </a:p>
                    <a:p>
                      <a:pPr marL="0" indent="44767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天气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Picture 7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60119"/>
            <a:ext cx="5996940" cy="5737860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93620"/>
            <a:ext cx="5295900" cy="4404360"/>
          </a:xfrm>
          <a:prstGeom prst="rect">
            <a:avLst/>
          </a:prstGeom>
        </p:spPr>
      </p:pic>
      <p:sp>
        <p:nvSpPr>
          <p:cNvPr id="2" name="TextBox 766"/>
          <p:cNvSpPr txBox="1"/>
          <p:nvPr/>
        </p:nvSpPr>
        <p:spPr>
          <a:xfrm>
            <a:off x="376554" y="289633"/>
            <a:ext cx="961576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95" dirty="0">
                <a:solidFill>
                  <a:srgbClr val="242424"/>
                </a:solidFill>
                <a:latin typeface="Arial Unicode MS"/>
                <a:ea typeface="Arial Unicode MS"/>
              </a:rPr>
              <a:t>跨域映射机制（</a:t>
            </a:r>
            <a:r>
              <a:rPr lang="en-US" altLang="zh-CN" sz="4000" b="1" spc="234" dirty="0">
                <a:solidFill>
                  <a:srgbClr val="242424"/>
                </a:solidFill>
                <a:latin typeface="Arial"/>
                <a:ea typeface="Arial"/>
              </a:rPr>
              <a:t>CMM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）：激发创</a:t>
            </a:r>
            <a:r>
              <a:rPr lang="zh-CN" altLang="en-US" sz="4000" b="1" spc="295" dirty="0">
                <a:solidFill>
                  <a:srgbClr val="242424"/>
                </a:solidFill>
                <a:latin typeface="Arial Unicode MS"/>
                <a:ea typeface="Arial Unicode MS"/>
              </a:rPr>
              <a:t>新思维</a:t>
            </a:r>
          </a:p>
        </p:txBody>
      </p:sp>
      <p:sp>
        <p:nvSpPr>
          <p:cNvPr id="767" name="TextBox 767"/>
          <p:cNvSpPr txBox="1"/>
          <p:nvPr/>
        </p:nvSpPr>
        <p:spPr>
          <a:xfrm>
            <a:off x="553084" y="1160144"/>
            <a:ext cx="4905357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CMM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CMM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的理论基础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借鉴了认知语言学中的概念隐喻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理论和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认知科学中的类比推理方法论：</a:t>
            </a:r>
          </a:p>
        </p:txBody>
      </p:sp>
      <p:sp>
        <p:nvSpPr>
          <p:cNvPr id="768" name="TextBox 768"/>
          <p:cNvSpPr txBox="1"/>
          <p:nvPr/>
        </p:nvSpPr>
        <p:spPr>
          <a:xfrm>
            <a:off x="5928995" y="1117650"/>
            <a:ext cx="5471148" cy="1282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）逐层展开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类比：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 indent="14986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a.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将防火墙和访问控制比作皮肤和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黏膜，解释它们如何作为第一道防线。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 indent="149859">
              <a:lnSpc>
                <a:spcPct val="100000"/>
              </a:lnSpc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b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描述入侵检测系统如何像白细胞一样在网络中</a:t>
            </a:r>
            <a:r>
              <a:rPr lang="zh-CN" altLang="en-US" sz="1200" spc="9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巡逻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，识别和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应对威胁。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4985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c.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解释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签名式防御如何类似于抗体，能够快速识别和中和已知威胁。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149859">
              <a:lnSpc>
                <a:spcPct val="100000"/>
              </a:lnSpc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d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比较系统隔离和清理过程与人体发烧的相似性，都是为了控制</a:t>
            </a:r>
            <a:r>
              <a:rPr lang="zh-CN" altLang="en-US" sz="1200" spc="85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感染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扩散。</a:t>
            </a:r>
          </a:p>
        </p:txBody>
      </p:sp>
      <p:sp>
        <p:nvSpPr>
          <p:cNvPr id="769" name="TextBox 769"/>
          <p:cNvSpPr txBox="1"/>
          <p:nvPr/>
        </p:nvSpPr>
        <p:spPr>
          <a:xfrm>
            <a:off x="635634" y="2399817"/>
            <a:ext cx="11354423" cy="282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2916"/>
              </a:lnSpc>
              <a:tabLst>
                <a:tab pos="1191260" algn="l"/>
                <a:tab pos="2379344" algn="l"/>
                <a:tab pos="5469890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结构映射	属性转移	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关系对应</a:t>
            </a:r>
            <a:r>
              <a:rPr lang="zh-CN" altLang="en-US" sz="1800" spc="129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抽象模式提取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e.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讨论威胁情报数据库如何类似于免疫记忆，使系统能够更快地应对重复出现的威胁。</a:t>
            </a:r>
          </a:p>
        </p:txBody>
      </p:sp>
      <p:sp>
        <p:nvSpPr>
          <p:cNvPr id="770" name="TextBox 770"/>
          <p:cNvSpPr txBox="1"/>
          <p:nvPr/>
        </p:nvSpPr>
        <p:spPr>
          <a:xfrm>
            <a:off x="523875" y="2879089"/>
            <a:ext cx="5123164" cy="38113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CMM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步骤：</a:t>
            </a:r>
          </a:p>
          <a:p>
            <a:pPr>
              <a:lnSpc>
                <a:spcPts val="122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源域选择：根据任务选择合适的类比源域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映射点识别：确定源域和目标域间关键对应点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类比生成：创造性地将源域概念应用于目标域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69" dirty="0">
                <a:solidFill>
                  <a:srgbClr val="000000"/>
                </a:solidFill>
                <a:latin typeface="Arial Unicode MS"/>
                <a:ea typeface="Arial Unicode MS"/>
              </a:rPr>
              <a:t>类比细化：调整和优化类比，确保其恰当性和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7211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新颖性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任务：创作一篇探讨现代网络安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全策略的文章，运用人体免疫系统作为核心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类比。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）开篇以简洁的方式介绍人体免疫系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统和网络安全系统的相似性，为整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篇文章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设定基调。</a:t>
            </a:r>
          </a:p>
        </p:txBody>
      </p:sp>
      <p:sp>
        <p:nvSpPr>
          <p:cNvPr id="771" name="TextBox 771"/>
          <p:cNvSpPr txBox="1"/>
          <p:nvPr/>
        </p:nvSpPr>
        <p:spPr>
          <a:xfrm>
            <a:off x="5928995" y="2794050"/>
            <a:ext cx="5812142" cy="3815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）深入探讨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启示：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8732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a.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分析免疫系统的适应性如何启发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自适应安全系统的设计。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8732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探讨免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疫系统的分层防御策略如何应用于网络安全的纵深防御概念。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8732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c.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讨论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过度免疫反应（如过敏）可能对应的网络安全问题（如误报或过度限制）。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创新思路：</a:t>
            </a:r>
          </a:p>
          <a:p>
            <a:pPr marL="187325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a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提出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数字疫苗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概念，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探讨如何通过模拟攻击来增强系统抵抗力。</a:t>
            </a:r>
            <a:br/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b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讨论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网络卫生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69" dirty="0">
                <a:solidFill>
                  <a:srgbClr val="000000"/>
                </a:solidFill>
                <a:latin typeface="Arial Unicode MS"/>
                <a:ea typeface="Arial Unicode MS"/>
              </a:rPr>
              <a:t>概念，类比个人卫生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如何预防疾病。</a:t>
            </a:r>
          </a:p>
          <a:p>
            <a:pPr marL="0" indent="187325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c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探索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数字共生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理念，类比人体中的有益菌群，讨论如何利用良性</a:t>
            </a:r>
            <a:r>
              <a:rPr lang="zh-CN" altLang="en-US" sz="1200" spc="60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来增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强网络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安全。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）挑战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与展望：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4985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a.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分析这种类比的局限性，指出人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体免疫系统和网络安全系统的关键差异。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4985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展望未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来：讨论如何进一步借鉴生物系统的其他特性来增强网络安全。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注意：在使用类比时，应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保持科学准确性，避免过度简化复杂的技术概念。确保文章既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生动有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趣，又具有实质性的技术深度。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Freeform 772"/>
          <p:cNvSpPr/>
          <p:nvPr/>
        </p:nvSpPr>
        <p:spPr>
          <a:xfrm>
            <a:off x="6356350" y="2101850"/>
            <a:ext cx="2114550" cy="361950"/>
          </a:xfrm>
          <a:custGeom>
            <a:avLst/>
            <a:gdLst>
              <a:gd name="connsiteX0" fmla="*/ 13970 w 2114550"/>
              <a:gd name="connsiteY0" fmla="*/ 72898 h 361950"/>
              <a:gd name="connsiteX1" fmla="*/ 73405 w 2114550"/>
              <a:gd name="connsiteY1" fmla="*/ 14985 h 361950"/>
              <a:gd name="connsiteX2" fmla="*/ 2062226 w 2114550"/>
              <a:gd name="connsiteY2" fmla="*/ 14985 h 361950"/>
              <a:gd name="connsiteX3" fmla="*/ 2121661 w 2114550"/>
              <a:gd name="connsiteY3" fmla="*/ 72898 h 361950"/>
              <a:gd name="connsiteX4" fmla="*/ 2121661 w 2114550"/>
              <a:gd name="connsiteY4" fmla="*/ 306070 h 361950"/>
              <a:gd name="connsiteX5" fmla="*/ 2062226 w 2114550"/>
              <a:gd name="connsiteY5" fmla="*/ 363982 h 361950"/>
              <a:gd name="connsiteX6" fmla="*/ 73405 w 2114550"/>
              <a:gd name="connsiteY6" fmla="*/ 363982 h 361950"/>
              <a:gd name="connsiteX7" fmla="*/ 13970 w 2114550"/>
              <a:gd name="connsiteY7" fmla="*/ 306070 h 361950"/>
              <a:gd name="connsiteX8" fmla="*/ 13970 w 2114550"/>
              <a:gd name="connsiteY8" fmla="*/ 7289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3970" y="72898"/>
                </a:moveTo>
                <a:cubicBezTo>
                  <a:pt x="14604" y="41300"/>
                  <a:pt x="40665" y="15239"/>
                  <a:pt x="73405" y="14985"/>
                </a:cubicBezTo>
                <a:lnTo>
                  <a:pt x="2062226" y="14985"/>
                </a:lnTo>
                <a:cubicBezTo>
                  <a:pt x="2094839" y="15239"/>
                  <a:pt x="2120900" y="41300"/>
                  <a:pt x="2121661" y="72898"/>
                </a:cubicBezTo>
                <a:lnTo>
                  <a:pt x="2121661" y="306070"/>
                </a:lnTo>
                <a:cubicBezTo>
                  <a:pt x="2120900" y="338429"/>
                  <a:pt x="2094839" y="364489"/>
                  <a:pt x="2062226" y="363982"/>
                </a:cubicBezTo>
                <a:lnTo>
                  <a:pt x="73405" y="363982"/>
                </a:lnTo>
                <a:cubicBezTo>
                  <a:pt x="40665" y="364489"/>
                  <a:pt x="14604" y="338429"/>
                  <a:pt x="13970" y="306070"/>
                </a:cubicBezTo>
                <a:lnTo>
                  <a:pt x="13970" y="72898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4" name="Picture 7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6020"/>
            <a:ext cx="5455920" cy="4137660"/>
          </a:xfrm>
          <a:prstGeom prst="rect">
            <a:avLst/>
          </a:prstGeom>
        </p:spPr>
      </p:pic>
      <p:pic>
        <p:nvPicPr>
          <p:cNvPr id="775" name="Picture 7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125980"/>
            <a:ext cx="1912620" cy="2042160"/>
          </a:xfrm>
          <a:prstGeom prst="rect">
            <a:avLst/>
          </a:prstGeom>
        </p:spPr>
      </p:pic>
      <p:sp>
        <p:nvSpPr>
          <p:cNvPr id="2" name="TextBox 775"/>
          <p:cNvSpPr txBox="1"/>
          <p:nvPr/>
        </p:nvSpPr>
        <p:spPr>
          <a:xfrm>
            <a:off x="376554" y="289633"/>
            <a:ext cx="895727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概念嫁接策略（</a:t>
            </a:r>
            <a:r>
              <a:rPr lang="en-US" altLang="zh-CN" sz="4000" b="1" spc="215" dirty="0">
                <a:solidFill>
                  <a:srgbClr val="242424"/>
                </a:solidFill>
                <a:latin typeface="Arial"/>
                <a:ea typeface="Arial"/>
              </a:rPr>
              <a:t>CGS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）：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创造性融合</a:t>
            </a:r>
          </a:p>
        </p:txBody>
      </p:sp>
      <p:sp>
        <p:nvSpPr>
          <p:cNvPr id="776" name="TextBox 776"/>
          <p:cNvSpPr txBox="1"/>
          <p:nvPr/>
        </p:nvSpPr>
        <p:spPr>
          <a:xfrm>
            <a:off x="553084" y="1160144"/>
            <a:ext cx="7365983" cy="739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CGS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CGS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借鉴了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认知科学中的概念整合理论，概念嫁接策略的基本构成如下：</a:t>
            </a:r>
          </a:p>
        </p:txBody>
      </p:sp>
      <p:sp>
        <p:nvSpPr>
          <p:cNvPr id="777" name="TextBox 777"/>
          <p:cNvSpPr txBox="1"/>
          <p:nvPr/>
        </p:nvSpPr>
        <p:spPr>
          <a:xfrm>
            <a:off x="766444" y="2236622"/>
            <a:ext cx="1384917" cy="1879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输入空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间定义</a:t>
            </a:r>
          </a:p>
          <a:p>
            <a:pPr>
              <a:lnSpc>
                <a:spcPts val="195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通用空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间识别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114935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选择性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投射</a:t>
            </a:r>
          </a:p>
          <a:p>
            <a:pPr>
              <a:lnSpc>
                <a:spcPts val="198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涌现结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构构建</a:t>
            </a:r>
          </a:p>
        </p:txBody>
      </p:sp>
      <p:sp>
        <p:nvSpPr>
          <p:cNvPr id="778" name="TextBox 778"/>
          <p:cNvSpPr txBox="1"/>
          <p:nvPr/>
        </p:nvSpPr>
        <p:spPr>
          <a:xfrm>
            <a:off x="2589529" y="2234082"/>
            <a:ext cx="3443588" cy="1883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明确要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融合的两个或多个概念领域</a:t>
            </a:r>
          </a:p>
          <a:p>
            <a:pPr>
              <a:lnSpc>
                <a:spcPts val="191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找出输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入空间之间的共同特征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从输入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空间选择相关元素进行融合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1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在融合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空间中创造新的、创新结构</a:t>
            </a:r>
          </a:p>
        </p:txBody>
      </p:sp>
      <p:sp>
        <p:nvSpPr>
          <p:cNvPr id="779" name="TextBox 779"/>
          <p:cNvSpPr txBox="1"/>
          <p:nvPr/>
        </p:nvSpPr>
        <p:spPr>
          <a:xfrm>
            <a:off x="6462395" y="2175560"/>
            <a:ext cx="5261600" cy="2047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4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任务：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尝试将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社交媒体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20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传统图书馆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19" dirty="0">
                <a:solidFill>
                  <a:srgbClr val="000000"/>
                </a:solidFill>
                <a:latin typeface="Arial Unicode MS"/>
                <a:ea typeface="Arial Unicode MS"/>
              </a:rPr>
              <a:t>这两个概念进行嫁接，以设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计一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个创新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的知识共享平台。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输入概念：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社交媒体：即时性、互动性、个性化、病毒传播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6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传统图书馆：知识储备、系统分类、安静学习、专业指导</a:t>
            </a:r>
          </a:p>
          <a:p>
            <a:pPr>
              <a:lnSpc>
                <a:spcPts val="7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共同特征：</a:t>
            </a:r>
          </a:p>
        </p:txBody>
      </p:sp>
      <p:sp>
        <p:nvSpPr>
          <p:cNvPr id="780" name="TextBox 780"/>
          <p:cNvSpPr txBox="1"/>
          <p:nvPr/>
        </p:nvSpPr>
        <p:spPr>
          <a:xfrm>
            <a:off x="523875" y="4403725"/>
            <a:ext cx="5642592" cy="2175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CGS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实施步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选择输入概念：确定要融合的核心概念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分析概念特征：列出每个输入概念的关键特征和属性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寻找共同点：识别输入概念之间的共享特征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创造融合点：设计概念间的创新性连接点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构建融合提示：创建引导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进行概念嫁接的提示语</a:t>
            </a:r>
          </a:p>
        </p:txBody>
      </p:sp>
      <p:sp>
        <p:nvSpPr>
          <p:cNvPr id="781" name="TextBox 781"/>
          <p:cNvSpPr txBox="1"/>
          <p:nvPr/>
        </p:nvSpPr>
        <p:spPr>
          <a:xfrm>
            <a:off x="6462395" y="4317235"/>
            <a:ext cx="1555737" cy="2138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信息存储和检索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用户群体链接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知识分享</a:t>
            </a:r>
          </a:p>
          <a:p>
            <a:pPr>
              <a:lnSpc>
                <a:spcPts val="7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）融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合点：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实时知识互动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知识深度社交网络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数字化图书馆员服务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个性化学习路径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Freeform 782"/>
          <p:cNvSpPr/>
          <p:nvPr/>
        </p:nvSpPr>
        <p:spPr>
          <a:xfrm>
            <a:off x="6356350" y="1136650"/>
            <a:ext cx="2114550" cy="349250"/>
          </a:xfrm>
          <a:custGeom>
            <a:avLst/>
            <a:gdLst>
              <a:gd name="connsiteX0" fmla="*/ 18541 w 2114550"/>
              <a:gd name="connsiteY0" fmla="*/ 65786 h 349250"/>
              <a:gd name="connsiteX1" fmla="*/ 76453 w 2114550"/>
              <a:gd name="connsiteY1" fmla="*/ 6350 h 349250"/>
              <a:gd name="connsiteX2" fmla="*/ 2065273 w 2114550"/>
              <a:gd name="connsiteY2" fmla="*/ 6350 h 349250"/>
              <a:gd name="connsiteX3" fmla="*/ 2124709 w 2114550"/>
              <a:gd name="connsiteY3" fmla="*/ 65786 h 349250"/>
              <a:gd name="connsiteX4" fmla="*/ 2124709 w 2114550"/>
              <a:gd name="connsiteY4" fmla="*/ 297433 h 349250"/>
              <a:gd name="connsiteX5" fmla="*/ 2065273 w 2114550"/>
              <a:gd name="connsiteY5" fmla="*/ 356869 h 349250"/>
              <a:gd name="connsiteX6" fmla="*/ 76453 w 2114550"/>
              <a:gd name="connsiteY6" fmla="*/ 356869 h 349250"/>
              <a:gd name="connsiteX7" fmla="*/ 18541 w 2114550"/>
              <a:gd name="connsiteY7" fmla="*/ 297433 h 349250"/>
              <a:gd name="connsiteX8" fmla="*/ 18541 w 2114550"/>
              <a:gd name="connsiteY8" fmla="*/ 65786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49250">
                <a:moveTo>
                  <a:pt x="18541" y="65786"/>
                </a:moveTo>
                <a:cubicBezTo>
                  <a:pt x="17779" y="33045"/>
                  <a:pt x="43840" y="6985"/>
                  <a:pt x="76453" y="6350"/>
                </a:cubicBezTo>
                <a:lnTo>
                  <a:pt x="2065273" y="6350"/>
                </a:lnTo>
                <a:cubicBezTo>
                  <a:pt x="2098014" y="6985"/>
                  <a:pt x="2124075" y="33045"/>
                  <a:pt x="2124709" y="65786"/>
                </a:cubicBezTo>
                <a:lnTo>
                  <a:pt x="2124709" y="297433"/>
                </a:lnTo>
                <a:cubicBezTo>
                  <a:pt x="2124075" y="330174"/>
                  <a:pt x="2098014" y="356235"/>
                  <a:pt x="2065273" y="356869"/>
                </a:cubicBezTo>
                <a:lnTo>
                  <a:pt x="76453" y="356869"/>
                </a:lnTo>
                <a:cubicBezTo>
                  <a:pt x="43840" y="356235"/>
                  <a:pt x="17779" y="330174"/>
                  <a:pt x="18541" y="297433"/>
                </a:cubicBezTo>
                <a:lnTo>
                  <a:pt x="18541" y="65786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4" name="Picture 7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78280"/>
            <a:ext cx="5455920" cy="5074920"/>
          </a:xfrm>
          <a:prstGeom prst="rect">
            <a:avLst/>
          </a:prstGeom>
        </p:spPr>
      </p:pic>
      <p:pic>
        <p:nvPicPr>
          <p:cNvPr id="785" name="Picture 7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316480"/>
            <a:ext cx="2598420" cy="1623060"/>
          </a:xfrm>
          <a:prstGeom prst="rect">
            <a:avLst/>
          </a:prstGeom>
        </p:spPr>
      </p:pic>
      <p:pic>
        <p:nvPicPr>
          <p:cNvPr id="786" name="Picture 7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920" y="2316480"/>
            <a:ext cx="2583180" cy="1036319"/>
          </a:xfrm>
          <a:prstGeom prst="rect">
            <a:avLst/>
          </a:prstGeom>
        </p:spPr>
      </p:pic>
      <p:sp>
        <p:nvSpPr>
          <p:cNvPr id="2" name="TextBox 786"/>
          <p:cNvSpPr txBox="1"/>
          <p:nvPr/>
        </p:nvSpPr>
        <p:spPr>
          <a:xfrm>
            <a:off x="376554" y="289633"/>
            <a:ext cx="939097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知识转移技术（</a:t>
            </a:r>
            <a:r>
              <a:rPr lang="en-US" altLang="zh-CN" sz="4000" b="1" spc="204" dirty="0">
                <a:solidFill>
                  <a:srgbClr val="242424"/>
                </a:solidFill>
                <a:latin typeface="Arial"/>
                <a:ea typeface="Arial"/>
              </a:rPr>
              <a:t>KTT</a:t>
            </a:r>
            <a:r>
              <a:rPr lang="zh-CN" altLang="en-US" sz="4000" b="1" spc="309" dirty="0">
                <a:solidFill>
                  <a:srgbClr val="242424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：跨域智慧应用</a:t>
            </a:r>
          </a:p>
        </p:txBody>
      </p:sp>
      <p:sp>
        <p:nvSpPr>
          <p:cNvPr id="787" name="TextBox 787"/>
          <p:cNvSpPr txBox="1"/>
          <p:nvPr/>
        </p:nvSpPr>
        <p:spPr>
          <a:xfrm>
            <a:off x="553084" y="1160144"/>
            <a:ext cx="5530199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KTT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KTT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基于认知科学中的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迁移学习理论和组织学习理论。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提出了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以下关键步骤：</a:t>
            </a:r>
          </a:p>
        </p:txBody>
      </p:sp>
      <p:sp>
        <p:nvSpPr>
          <p:cNvPr id="788" name="TextBox 788"/>
          <p:cNvSpPr txBox="1"/>
          <p:nvPr/>
        </p:nvSpPr>
        <p:spPr>
          <a:xfrm>
            <a:off x="6465570" y="1202105"/>
            <a:ext cx="5260336" cy="1121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假设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如果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想要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改善在线教育平台的学生参与度，可以尝试从游戏设计领域转移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知识。</a:t>
            </a:r>
          </a:p>
        </p:txBody>
      </p:sp>
      <p:sp>
        <p:nvSpPr>
          <p:cNvPr id="789" name="TextBox 789"/>
          <p:cNvSpPr txBox="1"/>
          <p:nvPr/>
        </p:nvSpPr>
        <p:spPr>
          <a:xfrm>
            <a:off x="523875" y="2430297"/>
            <a:ext cx="2033885" cy="1916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1153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源域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识别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4"/>
              </a:lnSpc>
            </a:pPr>
            <a:endParaRPr lang="en-US" dirty="0"/>
          </a:p>
          <a:p>
            <a:pPr marL="0" indent="81153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知识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抽象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89"/>
              </a:lnSpc>
            </a:pPr>
            <a:endParaRPr lang="en-US" dirty="0"/>
          </a:p>
          <a:p>
            <a:pPr marL="0" indent="69723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目标域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映射</a:t>
            </a:r>
          </a:p>
          <a:p>
            <a:pPr>
              <a:lnSpc>
                <a:spcPts val="1035"/>
              </a:lnSpc>
            </a:pPr>
            <a:endParaRPr lang="en-US" dirty="0"/>
          </a:p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KTT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步骤：</a:t>
            </a:r>
          </a:p>
        </p:txBody>
      </p:sp>
      <p:sp>
        <p:nvSpPr>
          <p:cNvPr id="790" name="TextBox 790"/>
          <p:cNvSpPr txBox="1"/>
          <p:nvPr/>
        </p:nvSpPr>
        <p:spPr>
          <a:xfrm>
            <a:off x="3896995" y="2432202"/>
            <a:ext cx="1155682" cy="8695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43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知识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重构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应用与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验证</a:t>
            </a:r>
          </a:p>
        </p:txBody>
      </p:sp>
      <p:sp>
        <p:nvSpPr>
          <p:cNvPr id="791" name="TextBox 791"/>
          <p:cNvSpPr txBox="1"/>
          <p:nvPr/>
        </p:nvSpPr>
        <p:spPr>
          <a:xfrm>
            <a:off x="6465570" y="2420035"/>
            <a:ext cx="5260328" cy="1857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）问题定义：提高在线教育平台的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学生参与度和学习动力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（2）源域：游戏设计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关键知识：游戏化机制、玩家心理学、关卡设计、即时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反馈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系统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）知识提取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与抽象：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进度可视化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成就系统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社交互动</a:t>
            </a:r>
          </a:p>
        </p:txBody>
      </p:sp>
      <p:sp>
        <p:nvSpPr>
          <p:cNvPr id="792" name="TextBox 792"/>
          <p:cNvSpPr txBox="1"/>
          <p:nvPr/>
        </p:nvSpPr>
        <p:spPr>
          <a:xfrm>
            <a:off x="553084" y="4485157"/>
            <a:ext cx="5613382" cy="20589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定义问题：明确目标领域需要解决的问题或创新点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寻找源域：搜索可能包含相关知识或方法的其他领域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知识提取：从源域提取关键的知识、技能或方法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相似性分析：分析源域和目标域之间的结构相似性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转移策略设计：制定知识从源域到目标域的转移策略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6.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构建转移提示：创建引导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进行知识转移的提示语</a:t>
            </a:r>
          </a:p>
        </p:txBody>
      </p:sp>
      <p:sp>
        <p:nvSpPr>
          <p:cNvPr id="793" name="TextBox 793"/>
          <p:cNvSpPr txBox="1"/>
          <p:nvPr/>
        </p:nvSpPr>
        <p:spPr>
          <a:xfrm>
            <a:off x="6465570" y="4373750"/>
            <a:ext cx="2016748" cy="1859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个性化挑战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即时反馈</a:t>
            </a:r>
          </a:p>
          <a:p>
            <a:pPr>
              <a:lnSpc>
                <a:spcPts val="7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）相似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性分析：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5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游戏玩家</a:t>
            </a:r>
            <a:r>
              <a:rPr lang="zh-CN" altLang="en-US" sz="12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&lt;-&gt;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学生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5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游戏关卡</a:t>
            </a:r>
            <a:r>
              <a:rPr lang="zh-CN" altLang="en-US" sz="12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&lt;-&gt;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课程单元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5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游戏技能提升</a:t>
            </a:r>
            <a:r>
              <a:rPr lang="zh-CN" altLang="en-US" sz="12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&lt;-&gt;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知识获取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200" spc="5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游戏社交系统</a:t>
            </a:r>
            <a:r>
              <a:rPr lang="zh-CN" altLang="en-US" sz="12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&lt;-&gt;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学习社区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Freeform 794"/>
          <p:cNvSpPr/>
          <p:nvPr/>
        </p:nvSpPr>
        <p:spPr>
          <a:xfrm>
            <a:off x="6496050" y="3930650"/>
            <a:ext cx="2114550" cy="361950"/>
          </a:xfrm>
          <a:custGeom>
            <a:avLst/>
            <a:gdLst>
              <a:gd name="connsiteX0" fmla="*/ 17526 w 2114550"/>
              <a:gd name="connsiteY0" fmla="*/ 75946 h 361950"/>
              <a:gd name="connsiteX1" fmla="*/ 75438 w 2114550"/>
              <a:gd name="connsiteY1" fmla="*/ 18034 h 361950"/>
              <a:gd name="connsiteX2" fmla="*/ 2065781 w 2114550"/>
              <a:gd name="connsiteY2" fmla="*/ 18034 h 361950"/>
              <a:gd name="connsiteX3" fmla="*/ 2123693 w 2114550"/>
              <a:gd name="connsiteY3" fmla="*/ 75946 h 361950"/>
              <a:gd name="connsiteX4" fmla="*/ 2123693 w 2114550"/>
              <a:gd name="connsiteY4" fmla="*/ 309117 h 361950"/>
              <a:gd name="connsiteX5" fmla="*/ 2065781 w 2114550"/>
              <a:gd name="connsiteY5" fmla="*/ 367029 h 361950"/>
              <a:gd name="connsiteX6" fmla="*/ 75438 w 2114550"/>
              <a:gd name="connsiteY6" fmla="*/ 367029 h 361950"/>
              <a:gd name="connsiteX7" fmla="*/ 17526 w 2114550"/>
              <a:gd name="connsiteY7" fmla="*/ 309117 h 361950"/>
              <a:gd name="connsiteX8" fmla="*/ 17526 w 2114550"/>
              <a:gd name="connsiteY8" fmla="*/ 75946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7526" y="75946"/>
                </a:moveTo>
                <a:cubicBezTo>
                  <a:pt x="17144" y="43840"/>
                  <a:pt x="43205" y="17779"/>
                  <a:pt x="75438" y="18034"/>
                </a:cubicBezTo>
                <a:lnTo>
                  <a:pt x="2065781" y="18034"/>
                </a:lnTo>
                <a:cubicBezTo>
                  <a:pt x="2097379" y="17779"/>
                  <a:pt x="2123440" y="43840"/>
                  <a:pt x="2123693" y="75946"/>
                </a:cubicBezTo>
                <a:lnTo>
                  <a:pt x="2123693" y="309117"/>
                </a:lnTo>
                <a:cubicBezTo>
                  <a:pt x="2123440" y="340969"/>
                  <a:pt x="2097379" y="367029"/>
                  <a:pt x="2065781" y="367029"/>
                </a:cubicBezTo>
                <a:lnTo>
                  <a:pt x="75438" y="367029"/>
                </a:lnTo>
                <a:cubicBezTo>
                  <a:pt x="43205" y="367029"/>
                  <a:pt x="17144" y="340969"/>
                  <a:pt x="17526" y="309117"/>
                </a:cubicBezTo>
                <a:lnTo>
                  <a:pt x="17526" y="75946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6" name="Picture 7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545080"/>
            <a:ext cx="1866900" cy="464820"/>
          </a:xfrm>
          <a:prstGeom prst="rect">
            <a:avLst/>
          </a:prstGeom>
        </p:spPr>
      </p:pic>
      <p:pic>
        <p:nvPicPr>
          <p:cNvPr id="797" name="Picture 7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131820"/>
            <a:ext cx="1866900" cy="464820"/>
          </a:xfrm>
          <a:prstGeom prst="rect">
            <a:avLst/>
          </a:prstGeom>
        </p:spPr>
      </p:pic>
      <p:pic>
        <p:nvPicPr>
          <p:cNvPr id="798" name="Picture 7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860" y="4274820"/>
            <a:ext cx="5273040" cy="2354580"/>
          </a:xfrm>
          <a:prstGeom prst="rect">
            <a:avLst/>
          </a:prstGeom>
        </p:spPr>
      </p:pic>
      <p:pic>
        <p:nvPicPr>
          <p:cNvPr id="799" name="Picture 7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2575560"/>
            <a:ext cx="1866900" cy="449580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3154680"/>
            <a:ext cx="1866900" cy="464820"/>
          </a:xfrm>
          <a:prstGeom prst="rect">
            <a:avLst/>
          </a:prstGeom>
        </p:spPr>
      </p:pic>
      <p:sp>
        <p:nvSpPr>
          <p:cNvPr id="2" name="TextBox 800"/>
          <p:cNvSpPr txBox="1"/>
          <p:nvPr/>
        </p:nvSpPr>
        <p:spPr>
          <a:xfrm>
            <a:off x="376554" y="289633"/>
            <a:ext cx="955988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95" dirty="0">
                <a:solidFill>
                  <a:srgbClr val="242424"/>
                </a:solidFill>
                <a:latin typeface="Arial Unicode MS"/>
                <a:ea typeface="Arial Unicode MS"/>
              </a:rPr>
              <a:t>随机组合机制（</a:t>
            </a:r>
            <a:r>
              <a:rPr lang="en-US" altLang="zh-CN" sz="4000" b="1" spc="229" dirty="0">
                <a:solidFill>
                  <a:srgbClr val="242424"/>
                </a:solidFill>
                <a:latin typeface="Arial"/>
                <a:ea typeface="Arial"/>
              </a:rPr>
              <a:t>RCM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：打破常规思维</a:t>
            </a:r>
          </a:p>
        </p:txBody>
      </p:sp>
      <p:sp>
        <p:nvSpPr>
          <p:cNvPr id="801" name="TextBox 801"/>
          <p:cNvSpPr txBox="1"/>
          <p:nvPr/>
        </p:nvSpPr>
        <p:spPr>
          <a:xfrm>
            <a:off x="553084" y="1160144"/>
            <a:ext cx="10999453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RCM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RCM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建立在创造性思维中的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强制联系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en-US" altLang="zh-CN" sz="1800" spc="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创意综合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理论基础上，将这些理论应用到</a:t>
            </a:r>
            <a:r>
              <a:rPr lang="en-US" altLang="zh-CN" sz="1800" spc="3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内容生成领域，提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出了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以下步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</p:txBody>
      </p:sp>
      <p:sp>
        <p:nvSpPr>
          <p:cNvPr id="802" name="TextBox 802"/>
          <p:cNvSpPr txBox="1"/>
          <p:nvPr/>
        </p:nvSpPr>
        <p:spPr>
          <a:xfrm>
            <a:off x="854075" y="2670962"/>
            <a:ext cx="1155682" cy="86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元素库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 indent="1143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随机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抽取</a:t>
            </a:r>
          </a:p>
        </p:txBody>
      </p:sp>
      <p:sp>
        <p:nvSpPr>
          <p:cNvPr id="803" name="TextBox 803"/>
          <p:cNvSpPr txBox="1"/>
          <p:nvPr/>
        </p:nvSpPr>
        <p:spPr>
          <a:xfrm>
            <a:off x="2591435" y="2667152"/>
            <a:ext cx="2984482" cy="866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创建包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含多样化元素的知识库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从元素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库中随机选择元素</a:t>
            </a:r>
          </a:p>
        </p:txBody>
      </p:sp>
      <p:sp>
        <p:nvSpPr>
          <p:cNvPr id="804" name="TextBox 804"/>
          <p:cNvSpPr txBox="1"/>
          <p:nvPr/>
        </p:nvSpPr>
        <p:spPr>
          <a:xfrm>
            <a:off x="6264275" y="2690647"/>
            <a:ext cx="927082" cy="86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强制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联系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创意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整合</a:t>
            </a:r>
          </a:p>
        </p:txBody>
      </p:sp>
      <p:sp>
        <p:nvSpPr>
          <p:cNvPr id="805" name="TextBox 805"/>
          <p:cNvSpPr txBox="1"/>
          <p:nvPr/>
        </p:nvSpPr>
        <p:spPr>
          <a:xfrm>
            <a:off x="7887334" y="2686837"/>
            <a:ext cx="3670282" cy="8663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将随机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选择的元素强制性地联系起来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基于随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机组合生成新的创意概念</a:t>
            </a:r>
          </a:p>
        </p:txBody>
      </p:sp>
      <p:sp>
        <p:nvSpPr>
          <p:cNvPr id="806" name="TextBox 806"/>
          <p:cNvSpPr txBox="1"/>
          <p:nvPr/>
        </p:nvSpPr>
        <p:spPr>
          <a:xfrm>
            <a:off x="523875" y="3977005"/>
            <a:ext cx="5910561" cy="1142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RCM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实施步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定义创意领域：明确需要创新的具体领域或问题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spc="5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6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构建多元素库：收集与创意领域相关和不相关的多样化</a:t>
            </a:r>
          </a:p>
        </p:txBody>
      </p:sp>
      <p:sp>
        <p:nvSpPr>
          <p:cNvPr id="807" name="TextBox 807"/>
          <p:cNvSpPr txBox="1"/>
          <p:nvPr/>
        </p:nvSpPr>
        <p:spPr>
          <a:xfrm>
            <a:off x="6604000" y="4006900"/>
            <a:ext cx="5062208" cy="1156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3453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694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假设要为一家咖啡连锁店设计一个创新的营销活动，可以使用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RCM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来激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发创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意。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元素库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构建：</a:t>
            </a:r>
          </a:p>
        </p:txBody>
      </p:sp>
      <p:sp>
        <p:nvSpPr>
          <p:cNvPr id="808" name="TextBox 808"/>
          <p:cNvSpPr txBox="1"/>
          <p:nvPr/>
        </p:nvSpPr>
        <p:spPr>
          <a:xfrm>
            <a:off x="553084" y="5197627"/>
            <a:ext cx="5841982" cy="1346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29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元素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设计随机抽取机制：创建一个可以随机选择元素的系统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制定组合规则：设定如何将随机元素组合在一起的规则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生成组合提示：创建引导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进行随机组合的提示语</a:t>
            </a:r>
          </a:p>
        </p:txBody>
      </p:sp>
      <p:sp>
        <p:nvSpPr>
          <p:cNvPr id="809" name="TextBox 809"/>
          <p:cNvSpPr txBox="1"/>
          <p:nvPr/>
        </p:nvSpPr>
        <p:spPr>
          <a:xfrm>
            <a:off x="6604000" y="5204648"/>
            <a:ext cx="127892" cy="139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</p:txBody>
      </p:sp>
      <p:sp>
        <p:nvSpPr>
          <p:cNvPr id="810" name="TextBox 810"/>
          <p:cNvSpPr txBox="1"/>
          <p:nvPr/>
        </p:nvSpPr>
        <p:spPr>
          <a:xfrm>
            <a:off x="6946900" y="5211495"/>
            <a:ext cx="2755888" cy="13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咖啡相关：豆种、烘焙、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萃取、风味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文化艺术：音乐、绘画、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舞蹈、文学</a:t>
            </a:r>
            <a:br/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科技：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AR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、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VR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、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、物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联网</a:t>
            </a:r>
          </a:p>
          <a:p>
            <a:pPr marL="0">
              <a:lnSpc>
                <a:spcPct val="100000"/>
              </a:lnSpc>
              <a:spcBef>
                <a:spcPts val="39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环保：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可持续、回收、碳中和、生物降解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社交：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社交媒体、直播、社区、互动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Freeform 811"/>
          <p:cNvSpPr/>
          <p:nvPr/>
        </p:nvSpPr>
        <p:spPr>
          <a:xfrm>
            <a:off x="6496050" y="3638550"/>
            <a:ext cx="2114550" cy="361950"/>
          </a:xfrm>
          <a:custGeom>
            <a:avLst/>
            <a:gdLst>
              <a:gd name="connsiteX0" fmla="*/ 17526 w 2114550"/>
              <a:gd name="connsiteY0" fmla="*/ 75438 h 361950"/>
              <a:gd name="connsiteX1" fmla="*/ 75438 w 2114550"/>
              <a:gd name="connsiteY1" fmla="*/ 16002 h 361950"/>
              <a:gd name="connsiteX2" fmla="*/ 2065781 w 2114550"/>
              <a:gd name="connsiteY2" fmla="*/ 16002 h 361950"/>
              <a:gd name="connsiteX3" fmla="*/ 2123693 w 2114550"/>
              <a:gd name="connsiteY3" fmla="*/ 75438 h 361950"/>
              <a:gd name="connsiteX4" fmla="*/ 2123693 w 2114550"/>
              <a:gd name="connsiteY4" fmla="*/ 307085 h 361950"/>
              <a:gd name="connsiteX5" fmla="*/ 2065781 w 2114550"/>
              <a:gd name="connsiteY5" fmla="*/ 366521 h 361950"/>
              <a:gd name="connsiteX6" fmla="*/ 75438 w 2114550"/>
              <a:gd name="connsiteY6" fmla="*/ 366521 h 361950"/>
              <a:gd name="connsiteX7" fmla="*/ 17526 w 2114550"/>
              <a:gd name="connsiteY7" fmla="*/ 307085 h 361950"/>
              <a:gd name="connsiteX8" fmla="*/ 17526 w 2114550"/>
              <a:gd name="connsiteY8" fmla="*/ 7543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7526" y="75438"/>
                </a:moveTo>
                <a:cubicBezTo>
                  <a:pt x="17144" y="42570"/>
                  <a:pt x="43205" y="16509"/>
                  <a:pt x="75438" y="16002"/>
                </a:cubicBezTo>
                <a:lnTo>
                  <a:pt x="2065781" y="16002"/>
                </a:lnTo>
                <a:cubicBezTo>
                  <a:pt x="2097379" y="16509"/>
                  <a:pt x="2123440" y="42570"/>
                  <a:pt x="2123693" y="75438"/>
                </a:cubicBezTo>
                <a:lnTo>
                  <a:pt x="2123693" y="307085"/>
                </a:lnTo>
                <a:cubicBezTo>
                  <a:pt x="2123440" y="339699"/>
                  <a:pt x="2097379" y="365759"/>
                  <a:pt x="2065781" y="366521"/>
                </a:cubicBezTo>
                <a:lnTo>
                  <a:pt x="75438" y="366521"/>
                </a:lnTo>
                <a:cubicBezTo>
                  <a:pt x="43205" y="365759"/>
                  <a:pt x="17144" y="339699"/>
                  <a:pt x="17526" y="307085"/>
                </a:cubicBezTo>
                <a:lnTo>
                  <a:pt x="17526" y="75438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3" name="Picture 8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164080"/>
            <a:ext cx="1866900" cy="457200"/>
          </a:xfrm>
          <a:prstGeom prst="rect">
            <a:avLst/>
          </a:prstGeom>
        </p:spPr>
      </p:pic>
      <p:pic>
        <p:nvPicPr>
          <p:cNvPr id="814" name="Picture 8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750820"/>
            <a:ext cx="1866900" cy="449580"/>
          </a:xfrm>
          <a:prstGeom prst="rect">
            <a:avLst/>
          </a:prstGeom>
        </p:spPr>
      </p:pic>
      <p:pic>
        <p:nvPicPr>
          <p:cNvPr id="815" name="Picture 8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20" y="2179320"/>
            <a:ext cx="1859280" cy="464820"/>
          </a:xfrm>
          <a:prstGeom prst="rect">
            <a:avLst/>
          </a:prstGeom>
        </p:spPr>
      </p:pic>
      <p:pic>
        <p:nvPicPr>
          <p:cNvPr id="816" name="Picture 8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120" y="2766060"/>
            <a:ext cx="1859280" cy="464820"/>
          </a:xfrm>
          <a:prstGeom prst="rect">
            <a:avLst/>
          </a:prstGeom>
        </p:spPr>
      </p:pic>
      <p:pic>
        <p:nvPicPr>
          <p:cNvPr id="817" name="Picture 8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860" y="3992879"/>
            <a:ext cx="5158740" cy="2484120"/>
          </a:xfrm>
          <a:prstGeom prst="rect">
            <a:avLst/>
          </a:prstGeom>
        </p:spPr>
      </p:pic>
      <p:sp>
        <p:nvSpPr>
          <p:cNvPr id="2" name="TextBox 817"/>
          <p:cNvSpPr txBox="1"/>
          <p:nvPr/>
        </p:nvSpPr>
        <p:spPr>
          <a:xfrm>
            <a:off x="376554" y="289633"/>
            <a:ext cx="944812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极端假设策略（</a:t>
            </a:r>
            <a:r>
              <a:rPr lang="en-US" altLang="zh-CN" sz="4000" b="1" spc="209" dirty="0">
                <a:solidFill>
                  <a:srgbClr val="242424"/>
                </a:solidFill>
                <a:latin typeface="Arial"/>
                <a:ea typeface="Arial"/>
              </a:rPr>
              <a:t>EHS</a:t>
            </a:r>
            <a:r>
              <a:rPr lang="zh-CN" altLang="en-US" sz="4000" b="1" spc="309" dirty="0">
                <a:solidFill>
                  <a:srgbClr val="242424"/>
                </a:solidFill>
                <a:latin typeface="Arial Unicode MS"/>
                <a:ea typeface="Arial Unicode MS"/>
              </a:rPr>
              <a:t>）：突破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思维界限</a:t>
            </a:r>
          </a:p>
        </p:txBody>
      </p:sp>
      <p:sp>
        <p:nvSpPr>
          <p:cNvPr id="818" name="TextBox 818"/>
          <p:cNvSpPr txBox="1"/>
          <p:nvPr/>
        </p:nvSpPr>
        <p:spPr>
          <a:xfrm>
            <a:off x="553084" y="1160144"/>
            <a:ext cx="6502382" cy="739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EHS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EHS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借鉴了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逆向思维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假设性思考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概念，开发了以下策略：</a:t>
            </a:r>
          </a:p>
        </p:txBody>
      </p:sp>
      <p:sp>
        <p:nvSpPr>
          <p:cNvPr id="819" name="TextBox 819"/>
          <p:cNvSpPr txBox="1"/>
          <p:nvPr/>
        </p:nvSpPr>
        <p:spPr>
          <a:xfrm>
            <a:off x="739775" y="2279802"/>
            <a:ext cx="1384282" cy="86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常规假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设识别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 indent="2286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极端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反转</a:t>
            </a:r>
          </a:p>
        </p:txBody>
      </p:sp>
      <p:sp>
        <p:nvSpPr>
          <p:cNvPr id="820" name="TextBox 820"/>
          <p:cNvSpPr txBox="1"/>
          <p:nvPr/>
        </p:nvSpPr>
        <p:spPr>
          <a:xfrm>
            <a:off x="2538095" y="2275992"/>
            <a:ext cx="3213082" cy="866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明确当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前领域的常规假设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将常规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假设推向极端或完全反转</a:t>
            </a:r>
          </a:p>
        </p:txBody>
      </p:sp>
      <p:sp>
        <p:nvSpPr>
          <p:cNvPr id="821" name="TextBox 821"/>
          <p:cNvSpPr txBox="1"/>
          <p:nvPr/>
        </p:nvSpPr>
        <p:spPr>
          <a:xfrm>
            <a:off x="6160134" y="2299487"/>
            <a:ext cx="1384282" cy="86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后果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探索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创新洞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察提取</a:t>
            </a:r>
          </a:p>
        </p:txBody>
      </p:sp>
      <p:sp>
        <p:nvSpPr>
          <p:cNvPr id="822" name="TextBox 822"/>
          <p:cNvSpPr txBox="1"/>
          <p:nvPr/>
        </p:nvSpPr>
        <p:spPr>
          <a:xfrm>
            <a:off x="7887334" y="2295677"/>
            <a:ext cx="3670282" cy="866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深入探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讨极端假设带来的影响和机会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从极端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假设中提取可能的创新点</a:t>
            </a:r>
          </a:p>
        </p:txBody>
      </p:sp>
      <p:sp>
        <p:nvSpPr>
          <p:cNvPr id="823" name="TextBox 823"/>
          <p:cNvSpPr txBox="1"/>
          <p:nvPr/>
        </p:nvSpPr>
        <p:spPr>
          <a:xfrm>
            <a:off x="523875" y="3603625"/>
            <a:ext cx="5687678" cy="2923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EHS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实施步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识别常规假设：列出在特定领域被广泛接受的假设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生成极端假设：将这些假设推向极端或完全颠覆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构建假设场景：详细描述如果极端假设成真会怎样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探索影响：分析极端假设对各个相关方面的潜在影响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提取创新点：从极端场景中提炼出可能的创新机会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6.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25" dirty="0">
                <a:solidFill>
                  <a:srgbClr val="000000"/>
                </a:solidFill>
                <a:latin typeface="Arial Unicode MS"/>
                <a:ea typeface="Arial Unicode MS"/>
              </a:rPr>
              <a:t>构建极端假设提示：创建引导</a:t>
            </a: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25" dirty="0">
                <a:solidFill>
                  <a:srgbClr val="000000"/>
                </a:solidFill>
                <a:latin typeface="Arial Unicode MS"/>
                <a:ea typeface="Arial Unicode MS"/>
              </a:rPr>
              <a:t>进行极端假设思考的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7211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提示语</a:t>
            </a:r>
          </a:p>
        </p:txBody>
      </p:sp>
      <p:sp>
        <p:nvSpPr>
          <p:cNvPr id="824" name="TextBox 824"/>
          <p:cNvSpPr txBox="1"/>
          <p:nvPr/>
        </p:nvSpPr>
        <p:spPr>
          <a:xfrm>
            <a:off x="6604634" y="3713530"/>
            <a:ext cx="4584688" cy="2345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55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任务：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以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未来教育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为主题，运用极端假设策略来激发创新思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维。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常规假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设：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（1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）学校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是学习的主要场所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）教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师是知识的主要传播者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）学习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需要长时间的努力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）考试是评估学习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效果的主要方式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Freeform 825"/>
          <p:cNvSpPr/>
          <p:nvPr/>
        </p:nvSpPr>
        <p:spPr>
          <a:xfrm>
            <a:off x="6496050" y="3638550"/>
            <a:ext cx="2114550" cy="361950"/>
          </a:xfrm>
          <a:custGeom>
            <a:avLst/>
            <a:gdLst>
              <a:gd name="connsiteX0" fmla="*/ 17526 w 2114550"/>
              <a:gd name="connsiteY0" fmla="*/ 75438 h 361950"/>
              <a:gd name="connsiteX1" fmla="*/ 75438 w 2114550"/>
              <a:gd name="connsiteY1" fmla="*/ 16002 h 361950"/>
              <a:gd name="connsiteX2" fmla="*/ 2065781 w 2114550"/>
              <a:gd name="connsiteY2" fmla="*/ 16002 h 361950"/>
              <a:gd name="connsiteX3" fmla="*/ 2123693 w 2114550"/>
              <a:gd name="connsiteY3" fmla="*/ 75438 h 361950"/>
              <a:gd name="connsiteX4" fmla="*/ 2123693 w 2114550"/>
              <a:gd name="connsiteY4" fmla="*/ 307085 h 361950"/>
              <a:gd name="connsiteX5" fmla="*/ 2065781 w 2114550"/>
              <a:gd name="connsiteY5" fmla="*/ 366521 h 361950"/>
              <a:gd name="connsiteX6" fmla="*/ 75438 w 2114550"/>
              <a:gd name="connsiteY6" fmla="*/ 366521 h 361950"/>
              <a:gd name="connsiteX7" fmla="*/ 17526 w 2114550"/>
              <a:gd name="connsiteY7" fmla="*/ 307085 h 361950"/>
              <a:gd name="connsiteX8" fmla="*/ 17526 w 2114550"/>
              <a:gd name="connsiteY8" fmla="*/ 7543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7526" y="75438"/>
                </a:moveTo>
                <a:cubicBezTo>
                  <a:pt x="17144" y="42570"/>
                  <a:pt x="43205" y="16509"/>
                  <a:pt x="75438" y="16002"/>
                </a:cubicBezTo>
                <a:lnTo>
                  <a:pt x="2065781" y="16002"/>
                </a:lnTo>
                <a:cubicBezTo>
                  <a:pt x="2097379" y="16509"/>
                  <a:pt x="2123440" y="42570"/>
                  <a:pt x="2123693" y="75438"/>
                </a:cubicBezTo>
                <a:lnTo>
                  <a:pt x="2123693" y="307085"/>
                </a:lnTo>
                <a:cubicBezTo>
                  <a:pt x="2123440" y="339699"/>
                  <a:pt x="2097379" y="365759"/>
                  <a:pt x="2065781" y="366521"/>
                </a:cubicBezTo>
                <a:lnTo>
                  <a:pt x="75438" y="366521"/>
                </a:lnTo>
                <a:cubicBezTo>
                  <a:pt x="43205" y="365759"/>
                  <a:pt x="17144" y="339699"/>
                  <a:pt x="17526" y="307085"/>
                </a:cubicBezTo>
                <a:lnTo>
                  <a:pt x="17526" y="75438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7" name="Picture 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164080"/>
            <a:ext cx="1866900" cy="457200"/>
          </a:xfrm>
          <a:prstGeom prst="rect">
            <a:avLst/>
          </a:prstGeom>
        </p:spPr>
      </p:pic>
      <p:pic>
        <p:nvPicPr>
          <p:cNvPr id="828" name="Picture 8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750820"/>
            <a:ext cx="1866900" cy="449580"/>
          </a:xfrm>
          <a:prstGeom prst="rect">
            <a:avLst/>
          </a:prstGeom>
        </p:spPr>
      </p:pic>
      <p:pic>
        <p:nvPicPr>
          <p:cNvPr id="829" name="Picture 8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20" y="2179320"/>
            <a:ext cx="1859280" cy="464820"/>
          </a:xfrm>
          <a:prstGeom prst="rect">
            <a:avLst/>
          </a:prstGeom>
        </p:spPr>
      </p:pic>
      <p:pic>
        <p:nvPicPr>
          <p:cNvPr id="830" name="Picture 8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120" y="2766060"/>
            <a:ext cx="1859280" cy="464820"/>
          </a:xfrm>
          <a:prstGeom prst="rect">
            <a:avLst/>
          </a:prstGeom>
        </p:spPr>
      </p:pic>
      <p:pic>
        <p:nvPicPr>
          <p:cNvPr id="831" name="Picture 8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860" y="4008120"/>
            <a:ext cx="5158740" cy="2423160"/>
          </a:xfrm>
          <a:prstGeom prst="rect">
            <a:avLst/>
          </a:prstGeom>
        </p:spPr>
      </p:pic>
      <p:sp>
        <p:nvSpPr>
          <p:cNvPr id="2" name="TextBox 831"/>
          <p:cNvSpPr txBox="1"/>
          <p:nvPr/>
        </p:nvSpPr>
        <p:spPr>
          <a:xfrm>
            <a:off x="376554" y="289633"/>
            <a:ext cx="1117214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多重约束策略（</a:t>
            </a:r>
            <a:r>
              <a:rPr lang="en-US" altLang="zh-CN" sz="4000" b="1" spc="220" dirty="0">
                <a:solidFill>
                  <a:srgbClr val="242424"/>
                </a:solidFill>
                <a:latin typeface="Arial"/>
                <a:ea typeface="Arial"/>
              </a:rPr>
              <a:t>MCS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）：激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发创造性问题解决</a:t>
            </a:r>
          </a:p>
        </p:txBody>
      </p:sp>
      <p:sp>
        <p:nvSpPr>
          <p:cNvPr id="832" name="TextBox 832"/>
          <p:cNvSpPr txBox="1"/>
          <p:nvPr/>
        </p:nvSpPr>
        <p:spPr>
          <a:xfrm>
            <a:off x="553084" y="1160144"/>
            <a:ext cx="8750283" cy="739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MCS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MCS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基于创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造性问题解决理论和设计思维中的有限性思维概念，提出了以下关键步骤：</a:t>
            </a:r>
          </a:p>
        </p:txBody>
      </p:sp>
      <p:sp>
        <p:nvSpPr>
          <p:cNvPr id="833" name="TextBox 833"/>
          <p:cNvSpPr txBox="1"/>
          <p:nvPr/>
        </p:nvSpPr>
        <p:spPr>
          <a:xfrm>
            <a:off x="625475" y="2279802"/>
            <a:ext cx="1612882" cy="86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430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约束条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件设定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约束间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矛盾分析</a:t>
            </a:r>
          </a:p>
        </p:txBody>
      </p:sp>
      <p:sp>
        <p:nvSpPr>
          <p:cNvPr id="834" name="TextBox 834"/>
          <p:cNvSpPr txBox="1"/>
          <p:nvPr/>
        </p:nvSpPr>
        <p:spPr>
          <a:xfrm>
            <a:off x="2538095" y="2275992"/>
            <a:ext cx="3213082" cy="866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制定多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个具有挑战性的限制条件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识别约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束之间的潜在冲突</a:t>
            </a:r>
          </a:p>
        </p:txBody>
      </p:sp>
      <p:sp>
        <p:nvSpPr>
          <p:cNvPr id="835" name="TextBox 835"/>
          <p:cNvSpPr txBox="1"/>
          <p:nvPr/>
        </p:nvSpPr>
        <p:spPr>
          <a:xfrm>
            <a:off x="6045834" y="2299487"/>
            <a:ext cx="1612882" cy="86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创造性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妥协探索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 indent="11430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约束突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破思考</a:t>
            </a:r>
          </a:p>
        </p:txBody>
      </p:sp>
      <p:sp>
        <p:nvSpPr>
          <p:cNvPr id="836" name="TextBox 836"/>
          <p:cNvSpPr txBox="1"/>
          <p:nvPr/>
        </p:nvSpPr>
        <p:spPr>
          <a:xfrm>
            <a:off x="7887334" y="2295677"/>
            <a:ext cx="3441682" cy="866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寻找满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足所有约束的创新解决方案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探索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创造性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地绕过或重新定义约束</a:t>
            </a:r>
          </a:p>
        </p:txBody>
      </p:sp>
      <p:sp>
        <p:nvSpPr>
          <p:cNvPr id="837" name="TextBox 837"/>
          <p:cNvSpPr txBox="1"/>
          <p:nvPr/>
        </p:nvSpPr>
        <p:spPr>
          <a:xfrm>
            <a:off x="523875" y="3603625"/>
            <a:ext cx="7626866" cy="3873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7083"/>
              </a:lnSpc>
              <a:tabLst>
                <a:tab pos="6583578" algn="l"/>
              </a:tabLst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MCS</a:t>
            </a: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实施步骤：	</a:t>
            </a:r>
            <a:r>
              <a:rPr lang="zh-CN" altLang="en-US" sz="1800" b="1" spc="-10" dirty="0">
                <a:solidFill>
                  <a:srgbClr val="FEFEFE"/>
                </a:solidFill>
                <a:latin typeface="Arial Unicode MS"/>
                <a:ea typeface="Arial Unicode MS"/>
              </a:rPr>
              <a:t>应用示例</a:t>
            </a:r>
          </a:p>
        </p:txBody>
      </p:sp>
      <p:sp>
        <p:nvSpPr>
          <p:cNvPr id="838" name="TextBox 838"/>
          <p:cNvSpPr txBox="1"/>
          <p:nvPr/>
        </p:nvSpPr>
        <p:spPr>
          <a:xfrm>
            <a:off x="553084" y="4384192"/>
            <a:ext cx="5156182" cy="990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问题定义：明确需要解决的核心问题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约束条件列举：设置多个具有挑战性的限制条件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约束影响分析：评估每个约束对问题解决的影响</a:t>
            </a:r>
          </a:p>
        </p:txBody>
      </p:sp>
      <p:sp>
        <p:nvSpPr>
          <p:cNvPr id="839" name="TextBox 839"/>
          <p:cNvSpPr txBox="1"/>
          <p:nvPr/>
        </p:nvSpPr>
        <p:spPr>
          <a:xfrm>
            <a:off x="6604634" y="4144695"/>
            <a:ext cx="3822688" cy="12936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任务：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用多重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约束策略来设计一款创新的智能家居产品。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）核心问题：设计一款多功能智能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家居设备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约束条件：</a:t>
            </a:r>
          </a:p>
          <a:p>
            <a:pPr>
              <a:lnSpc>
                <a:spcPts val="70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en-US" altLang="zh-CN" sz="1200" spc="179" dirty="0">
                <a:solidFill>
                  <a:srgbClr val="000000"/>
                </a:solidFill>
                <a:latin typeface="Times New Roman"/>
                <a:ea typeface="Times New Roman"/>
              </a:rPr>
              <a:t>▪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产品体积不能超过一个标准鞋盒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en-US" altLang="zh-CN" sz="1200" spc="179" dirty="0">
                <a:solidFill>
                  <a:srgbClr val="000000"/>
                </a:solidFill>
                <a:latin typeface="Times New Roman"/>
                <a:ea typeface="Times New Roman"/>
              </a:rPr>
              <a:t>▪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必须同时满足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个不同的家居需求</a:t>
            </a:r>
          </a:p>
        </p:txBody>
      </p:sp>
      <p:sp>
        <p:nvSpPr>
          <p:cNvPr id="840" name="TextBox 840"/>
          <p:cNvSpPr txBox="1"/>
          <p:nvPr/>
        </p:nvSpPr>
        <p:spPr>
          <a:xfrm>
            <a:off x="553084" y="5452897"/>
            <a:ext cx="5156182" cy="633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创新方案构思：在多重约束下寻找创新解决方案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约束重构：必要时重新定义或调整约束条件</a:t>
            </a:r>
          </a:p>
        </p:txBody>
      </p:sp>
      <p:sp>
        <p:nvSpPr>
          <p:cNvPr id="841" name="TextBox 841"/>
          <p:cNvSpPr txBox="1"/>
          <p:nvPr/>
        </p:nvSpPr>
        <p:spPr>
          <a:xfrm>
            <a:off x="6604634" y="5534848"/>
            <a:ext cx="89792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7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7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</p:txBody>
      </p:sp>
      <p:sp>
        <p:nvSpPr>
          <p:cNvPr id="842" name="TextBox 842"/>
          <p:cNvSpPr txBox="1"/>
          <p:nvPr/>
        </p:nvSpPr>
        <p:spPr>
          <a:xfrm>
            <a:off x="6947534" y="5541695"/>
            <a:ext cx="1748143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产品售价不超过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美元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使用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100%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可回收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材料制造</a:t>
            </a:r>
          </a:p>
        </p:txBody>
      </p:sp>
      <p:sp>
        <p:nvSpPr>
          <p:cNvPr id="843" name="TextBox 843"/>
          <p:cNvSpPr txBox="1"/>
          <p:nvPr/>
        </p:nvSpPr>
        <p:spPr>
          <a:xfrm>
            <a:off x="6604634" y="6093648"/>
            <a:ext cx="2908288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42900" algn="l"/>
              </a:tabLst>
            </a:pPr>
            <a:r>
              <a:rPr lang="en-US" altLang="zh-CN" sz="1200" spc="179" dirty="0">
                <a:solidFill>
                  <a:srgbClr val="000000"/>
                </a:solidFill>
                <a:latin typeface="Times New Roman"/>
                <a:ea typeface="Times New Roman"/>
              </a:rPr>
              <a:t>▪	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适用于从儿童到老年人的所有年龄段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Freeform 844"/>
          <p:cNvSpPr/>
          <p:nvPr/>
        </p:nvSpPr>
        <p:spPr>
          <a:xfrm>
            <a:off x="6496050" y="3892550"/>
            <a:ext cx="2114550" cy="361950"/>
          </a:xfrm>
          <a:custGeom>
            <a:avLst/>
            <a:gdLst>
              <a:gd name="connsiteX0" fmla="*/ 17526 w 2114550"/>
              <a:gd name="connsiteY0" fmla="*/ 71373 h 361950"/>
              <a:gd name="connsiteX1" fmla="*/ 75438 w 2114550"/>
              <a:gd name="connsiteY1" fmla="*/ 13461 h 361950"/>
              <a:gd name="connsiteX2" fmla="*/ 2065781 w 2114550"/>
              <a:gd name="connsiteY2" fmla="*/ 13461 h 361950"/>
              <a:gd name="connsiteX3" fmla="*/ 2123693 w 2114550"/>
              <a:gd name="connsiteY3" fmla="*/ 71373 h 361950"/>
              <a:gd name="connsiteX4" fmla="*/ 2123693 w 2114550"/>
              <a:gd name="connsiteY4" fmla="*/ 304546 h 361950"/>
              <a:gd name="connsiteX5" fmla="*/ 2065781 w 2114550"/>
              <a:gd name="connsiteY5" fmla="*/ 362458 h 361950"/>
              <a:gd name="connsiteX6" fmla="*/ 75438 w 2114550"/>
              <a:gd name="connsiteY6" fmla="*/ 362458 h 361950"/>
              <a:gd name="connsiteX7" fmla="*/ 17526 w 2114550"/>
              <a:gd name="connsiteY7" fmla="*/ 304546 h 361950"/>
              <a:gd name="connsiteX8" fmla="*/ 17526 w 2114550"/>
              <a:gd name="connsiteY8" fmla="*/ 71373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7526" y="71373"/>
                </a:moveTo>
                <a:cubicBezTo>
                  <a:pt x="17144" y="39395"/>
                  <a:pt x="43205" y="13334"/>
                  <a:pt x="75438" y="13461"/>
                </a:cubicBezTo>
                <a:lnTo>
                  <a:pt x="2065781" y="13461"/>
                </a:lnTo>
                <a:cubicBezTo>
                  <a:pt x="2097379" y="13334"/>
                  <a:pt x="2123440" y="39395"/>
                  <a:pt x="2123693" y="71373"/>
                </a:cubicBezTo>
                <a:lnTo>
                  <a:pt x="2123693" y="304546"/>
                </a:lnTo>
                <a:cubicBezTo>
                  <a:pt x="2123440" y="336524"/>
                  <a:pt x="2097379" y="362584"/>
                  <a:pt x="2065781" y="362458"/>
                </a:cubicBezTo>
                <a:lnTo>
                  <a:pt x="75438" y="362458"/>
                </a:lnTo>
                <a:cubicBezTo>
                  <a:pt x="43205" y="362584"/>
                  <a:pt x="17144" y="336524"/>
                  <a:pt x="17526" y="304546"/>
                </a:cubicBezTo>
                <a:lnTo>
                  <a:pt x="17526" y="71373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6" name="Picture 8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860" y="4259579"/>
            <a:ext cx="5158740" cy="2385060"/>
          </a:xfrm>
          <a:prstGeom prst="rect">
            <a:avLst/>
          </a:prstGeom>
        </p:spPr>
      </p:pic>
      <p:pic>
        <p:nvPicPr>
          <p:cNvPr id="847" name="Picture 8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59" y="822960"/>
            <a:ext cx="3406140" cy="3444240"/>
          </a:xfrm>
          <a:prstGeom prst="rect">
            <a:avLst/>
          </a:prstGeom>
        </p:spPr>
      </p:pic>
      <p:pic>
        <p:nvPicPr>
          <p:cNvPr id="848" name="Picture 8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2430780"/>
            <a:ext cx="2598420" cy="1036319"/>
          </a:xfrm>
          <a:prstGeom prst="rect">
            <a:avLst/>
          </a:prstGeom>
        </p:spPr>
      </p:pic>
      <p:pic>
        <p:nvPicPr>
          <p:cNvPr id="849" name="Picture 8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20" y="2430780"/>
            <a:ext cx="2583180" cy="1036319"/>
          </a:xfrm>
          <a:prstGeom prst="rect">
            <a:avLst/>
          </a:prstGeom>
        </p:spPr>
      </p:pic>
      <p:sp>
        <p:nvSpPr>
          <p:cNvPr id="2" name="TextBox 849"/>
          <p:cNvSpPr txBox="1"/>
          <p:nvPr/>
        </p:nvSpPr>
        <p:spPr>
          <a:xfrm>
            <a:off x="376554" y="289633"/>
            <a:ext cx="1062541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95" dirty="0">
                <a:solidFill>
                  <a:srgbClr val="242424"/>
                </a:solidFill>
                <a:latin typeface="Arial Unicode MS"/>
                <a:ea typeface="Arial Unicode MS"/>
              </a:rPr>
              <a:t>语体模拟机制（</a:t>
            </a:r>
            <a:r>
              <a:rPr lang="en-US" altLang="zh-CN" sz="4000" b="1" spc="229" dirty="0">
                <a:solidFill>
                  <a:srgbClr val="242424"/>
                </a:solidFill>
                <a:latin typeface="Arial"/>
                <a:ea typeface="Arial"/>
              </a:rPr>
              <a:t>RSM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）：精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准捕捉语言特征</a:t>
            </a:r>
          </a:p>
        </p:txBody>
      </p:sp>
      <p:sp>
        <p:nvSpPr>
          <p:cNvPr id="850" name="TextBox 850"/>
          <p:cNvSpPr txBox="1"/>
          <p:nvPr/>
        </p:nvSpPr>
        <p:spPr>
          <a:xfrm>
            <a:off x="553084" y="1160144"/>
            <a:ext cx="5657833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RSM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spc="20" dirty="0">
                <a:solidFill>
                  <a:srgbClr val="000000"/>
                </a:solidFill>
                <a:latin typeface="Arial"/>
                <a:ea typeface="Arial"/>
              </a:rPr>
              <a:t>RSM</a:t>
            </a:r>
            <a:r>
              <a:rPr lang="zh-CN" altLang="en-US" sz="1800" spc="35" dirty="0">
                <a:solidFill>
                  <a:srgbClr val="000000"/>
                </a:solidFill>
                <a:latin typeface="Arial Unicode MS"/>
                <a:ea typeface="Arial Unicode MS"/>
              </a:rPr>
              <a:t>建立在语言学中的语域理论和语体分</a:t>
            </a:r>
            <a:r>
              <a:rPr lang="zh-CN" altLang="en-US" sz="1800" spc="30" dirty="0">
                <a:solidFill>
                  <a:srgbClr val="000000"/>
                </a:solidFill>
                <a:latin typeface="Arial Unicode MS"/>
                <a:ea typeface="Arial Unicode MS"/>
              </a:rPr>
              <a:t>析的基础上，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关键步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骤如下：</a:t>
            </a:r>
          </a:p>
        </p:txBody>
      </p:sp>
      <p:sp>
        <p:nvSpPr>
          <p:cNvPr id="851" name="TextBox 851"/>
          <p:cNvSpPr txBox="1"/>
          <p:nvPr/>
        </p:nvSpPr>
        <p:spPr>
          <a:xfrm>
            <a:off x="1106805" y="2536977"/>
            <a:ext cx="1384282" cy="8689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语体特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征识别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语境因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素考量</a:t>
            </a:r>
          </a:p>
        </p:txBody>
      </p:sp>
      <p:sp>
        <p:nvSpPr>
          <p:cNvPr id="852" name="TextBox 852"/>
          <p:cNvSpPr txBox="1"/>
          <p:nvPr/>
        </p:nvSpPr>
        <p:spPr>
          <a:xfrm>
            <a:off x="3782695" y="2538882"/>
            <a:ext cx="1384282" cy="8695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语体要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素提取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语体规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则构建</a:t>
            </a:r>
          </a:p>
        </p:txBody>
      </p:sp>
      <p:sp>
        <p:nvSpPr>
          <p:cNvPr id="853" name="TextBox 853"/>
          <p:cNvSpPr txBox="1"/>
          <p:nvPr/>
        </p:nvSpPr>
        <p:spPr>
          <a:xfrm>
            <a:off x="553084" y="3765550"/>
            <a:ext cx="5658467" cy="14596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RSM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实施步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确定目标语体：明确需要模拟的具体语言风格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收集语料样本：搜集目标语体的典型文本样本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5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分析语言特征：从词汇、句法、修辞等多个维度分析</a:t>
            </a:r>
          </a:p>
        </p:txBody>
      </p:sp>
      <p:sp>
        <p:nvSpPr>
          <p:cNvPr id="854" name="TextBox 854"/>
          <p:cNvSpPr txBox="1"/>
          <p:nvPr/>
        </p:nvSpPr>
        <p:spPr>
          <a:xfrm>
            <a:off x="6604634" y="3964355"/>
            <a:ext cx="4876788" cy="1173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假设需要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生成一篇模仿莎士比亚风格的短文，可以使用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RSM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来指导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AI更准确地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捕捉莎士比亚的语言特征。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莎士比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亚风格特征分析：</a:t>
            </a:r>
          </a:p>
        </p:txBody>
      </p:sp>
      <p:sp>
        <p:nvSpPr>
          <p:cNvPr id="855" name="TextBox 855"/>
          <p:cNvSpPr txBox="1"/>
          <p:nvPr/>
        </p:nvSpPr>
        <p:spPr>
          <a:xfrm>
            <a:off x="553084" y="5303672"/>
            <a:ext cx="5613382" cy="1346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29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语体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特征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提取关键元素：识别和提取构成语体的独特语言元素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构建语体指南：创建详细的语体使用指南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6.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生成模拟提示：创建引导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模拟特定语体的提示语</a:t>
            </a:r>
          </a:p>
        </p:txBody>
      </p:sp>
      <p:sp>
        <p:nvSpPr>
          <p:cNvPr id="856" name="TextBox 856"/>
          <p:cNvSpPr txBox="1"/>
          <p:nvPr/>
        </p:nvSpPr>
        <p:spPr>
          <a:xfrm>
            <a:off x="6604634" y="5225186"/>
            <a:ext cx="127892" cy="139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2499"/>
              </a:lnSpc>
            </a:pP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9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</p:txBody>
      </p:sp>
      <p:sp>
        <p:nvSpPr>
          <p:cNvPr id="857" name="TextBox 857"/>
          <p:cNvSpPr txBox="1"/>
          <p:nvPr/>
        </p:nvSpPr>
        <p:spPr>
          <a:xfrm>
            <a:off x="6947534" y="5234355"/>
            <a:ext cx="2908288" cy="1300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词汇：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使用古英语词汇，创造性的复合词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语法：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倒装句，不规则句式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修辞：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大量的比喻、隐喻和双关语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韵律：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多用抑扬格五音步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主题：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常涉及爱情、权力、背叛等永恒主题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Freeform 858"/>
          <p:cNvSpPr/>
          <p:nvPr/>
        </p:nvSpPr>
        <p:spPr>
          <a:xfrm>
            <a:off x="6496050" y="3892550"/>
            <a:ext cx="2114550" cy="361950"/>
          </a:xfrm>
          <a:custGeom>
            <a:avLst/>
            <a:gdLst>
              <a:gd name="connsiteX0" fmla="*/ 17526 w 2114550"/>
              <a:gd name="connsiteY0" fmla="*/ 71373 h 361950"/>
              <a:gd name="connsiteX1" fmla="*/ 75438 w 2114550"/>
              <a:gd name="connsiteY1" fmla="*/ 13461 h 361950"/>
              <a:gd name="connsiteX2" fmla="*/ 2065781 w 2114550"/>
              <a:gd name="connsiteY2" fmla="*/ 13461 h 361950"/>
              <a:gd name="connsiteX3" fmla="*/ 2123693 w 2114550"/>
              <a:gd name="connsiteY3" fmla="*/ 71373 h 361950"/>
              <a:gd name="connsiteX4" fmla="*/ 2123693 w 2114550"/>
              <a:gd name="connsiteY4" fmla="*/ 304546 h 361950"/>
              <a:gd name="connsiteX5" fmla="*/ 2065781 w 2114550"/>
              <a:gd name="connsiteY5" fmla="*/ 362458 h 361950"/>
              <a:gd name="connsiteX6" fmla="*/ 75438 w 2114550"/>
              <a:gd name="connsiteY6" fmla="*/ 362458 h 361950"/>
              <a:gd name="connsiteX7" fmla="*/ 17526 w 2114550"/>
              <a:gd name="connsiteY7" fmla="*/ 304546 h 361950"/>
              <a:gd name="connsiteX8" fmla="*/ 17526 w 2114550"/>
              <a:gd name="connsiteY8" fmla="*/ 71373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7526" y="71373"/>
                </a:moveTo>
                <a:cubicBezTo>
                  <a:pt x="17144" y="39395"/>
                  <a:pt x="43205" y="13334"/>
                  <a:pt x="75438" y="13461"/>
                </a:cubicBezTo>
                <a:lnTo>
                  <a:pt x="2065781" y="13461"/>
                </a:lnTo>
                <a:cubicBezTo>
                  <a:pt x="2097379" y="13334"/>
                  <a:pt x="2123440" y="39395"/>
                  <a:pt x="2123693" y="71373"/>
                </a:cubicBezTo>
                <a:lnTo>
                  <a:pt x="2123693" y="304546"/>
                </a:lnTo>
                <a:cubicBezTo>
                  <a:pt x="2123440" y="336524"/>
                  <a:pt x="2097379" y="362584"/>
                  <a:pt x="2065781" y="362458"/>
                </a:cubicBezTo>
                <a:lnTo>
                  <a:pt x="75438" y="362458"/>
                </a:lnTo>
                <a:cubicBezTo>
                  <a:pt x="43205" y="362584"/>
                  <a:pt x="17144" y="336524"/>
                  <a:pt x="17526" y="304546"/>
                </a:cubicBezTo>
                <a:lnTo>
                  <a:pt x="17526" y="71373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0" name="Picture 8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430780"/>
            <a:ext cx="2598420" cy="1036319"/>
          </a:xfrm>
          <a:prstGeom prst="rect">
            <a:avLst/>
          </a:prstGeom>
        </p:spPr>
      </p:pic>
      <p:pic>
        <p:nvPicPr>
          <p:cNvPr id="861" name="Picture 8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0" y="2430780"/>
            <a:ext cx="2583180" cy="1036319"/>
          </a:xfrm>
          <a:prstGeom prst="rect">
            <a:avLst/>
          </a:prstGeom>
        </p:spPr>
      </p:pic>
      <p:pic>
        <p:nvPicPr>
          <p:cNvPr id="862" name="Picture 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859" y="1188719"/>
            <a:ext cx="3322320" cy="2499360"/>
          </a:xfrm>
          <a:prstGeom prst="rect">
            <a:avLst/>
          </a:prstGeom>
        </p:spPr>
      </p:pic>
      <p:pic>
        <p:nvPicPr>
          <p:cNvPr id="863" name="Picture 8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860" y="4236720"/>
            <a:ext cx="5173980" cy="2026920"/>
          </a:xfrm>
          <a:prstGeom prst="rect">
            <a:avLst/>
          </a:prstGeom>
        </p:spPr>
      </p:pic>
      <p:sp>
        <p:nvSpPr>
          <p:cNvPr id="2" name="TextBox 863"/>
          <p:cNvSpPr txBox="1"/>
          <p:nvPr/>
        </p:nvSpPr>
        <p:spPr>
          <a:xfrm>
            <a:off x="376554" y="289633"/>
            <a:ext cx="976879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9" dirty="0">
                <a:solidFill>
                  <a:srgbClr val="242424"/>
                </a:solidFill>
                <a:latin typeface="Arial Unicode MS"/>
                <a:ea typeface="Arial Unicode MS"/>
              </a:rPr>
              <a:t>情感融入策略（</a:t>
            </a:r>
            <a:r>
              <a:rPr lang="en-US" altLang="zh-CN" sz="4000" b="1" spc="164" dirty="0">
                <a:solidFill>
                  <a:srgbClr val="242424"/>
                </a:solidFill>
                <a:latin typeface="Arial"/>
                <a:ea typeface="Arial"/>
              </a:rPr>
              <a:t>EIS</a:t>
            </a:r>
            <a:r>
              <a:rPr lang="zh-CN" altLang="en-US" sz="4000" b="1" spc="314" dirty="0">
                <a:solidFill>
                  <a:srgbClr val="242424"/>
                </a:solidFill>
                <a:latin typeface="Arial Unicode MS"/>
                <a:ea typeface="Arial Unicode MS"/>
              </a:rPr>
              <a:t>）：</a:t>
            </a:r>
            <a:r>
              <a:rPr lang="zh-CN" altLang="en-US" sz="4000" b="1" spc="309" dirty="0">
                <a:solidFill>
                  <a:srgbClr val="242424"/>
                </a:solidFill>
                <a:latin typeface="Arial Unicode MS"/>
                <a:ea typeface="Arial Unicode MS"/>
              </a:rPr>
              <a:t>增强文本感染力</a:t>
            </a:r>
          </a:p>
        </p:txBody>
      </p:sp>
      <p:sp>
        <p:nvSpPr>
          <p:cNvPr id="864" name="TextBox 864"/>
          <p:cNvSpPr txBox="1"/>
          <p:nvPr/>
        </p:nvSpPr>
        <p:spPr>
          <a:xfrm>
            <a:off x="553084" y="1160144"/>
            <a:ext cx="5657832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EIS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EIS</a:t>
            </a:r>
            <a:r>
              <a:rPr lang="zh-CN" altLang="en-US" sz="1800" spc="5" dirty="0">
                <a:solidFill>
                  <a:srgbClr val="000000"/>
                </a:solidFill>
                <a:latin typeface="Arial Unicode MS"/>
                <a:ea typeface="Arial Unicode MS"/>
              </a:rPr>
              <a:t>基于情感语言学和心理语言学的研究成果，开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发了以</a:t>
            </a: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下策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略：</a:t>
            </a:r>
          </a:p>
        </p:txBody>
      </p:sp>
      <p:sp>
        <p:nvSpPr>
          <p:cNvPr id="865" name="TextBox 865"/>
          <p:cNvSpPr txBox="1"/>
          <p:nvPr/>
        </p:nvSpPr>
        <p:spPr>
          <a:xfrm>
            <a:off x="1106805" y="2536977"/>
            <a:ext cx="1384282" cy="8689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情感词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汇选择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4"/>
              </a:lnSpc>
            </a:pPr>
            <a:endParaRPr lang="en-US" dirty="0"/>
          </a:p>
          <a:p>
            <a:pPr marL="0" indent="2286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语气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调节</a:t>
            </a:r>
          </a:p>
        </p:txBody>
      </p:sp>
      <p:sp>
        <p:nvSpPr>
          <p:cNvPr id="866" name="TextBox 866"/>
          <p:cNvSpPr txBox="1"/>
          <p:nvPr/>
        </p:nvSpPr>
        <p:spPr>
          <a:xfrm>
            <a:off x="3782695" y="2538882"/>
            <a:ext cx="1384282" cy="8695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意象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6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情感节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奏控制</a:t>
            </a:r>
          </a:p>
        </p:txBody>
      </p:sp>
      <p:sp>
        <p:nvSpPr>
          <p:cNvPr id="867" name="TextBox 867"/>
          <p:cNvSpPr txBox="1"/>
          <p:nvPr/>
        </p:nvSpPr>
        <p:spPr>
          <a:xfrm>
            <a:off x="553084" y="3765550"/>
            <a:ext cx="5384782" cy="14484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EIS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实施步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骤：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确定目标情感：明确文本要传达的主要情感基调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创建情感词库：收集与目标情感相关的词汇和短语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设计情感曲线：规划文本中情感强度的变化趋势</a:t>
            </a:r>
          </a:p>
        </p:txBody>
      </p:sp>
      <p:sp>
        <p:nvSpPr>
          <p:cNvPr id="868" name="TextBox 868"/>
          <p:cNvSpPr txBox="1"/>
          <p:nvPr/>
        </p:nvSpPr>
        <p:spPr>
          <a:xfrm>
            <a:off x="6604634" y="3964355"/>
            <a:ext cx="4985373" cy="11861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50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假设需要</a:t>
            </a:r>
            <a:r>
              <a:rPr lang="zh-CN" altLang="en-US" sz="1200" spc="34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生成一篇关于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离别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主题的短文，可以使用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EIS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来指导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spc="55" dirty="0">
                <a:solidFill>
                  <a:srgbClr val="000000"/>
                </a:solidFill>
                <a:latin typeface="Arial Unicode MS"/>
                <a:ea typeface="Arial Unicode MS"/>
              </a:rPr>
              <a:t>更好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地融入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情感元素。</a:t>
            </a:r>
          </a:p>
        </p:txBody>
      </p:sp>
      <p:sp>
        <p:nvSpPr>
          <p:cNvPr id="869" name="TextBox 869"/>
          <p:cNvSpPr txBox="1"/>
          <p:nvPr/>
        </p:nvSpPr>
        <p:spPr>
          <a:xfrm>
            <a:off x="553084" y="5303672"/>
            <a:ext cx="5841982" cy="99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选择情感触发点：在文本中植入情感元素的关键位置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构建情感场景：创造能引发情感共鸣的具体场景或细节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6.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生成情感融入提示：创建引导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注入情感元素的提示语</a:t>
            </a:r>
          </a:p>
        </p:txBody>
      </p:sp>
      <p:sp>
        <p:nvSpPr>
          <p:cNvPr id="870" name="TextBox 870"/>
          <p:cNvSpPr txBox="1"/>
          <p:nvPr/>
        </p:nvSpPr>
        <p:spPr>
          <a:xfrm>
            <a:off x="6604634" y="5471348"/>
            <a:ext cx="89792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7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7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</p:txBody>
      </p:sp>
      <p:sp>
        <p:nvSpPr>
          <p:cNvPr id="871" name="TextBox 871"/>
          <p:cNvSpPr txBox="1"/>
          <p:nvPr/>
        </p:nvSpPr>
        <p:spPr>
          <a:xfrm>
            <a:off x="6909434" y="5214035"/>
            <a:ext cx="1574788" cy="726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情感分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析：</a:t>
            </a:r>
          </a:p>
          <a:p>
            <a:pPr>
              <a:lnSpc>
                <a:spcPts val="634"/>
              </a:lnSpc>
            </a:pPr>
            <a:endParaRPr lang="en-US" dirty="0"/>
          </a:p>
          <a:p>
            <a:pPr marL="0" indent="381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主要情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感：悲伤、不舍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81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次要情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感：希望、感激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Freeform 872"/>
          <p:cNvSpPr/>
          <p:nvPr/>
        </p:nvSpPr>
        <p:spPr>
          <a:xfrm>
            <a:off x="6496050" y="1174750"/>
            <a:ext cx="2114550" cy="349250"/>
          </a:xfrm>
          <a:custGeom>
            <a:avLst/>
            <a:gdLst>
              <a:gd name="connsiteX0" fmla="*/ 17526 w 2114550"/>
              <a:gd name="connsiteY0" fmla="*/ 68833 h 349250"/>
              <a:gd name="connsiteX1" fmla="*/ 75438 w 2114550"/>
              <a:gd name="connsiteY1" fmla="*/ 10922 h 349250"/>
              <a:gd name="connsiteX2" fmla="*/ 2065781 w 2114550"/>
              <a:gd name="connsiteY2" fmla="*/ 10922 h 349250"/>
              <a:gd name="connsiteX3" fmla="*/ 2123693 w 2114550"/>
              <a:gd name="connsiteY3" fmla="*/ 68833 h 349250"/>
              <a:gd name="connsiteX4" fmla="*/ 2123693 w 2114550"/>
              <a:gd name="connsiteY4" fmla="*/ 300482 h 349250"/>
              <a:gd name="connsiteX5" fmla="*/ 2065781 w 2114550"/>
              <a:gd name="connsiteY5" fmla="*/ 359917 h 349250"/>
              <a:gd name="connsiteX6" fmla="*/ 75438 w 2114550"/>
              <a:gd name="connsiteY6" fmla="*/ 359917 h 349250"/>
              <a:gd name="connsiteX7" fmla="*/ 17526 w 2114550"/>
              <a:gd name="connsiteY7" fmla="*/ 300482 h 349250"/>
              <a:gd name="connsiteX8" fmla="*/ 17526 w 2114550"/>
              <a:gd name="connsiteY8" fmla="*/ 68833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49250">
                <a:moveTo>
                  <a:pt x="17526" y="68833"/>
                </a:moveTo>
                <a:cubicBezTo>
                  <a:pt x="17144" y="36220"/>
                  <a:pt x="43205" y="10160"/>
                  <a:pt x="75438" y="10922"/>
                </a:cubicBezTo>
                <a:lnTo>
                  <a:pt x="2065781" y="10922"/>
                </a:lnTo>
                <a:cubicBezTo>
                  <a:pt x="2097379" y="10160"/>
                  <a:pt x="2123440" y="36220"/>
                  <a:pt x="2123693" y="68833"/>
                </a:cubicBezTo>
                <a:lnTo>
                  <a:pt x="2123693" y="300482"/>
                </a:lnTo>
                <a:cubicBezTo>
                  <a:pt x="2123440" y="333349"/>
                  <a:pt x="2097379" y="359410"/>
                  <a:pt x="2065781" y="359917"/>
                </a:cubicBezTo>
                <a:lnTo>
                  <a:pt x="75438" y="359917"/>
                </a:lnTo>
                <a:cubicBezTo>
                  <a:pt x="43205" y="359410"/>
                  <a:pt x="17144" y="333349"/>
                  <a:pt x="17526" y="300482"/>
                </a:cubicBezTo>
                <a:lnTo>
                  <a:pt x="17526" y="68833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4" name="Picture 8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430780"/>
            <a:ext cx="2598420" cy="1036319"/>
          </a:xfrm>
          <a:prstGeom prst="rect">
            <a:avLst/>
          </a:prstGeom>
        </p:spPr>
      </p:pic>
      <p:pic>
        <p:nvPicPr>
          <p:cNvPr id="875" name="Picture 8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0" y="2430780"/>
            <a:ext cx="2583180" cy="1036319"/>
          </a:xfrm>
          <a:prstGeom prst="rect">
            <a:avLst/>
          </a:prstGeom>
        </p:spPr>
      </p:pic>
      <p:pic>
        <p:nvPicPr>
          <p:cNvPr id="876" name="Picture 8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860" y="1531620"/>
            <a:ext cx="5173980" cy="1531620"/>
          </a:xfrm>
          <a:prstGeom prst="rect">
            <a:avLst/>
          </a:prstGeom>
        </p:spPr>
      </p:pic>
      <p:pic>
        <p:nvPicPr>
          <p:cNvPr id="877" name="Picture 87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4480560"/>
            <a:ext cx="6088380" cy="1950720"/>
          </a:xfrm>
          <a:prstGeom prst="rect">
            <a:avLst/>
          </a:prstGeom>
        </p:spPr>
      </p:pic>
      <p:sp>
        <p:nvSpPr>
          <p:cNvPr id="2" name="TextBox 877"/>
          <p:cNvSpPr txBox="1"/>
          <p:nvPr/>
        </p:nvSpPr>
        <p:spPr>
          <a:xfrm>
            <a:off x="376554" y="289633"/>
            <a:ext cx="999422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修辞技巧应用（</a:t>
            </a:r>
            <a:r>
              <a:rPr lang="en-US" altLang="zh-CN" sz="4000" b="1" spc="209" dirty="0">
                <a:solidFill>
                  <a:srgbClr val="242424"/>
                </a:solidFill>
                <a:latin typeface="Arial"/>
                <a:ea typeface="Arial"/>
              </a:rPr>
              <a:t>RTA</a:t>
            </a:r>
            <a:r>
              <a:rPr lang="zh-CN" altLang="en-US" sz="4000" b="1" spc="304" dirty="0">
                <a:solidFill>
                  <a:srgbClr val="242424"/>
                </a:solidFill>
                <a:latin typeface="Arial Unicode MS"/>
                <a:ea typeface="Arial Unicode MS"/>
              </a:rPr>
              <a:t>）：提升语言表</a:t>
            </a:r>
            <a:r>
              <a:rPr lang="zh-CN" altLang="en-US" sz="4000" b="1" spc="300" dirty="0">
                <a:solidFill>
                  <a:srgbClr val="242424"/>
                </a:solidFill>
                <a:latin typeface="Arial Unicode MS"/>
                <a:ea typeface="Arial Unicode MS"/>
              </a:rPr>
              <a:t>现力</a:t>
            </a:r>
          </a:p>
        </p:txBody>
      </p:sp>
      <p:sp>
        <p:nvSpPr>
          <p:cNvPr id="878" name="TextBox 878"/>
          <p:cNvSpPr txBox="1"/>
          <p:nvPr/>
        </p:nvSpPr>
        <p:spPr>
          <a:xfrm>
            <a:off x="553084" y="1160144"/>
            <a:ext cx="5657862" cy="1174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RTA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的理论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基础：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800" spc="34" dirty="0">
                <a:solidFill>
                  <a:srgbClr val="000000"/>
                </a:solidFill>
                <a:latin typeface="Arial"/>
                <a:ea typeface="Arial"/>
              </a:rPr>
              <a:t>RTA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ea typeface="Arial Unicode MS"/>
              </a:rPr>
              <a:t>基于修辞学和文体学的理论，将这些理论应用到</a:t>
            </a:r>
            <a:r>
              <a:rPr lang="en-US" altLang="zh-CN" sz="1800" spc="69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内容生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成过程中，提出了以下关键步骤：</a:t>
            </a:r>
          </a:p>
        </p:txBody>
      </p:sp>
      <p:sp>
        <p:nvSpPr>
          <p:cNvPr id="879" name="TextBox 879"/>
          <p:cNvSpPr txBox="1"/>
          <p:nvPr/>
        </p:nvSpPr>
        <p:spPr>
          <a:xfrm>
            <a:off x="6604634" y="1243380"/>
            <a:ext cx="4847578" cy="117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839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假设需要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AI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生成一篇描述城市夜景的短文，可以使用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RTA来指导AI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更好地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运用修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辞技巧。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修辞技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巧选择：</a:t>
            </a:r>
          </a:p>
        </p:txBody>
      </p:sp>
      <p:sp>
        <p:nvSpPr>
          <p:cNvPr id="880" name="TextBox 880"/>
          <p:cNvSpPr txBox="1"/>
          <p:nvPr/>
        </p:nvSpPr>
        <p:spPr>
          <a:xfrm>
            <a:off x="1106805" y="2536977"/>
            <a:ext cx="14985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修辞手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法识别</a:t>
            </a:r>
          </a:p>
        </p:txBody>
      </p:sp>
      <p:sp>
        <p:nvSpPr>
          <p:cNvPr id="881" name="TextBox 881"/>
          <p:cNvSpPr txBox="1"/>
          <p:nvPr/>
        </p:nvSpPr>
        <p:spPr>
          <a:xfrm>
            <a:off x="4011295" y="2538882"/>
            <a:ext cx="10413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技巧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整合</a:t>
            </a:r>
          </a:p>
        </p:txBody>
      </p:sp>
      <p:sp>
        <p:nvSpPr>
          <p:cNvPr id="882" name="TextBox 882"/>
          <p:cNvSpPr txBox="1"/>
          <p:nvPr/>
        </p:nvSpPr>
        <p:spPr>
          <a:xfrm>
            <a:off x="6604634" y="2507803"/>
            <a:ext cx="89792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7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spc="170" dirty="0">
                <a:solidFill>
                  <a:srgbClr val="000000"/>
                </a:solidFill>
                <a:latin typeface="Times New Roman"/>
                <a:ea typeface="Times New Roman"/>
              </a:rPr>
              <a:t>▪</a:t>
            </a:r>
          </a:p>
        </p:txBody>
      </p:sp>
      <p:sp>
        <p:nvSpPr>
          <p:cNvPr id="883" name="TextBox 883"/>
          <p:cNvSpPr txBox="1"/>
          <p:nvPr/>
        </p:nvSpPr>
        <p:spPr>
          <a:xfrm>
            <a:off x="6947534" y="2514650"/>
            <a:ext cx="1993888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巧：比喻、拟人、排比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辅助技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巧：对比、夸张</a:t>
            </a:r>
          </a:p>
        </p:txBody>
      </p:sp>
      <p:sp>
        <p:nvSpPr>
          <p:cNvPr id="884" name="TextBox 884"/>
          <p:cNvSpPr txBox="1"/>
          <p:nvPr/>
        </p:nvSpPr>
        <p:spPr>
          <a:xfrm>
            <a:off x="1335405" y="3128162"/>
            <a:ext cx="9224622" cy="40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32500"/>
              </a:lnSpc>
              <a:tabLst>
                <a:tab pos="2675890" algn="l"/>
                <a:tab pos="5278120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语境适配	效果评估	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语言风格优化：整合情感修辞技巧</a:t>
            </a:r>
          </a:p>
        </p:txBody>
      </p:sp>
      <p:sp>
        <p:nvSpPr>
          <p:cNvPr id="885" name="TextBox 885"/>
          <p:cNvSpPr txBox="1"/>
          <p:nvPr/>
        </p:nvSpPr>
        <p:spPr>
          <a:xfrm>
            <a:off x="553084" y="3765550"/>
            <a:ext cx="5372082" cy="25283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  <a:ea typeface="Arial"/>
              </a:rPr>
              <a:t>RTA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实施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步骤：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确定任务目标：明确文本的主要目的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选择核心修辞：选择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2—3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种主要的修辞手法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设计修辞示例：为选定的修辞手法创建使用示例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安排修辞分布：规划修辞技巧在文本中的分布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创建平衡策略：确保修辞技巧不过于刻意或过度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6.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生成修辞应用提示：创建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运用修辞技巧的提示语</a:t>
            </a:r>
          </a:p>
        </p:txBody>
      </p:sp>
      <p:sp>
        <p:nvSpPr>
          <p:cNvPr id="886" name="TextBox 886"/>
          <p:cNvSpPr txBox="1"/>
          <p:nvPr/>
        </p:nvSpPr>
        <p:spPr>
          <a:xfrm>
            <a:off x="6613525" y="3679977"/>
            <a:ext cx="5041882" cy="633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为了将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语体模拟、情感融入和修辞技巧有机结合，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可以采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用以下策略：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Picture 8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06980"/>
            <a:ext cx="5341620" cy="3985260"/>
          </a:xfrm>
          <a:prstGeom prst="rect">
            <a:avLst/>
          </a:prstGeom>
        </p:spPr>
      </p:pic>
      <p:pic>
        <p:nvPicPr>
          <p:cNvPr id="889" name="Picture 8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" y="2141220"/>
            <a:ext cx="4541520" cy="4373879"/>
          </a:xfrm>
          <a:prstGeom prst="rect">
            <a:avLst/>
          </a:prstGeom>
        </p:spPr>
      </p:pic>
      <p:sp>
        <p:nvSpPr>
          <p:cNvPr id="2" name="Freeform 889"/>
          <p:cNvSpPr/>
          <p:nvPr/>
        </p:nvSpPr>
        <p:spPr>
          <a:xfrm>
            <a:off x="6076950" y="2165350"/>
            <a:ext cx="2114550" cy="349250"/>
          </a:xfrm>
          <a:custGeom>
            <a:avLst/>
            <a:gdLst>
              <a:gd name="connsiteX0" fmla="*/ 17526 w 2114550"/>
              <a:gd name="connsiteY0" fmla="*/ 70357 h 349250"/>
              <a:gd name="connsiteX1" fmla="*/ 75438 w 2114550"/>
              <a:gd name="connsiteY1" fmla="*/ 12445 h 349250"/>
              <a:gd name="connsiteX2" fmla="*/ 2065781 w 2114550"/>
              <a:gd name="connsiteY2" fmla="*/ 12445 h 349250"/>
              <a:gd name="connsiteX3" fmla="*/ 2123693 w 2114550"/>
              <a:gd name="connsiteY3" fmla="*/ 70357 h 349250"/>
              <a:gd name="connsiteX4" fmla="*/ 2123693 w 2114550"/>
              <a:gd name="connsiteY4" fmla="*/ 303529 h 349250"/>
              <a:gd name="connsiteX5" fmla="*/ 2065781 w 2114550"/>
              <a:gd name="connsiteY5" fmla="*/ 361442 h 349250"/>
              <a:gd name="connsiteX6" fmla="*/ 75438 w 2114550"/>
              <a:gd name="connsiteY6" fmla="*/ 361442 h 349250"/>
              <a:gd name="connsiteX7" fmla="*/ 17526 w 2114550"/>
              <a:gd name="connsiteY7" fmla="*/ 303529 h 349250"/>
              <a:gd name="connsiteX8" fmla="*/ 17526 w 2114550"/>
              <a:gd name="connsiteY8" fmla="*/ 70357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49250">
                <a:moveTo>
                  <a:pt x="17526" y="70357"/>
                </a:moveTo>
                <a:cubicBezTo>
                  <a:pt x="17779" y="38125"/>
                  <a:pt x="43840" y="12064"/>
                  <a:pt x="75438" y="12445"/>
                </a:cubicBezTo>
                <a:lnTo>
                  <a:pt x="2065781" y="12445"/>
                </a:lnTo>
                <a:cubicBezTo>
                  <a:pt x="2098014" y="12064"/>
                  <a:pt x="2124075" y="38125"/>
                  <a:pt x="2123693" y="70357"/>
                </a:cubicBezTo>
                <a:lnTo>
                  <a:pt x="2123693" y="303529"/>
                </a:lnTo>
                <a:cubicBezTo>
                  <a:pt x="2124075" y="335254"/>
                  <a:pt x="2098014" y="361314"/>
                  <a:pt x="2065781" y="361442"/>
                </a:cubicBezTo>
                <a:lnTo>
                  <a:pt x="75438" y="361442"/>
                </a:lnTo>
                <a:cubicBezTo>
                  <a:pt x="43840" y="361314"/>
                  <a:pt x="17779" y="335254"/>
                  <a:pt x="17526" y="303529"/>
                </a:cubicBezTo>
                <a:lnTo>
                  <a:pt x="17526" y="70357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" name="TextBox 890"/>
          <p:cNvSpPr txBox="1"/>
          <p:nvPr/>
        </p:nvSpPr>
        <p:spPr>
          <a:xfrm>
            <a:off x="376554" y="352729"/>
            <a:ext cx="11723855" cy="55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元叙事提示框架</a:t>
            </a:r>
            <a:r>
              <a:rPr lang="zh-CN" altLang="en-US" sz="2400" b="1" spc="225" dirty="0">
                <a:solidFill>
                  <a:srgbClr val="242424"/>
                </a:solidFill>
                <a:latin typeface="宋体"/>
                <a:ea typeface="宋体"/>
              </a:rPr>
              <a:t>：</a:t>
            </a: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设计生成自反性文本的高阶提示</a:t>
            </a:r>
            <a:r>
              <a:rPr lang="en-US" altLang="zh-CN" sz="3600" b="1" spc="160" dirty="0">
                <a:solidFill>
                  <a:srgbClr val="242424"/>
                </a:solidFill>
                <a:latin typeface="Arial"/>
                <a:ea typeface="Arial"/>
              </a:rPr>
              <a:t>(</a:t>
            </a:r>
            <a:r>
              <a:rPr lang="zh-CN" altLang="en-US" sz="3600" b="1" spc="300" dirty="0">
                <a:solidFill>
                  <a:srgbClr val="242424"/>
                </a:solidFill>
                <a:latin typeface="宋体"/>
                <a:ea typeface="宋体"/>
              </a:rPr>
              <a:t>一</a:t>
            </a:r>
            <a:r>
              <a:rPr lang="en-US" altLang="zh-CN" sz="3600" b="1" spc="94" dirty="0">
                <a:solidFill>
                  <a:srgbClr val="242424"/>
                </a:solidFill>
                <a:latin typeface="Arial"/>
                <a:ea typeface="Arial"/>
              </a:rPr>
              <a:t>)</a:t>
            </a:r>
          </a:p>
        </p:txBody>
      </p:sp>
      <p:sp>
        <p:nvSpPr>
          <p:cNvPr id="891" name="TextBox 891"/>
          <p:cNvSpPr txBox="1"/>
          <p:nvPr/>
        </p:nvSpPr>
        <p:spPr>
          <a:xfrm>
            <a:off x="553084" y="1282217"/>
            <a:ext cx="11038816" cy="633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0" dirty="0">
                <a:solidFill>
                  <a:srgbClr val="000000"/>
                </a:solidFill>
                <a:latin typeface="宋体"/>
                <a:ea typeface="宋体"/>
              </a:rPr>
              <a:t>元叙述提示框架的创新应用技巧，包括嵌入式自反提示、层次元叙述提示、时</a:t>
            </a:r>
            <a:r>
              <a:rPr lang="zh-CN" altLang="en-US" sz="1800" spc="5" dirty="0">
                <a:solidFill>
                  <a:srgbClr val="000000"/>
                </a:solidFill>
                <a:latin typeface="宋体"/>
                <a:ea typeface="宋体"/>
              </a:rPr>
              <a:t>序人格提示以及读者互动元叙述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提示。这些方法通过多层次叙述结构和交互机制，提升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生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成内容的深度和复杂性。</a:t>
            </a:r>
          </a:p>
        </p:txBody>
      </p:sp>
      <p:sp>
        <p:nvSpPr>
          <p:cNvPr id="892" name="TextBox 892"/>
          <p:cNvSpPr txBox="1"/>
          <p:nvPr/>
        </p:nvSpPr>
        <p:spPr>
          <a:xfrm>
            <a:off x="378459" y="2260345"/>
            <a:ext cx="4940283" cy="16669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5808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嵌入式自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反提示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设置特定的词语或情节点作为自反触发器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spc="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指导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34" dirty="0">
                <a:solidFill>
                  <a:srgbClr val="000000"/>
                </a:solidFill>
                <a:latin typeface="宋体"/>
                <a:ea typeface="宋体"/>
              </a:rPr>
              <a:t>在这些点上暂停主叙事，插入对内容生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成过程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的思考</a:t>
            </a:r>
          </a:p>
        </p:txBody>
      </p:sp>
      <p:sp>
        <p:nvSpPr>
          <p:cNvPr id="893" name="TextBox 893"/>
          <p:cNvSpPr txBox="1"/>
          <p:nvPr/>
        </p:nvSpPr>
        <p:spPr>
          <a:xfrm>
            <a:off x="6186170" y="2235885"/>
            <a:ext cx="5041888" cy="4070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用示例</a:t>
            </a:r>
          </a:p>
          <a:p>
            <a:pPr>
              <a:lnSpc>
                <a:spcPts val="1645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系统指令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你是一个具有自我反思能力的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作家。你的任务是创作一个短篇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科幻故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事，同时生成对你创作过程的评论。请遵循以下步骤：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（1）创作一个500字左右的科幻短篇，主题是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时间旅行的道德困境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”。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（2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）在每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个关键情节点后，插入一段括号内的自我反思，解释：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1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你为什么选择这个情节发展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1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你考虑过哪些其他可能性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1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c.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这个选择如何推动主题的探讨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（3）在故事结束后，提供一个200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字左右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的整体创作过程反思，包括：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1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你遇到的主要创作挑战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1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27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你认为最成功和最需要改进的部分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c.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如果重新创作，你会做出什么不同的选择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请确保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主要叙事和元叙事评论的语气有所区分，以突出自反性特征。开始你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的创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作。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Picture 8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150619"/>
            <a:ext cx="5463540" cy="5280660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693420"/>
            <a:ext cx="5996940" cy="6088380"/>
          </a:xfrm>
          <a:prstGeom prst="rect">
            <a:avLst/>
          </a:prstGeom>
        </p:spPr>
      </p:pic>
      <p:sp>
        <p:nvSpPr>
          <p:cNvPr id="2" name="TextBox 896"/>
          <p:cNvSpPr txBox="1"/>
          <p:nvPr/>
        </p:nvSpPr>
        <p:spPr>
          <a:xfrm>
            <a:off x="376554" y="352729"/>
            <a:ext cx="11723855" cy="55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元叙事提示框架</a:t>
            </a:r>
            <a:r>
              <a:rPr lang="zh-CN" altLang="en-US" sz="2400" b="1" spc="225" dirty="0">
                <a:solidFill>
                  <a:srgbClr val="242424"/>
                </a:solidFill>
                <a:latin typeface="宋体"/>
                <a:ea typeface="宋体"/>
              </a:rPr>
              <a:t>：</a:t>
            </a: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设计生成自反性文本的高阶提示</a:t>
            </a:r>
            <a:r>
              <a:rPr lang="en-US" altLang="zh-CN" sz="3600" b="1" spc="160" dirty="0">
                <a:solidFill>
                  <a:srgbClr val="242424"/>
                </a:solidFill>
                <a:latin typeface="Arial"/>
                <a:ea typeface="Arial"/>
              </a:rPr>
              <a:t>(</a:t>
            </a:r>
            <a:r>
              <a:rPr lang="zh-CN" altLang="en-US" sz="3600" b="1" spc="300" dirty="0">
                <a:solidFill>
                  <a:srgbClr val="242424"/>
                </a:solidFill>
                <a:latin typeface="宋体"/>
                <a:ea typeface="宋体"/>
              </a:rPr>
              <a:t>二</a:t>
            </a:r>
            <a:r>
              <a:rPr lang="en-US" altLang="zh-CN" sz="3600" b="1" spc="94" dirty="0">
                <a:solidFill>
                  <a:srgbClr val="242424"/>
                </a:solidFill>
                <a:latin typeface="Arial"/>
                <a:ea typeface="Arial"/>
              </a:rPr>
              <a:t>)</a:t>
            </a:r>
          </a:p>
        </p:txBody>
      </p:sp>
      <p:sp>
        <p:nvSpPr>
          <p:cNvPr id="897" name="TextBox 897"/>
          <p:cNvSpPr txBox="1"/>
          <p:nvPr/>
        </p:nvSpPr>
        <p:spPr>
          <a:xfrm>
            <a:off x="378459" y="1258950"/>
            <a:ext cx="5346688" cy="49971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5808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递归元叙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事提示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多层次叙事结构，每一层都包含对上一层的反思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在递归过程中探索创作的本质和限制</a:t>
            </a:r>
          </a:p>
          <a:p>
            <a:pPr>
              <a:lnSpc>
                <a:spcPts val="1460"/>
              </a:lnSpc>
            </a:pPr>
            <a:endParaRPr lang="en-US" dirty="0"/>
          </a:p>
          <a:p>
            <a:pPr marL="0" indent="50281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用示例</a:t>
            </a:r>
          </a:p>
          <a:p>
            <a:pPr>
              <a:lnSpc>
                <a:spcPts val="694"/>
              </a:lnSpc>
            </a:pPr>
            <a:endParaRPr lang="en-US" dirty="0"/>
          </a:p>
          <a:p>
            <a:pPr marL="0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系统指令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25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你是一个递归元叙事生成器。你的任务是创作一个三层递归的元叙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事作品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。每一层都应该包含对上一层的反思和评论。遵循以下步骤：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（1）第一层叙事：写一个200字的微型小说，主题是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创作的困境”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（2）第二层元叙事：用150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字评论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你创作第一层叙事的过程，讨论：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479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你如何诠释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"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创作的困境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"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这个主题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479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在创作过程中你遇到的实际困境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（3）第三层元元叙事：用100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字反思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你写作第二层元叙事的经历，探讨：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479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评论自己作品的挑战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479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这种递归结构如何影响你对创作本质的理解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4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）最后，用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50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字总结整个递归元叙事的体验，思考这种写作方式对</a:t>
            </a:r>
            <a:r>
              <a:rPr lang="zh-CN" altLang="en-US" sz="1200" spc="1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创作能力的推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进。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请确保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每一层都清晰可辨，同时保持整体的连贯性。开始你的递归元叙事创作。</a:t>
            </a:r>
          </a:p>
        </p:txBody>
      </p:sp>
      <p:sp>
        <p:nvSpPr>
          <p:cNvPr id="898" name="TextBox 898"/>
          <p:cNvSpPr txBox="1"/>
          <p:nvPr/>
        </p:nvSpPr>
        <p:spPr>
          <a:xfrm>
            <a:off x="5964554" y="1258950"/>
            <a:ext cx="5775948" cy="54860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5013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多重人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格提示</a:t>
            </a:r>
          </a:p>
          <a:p>
            <a:pPr>
              <a:lnSpc>
                <a:spcPts val="1685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为每个人格设定角色和语言风格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设计人格之间的互动规则</a:t>
            </a:r>
          </a:p>
          <a:p>
            <a:pPr>
              <a:lnSpc>
                <a:spcPts val="925"/>
              </a:lnSpc>
            </a:pPr>
            <a:endParaRPr lang="en-US" dirty="0"/>
          </a:p>
          <a:p>
            <a:pPr marL="0" indent="63743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用示例</a:t>
            </a:r>
          </a:p>
          <a:p>
            <a:pPr marL="134620" hangingPunct="0">
              <a:lnSpc>
                <a:spcPct val="152499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系统指令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你将扮演两个角色：一个是小说家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，另一个是评论家</a:t>
            </a:r>
            <a:r>
              <a:rPr lang="zh-CN" altLang="en-US" sz="1200" spc="10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。你们将合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作创作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一篇关于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"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人工智能伦理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"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的文章。遵循以下规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则：</a:t>
            </a:r>
          </a:p>
          <a:p>
            <a:pPr marL="0" indent="134620">
              <a:lnSpc>
                <a:spcPct val="100000"/>
              </a:lnSpc>
            </a:pPr>
            <a:r>
              <a:rPr lang="zh-CN" altLang="en-US" sz="1200" spc="25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25" dirty="0">
                <a:solidFill>
                  <a:srgbClr val="000000"/>
                </a:solidFill>
                <a:latin typeface="宋体"/>
                <a:ea typeface="宋体"/>
              </a:rPr>
              <a:t>）小说家</a:t>
            </a:r>
            <a:r>
              <a:rPr lang="zh-CN" altLang="en-US" sz="1200" spc="20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25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以小说的方式呈现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“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人工智能伦理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”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的各个方面。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每写完约200字，暂停让评论家</a:t>
            </a: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进行评论。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34620">
              <a:lnSpc>
                <a:spcPct val="100000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）评论家</a:t>
            </a:r>
            <a:r>
              <a:rPr lang="zh-CN" altLang="en-US" sz="1200" spc="10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对A的写作进行简短的文学批评和伦理分析。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评论要简洁，不超过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50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字。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3462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（3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）互动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规则：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25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A在收到</a:t>
            </a: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的评论后，必须在某种程度上采纳建议，调整后续写作。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2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如果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不同意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B的某个观点，可以在后续写作中巧妙地反驳。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3462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（4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）整体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结构：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文章总长度控制在1000字左右。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96876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以A的一段总结性反思结束全文。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34620">
              <a:lnSpc>
                <a:spcPct val="10000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请开始创作，确保</a:t>
            </a:r>
            <a:r>
              <a:rPr lang="zh-CN" altLang="en-US" sz="1200" spc="40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10" dirty="0">
                <a:solidFill>
                  <a:srgbClr val="000000"/>
                </a:solidFill>
                <a:latin typeface="宋体"/>
                <a:ea typeface="宋体"/>
              </a:rPr>
              <a:t>和</a:t>
            </a: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spc="15" dirty="0">
                <a:solidFill>
                  <a:srgbClr val="000000"/>
                </a:solidFill>
                <a:latin typeface="宋体"/>
                <a:ea typeface="宋体"/>
              </a:rPr>
              <a:t>的</a:t>
            </a:r>
            <a:r>
              <a:rPr lang="zh-CN" altLang="en-US" sz="1200" spc="10" dirty="0">
                <a:solidFill>
                  <a:srgbClr val="000000"/>
                </a:solidFill>
                <a:latin typeface="宋体"/>
                <a:ea typeface="宋体"/>
              </a:rPr>
              <a:t>声音清晰可辨，且整体形成一个连贯的叙事。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Picture 9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303020"/>
            <a:ext cx="5379720" cy="5151120"/>
          </a:xfrm>
          <a:prstGeom prst="rect">
            <a:avLst/>
          </a:prstGeom>
        </p:spPr>
      </p:pic>
      <p:pic>
        <p:nvPicPr>
          <p:cNvPr id="901" name="Picture 9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325880"/>
            <a:ext cx="5494020" cy="5128260"/>
          </a:xfrm>
          <a:prstGeom prst="rect">
            <a:avLst/>
          </a:prstGeom>
        </p:spPr>
      </p:pic>
      <p:sp>
        <p:nvSpPr>
          <p:cNvPr id="2" name="TextBox 901"/>
          <p:cNvSpPr txBox="1"/>
          <p:nvPr/>
        </p:nvSpPr>
        <p:spPr>
          <a:xfrm>
            <a:off x="376554" y="352729"/>
            <a:ext cx="11723855" cy="55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元叙事提示框架</a:t>
            </a:r>
            <a:r>
              <a:rPr lang="zh-CN" altLang="en-US" sz="2400" b="1" spc="225" dirty="0">
                <a:solidFill>
                  <a:srgbClr val="242424"/>
                </a:solidFill>
                <a:latin typeface="宋体"/>
                <a:ea typeface="宋体"/>
              </a:rPr>
              <a:t>：</a:t>
            </a: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设计生成自反性文本的高阶提示</a:t>
            </a:r>
            <a:r>
              <a:rPr lang="en-US" altLang="zh-CN" sz="3600" b="1" spc="160" dirty="0">
                <a:solidFill>
                  <a:srgbClr val="242424"/>
                </a:solidFill>
                <a:latin typeface="Arial"/>
                <a:ea typeface="Arial"/>
              </a:rPr>
              <a:t>(</a:t>
            </a:r>
            <a:r>
              <a:rPr lang="zh-CN" altLang="en-US" sz="3600" b="1" spc="300" dirty="0">
                <a:solidFill>
                  <a:srgbClr val="242424"/>
                </a:solidFill>
                <a:latin typeface="宋体"/>
                <a:ea typeface="宋体"/>
              </a:rPr>
              <a:t>三</a:t>
            </a:r>
            <a:r>
              <a:rPr lang="en-US" altLang="zh-CN" sz="3600" b="1" spc="94" dirty="0">
                <a:solidFill>
                  <a:srgbClr val="242424"/>
                </a:solidFill>
                <a:latin typeface="Arial"/>
                <a:ea typeface="Arial"/>
              </a:rPr>
              <a:t>)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717550" y="1416431"/>
            <a:ext cx="4203688" cy="42014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71983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读者互动元叙事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提示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设计需要读者决策的分支点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在文本中植入对读者选择的反思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502818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用示例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9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创作一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个交互式元叙事短篇，遵循以下结构：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（1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）开场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：介绍一个主角面临重大人生抉择的场景。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（2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）设置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三个关键决策点，每个决策点提供两个选项。例如：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99719">
              <a:lnSpc>
                <a:spcPct val="100000"/>
              </a:lnSpc>
            </a:pP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决策点</a:t>
            </a:r>
            <a:r>
              <a:rPr lang="zh-CN" altLang="en-US" sz="1200" spc="-44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选项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1A]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或</a:t>
            </a:r>
            <a:r>
              <a:rPr lang="zh-CN" altLang="en-US" sz="1200" spc="-6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选项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1B]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99719">
              <a:lnSpc>
                <a:spcPct val="100000"/>
              </a:lnSpc>
            </a:pP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0" dirty="0">
                <a:solidFill>
                  <a:srgbClr val="000000"/>
                </a:solidFill>
                <a:latin typeface="宋体"/>
                <a:ea typeface="宋体"/>
              </a:rPr>
              <a:t>决策点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sz="1200" spc="-100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0" dirty="0">
                <a:solidFill>
                  <a:srgbClr val="000000"/>
                </a:solidFill>
                <a:latin typeface="宋体"/>
                <a:ea typeface="宋体"/>
              </a:rPr>
              <a:t>选项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2A]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或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0" dirty="0">
                <a:solidFill>
                  <a:srgbClr val="000000"/>
                </a:solidFill>
                <a:latin typeface="宋体"/>
                <a:ea typeface="宋体"/>
              </a:rPr>
              <a:t>选项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2B]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99719">
              <a:lnSpc>
                <a:spcPct val="100000"/>
              </a:lnSpc>
            </a:pP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c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决策点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选项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3A]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10" dirty="0">
                <a:solidFill>
                  <a:srgbClr val="000000"/>
                </a:solidFill>
                <a:latin typeface="宋体"/>
                <a:ea typeface="宋体"/>
              </a:rPr>
              <a:t>或</a:t>
            </a:r>
            <a:r>
              <a:rPr lang="zh-CN" altLang="en-US" sz="1200" spc="-6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4" dirty="0">
                <a:solidFill>
                  <a:srgbClr val="000000"/>
                </a:solidFill>
                <a:latin typeface="宋体"/>
                <a:ea typeface="宋体"/>
              </a:rPr>
              <a:t>选项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3B]</a:t>
            </a:r>
          </a:p>
        </p:txBody>
      </p:sp>
      <p:sp>
        <p:nvSpPr>
          <p:cNvPr id="903" name="TextBox 903"/>
          <p:cNvSpPr txBox="1"/>
          <p:nvPr/>
        </p:nvSpPr>
        <p:spPr>
          <a:xfrm>
            <a:off x="6303009" y="1596440"/>
            <a:ext cx="4127488" cy="4373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（3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）对于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每个决策点：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99721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2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简要描述每个选项可能导致的结果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99721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2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加入叙述者对读者可能选择的猜测和评论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99721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c.</a:t>
            </a:r>
            <a:r>
              <a:rPr lang="zh-CN" altLang="en-US" sz="1200" spc="-3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无论选择哪个选项，都要继续故事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（4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）在叙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事过程中，插入对以下内容的反思：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5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3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读者的选择如何塑造故事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 indent="337185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b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30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作者、角色和读者之间的关系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37185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c.</a:t>
            </a:r>
            <a:r>
              <a:rPr lang="zh-CN" altLang="en-US" sz="1200" spc="-28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自由意志与预设叙事路径的矛盾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5）结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尾：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a.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根据读者的选择展现一个结局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提供一个元叙事总结，反思整个互动过程的意义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要求：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a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保持每个分支的连贯性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b.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在叙事中融入哲学思考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465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c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r>
              <a:rPr lang="zh-CN" altLang="en-US" sz="1200" spc="-30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总字数控制在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1200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字左右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请创作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这个交互式元叙事作品，展示所有可能的分支和结局。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Picture 9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660" y="3268979"/>
            <a:ext cx="7879080" cy="3589020"/>
          </a:xfrm>
          <a:prstGeom prst="rect">
            <a:avLst/>
          </a:prstGeom>
        </p:spPr>
      </p:pic>
      <p:pic>
        <p:nvPicPr>
          <p:cNvPr id="906" name="Picture 9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3230880"/>
            <a:ext cx="822960" cy="2933700"/>
          </a:xfrm>
          <a:prstGeom prst="rect">
            <a:avLst/>
          </a:prstGeom>
        </p:spPr>
      </p:pic>
      <p:sp>
        <p:nvSpPr>
          <p:cNvPr id="2" name="TextBox 906"/>
          <p:cNvSpPr txBox="1"/>
          <p:nvPr/>
        </p:nvSpPr>
        <p:spPr>
          <a:xfrm>
            <a:off x="376554" y="289633"/>
            <a:ext cx="11172176" cy="56048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文案写作的提</a:t>
            </a:r>
            <a:r>
              <a:rPr lang="zh-CN" altLang="en-US" sz="4000" b="1" spc="270" dirty="0">
                <a:solidFill>
                  <a:srgbClr val="242424"/>
                </a:solidFill>
                <a:latin typeface="Arial Unicode MS"/>
                <a:ea typeface="Arial Unicode MS"/>
              </a:rPr>
              <a:t>示语设计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5"/>
              </a:lnSpc>
            </a:pPr>
            <a:endParaRPr lang="en-US" dirty="0"/>
          </a:p>
          <a:p>
            <a:pPr marL="327660" hangingPunct="0">
              <a:lnSpc>
                <a:spcPct val="129583"/>
              </a:lnSpc>
            </a:pP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在商业环境中，优质的文案起到了品牌与消费者之间沟通的关键作用。它不仅</a:t>
            </a:r>
            <a:r>
              <a:rPr lang="zh-CN" altLang="en-US" sz="1800" spc="10" dirty="0">
                <a:solidFill>
                  <a:srgbClr val="000000"/>
                </a:solidFill>
                <a:latin typeface="Arial Unicode MS"/>
                <a:ea typeface="Arial Unicode MS"/>
              </a:rPr>
              <a:t>应准确传达信息，还需激发情感共鸣，从而有效引导目标受众作出相应的决策或行动。文案写作中最重要的维度</a:t>
            </a:r>
            <a:r>
              <a:rPr lang="zh-CN" altLang="en-US" sz="1800" spc="30" dirty="0">
                <a:solidFill>
                  <a:srgbClr val="000000"/>
                </a:solidFill>
                <a:latin typeface="Arial Unicode MS"/>
                <a:ea typeface="Arial Unicode MS"/>
              </a:rPr>
              <a:t>包</a:t>
            </a:r>
            <a:r>
              <a:rPr lang="zh-CN" altLang="en-US" sz="1800" spc="25" dirty="0">
                <a:solidFill>
                  <a:srgbClr val="000000"/>
                </a:solidFill>
                <a:latin typeface="Arial Unicode MS"/>
                <a:ea typeface="Arial Unicode MS"/>
              </a:rPr>
              <a:t>括：信息传递、情感共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鸣和行动引导。其中，信息传递的核心在于清晰、准确、相关；情感共鸣的核</a:t>
            </a:r>
            <a:r>
              <a:rPr lang="zh-CN" altLang="en-US" sz="1800" spc="10" dirty="0">
                <a:solidFill>
                  <a:srgbClr val="000000"/>
                </a:solidFill>
                <a:latin typeface="Arial Unicode MS"/>
                <a:ea typeface="Arial Unicode MS"/>
              </a:rPr>
              <a:t>心在于触动、共感、记忆；行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动引导的核心在于说服、激励和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转化。</a:t>
            </a:r>
          </a:p>
          <a:p>
            <a:pPr>
              <a:lnSpc>
                <a:spcPts val="1900"/>
              </a:lnSpc>
            </a:pPr>
            <a:endParaRPr lang="en-US" dirty="0"/>
          </a:p>
          <a:p>
            <a:pPr marL="0" indent="4439285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文案写作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的三大要素</a:t>
            </a:r>
          </a:p>
          <a:p>
            <a:pPr>
              <a:lnSpc>
                <a:spcPts val="905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14" dirty="0">
                <a:solidFill>
                  <a:srgbClr val="242424"/>
                </a:solidFill>
                <a:latin typeface="Arial Unicode MS"/>
                <a:ea typeface="Arial Unicode MS"/>
              </a:rPr>
              <a:t>信息</a:t>
            </a: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传递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14" dirty="0">
                <a:solidFill>
                  <a:srgbClr val="242424"/>
                </a:solidFill>
                <a:latin typeface="Arial Unicode MS"/>
                <a:ea typeface="Arial Unicode MS"/>
              </a:rPr>
              <a:t>情感</a:t>
            </a: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共鸣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14" dirty="0">
                <a:solidFill>
                  <a:srgbClr val="242424"/>
                </a:solidFill>
                <a:latin typeface="Arial Unicode MS"/>
                <a:ea typeface="Arial Unicode MS"/>
              </a:rPr>
              <a:t>行动</a:t>
            </a: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引导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Freeform 907"/>
          <p:cNvSpPr/>
          <p:nvPr/>
        </p:nvSpPr>
        <p:spPr>
          <a:xfrm>
            <a:off x="387350" y="4019550"/>
            <a:ext cx="2114550" cy="374650"/>
          </a:xfrm>
          <a:custGeom>
            <a:avLst/>
            <a:gdLst>
              <a:gd name="connsiteX0" fmla="*/ 14986 w 2114550"/>
              <a:gd name="connsiteY0" fmla="*/ 76961 h 374650"/>
              <a:gd name="connsiteX1" fmla="*/ 75945 w 2114550"/>
              <a:gd name="connsiteY1" fmla="*/ 16002 h 374650"/>
              <a:gd name="connsiteX2" fmla="*/ 2058670 w 2114550"/>
              <a:gd name="connsiteY2" fmla="*/ 16002 h 374650"/>
              <a:gd name="connsiteX3" fmla="*/ 2121154 w 2114550"/>
              <a:gd name="connsiteY3" fmla="*/ 76961 h 374650"/>
              <a:gd name="connsiteX4" fmla="*/ 2121154 w 2114550"/>
              <a:gd name="connsiteY4" fmla="*/ 323850 h 374650"/>
              <a:gd name="connsiteX5" fmla="*/ 2058670 w 2114550"/>
              <a:gd name="connsiteY5" fmla="*/ 384809 h 374650"/>
              <a:gd name="connsiteX6" fmla="*/ 75945 w 2114550"/>
              <a:gd name="connsiteY6" fmla="*/ 384809 h 374650"/>
              <a:gd name="connsiteX7" fmla="*/ 14986 w 2114550"/>
              <a:gd name="connsiteY7" fmla="*/ 323850 h 374650"/>
              <a:gd name="connsiteX8" fmla="*/ 14986 w 2114550"/>
              <a:gd name="connsiteY8" fmla="*/ 76961 h 37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74650">
                <a:moveTo>
                  <a:pt x="14986" y="76961"/>
                </a:moveTo>
                <a:cubicBezTo>
                  <a:pt x="14604" y="42811"/>
                  <a:pt x="42176" y="15240"/>
                  <a:pt x="75945" y="16002"/>
                </a:cubicBezTo>
                <a:lnTo>
                  <a:pt x="2058670" y="16002"/>
                </a:lnTo>
                <a:cubicBezTo>
                  <a:pt x="2093328" y="15240"/>
                  <a:pt x="2120900" y="42811"/>
                  <a:pt x="2121154" y="76961"/>
                </a:cubicBezTo>
                <a:lnTo>
                  <a:pt x="2121154" y="323850"/>
                </a:lnTo>
                <a:cubicBezTo>
                  <a:pt x="2120900" y="357238"/>
                  <a:pt x="2093328" y="384809"/>
                  <a:pt x="2058670" y="384809"/>
                </a:cubicBezTo>
                <a:lnTo>
                  <a:pt x="75945" y="384809"/>
                </a:lnTo>
                <a:cubicBezTo>
                  <a:pt x="42176" y="384809"/>
                  <a:pt x="14604" y="357238"/>
                  <a:pt x="14986" y="323850"/>
                </a:cubicBezTo>
                <a:lnTo>
                  <a:pt x="14986" y="76961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9" name="Picture 9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373879"/>
            <a:ext cx="5539740" cy="2331720"/>
          </a:xfrm>
          <a:prstGeom prst="rect">
            <a:avLst/>
          </a:prstGeom>
        </p:spPr>
      </p:pic>
      <p:pic>
        <p:nvPicPr>
          <p:cNvPr id="910" name="Picture 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93520"/>
            <a:ext cx="5707380" cy="5204460"/>
          </a:xfrm>
          <a:prstGeom prst="rect">
            <a:avLst/>
          </a:prstGeom>
        </p:spPr>
      </p:pic>
      <p:sp>
        <p:nvSpPr>
          <p:cNvPr id="3" name="TextBox 910"/>
          <p:cNvSpPr txBox="1"/>
          <p:nvPr/>
        </p:nvSpPr>
        <p:spPr>
          <a:xfrm>
            <a:off x="376554" y="289633"/>
            <a:ext cx="10907989" cy="11592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信息传递：设计清晰、精准的信息框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架提示语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176529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在商业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文案写作中，有效的信息传递是基础，信息传递的核心在于清晰和精准。</a:t>
            </a:r>
          </a:p>
        </p:txBody>
      </p:sp>
      <p:sp>
        <p:nvSpPr>
          <p:cNvPr id="911" name="TextBox 911"/>
          <p:cNvSpPr txBox="1"/>
          <p:nvPr/>
        </p:nvSpPr>
        <p:spPr>
          <a:xfrm>
            <a:off x="493394" y="1533525"/>
            <a:ext cx="5372088" cy="51168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信息传递特质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提示语设计技巧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04"/>
              </a:lnSpc>
            </a:pPr>
            <a:endParaRPr lang="en-US" dirty="0"/>
          </a:p>
          <a:p>
            <a:pPr marL="0" indent="503174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产品名称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创作一则产品说明文案，目标是实现清晰、精准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的信息传递。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请遵循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以下结构和要求：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）核心信息（最高优先级，50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字以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内）：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845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a.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产品的主要功能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845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核心价值主张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45339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要求：用一句简洁有力的话概括，确保包含</a:t>
            </a:r>
            <a:r>
              <a:rPr lang="zh-CN" altLang="en-US" sz="1200" spc="8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关键词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关键词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2]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）功能详解（次优先级，总计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150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37845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a.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主要特性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：[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特性名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字描述）</a:t>
            </a:r>
          </a:p>
        </p:txBody>
      </p:sp>
      <p:sp>
        <p:nvSpPr>
          <p:cNvPr id="912" name="TextBox 912"/>
          <p:cNvSpPr txBox="1"/>
          <p:nvPr/>
        </p:nvSpPr>
        <p:spPr>
          <a:xfrm>
            <a:off x="6416675" y="1638985"/>
            <a:ext cx="4890758" cy="4980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985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主要特性2：[特性名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（20字描述）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14985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c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主要特性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：[特性名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20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字描述）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每个特性都要与核心价值主张有明确的逻辑关联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）目标受众说明（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50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622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描述目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标用户的关键特征和需求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62255">
              <a:lnSpc>
                <a:spcPct val="10000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要求：使用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目标受众]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会熟悉的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语言和术语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）产品优势总结（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62255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提炼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个最具竞争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力的产品优势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622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使用对比或排他性表述，如唯一、领先等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）记忆点设计（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622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创作一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个朗朗上口的产品标语或口号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 indent="2622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包含产品名称和核心价值主张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额外要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使用简洁的句式，避免复杂从句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每个部分之间使用明确的视觉分隔，如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---"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对每个部分的关键信息使用加粗标记，每部分不超过</a:t>
            </a:r>
            <a:r>
              <a:rPr lang="zh-CN" altLang="en-US" sz="1200" spc="39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个加粗点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确保整体可读性指数控制在初中水平（使用Flesch-Kincaid可读性公式）请基于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以上结构和要求，生成一份完整的产品说明文案。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1954" y="1924050"/>
          <a:ext cx="5534660" cy="197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089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  <a:endParaRPr lang="en-US" dirty="0"/>
                    </a:p>
                    <a:p>
                      <a:pPr marL="0" indent="95884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优秀文案的信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息传递特质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  <a:endParaRPr lang="en-US" dirty="0"/>
                    </a:p>
                    <a:p>
                      <a:pPr marL="0" indent="138176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示语设计技巧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>
                        <a:lnSpc>
                          <a:spcPts val="469"/>
                        </a:lnSpc>
                      </a:pPr>
                      <a:endParaRPr lang="en-US" dirty="0"/>
                    </a:p>
                    <a:p>
                      <a:pPr marL="0" indent="367664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信息层次清晰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69"/>
                        </a:lnSpc>
                      </a:pPr>
                      <a:endParaRPr lang="en-US" dirty="0"/>
                    </a:p>
                    <a:p>
                      <a:pPr marL="0" indent="26416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信息分层指令：在提示语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中明确指出信息的层级结构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>
                        <a:lnSpc>
                          <a:spcPts val="475"/>
                        </a:lnSpc>
                      </a:pPr>
                      <a:endParaRPr lang="en-US" dirty="0"/>
                    </a:p>
                    <a:p>
                      <a:pPr marL="0" indent="367664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表达简洁精准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5"/>
                        </a:lnSpc>
                      </a:pPr>
                      <a:endParaRPr lang="en-US" dirty="0"/>
                    </a:p>
                    <a:p>
                      <a:pPr marL="0" indent="33401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关键词限定：为每个信息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点设定关键词或字数限制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>
                        <a:lnSpc>
                          <a:spcPts val="469"/>
                        </a:lnSpc>
                      </a:pPr>
                      <a:endParaRPr lang="en-US" dirty="0"/>
                    </a:p>
                    <a:p>
                      <a:pPr marL="0" indent="367664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结构逻辑严密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69"/>
                        </a:lnSpc>
                      </a:pPr>
                      <a:endParaRPr lang="en-US" dirty="0"/>
                    </a:p>
                    <a:p>
                      <a:pPr marL="0" indent="33401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逻辑关系指示：明确说明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各信息点之间的逻辑关联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>
                        <a:lnSpc>
                          <a:spcPts val="475"/>
                        </a:lnSpc>
                      </a:pPr>
                      <a:endParaRPr lang="en-US" dirty="0"/>
                    </a:p>
                    <a:p>
                      <a:pPr marL="0" indent="367664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受众针对性强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5"/>
                        </a:lnSpc>
                      </a:pPr>
                      <a:endParaRPr lang="en-US" dirty="0"/>
                    </a:p>
                    <a:p>
                      <a:pPr marL="0" indent="124460">
                        <a:lnSpc>
                          <a:spcPct val="101666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受众特征描述：在提示语中包含目标受众的详细特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征描述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979"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437514">
                        <a:lnSpc>
                          <a:spcPct val="101666"/>
                        </a:lnSpc>
                      </a:pP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5.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记忆点突出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446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核心信息强化：要求在文案中重复或变换表达方式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重申核</a:t>
                      </a:r>
                    </a:p>
                    <a:p>
                      <a:pPr marL="0" indent="1661160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心信息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Freeform 914"/>
          <p:cNvSpPr/>
          <p:nvPr/>
        </p:nvSpPr>
        <p:spPr>
          <a:xfrm>
            <a:off x="387350" y="4121150"/>
            <a:ext cx="2114550" cy="374650"/>
          </a:xfrm>
          <a:custGeom>
            <a:avLst/>
            <a:gdLst>
              <a:gd name="connsiteX0" fmla="*/ 13461 w 2114550"/>
              <a:gd name="connsiteY0" fmla="*/ 75946 h 374650"/>
              <a:gd name="connsiteX1" fmla="*/ 74422 w 2114550"/>
              <a:gd name="connsiteY1" fmla="*/ 14985 h 374650"/>
              <a:gd name="connsiteX2" fmla="*/ 2058670 w 2114550"/>
              <a:gd name="connsiteY2" fmla="*/ 14985 h 374650"/>
              <a:gd name="connsiteX3" fmla="*/ 2119629 w 2114550"/>
              <a:gd name="connsiteY3" fmla="*/ 75946 h 374650"/>
              <a:gd name="connsiteX4" fmla="*/ 2119629 w 2114550"/>
              <a:gd name="connsiteY4" fmla="*/ 322834 h 374650"/>
              <a:gd name="connsiteX5" fmla="*/ 2058670 w 2114550"/>
              <a:gd name="connsiteY5" fmla="*/ 383794 h 374650"/>
              <a:gd name="connsiteX6" fmla="*/ 74422 w 2114550"/>
              <a:gd name="connsiteY6" fmla="*/ 383794 h 374650"/>
              <a:gd name="connsiteX7" fmla="*/ 13461 w 2114550"/>
              <a:gd name="connsiteY7" fmla="*/ 322834 h 374650"/>
              <a:gd name="connsiteX8" fmla="*/ 13461 w 2114550"/>
              <a:gd name="connsiteY8" fmla="*/ 75946 h 37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74650">
                <a:moveTo>
                  <a:pt x="13461" y="75946"/>
                </a:moveTo>
                <a:cubicBezTo>
                  <a:pt x="13334" y="42176"/>
                  <a:pt x="40906" y="14604"/>
                  <a:pt x="74422" y="14985"/>
                </a:cubicBezTo>
                <a:lnTo>
                  <a:pt x="2058670" y="14985"/>
                </a:lnTo>
                <a:cubicBezTo>
                  <a:pt x="2092058" y="14604"/>
                  <a:pt x="2119629" y="42176"/>
                  <a:pt x="2119629" y="75946"/>
                </a:cubicBezTo>
                <a:lnTo>
                  <a:pt x="2119629" y="322834"/>
                </a:lnTo>
                <a:cubicBezTo>
                  <a:pt x="2119629" y="356603"/>
                  <a:pt x="2092058" y="384175"/>
                  <a:pt x="2058670" y="383794"/>
                </a:cubicBezTo>
                <a:lnTo>
                  <a:pt x="74422" y="383794"/>
                </a:lnTo>
                <a:cubicBezTo>
                  <a:pt x="40906" y="384175"/>
                  <a:pt x="13334" y="356603"/>
                  <a:pt x="13461" y="322834"/>
                </a:cubicBezTo>
                <a:lnTo>
                  <a:pt x="13461" y="75946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6" name="Picture 9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4488179"/>
            <a:ext cx="5532120" cy="2179320"/>
          </a:xfrm>
          <a:prstGeom prst="rect">
            <a:avLst/>
          </a:prstGeom>
        </p:spPr>
      </p:pic>
      <p:pic>
        <p:nvPicPr>
          <p:cNvPr id="917" name="Picture 9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31620"/>
            <a:ext cx="5707380" cy="5135880"/>
          </a:xfrm>
          <a:prstGeom prst="rect">
            <a:avLst/>
          </a:prstGeom>
        </p:spPr>
      </p:pic>
      <p:sp>
        <p:nvSpPr>
          <p:cNvPr id="3" name="TextBox 917"/>
          <p:cNvSpPr txBox="1"/>
          <p:nvPr/>
        </p:nvSpPr>
        <p:spPr>
          <a:xfrm>
            <a:off x="376554" y="289633"/>
            <a:ext cx="9267784" cy="11592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情感共鸣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：设计触发情感反应的提示语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176529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在商业文案设计中，情感共鸣是影响消费者行为的重要因素，核心在于共情和感染</a:t>
            </a:r>
            <a:r>
              <a:rPr lang="zh-CN" altLang="en-US" sz="1800" spc="-15" dirty="0">
                <a:solidFill>
                  <a:srgbClr val="000000"/>
                </a:solidFill>
                <a:latin typeface="Arial Unicode MS"/>
                <a:ea typeface="Arial Unicode MS"/>
              </a:rPr>
              <a:t>。</a:t>
            </a:r>
          </a:p>
        </p:txBody>
      </p:sp>
      <p:sp>
        <p:nvSpPr>
          <p:cNvPr id="918" name="TextBox 918"/>
          <p:cNvSpPr txBox="1"/>
          <p:nvPr/>
        </p:nvSpPr>
        <p:spPr>
          <a:xfrm>
            <a:off x="492125" y="1515744"/>
            <a:ext cx="4543413" cy="50768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情感共鸣特质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提示语设计技巧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39"/>
              </a:lnSpc>
            </a:pPr>
            <a:endParaRPr lang="en-US" dirty="0"/>
          </a:p>
          <a:p>
            <a:pPr marL="0" indent="503174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创作一则品牌故事文案，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请遵循以下结构和要求：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）情感基调设定（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5338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明确指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出文案应体现的核心情感，如温暖激励惊喜等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5338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选择一个与品牌调性高度匹配的情感基调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）开场情境描述（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80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5338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描述一个与品牌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产品高度相关的日常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场景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1592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使用多感官描述，至少包含视觉、听觉、触觉中的两种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）问题－情感－解决方案结构（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150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字以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内）：</a:t>
            </a:r>
          </a:p>
        </p:txBody>
      </p:sp>
      <p:sp>
        <p:nvSpPr>
          <p:cNvPr id="919" name="TextBox 919"/>
          <p:cNvSpPr txBox="1"/>
          <p:nvPr/>
        </p:nvSpPr>
        <p:spPr>
          <a:xfrm>
            <a:off x="6188075" y="1656765"/>
            <a:ext cx="5524489" cy="5008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908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a.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点出目标受众在该情境中面临的问题或挑战（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30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字）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6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描述由此产生的情感反应（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40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字）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6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c.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展示品牌/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产品如何解决问题并转化情感（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80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字）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每个部分都要有明确的情感词汇，情感要有层次递进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）品牌价值主张（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50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用富有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感染力的语言阐述品牌的核心价值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将理性价值与情感价值相结合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）情感共鸣高潮（100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490855" hangingPunct="0">
              <a:lnSpc>
                <a:spcPct val="138750"/>
              </a:lnSpc>
              <a:spcBef>
                <a:spcPts val="2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描述使用品牌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产品后的理想状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态或憧憬的未来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要求：使用比喻或隐喻手法，增强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文案的感染力</a:t>
            </a:r>
          </a:p>
          <a:p>
            <a:pPr marL="0" indent="228600">
              <a:lnSpc>
                <a:spcPct val="100000"/>
              </a:lnSpc>
              <a:spcBef>
                <a:spcPts val="27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6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）召唤共情的结语（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设计一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个能引发读者情感共鸣的号召性语句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49085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使用第二人称，增强代入感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额外要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整个文案要形成一个完整的故事，有起承转合</a:t>
            </a:r>
          </a:p>
          <a:p>
            <a:pPr marL="228600" hangingPunct="0">
              <a:lnSpc>
                <a:spcPct val="138750"/>
              </a:lnSpc>
              <a:spcBef>
                <a:spcPts val="2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7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在文案中巧妙植入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5个与核心情感相关的成语或谚语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使用排比、对偶等修辞手法增强文案节奏感</a:t>
            </a:r>
          </a:p>
          <a:p>
            <a:pPr marL="0" indent="228600">
              <a:lnSpc>
                <a:spcPct val="100000"/>
              </a:lnSpc>
              <a:spcBef>
                <a:spcPts val="2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控制整体情感基调，使用VADER情感分析工具，目标为0.6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0.8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（积极但不过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分夸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张）</a:t>
            </a:r>
          </a:p>
          <a:p>
            <a:pPr>
              <a:lnSpc>
                <a:spcPts val="55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以上结构和要求，生成一份完整的品牌故事文案。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0684" y="1905635"/>
          <a:ext cx="5534660" cy="2171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144">
                <a:tc>
                  <a:txBody>
                    <a:bodyPr/>
                    <a:lstStyle/>
                    <a:p>
                      <a:pPr marL="0" indent="74295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优秀文案的情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感共鸣特质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403349">
                        <a:lnSpc>
                          <a:spcPct val="101666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示语设计技巧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/>
                    </a:p>
                    <a:p>
                      <a:pPr marL="0" indent="346075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情感基调明确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情感关键词指定：在提示语中明确指定文案应体现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的核心情</a:t>
                      </a:r>
                    </a:p>
                    <a:p>
                      <a:pPr marL="0" indent="1822449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感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>
                        <a:lnSpc>
                          <a:spcPts val="740"/>
                        </a:lnSpc>
                      </a:pPr>
                      <a:endParaRPr lang="en-US" dirty="0"/>
                    </a:p>
                    <a:p>
                      <a:pPr marL="0" indent="295909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多感官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体验描述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感官词汇要求：要求使用视觉、听觉、触觉等多感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官相关的</a:t>
                      </a:r>
                    </a:p>
                    <a:p>
                      <a:pPr marL="0" indent="1543049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描述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性词语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/>
                    </a:p>
                    <a:p>
                      <a:pPr marL="0" indent="346075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情境代入感强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场景设定指令：创建与产品使用或品牌相关的具体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情境描述</a:t>
                      </a:r>
                    </a:p>
                    <a:p>
                      <a:pPr marL="0" indent="175259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09">
                <a:tc>
                  <a:txBody>
                    <a:bodyPr/>
                    <a:lstStyle/>
                    <a:p>
                      <a:pPr>
                        <a:lnSpc>
                          <a:spcPts val="469"/>
                        </a:lnSpc>
                      </a:pPr>
                      <a:endParaRPr lang="en-US" dirty="0"/>
                    </a:p>
                    <a:p>
                      <a:pPr marL="0" indent="346075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情感层次丰富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69"/>
                        </a:lnSpc>
                      </a:pPr>
                      <a:endParaRPr lang="en-US" dirty="0"/>
                    </a:p>
                    <a:p>
                      <a:pPr marL="0" indent="215900">
                        <a:lnSpc>
                          <a:spcPct val="101666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情感层次递进：设计从基础情感到高级情感的递进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结构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/>
                    </a:p>
                    <a:p>
                      <a:pPr marL="0" indent="346075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共情叙事表达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叙事结构指引：要求采用故事化的叙事方式来展现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品牌或产</a:t>
                      </a:r>
                    </a:p>
                    <a:p>
                      <a:pPr marL="0" indent="1682749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品价值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Freeform 921"/>
          <p:cNvSpPr/>
          <p:nvPr/>
        </p:nvSpPr>
        <p:spPr>
          <a:xfrm>
            <a:off x="387350" y="3829050"/>
            <a:ext cx="2114550" cy="374650"/>
          </a:xfrm>
          <a:custGeom>
            <a:avLst/>
            <a:gdLst>
              <a:gd name="connsiteX0" fmla="*/ 13461 w 2114550"/>
              <a:gd name="connsiteY0" fmla="*/ 78485 h 374650"/>
              <a:gd name="connsiteX1" fmla="*/ 74422 w 2114550"/>
              <a:gd name="connsiteY1" fmla="*/ 17526 h 374650"/>
              <a:gd name="connsiteX2" fmla="*/ 2058670 w 2114550"/>
              <a:gd name="connsiteY2" fmla="*/ 17526 h 374650"/>
              <a:gd name="connsiteX3" fmla="*/ 2119629 w 2114550"/>
              <a:gd name="connsiteY3" fmla="*/ 78485 h 374650"/>
              <a:gd name="connsiteX4" fmla="*/ 2119629 w 2114550"/>
              <a:gd name="connsiteY4" fmla="*/ 325373 h 374650"/>
              <a:gd name="connsiteX5" fmla="*/ 2058670 w 2114550"/>
              <a:gd name="connsiteY5" fmla="*/ 386334 h 374650"/>
              <a:gd name="connsiteX6" fmla="*/ 74422 w 2114550"/>
              <a:gd name="connsiteY6" fmla="*/ 386334 h 374650"/>
              <a:gd name="connsiteX7" fmla="*/ 13461 w 2114550"/>
              <a:gd name="connsiteY7" fmla="*/ 325373 h 374650"/>
              <a:gd name="connsiteX8" fmla="*/ 13461 w 2114550"/>
              <a:gd name="connsiteY8" fmla="*/ 78485 h 37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74650">
                <a:moveTo>
                  <a:pt x="13461" y="78485"/>
                </a:moveTo>
                <a:cubicBezTo>
                  <a:pt x="13334" y="44716"/>
                  <a:pt x="40906" y="17145"/>
                  <a:pt x="74422" y="17526"/>
                </a:cubicBezTo>
                <a:lnTo>
                  <a:pt x="2058670" y="17526"/>
                </a:lnTo>
                <a:cubicBezTo>
                  <a:pt x="2092058" y="17145"/>
                  <a:pt x="2119629" y="44716"/>
                  <a:pt x="2119629" y="78485"/>
                </a:cubicBezTo>
                <a:lnTo>
                  <a:pt x="2119629" y="325373"/>
                </a:lnTo>
                <a:cubicBezTo>
                  <a:pt x="2119629" y="359143"/>
                  <a:pt x="2092058" y="386715"/>
                  <a:pt x="2058670" y="386334"/>
                </a:cubicBezTo>
                <a:lnTo>
                  <a:pt x="74422" y="386334"/>
                </a:lnTo>
                <a:cubicBezTo>
                  <a:pt x="40906" y="386715"/>
                  <a:pt x="13334" y="359143"/>
                  <a:pt x="13461" y="325373"/>
                </a:cubicBezTo>
                <a:lnTo>
                  <a:pt x="13461" y="78485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3" name="Picture 9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4198620"/>
            <a:ext cx="5532120" cy="2522220"/>
          </a:xfrm>
          <a:prstGeom prst="rect">
            <a:avLst/>
          </a:prstGeom>
        </p:spPr>
      </p:pic>
      <p:pic>
        <p:nvPicPr>
          <p:cNvPr id="924" name="Picture 9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16380"/>
            <a:ext cx="5707380" cy="5204460"/>
          </a:xfrm>
          <a:prstGeom prst="rect">
            <a:avLst/>
          </a:prstGeom>
        </p:spPr>
      </p:pic>
      <p:sp>
        <p:nvSpPr>
          <p:cNvPr id="3" name="TextBox 924"/>
          <p:cNvSpPr txBox="1"/>
          <p:nvPr/>
        </p:nvSpPr>
        <p:spPr>
          <a:xfrm>
            <a:off x="376554" y="289633"/>
            <a:ext cx="9814519" cy="11592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行动引导：设计促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进决策和行动的提示语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176529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在商业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文案写作中，最终目标往往是促使受众采取特定行动，行动引导的核心在于说服和激励。</a:t>
            </a:r>
          </a:p>
        </p:txBody>
      </p:sp>
      <p:sp>
        <p:nvSpPr>
          <p:cNvPr id="925" name="TextBox 925"/>
          <p:cNvSpPr txBox="1"/>
          <p:nvPr/>
        </p:nvSpPr>
        <p:spPr>
          <a:xfrm>
            <a:off x="492125" y="1515744"/>
            <a:ext cx="5347958" cy="5118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行动引导特质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提示语设计技巧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503174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655"/>
              </a:lnSpc>
            </a:pPr>
            <a:endParaRPr lang="en-US" dirty="0"/>
          </a:p>
          <a:p>
            <a:pPr marL="0" indent="304800" hangingPunct="0">
              <a:lnSpc>
                <a:spcPct val="117916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[产品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服务名称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创作一则促销文案，目标是有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效引导目标受众立即采取行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动。请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遵循以下结构和要求：</a:t>
            </a:r>
          </a:p>
          <a:p>
            <a:pPr marL="0" indent="304800">
              <a:lnSpc>
                <a:spcPct val="100000"/>
              </a:lnSpc>
              <a:spcBef>
                <a:spcPts val="12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）注意力抓取（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创作一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个引人注目的标题</a:t>
            </a:r>
          </a:p>
          <a:p>
            <a:pPr marL="0" indent="417194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要求：包含行动词和具体数字，如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立省</a:t>
            </a:r>
            <a:r>
              <a:rPr lang="zh-CN" altLang="en-US" sz="1200" spc="75" dirty="0">
                <a:solidFill>
                  <a:srgbClr val="000000"/>
                </a:solidFill>
                <a:latin typeface="Arial Unicode MS"/>
                <a:ea typeface="Arial Unicode MS"/>
              </a:rPr>
              <a:t>30%</a:t>
            </a:r>
            <a:r>
              <a:rPr lang="zh-CN" altLang="en-US" sz="1200" spc="44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、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“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天见效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”</a:t>
            </a:r>
            <a:r>
              <a:rPr lang="zh-CN" altLang="en-US" sz="1200" spc="114" dirty="0">
                <a:solidFill>
                  <a:srgbClr val="000000"/>
                </a:solidFill>
                <a:latin typeface="Arial Unicode MS"/>
                <a:ea typeface="Arial Unicode MS"/>
              </a:rPr>
              <a:t>等</a:t>
            </a:r>
          </a:p>
          <a:p>
            <a:pPr marL="0" indent="304800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）行动目标明确化（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清晰陈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述期望受众采取的具体行动</a:t>
            </a:r>
          </a:p>
          <a:p>
            <a:pPr marL="0" indent="417194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使用祈使句，动词要具体明确，如立即订购、现在注册等</a:t>
            </a:r>
          </a:p>
          <a:p>
            <a:pPr marL="0" indent="304800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）核心利益点（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点，每点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列举采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取行动后能获得的主要好处</a:t>
            </a:r>
          </a:p>
          <a:p>
            <a:pPr marL="0" indent="417194">
              <a:lnSpc>
                <a:spcPct val="100000"/>
              </a:lnSpc>
              <a:spcBef>
                <a:spcPts val="2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每个利益点都要具体、量化，并与目标受众的需求直接相关</a:t>
            </a:r>
          </a:p>
        </p:txBody>
      </p:sp>
      <p:sp>
        <p:nvSpPr>
          <p:cNvPr id="926" name="TextBox 926"/>
          <p:cNvSpPr txBox="1"/>
          <p:nvPr/>
        </p:nvSpPr>
        <p:spPr>
          <a:xfrm>
            <a:off x="6188075" y="1623745"/>
            <a:ext cx="5498460" cy="49834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）紧迫感营造（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创造一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种不立即行动就会错失良机的氛围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使用限时优惠或限量供应等策略，给出具体的截止时间或数量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）社会证明（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条，每条25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提供用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户见证或数据支持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要求：包括具体数字和真实感受，如90%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的用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户表示效果显著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6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）低门槛起始步骤（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35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设计一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个简单、具体的第一步行动</a:t>
            </a:r>
          </a:p>
          <a:p>
            <a:pPr marL="0" indent="417194">
              <a:lnSpc>
                <a:spcPct val="100000"/>
              </a:lnSpc>
              <a:spcBef>
                <a:spcPts val="35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这个步骤应该非常容易执行，降低用户的心理阻力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）行动召唤设计（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15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创作一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个有力的行动召唤语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使用强烈的行动词，如立即、马上、现在等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）遗憾预防（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30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以内）：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描述不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采取行动可能造成的遗憾或损失</a:t>
            </a:r>
          </a:p>
          <a:p>
            <a:pPr marL="0" indent="417194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使用对比手法，突出行动和不行动的差异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额外要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 marL="304800" hangingPunct="0">
              <a:lnSpc>
                <a:spcPct val="125000"/>
              </a:lnSpc>
              <a:spcBef>
                <a:spcPts val="1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在文案中加入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个与紧迫感相关的成语或谚语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使用问句式标题或小标题，增强互动感</a:t>
            </a:r>
          </a:p>
          <a:p>
            <a:pPr marL="0" indent="304800">
              <a:lnSpc>
                <a:spcPct val="100000"/>
              </a:lnSpc>
              <a:spcBef>
                <a:spcPts val="175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对关键信息使用醒目的视觉处理，如加粗、下划线等</a:t>
            </a:r>
          </a:p>
          <a:p>
            <a:pPr marL="0" indent="304800" hangingPunct="0">
              <a:lnSpc>
                <a:spcPct val="125000"/>
              </a:lnSpc>
              <a:spcBef>
                <a:spcPts val="1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控制整体紧迫感，使用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FOMO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（Fear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of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Missing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Out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）指数评估，目标为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（足够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紧迫但不过分焦虑）</a:t>
            </a:r>
          </a:p>
          <a:p>
            <a:pPr marL="0" indent="304800">
              <a:lnSpc>
                <a:spcPct val="100000"/>
              </a:lnSpc>
              <a:spcBef>
                <a:spcPts val="1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以上结构和要求，生成一份完整的促销文案。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0684" y="1908175"/>
          <a:ext cx="5534660" cy="1880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  <a:endParaRPr lang="en-US" dirty="0"/>
                    </a:p>
                    <a:p>
                      <a:pPr marL="0" indent="106680">
                        <a:lnSpc>
                          <a:spcPct val="101666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优秀文案的行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动引导特质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  <a:endParaRPr lang="en-US" dirty="0"/>
                    </a:p>
                    <a:p>
                      <a:pPr marL="0" indent="137160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示语设计技巧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308609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明确的行动指向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430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行动目标明确化：在提示语中明确指出期望受众采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取的具</a:t>
                      </a:r>
                    </a:p>
                    <a:p>
                      <a:pPr marL="0" indent="1651000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体行动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indent="378459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强烈的紧迫感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4300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时间限制设置：要求在文案中加入限时优惠或稀缺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性信息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indent="238759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低门槛的起始步骤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84150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简单行动设计：要求设计一个简单、具体的第一步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行动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pPr marL="0" indent="308609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清晰的收益阐述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23850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利益点强化：要求明确列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出采取行动后的具体收益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308609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5.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社会证明的运用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43864">
                        <a:lnSpc>
                          <a:spcPct val="101666"/>
                        </a:lnSpc>
                        <a:spcBef>
                          <a:spcPts val="390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案例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数据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要求：要求加入用户见证或数据支持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Picture 9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827020"/>
            <a:ext cx="3794760" cy="3642360"/>
          </a:xfrm>
          <a:prstGeom prst="rect">
            <a:avLst/>
          </a:prstGeom>
        </p:spPr>
      </p:pic>
      <p:pic>
        <p:nvPicPr>
          <p:cNvPr id="930" name="Picture 9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2979420"/>
            <a:ext cx="822960" cy="2918460"/>
          </a:xfrm>
          <a:prstGeom prst="rect">
            <a:avLst/>
          </a:prstGeom>
        </p:spPr>
      </p:pic>
      <p:sp>
        <p:nvSpPr>
          <p:cNvPr id="2" name="TextBox 930"/>
          <p:cNvSpPr txBox="1"/>
          <p:nvPr/>
        </p:nvSpPr>
        <p:spPr>
          <a:xfrm>
            <a:off x="376554" y="289633"/>
            <a:ext cx="11172176" cy="53508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营销策划的提</a:t>
            </a:r>
            <a:r>
              <a:rPr lang="zh-CN" altLang="en-US" sz="4000" b="1" spc="270" dirty="0">
                <a:solidFill>
                  <a:srgbClr val="242424"/>
                </a:solidFill>
                <a:latin typeface="Arial Unicode MS"/>
                <a:ea typeface="Arial Unicode MS"/>
              </a:rPr>
              <a:t>示语设计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5"/>
              </a:lnSpc>
            </a:pPr>
            <a:endParaRPr lang="en-US" dirty="0"/>
          </a:p>
          <a:p>
            <a:pPr marL="327660" hangingPunct="0">
              <a:lnSpc>
                <a:spcPct val="129583"/>
              </a:lnSpc>
            </a:pP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在当代营销环境中，有效地营销策划是品牌成功的关键。设计高质量的营销策</a:t>
            </a:r>
            <a:r>
              <a:rPr lang="zh-CN" altLang="en-US" sz="1800" spc="10" dirty="0">
                <a:solidFill>
                  <a:srgbClr val="000000"/>
                </a:solidFill>
                <a:latin typeface="Arial Unicode MS"/>
                <a:ea typeface="Arial Unicode MS"/>
              </a:rPr>
              <a:t>划提示语，核心在于创新、精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准和可行。创新要求使用者激发</a:t>
            </a:r>
            <a:r>
              <a:rPr lang="en-US" altLang="zh-CN" sz="18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的创造力，生成独特的创意概念；精准需要使用者引导</a:t>
            </a:r>
            <a:r>
              <a:rPr lang="en-US" altLang="zh-CN" sz="1800" spc="44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制定符合目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标受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众和市场环境的传播策略；可行则要求通过提示语设计，确保</a:t>
            </a:r>
            <a:r>
              <a:rPr lang="en-US" altLang="zh-CN" sz="18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生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成的执行方案具有实操性。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9"/>
              </a:lnSpc>
            </a:pPr>
            <a:endParaRPr lang="en-US" dirty="0"/>
          </a:p>
          <a:p>
            <a:pPr marL="0" indent="4139565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营销策划写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作的核心要素</a:t>
            </a:r>
          </a:p>
          <a:p>
            <a:pPr>
              <a:lnSpc>
                <a:spcPts val="675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创意</a:t>
            </a:r>
            <a:r>
              <a:rPr lang="zh-CN" altLang="en-US" sz="1800" spc="110" dirty="0">
                <a:solidFill>
                  <a:srgbClr val="242424"/>
                </a:solidFill>
                <a:latin typeface="Arial Unicode MS"/>
                <a:ea typeface="Arial Unicode MS"/>
              </a:rPr>
              <a:t>概念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传播</a:t>
            </a:r>
            <a:r>
              <a:rPr lang="zh-CN" altLang="en-US" sz="1800" spc="110" dirty="0">
                <a:solidFill>
                  <a:srgbClr val="242424"/>
                </a:solidFill>
                <a:latin typeface="Arial Unicode MS"/>
                <a:ea typeface="Arial Unicode MS"/>
              </a:rPr>
              <a:t>策略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执行</a:t>
            </a:r>
            <a:r>
              <a:rPr lang="zh-CN" altLang="en-US" sz="1800" spc="110" dirty="0">
                <a:solidFill>
                  <a:srgbClr val="242424"/>
                </a:solidFill>
                <a:latin typeface="Arial Unicode MS"/>
                <a:ea typeface="Arial Unicode MS"/>
              </a:rPr>
              <a:t>方案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Picture 9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5460"/>
            <a:ext cx="5318760" cy="4701540"/>
          </a:xfrm>
          <a:prstGeom prst="rect">
            <a:avLst/>
          </a:prstGeom>
        </p:spPr>
      </p:pic>
      <p:pic>
        <p:nvPicPr>
          <p:cNvPr id="933" name="Picture 9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27760"/>
            <a:ext cx="5996940" cy="5349240"/>
          </a:xfrm>
          <a:prstGeom prst="rect">
            <a:avLst/>
          </a:prstGeom>
        </p:spPr>
      </p:pic>
      <p:sp>
        <p:nvSpPr>
          <p:cNvPr id="2" name="TextBox 933"/>
          <p:cNvSpPr txBox="1"/>
          <p:nvPr/>
        </p:nvSpPr>
        <p:spPr>
          <a:xfrm>
            <a:off x="376554" y="289633"/>
            <a:ext cx="938208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创意概念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：设计激发创新思维的提示语</a:t>
            </a:r>
          </a:p>
        </p:txBody>
      </p:sp>
      <p:sp>
        <p:nvSpPr>
          <p:cNvPr id="934" name="TextBox 934"/>
          <p:cNvSpPr txBox="1"/>
          <p:nvPr/>
        </p:nvSpPr>
        <p:spPr>
          <a:xfrm>
            <a:off x="553084" y="1305559"/>
            <a:ext cx="11218533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  <a:tabLst>
                <a:tab pos="5706745" algn="l"/>
              </a:tabLst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理论层面：	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结合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品牌所属领域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另一个看似不相关的领域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的元素，提出一个独特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的创意概</a:t>
            </a:r>
          </a:p>
        </p:txBody>
      </p:sp>
      <p:sp>
        <p:nvSpPr>
          <p:cNvPr id="935" name="TextBox 935"/>
          <p:cNvSpPr txBox="1"/>
          <p:nvPr/>
        </p:nvSpPr>
        <p:spPr>
          <a:xfrm>
            <a:off x="5955029" y="1652955"/>
            <a:ext cx="431788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念。</a:t>
            </a:r>
          </a:p>
        </p:txBody>
      </p:sp>
      <p:sp>
        <p:nvSpPr>
          <p:cNvPr id="936" name="TextBox 936"/>
          <p:cNvSpPr txBox="1"/>
          <p:nvPr/>
        </p:nvSpPr>
        <p:spPr>
          <a:xfrm>
            <a:off x="621665" y="1879752"/>
            <a:ext cx="8127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独特性</a:t>
            </a:r>
          </a:p>
        </p:txBody>
      </p:sp>
      <p:sp>
        <p:nvSpPr>
          <p:cNvPr id="937" name="TextBox 937"/>
          <p:cNvSpPr txBox="1"/>
          <p:nvPr/>
        </p:nvSpPr>
        <p:spPr>
          <a:xfrm>
            <a:off x="1537969" y="1879752"/>
            <a:ext cx="37718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相关性</a:t>
            </a:r>
            <a:r>
              <a:rPr lang="zh-CN" altLang="en-US" sz="1800" spc="85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记忆点</a:t>
            </a:r>
            <a:r>
              <a:rPr lang="zh-CN" altLang="en-US" sz="1800" spc="89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情感触发</a:t>
            </a:r>
            <a:r>
              <a:rPr lang="zh-CN" altLang="en-US" sz="1800" spc="85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时效性</a:t>
            </a:r>
          </a:p>
        </p:txBody>
      </p:sp>
      <p:sp>
        <p:nvSpPr>
          <p:cNvPr id="938" name="TextBox 938"/>
          <p:cNvSpPr txBox="1"/>
          <p:nvPr/>
        </p:nvSpPr>
        <p:spPr>
          <a:xfrm>
            <a:off x="6259829" y="1932355"/>
            <a:ext cx="3721088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）品牌价值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融入：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解释该创意如何体现品牌的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核心价值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核心价值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。</a:t>
            </a:r>
          </a:p>
        </p:txBody>
      </p:sp>
      <p:sp>
        <p:nvSpPr>
          <p:cNvPr id="939" name="TextBox 939"/>
          <p:cNvSpPr txBox="1"/>
          <p:nvPr/>
        </p:nvSpPr>
        <p:spPr>
          <a:xfrm>
            <a:off x="523875" y="2482214"/>
            <a:ext cx="4992358" cy="37313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方法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层面：</a:t>
            </a:r>
          </a:p>
          <a:p>
            <a:pPr>
              <a:lnSpc>
                <a:spcPts val="122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跨领域联想指令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品牌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DNA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融入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记忆点设计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情感地图构建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2920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趋势融合要求</a:t>
            </a:r>
          </a:p>
          <a:p>
            <a:pPr>
              <a:lnSpc>
                <a:spcPts val="1435"/>
              </a:lnSpc>
            </a:pPr>
            <a:endParaRPr lang="en-US" dirty="0"/>
          </a:p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69"/>
              </a:lnSpc>
            </a:pPr>
            <a:endParaRPr lang="en-US" dirty="0"/>
          </a:p>
          <a:p>
            <a:pPr marL="0" indent="304800" hangingPunct="0">
              <a:lnSpc>
                <a:spcPct val="152499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为[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设计一个创新的营销创意概念，用于其</a:t>
            </a:r>
            <a:r>
              <a:rPr lang="zh-CN" altLang="en-US" sz="1200" spc="8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具体产品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服务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推广。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请遵循以下要求：</a:t>
            </a:r>
          </a:p>
          <a:p>
            <a:pPr marL="0" indent="30480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核心创意：</a:t>
            </a:r>
          </a:p>
        </p:txBody>
      </p:sp>
      <p:sp>
        <p:nvSpPr>
          <p:cNvPr id="940" name="TextBox 940"/>
          <p:cNvSpPr txBox="1"/>
          <p:nvPr/>
        </p:nvSpPr>
        <p:spPr>
          <a:xfrm>
            <a:off x="6259829" y="2491155"/>
            <a:ext cx="5549888" cy="3863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）记忆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点设计：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创造一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个朗朗上口的口号或标语，需包含双关语或文字游戏。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）情感触发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元素：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基于[目标受众画像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核心情感需求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，设计一个能引起强烈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情感共鸣的创意元素。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）时效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性挂钩：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将创意与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当前热门社会话题或现象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联系起来，突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出时效性。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6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）创意呈现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形式：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种可能的创意呈现方式，至少包含一种创新的或非传统的媒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体形式。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）病毒传播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潜力：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解释这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个创意如何具备病毒式传播的潜力。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额外要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确保创意在挑战常规的同时，不会引起争议或负面解读。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9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考虑创意的可持续性，思考如何将其发展为一个长期营销主题。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以上要求，生成一份完整的创意概念方案。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Picture 9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1592580"/>
            <a:ext cx="5669280" cy="5105400"/>
          </a:xfrm>
          <a:prstGeom prst="rect">
            <a:avLst/>
          </a:prstGeom>
        </p:spPr>
      </p:pic>
      <p:pic>
        <p:nvPicPr>
          <p:cNvPr id="943" name="Picture 9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220" y="960119"/>
            <a:ext cx="6012180" cy="5745480"/>
          </a:xfrm>
          <a:prstGeom prst="rect">
            <a:avLst/>
          </a:prstGeom>
        </p:spPr>
      </p:pic>
      <p:sp>
        <p:nvSpPr>
          <p:cNvPr id="2" name="TextBox 943"/>
          <p:cNvSpPr txBox="1"/>
          <p:nvPr/>
        </p:nvSpPr>
        <p:spPr>
          <a:xfrm>
            <a:off x="376554" y="289633"/>
            <a:ext cx="1047555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传播策略：设计精准定位的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传播方案提示语</a:t>
            </a:r>
          </a:p>
        </p:txBody>
      </p:sp>
      <p:sp>
        <p:nvSpPr>
          <p:cNvPr id="944" name="TextBox 944"/>
          <p:cNvSpPr txBox="1"/>
          <p:nvPr/>
        </p:nvSpPr>
        <p:spPr>
          <a:xfrm>
            <a:off x="217170" y="1160144"/>
            <a:ext cx="5440662" cy="53772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35914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层面：</a:t>
            </a:r>
          </a:p>
          <a:p>
            <a:pPr>
              <a:lnSpc>
                <a:spcPts val="1645"/>
              </a:lnSpc>
            </a:pPr>
            <a:endParaRPr lang="en-US" dirty="0"/>
          </a:p>
          <a:p>
            <a:pPr marL="0" indent="13334">
              <a:lnSpc>
                <a:spcPct val="10333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目标明确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受众精准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渠道多元</a:t>
            </a:r>
            <a:r>
              <a:rPr lang="zh-CN" altLang="en-US" sz="1800" spc="55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内容匹配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互动性强</a:t>
            </a:r>
          </a:p>
          <a:p>
            <a:pPr>
              <a:lnSpc>
                <a:spcPts val="1679"/>
              </a:lnSpc>
            </a:pPr>
            <a:endParaRPr lang="en-US" dirty="0"/>
          </a:p>
          <a:p>
            <a:pPr marL="0" indent="306704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方法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层面：</a:t>
            </a:r>
          </a:p>
          <a:p>
            <a:pPr>
              <a:lnSpc>
                <a:spcPts val="1494"/>
              </a:lnSpc>
            </a:pPr>
            <a:endParaRPr lang="en-US" dirty="0"/>
          </a:p>
          <a:p>
            <a:pPr marL="0" indent="36067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目标量化指令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6067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受众画像详述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6067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全渠道思维引导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6067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内容形式多样化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36067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互动机制设计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0" indent="304799" hangingPunct="0">
              <a:lnSpc>
                <a:spcPct val="110833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营销活动名称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设计一个全方位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的传播策略。该策略应能在多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元化的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媒体环境中精准触达目标受众，并实现品牌传播目标。请遵循以下要求：</a:t>
            </a:r>
          </a:p>
          <a:p>
            <a:pPr marL="0" indent="304799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）市场洞察（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800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79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基于最新的市场研究数据，总结目标市场的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个关键趋势和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个主要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痛点。</a:t>
            </a:r>
          </a:p>
          <a:p>
            <a:pPr marL="0" indent="30479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）受众画像（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1000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799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描绘2—3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个核心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目标受众群体，包括人口统计特征、行为习惯、价值观和媒体使用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偏好。为每个群体设定一个吸引人的昵称。</a:t>
            </a:r>
          </a:p>
          <a:p>
            <a:pPr marL="0" indent="304799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）传播目标（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600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</p:txBody>
      </p:sp>
      <p:sp>
        <p:nvSpPr>
          <p:cNvPr id="945" name="TextBox 945"/>
          <p:cNvSpPr txBox="1"/>
          <p:nvPr/>
        </p:nvSpPr>
        <p:spPr>
          <a:xfrm>
            <a:off x="6062345" y="1026210"/>
            <a:ext cx="5803887" cy="5679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 hangingPunct="0">
              <a:lnSpc>
                <a:spcPct val="110833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设定3个SMART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目标，涵盖品牌知名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度、参与度和转化率。每个目标都应有具体的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数字指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标和时间框架。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）核心信息（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500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提炼1个总体信息和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支持性信息点。这些信息应与品牌调性一致，并能引起目标受众的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共鸣。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）全渠道矩阵（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1500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设计一个包含至少7个渠道的传播矩阵，包括社交媒体、KOL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、线下活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动、传统媒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体等。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说明每个渠道的具体作用和预期效果。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6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）内容策略（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1200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3个主要渠道设计差异化的内容策略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。每个策略应包含内容形式、主题方向和互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动元素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，并解释如何与用户旅程的不同阶段匹配。</a:t>
            </a:r>
          </a:p>
          <a:p>
            <a:pPr marL="0" indent="30480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）创新传播手法（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800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个创新的或非常规的传播方式。这个方法应能显著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提升活动的话题性和参与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度。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KOL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合作计划（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700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设计一个多层次的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KOL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合作策略，包括顶级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KOL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、中腰部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KOL和微观KOL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的不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同运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用方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式。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9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）时间线（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1000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绘制一个为期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具体时间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的传播时间表，包括预热、启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动、高潮和持续阶段。标注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关键时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间节点和相应的传播重点。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）效果评估（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600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设定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个关键绩效指标（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KPI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），涵盖曝光、参与、转化和品牌健康度等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方面。说明数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据来源和评估频率。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11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）危机预案（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500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ea typeface="Arial Unicode MS"/>
              </a:rPr>
              <a:t>字内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）：</a:t>
            </a:r>
          </a:p>
          <a:p>
            <a:pPr marL="304800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列出2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个可能的传播风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险，并为每个风险提供简要的应对策略。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预算分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配建议：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按渠道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和阶段列出预算分配比例，确保资源的最优化使用。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以上要求，生成一份全面、创新且可执行的传播策略方案。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Picture 9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1592580"/>
            <a:ext cx="5768340" cy="5151120"/>
          </a:xfrm>
          <a:prstGeom prst="rect">
            <a:avLst/>
          </a:prstGeom>
        </p:spPr>
      </p:pic>
      <p:pic>
        <p:nvPicPr>
          <p:cNvPr id="948" name="Picture 9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0" y="1036319"/>
            <a:ext cx="5989320" cy="5707380"/>
          </a:xfrm>
          <a:prstGeom prst="rect">
            <a:avLst/>
          </a:prstGeom>
        </p:spPr>
      </p:pic>
      <p:sp>
        <p:nvSpPr>
          <p:cNvPr id="2" name="TextBox 948"/>
          <p:cNvSpPr txBox="1"/>
          <p:nvPr/>
        </p:nvSpPr>
        <p:spPr>
          <a:xfrm>
            <a:off x="376554" y="289633"/>
            <a:ext cx="992881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执行方案：设计可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操作的行动计划提示语</a:t>
            </a:r>
          </a:p>
        </p:txBody>
      </p:sp>
      <p:sp>
        <p:nvSpPr>
          <p:cNvPr id="949" name="TextBox 949"/>
          <p:cNvSpPr txBox="1"/>
          <p:nvPr/>
        </p:nvSpPr>
        <p:spPr>
          <a:xfrm>
            <a:off x="553084" y="1160144"/>
            <a:ext cx="1654790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理论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层面：</a:t>
            </a:r>
          </a:p>
        </p:txBody>
      </p:sp>
      <p:sp>
        <p:nvSpPr>
          <p:cNvPr id="950" name="TextBox 950"/>
          <p:cNvSpPr txBox="1"/>
          <p:nvPr/>
        </p:nvSpPr>
        <p:spPr>
          <a:xfrm>
            <a:off x="6082029" y="1190040"/>
            <a:ext cx="5767693" cy="411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973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4.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详细行动步骤（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2000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字内）：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将执行过程分解为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个具体步骤。每个步骤</a:t>
            </a:r>
          </a:p>
          <a:p>
            <a:pPr marL="0">
              <a:lnSpc>
                <a:spcPct val="100000"/>
              </a:lnSpc>
              <a:spcBef>
                <a:spcPts val="354"/>
              </a:spcBef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应包含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:</a:t>
            </a:r>
          </a:p>
        </p:txBody>
      </p:sp>
      <p:sp>
        <p:nvSpPr>
          <p:cNvPr id="951" name="TextBox 951"/>
          <p:cNvSpPr txBox="1"/>
          <p:nvPr/>
        </p:nvSpPr>
        <p:spPr>
          <a:xfrm>
            <a:off x="230504" y="1703222"/>
            <a:ext cx="5427327" cy="2834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3333"/>
              </a:lnSpc>
            </a:pP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步骤清晰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职责明确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时间可控</a:t>
            </a:r>
            <a:r>
              <a:rPr lang="zh-CN" altLang="en-US" sz="1800" spc="55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资源合理</a:t>
            </a:r>
            <a:r>
              <a:rPr lang="zh-CN" altLang="en-US" sz="1800" spc="5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风险可控</a:t>
            </a:r>
          </a:p>
        </p:txBody>
      </p:sp>
      <p:sp>
        <p:nvSpPr>
          <p:cNvPr id="952" name="TextBox 952"/>
          <p:cNvSpPr txBox="1"/>
          <p:nvPr/>
        </p:nvSpPr>
        <p:spPr>
          <a:xfrm>
            <a:off x="6424295" y="1647240"/>
            <a:ext cx="785483" cy="411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行动描述</a:t>
            </a:r>
          </a:p>
          <a:p>
            <a:pPr marL="0" indent="7493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所需资源</a:t>
            </a:r>
          </a:p>
        </p:txBody>
      </p:sp>
      <p:sp>
        <p:nvSpPr>
          <p:cNvPr id="953" name="TextBox 953"/>
          <p:cNvSpPr txBox="1"/>
          <p:nvPr/>
        </p:nvSpPr>
        <p:spPr>
          <a:xfrm>
            <a:off x="8058788" y="1624380"/>
            <a:ext cx="915019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74930" indent="-74930" hangingPunct="0">
              <a:lnSpc>
                <a:spcPct val="125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责任人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部门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完成指标</a:t>
            </a:r>
          </a:p>
        </p:txBody>
      </p:sp>
      <p:sp>
        <p:nvSpPr>
          <p:cNvPr id="954" name="TextBox 954"/>
          <p:cNvSpPr txBox="1"/>
          <p:nvPr/>
        </p:nvSpPr>
        <p:spPr>
          <a:xfrm>
            <a:off x="9747887" y="1647240"/>
            <a:ext cx="1282050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开始和结束时间</a:t>
            </a:r>
          </a:p>
        </p:txBody>
      </p:sp>
      <p:sp>
        <p:nvSpPr>
          <p:cNvPr id="955" name="TextBox 955"/>
          <p:cNvSpPr txBox="1"/>
          <p:nvPr/>
        </p:nvSpPr>
        <p:spPr>
          <a:xfrm>
            <a:off x="523875" y="2200275"/>
            <a:ext cx="1781157" cy="188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方法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层面：</a:t>
            </a:r>
          </a:p>
          <a:p>
            <a:pPr>
              <a:lnSpc>
                <a:spcPts val="869"/>
              </a:lnSpc>
            </a:pPr>
            <a:endParaRPr lang="en-US" dirty="0"/>
          </a:p>
          <a:p>
            <a:pPr marL="0" indent="5397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行动步骤分解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397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角色分配指令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53975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8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时间节点设定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indent="196113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</p:txBody>
      </p:sp>
      <p:sp>
        <p:nvSpPr>
          <p:cNvPr id="956" name="TextBox 956"/>
          <p:cNvSpPr txBox="1"/>
          <p:nvPr/>
        </p:nvSpPr>
        <p:spPr>
          <a:xfrm>
            <a:off x="3139439" y="2647467"/>
            <a:ext cx="1701782" cy="633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4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资源分配引导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5.</a:t>
            </a:r>
            <a:r>
              <a:rPr lang="en-US" altLang="zh-CN" sz="1800" spc="4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风险评估要求</a:t>
            </a:r>
          </a:p>
        </p:txBody>
      </p:sp>
      <p:sp>
        <p:nvSpPr>
          <p:cNvPr id="957" name="TextBox 957"/>
          <p:cNvSpPr txBox="1"/>
          <p:nvPr/>
        </p:nvSpPr>
        <p:spPr>
          <a:xfrm>
            <a:off x="6082029" y="2081580"/>
            <a:ext cx="5921363" cy="2286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5.</a:t>
            </a:r>
            <a:r>
              <a:rPr lang="zh-CN" altLang="en-US" sz="1200" spc="-7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资源分配表（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1000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字内）：创建一个资源分配矩阵，横轴为时间，纵轴为资源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类型（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如人力、设备、预算）。标注每个阶段的资源需求高峰。</a:t>
            </a:r>
          </a:p>
          <a:p>
            <a:pPr marL="0" indent="304800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6.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跨部门协作流程（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800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字内）：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2—3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个关键的跨部门协作流程，如创意审批、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内容制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作、媒体投放等。使用流程图呈现。</a:t>
            </a:r>
          </a:p>
          <a:p>
            <a:pPr marL="0" indent="304800">
              <a:lnSpc>
                <a:spcPct val="100000"/>
              </a:lnSpc>
              <a:spcBef>
                <a:spcPts val="1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7.</a:t>
            </a:r>
            <a:r>
              <a:rPr lang="zh-CN" altLang="en-US" sz="1200" spc="-8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预算明细（1000字内）：提供一个详细的预算破解表，包括：</a:t>
            </a:r>
          </a:p>
          <a:p>
            <a:pPr marL="0" indent="417195">
              <a:lnSpc>
                <a:spcPct val="100000"/>
              </a:lnSpc>
              <a:spcBef>
                <a:spcPts val="359"/>
              </a:spcBef>
              <a:tabLst>
                <a:tab pos="3826511" algn="l"/>
              </a:tabLst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各执行环节的具体支出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预留的应急资金比例	-</a:t>
            </a:r>
            <a:r>
              <a:rPr lang="zh-CN" altLang="en-US" sz="1200" spc="-8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主要成本控制措施</a:t>
            </a:r>
          </a:p>
          <a:p>
            <a:pPr marL="0" indent="304800" hangingPunct="0">
              <a:lnSpc>
                <a:spcPct val="125000"/>
              </a:lnSpc>
              <a:spcBef>
                <a:spcPts val="175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8.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质量控制计划（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900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字内）：列出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个关键的质量控制点和相应的检查标准。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包括内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容质量、用户体验、技术实现等方面。</a:t>
            </a:r>
          </a:p>
          <a:p>
            <a:pPr marL="0" indent="304800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9.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风险管理矩阵（1200字内）：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识别5—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个潜在风险点，评估其发生概率和影响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程度。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为每个高风险项目制定具体的预防和应对措施。</a:t>
            </a:r>
          </a:p>
        </p:txBody>
      </p:sp>
      <p:sp>
        <p:nvSpPr>
          <p:cNvPr id="958" name="TextBox 958"/>
          <p:cNvSpPr txBox="1"/>
          <p:nvPr/>
        </p:nvSpPr>
        <p:spPr>
          <a:xfrm>
            <a:off x="217170" y="4406315"/>
            <a:ext cx="5549888" cy="2057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799" hangingPunct="0">
              <a:lnSpc>
                <a:spcPct val="12500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营销活动名称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]设计一个详细可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行的执行方案。该方案应能将创意概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念和传播策略有效转化为具体行动，确保活动的顺利开展和目标达成。请遵循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以下要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 marL="0" indent="304799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1.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执行摘要（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300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字内）：概括整个执行方案的核心内容、主要目标和关键成功因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素。</a:t>
            </a:r>
          </a:p>
          <a:p>
            <a:pPr marL="0" indent="304799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2.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项目团队构成（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300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字内）：列出核心项目团队成员，包括内部人员和外部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合作方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。明确每个角色的主要职责和决策权限。</a:t>
            </a:r>
          </a:p>
          <a:p>
            <a:pPr marL="0" indent="304799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3.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里程碑规划（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1200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字内）：设定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个关键里程碑事件。每个里程碑都应包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含具体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目标、完成标准和时间节点。使用甘特图呈现整体时间线。</a:t>
            </a:r>
          </a:p>
        </p:txBody>
      </p:sp>
      <p:sp>
        <p:nvSpPr>
          <p:cNvPr id="959" name="TextBox 959"/>
          <p:cNvSpPr txBox="1"/>
          <p:nvPr/>
        </p:nvSpPr>
        <p:spPr>
          <a:xfrm>
            <a:off x="6082029" y="4367580"/>
            <a:ext cx="5803888" cy="2263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10.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利益相关者沟通计划（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1800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字内）：设计一个定期向各利益相关者（如高管、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合作伙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伴、媒体）汇报项目进展的机制。指明沟通频率、方式和关键信息点。</a:t>
            </a:r>
          </a:p>
          <a:p>
            <a:pPr marL="0" indent="304800" hangingPunct="0">
              <a:lnSpc>
                <a:spcPct val="125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11.</a:t>
            </a:r>
            <a:r>
              <a:rPr lang="zh-CN" altLang="en-US" sz="1200" spc="-69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应急预案（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1000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字内）：为2—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个可能的重大意外情况（如重要环节延期、预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算超支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、负面舆情等）制定详细的应急预案。包括触发条件、响应流程和补救措施。</a:t>
            </a:r>
          </a:p>
          <a:p>
            <a:pPr marL="0" indent="304800" hangingPunct="0">
              <a:lnSpc>
                <a:spcPct val="125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12.</a:t>
            </a:r>
            <a:r>
              <a:rPr lang="zh-CN" altLang="en-US" sz="1200" spc="-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执行后评估机制（700字内）：设计一个项目后评估框架，包括效果评估、经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验总结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和持续优化建议。指明评估的时间点和主要维度。</a:t>
            </a:r>
          </a:p>
          <a:p>
            <a:pPr marL="0" indent="304800">
              <a:lnSpc>
                <a:spcPct val="100000"/>
              </a:lnSpc>
              <a:spcBef>
                <a:spcPts val="175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创新执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行工具：</a:t>
            </a:r>
          </a:p>
          <a:p>
            <a:pPr marL="304800" hangingPunct="0">
              <a:lnSpc>
                <a:spcPct val="125000"/>
              </a:lnSpc>
              <a:spcBef>
                <a:spcPts val="1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推荐1—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创新的项目管理工具或方法，解释它们如何能提升执行效率和灵活性。请基于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以上要求，生成一份全面、精确且具有可操作性的执行方案。方案应体现</a:t>
            </a:r>
          </a:p>
          <a:p>
            <a:pPr marL="0">
              <a:lnSpc>
                <a:spcPct val="100000"/>
              </a:lnSpc>
              <a:spcBef>
                <a:spcPts val="1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出对创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意概念的忠实执行，对传播策略的有效支持，以及对各种可能情况的周全考虑。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Picture 9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20" y="3230880"/>
            <a:ext cx="822960" cy="2933700"/>
          </a:xfrm>
          <a:prstGeom prst="rect">
            <a:avLst/>
          </a:prstGeom>
        </p:spPr>
      </p:pic>
      <p:pic>
        <p:nvPicPr>
          <p:cNvPr id="962" name="Picture 9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2545080"/>
            <a:ext cx="4038600" cy="3810000"/>
          </a:xfrm>
          <a:prstGeom prst="rect">
            <a:avLst/>
          </a:prstGeom>
        </p:spPr>
      </p:pic>
      <p:sp>
        <p:nvSpPr>
          <p:cNvPr id="2" name="TextBox 962"/>
          <p:cNvSpPr txBox="1"/>
          <p:nvPr/>
        </p:nvSpPr>
        <p:spPr>
          <a:xfrm>
            <a:off x="376554" y="289633"/>
            <a:ext cx="11172176" cy="56048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品牌故事的提</a:t>
            </a:r>
            <a:r>
              <a:rPr lang="zh-CN" altLang="en-US" sz="4000" b="1" spc="270" dirty="0">
                <a:solidFill>
                  <a:srgbClr val="242424"/>
                </a:solidFill>
                <a:latin typeface="Arial Unicode MS"/>
                <a:ea typeface="Arial Unicode MS"/>
              </a:rPr>
              <a:t>示语设计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5"/>
              </a:lnSpc>
            </a:pPr>
            <a:endParaRPr lang="en-US" dirty="0"/>
          </a:p>
          <a:p>
            <a:pPr marL="327660" hangingPunct="0">
              <a:lnSpc>
                <a:spcPct val="129583"/>
              </a:lnSpc>
            </a:pP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在数字化时代，品牌故事已成为连接企业与消费者的重要纽带。它不仅能传递</a:t>
            </a:r>
            <a:r>
              <a:rPr lang="zh-CN" altLang="en-US" sz="1800" spc="10" dirty="0">
                <a:solidFill>
                  <a:srgbClr val="000000"/>
                </a:solidFill>
                <a:latin typeface="Arial Unicode MS"/>
                <a:ea typeface="Arial Unicode MS"/>
              </a:rPr>
              <a:t>品牌的核心价值，还能在情感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层面与消费者建立联系。本节将探讨如何设计提示语，以引导</a:t>
            </a:r>
            <a:r>
              <a:rPr lang="en-US" altLang="zh-CN" sz="1800" spc="1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800" spc="20" dirty="0">
                <a:solidFill>
                  <a:srgbClr val="000000"/>
                </a:solidFill>
                <a:latin typeface="Arial Unicode MS"/>
                <a:ea typeface="Arial Unicode MS"/>
              </a:rPr>
              <a:t>生成富有</a:t>
            </a:r>
            <a:r>
              <a:rPr lang="zh-CN" altLang="en-US" sz="1800" spc="15" dirty="0">
                <a:solidFill>
                  <a:srgbClr val="000000"/>
                </a:solidFill>
                <a:latin typeface="Arial Unicode MS"/>
                <a:ea typeface="Arial Unicode MS"/>
              </a:rPr>
              <a:t>感染力的品牌故事。本节将从品牌定位、价值主张和未来愿景三个核心要素出发，通过关键考量、常见陷阱和提</a:t>
            </a:r>
            <a:r>
              <a:rPr lang="zh-CN" altLang="en-US" sz="1800" spc="10" dirty="0">
                <a:solidFill>
                  <a:srgbClr val="000000"/>
                </a:solidFill>
                <a:latin typeface="Arial Unicode MS"/>
                <a:ea typeface="Arial Unicode MS"/>
              </a:rPr>
              <a:t>示语框架三个维度来详细阐述</a:t>
            </a:r>
            <a:r>
              <a:rPr lang="zh-CN" altLang="en-US" sz="1800" spc="-5" dirty="0">
                <a:solidFill>
                  <a:srgbClr val="000000"/>
                </a:solidFill>
                <a:latin typeface="Arial Unicode MS"/>
                <a:ea typeface="Arial Unicode MS"/>
              </a:rPr>
              <a:t>每个要</a:t>
            </a:r>
            <a:r>
              <a:rPr lang="zh-CN" altLang="en-US" sz="1800" dirty="0">
                <a:solidFill>
                  <a:srgbClr val="000000"/>
                </a:solidFill>
                <a:latin typeface="Arial Unicode MS"/>
                <a:ea typeface="Arial Unicode MS"/>
              </a:rPr>
              <a:t>素的重要性和设计方法。</a:t>
            </a:r>
          </a:p>
          <a:p>
            <a:pPr marL="0" indent="4139565">
              <a:lnSpc>
                <a:spcPct val="109583"/>
              </a:lnSpc>
              <a:spcBef>
                <a:spcPts val="129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品牌故事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的关键元素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75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品牌</a:t>
            </a:r>
            <a:r>
              <a:rPr lang="zh-CN" altLang="en-US" sz="1800" spc="110" dirty="0">
                <a:solidFill>
                  <a:srgbClr val="242424"/>
                </a:solidFill>
                <a:latin typeface="Arial Unicode MS"/>
                <a:ea typeface="Arial Unicode MS"/>
              </a:rPr>
              <a:t>定位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价值</a:t>
            </a:r>
            <a:r>
              <a:rPr lang="zh-CN" altLang="en-US" sz="1800" spc="110" dirty="0">
                <a:solidFill>
                  <a:srgbClr val="242424"/>
                </a:solidFill>
                <a:latin typeface="Arial Unicode MS"/>
                <a:ea typeface="Arial Unicode MS"/>
              </a:rPr>
              <a:t>主张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 indent="1353184">
              <a:lnSpc>
                <a:spcPct val="101250"/>
              </a:lnSpc>
            </a:pPr>
            <a:r>
              <a:rPr lang="zh-CN" altLang="en-US" sz="1800" spc="104" dirty="0">
                <a:solidFill>
                  <a:srgbClr val="242424"/>
                </a:solidFill>
                <a:latin typeface="Arial Unicode MS"/>
                <a:ea typeface="Arial Unicode MS"/>
              </a:rPr>
              <a:t>未来</a:t>
            </a:r>
            <a:r>
              <a:rPr lang="zh-CN" altLang="en-US" sz="1800" spc="110" dirty="0">
                <a:solidFill>
                  <a:srgbClr val="242424"/>
                </a:solidFill>
                <a:latin typeface="Arial Unicode MS"/>
                <a:ea typeface="Arial Unicode MS"/>
              </a:rPr>
              <a:t>愿景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Picture 9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1508760"/>
            <a:ext cx="5471160" cy="5227320"/>
          </a:xfrm>
          <a:prstGeom prst="rect">
            <a:avLst/>
          </a:prstGeom>
        </p:spPr>
      </p:pic>
      <p:pic>
        <p:nvPicPr>
          <p:cNvPr id="965" name="Picture 9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20" y="1074419"/>
            <a:ext cx="6240780" cy="5646420"/>
          </a:xfrm>
          <a:prstGeom prst="rect">
            <a:avLst/>
          </a:prstGeom>
        </p:spPr>
      </p:pic>
      <p:sp>
        <p:nvSpPr>
          <p:cNvPr id="2" name="TextBox 965"/>
          <p:cNvSpPr txBox="1"/>
          <p:nvPr/>
        </p:nvSpPr>
        <p:spPr>
          <a:xfrm>
            <a:off x="376554" y="289633"/>
            <a:ext cx="828861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品牌定位：在市场中找到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独特位置</a:t>
            </a:r>
          </a:p>
        </p:txBody>
      </p:sp>
      <p:sp>
        <p:nvSpPr>
          <p:cNvPr id="966" name="TextBox 966"/>
          <p:cNvSpPr txBox="1"/>
          <p:nvPr/>
        </p:nvSpPr>
        <p:spPr>
          <a:xfrm>
            <a:off x="342265" y="1160144"/>
            <a:ext cx="1969121" cy="1012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10819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关键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考量：</a:t>
            </a:r>
          </a:p>
          <a:p>
            <a:pPr>
              <a:lnSpc>
                <a:spcPts val="814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目标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市场的精准描述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品牌个性和形象的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一致性</a:t>
            </a:r>
          </a:p>
        </p:txBody>
      </p:sp>
      <p:sp>
        <p:nvSpPr>
          <p:cNvPr id="967" name="TextBox 967"/>
          <p:cNvSpPr txBox="1"/>
          <p:nvPr/>
        </p:nvSpPr>
        <p:spPr>
          <a:xfrm>
            <a:off x="2320289" y="1596773"/>
            <a:ext cx="2324721" cy="571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竞争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对手的分析和差异化策略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30861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与目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标受众的情感连接点</a:t>
            </a:r>
          </a:p>
        </p:txBody>
      </p:sp>
      <p:sp>
        <p:nvSpPr>
          <p:cNvPr id="968" name="TextBox 968"/>
          <p:cNvSpPr txBox="1"/>
          <p:nvPr/>
        </p:nvSpPr>
        <p:spPr>
          <a:xfrm>
            <a:off x="6132195" y="1147495"/>
            <a:ext cx="5003153" cy="995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9859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每个竞争对手的核心优势</a:t>
            </a:r>
          </a:p>
          <a:p>
            <a:pPr marL="0" indent="14986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您的品牌相对于每个竞争对手的独特优势</a:t>
            </a:r>
          </a:p>
          <a:p>
            <a:pPr marL="0" indent="14986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c.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市场中尚未被满足的需求或机会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品牌个性：</a:t>
            </a:r>
          </a:p>
          <a:p>
            <a:pPr marL="0" indent="37464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用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5个形容词描述品牌个性，并简要解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释每个特质如何体现在品牌体验中。</a:t>
            </a:r>
          </a:p>
        </p:txBody>
      </p:sp>
      <p:sp>
        <p:nvSpPr>
          <p:cNvPr id="969" name="TextBox 969"/>
          <p:cNvSpPr txBox="1"/>
          <p:nvPr/>
        </p:nvSpPr>
        <p:spPr>
          <a:xfrm>
            <a:off x="285115" y="2308225"/>
            <a:ext cx="5260964" cy="44164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38759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�常见</a:t>
            </a: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陷阱：</a:t>
            </a:r>
          </a:p>
          <a:p>
            <a:pPr>
              <a:lnSpc>
                <a:spcPts val="58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定位过于宽泛，缺乏针对性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过度模仿竞争对手，失去独特性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忽视市场变化，定位僵化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与品牌实际能力不匹配，难以兑现承诺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50408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534"/>
              </a:lnSpc>
            </a:pPr>
            <a:endParaRPr lang="en-US" dirty="0"/>
          </a:p>
          <a:p>
            <a:pPr marL="0" indent="3048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创建一个清晰而独特的品牌定位声明，遵循以下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指南：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核心定位：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用一句简洁有力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的话概括品牌的核心定位。确保这句话能清晰传达品牌的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独特价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值和市场地位。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）目标受众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画像：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描绘理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想客户的详细画像，包括：</a:t>
            </a:r>
          </a:p>
          <a:p>
            <a:pPr marL="0" indent="45465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a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.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人口统计特征（年龄、性别、收入等）</a:t>
            </a:r>
          </a:p>
          <a:p>
            <a:pPr marL="0" indent="45465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b.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心理特征（价值观、生活方式、兴趣爱好）</a:t>
            </a:r>
          </a:p>
          <a:p>
            <a:pPr marL="0" indent="45465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c.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消费行为（购买习惯、决策因素）</a:t>
            </a:r>
          </a:p>
          <a:p>
            <a:pPr marL="0" indent="45465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d.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痛点和需求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竞争分析：</a:t>
            </a:r>
          </a:p>
          <a:p>
            <a:pPr marL="0" indent="342265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列举3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主要竞争对手，并分析：</a:t>
            </a:r>
          </a:p>
        </p:txBody>
      </p:sp>
      <p:sp>
        <p:nvSpPr>
          <p:cNvPr id="970" name="TextBox 970"/>
          <p:cNvSpPr txBox="1"/>
          <p:nvPr/>
        </p:nvSpPr>
        <p:spPr>
          <a:xfrm>
            <a:off x="5827395" y="2172464"/>
            <a:ext cx="6046463" cy="4441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价值主张：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阐述品牌为目标受众提供的核心价值和独特利益。说明这些价值如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何解决客户的具体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问题或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满足其需求。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6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）情感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连接点：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描述一个能与目标受众产生强烈情感共鸣的品牌元素或故事。解释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这个元素如何与受</a:t>
            </a:r>
          </a:p>
          <a:p>
            <a:pPr marL="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众的深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层需求或价值观相连。</a:t>
            </a:r>
          </a:p>
          <a:p>
            <a:pPr marL="0" indent="30480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定位声明：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综合以上要素，创作一个简洁有力的定位声明。这个声明应清晰传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达品牌是什么、为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谁服务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、提供什么独特价值。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视觉识别：</a:t>
            </a:r>
          </a:p>
          <a:p>
            <a:pPr marL="304800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提出2—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个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能直观体现品牌定位的视觉元素建议（如标志、色彩、图像风格等）。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评估标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准：</a:t>
            </a:r>
          </a:p>
          <a:p>
            <a:pPr marL="304800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清晰度：定位是否易于理解和记忆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独特性：是否明显区别于竞争对手</a:t>
            </a:r>
          </a:p>
          <a:p>
            <a:pPr marL="304800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9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相关性：是否与目标受众的需求和期望高度相关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可信度：是否基于品牌的实际优势和能力</a:t>
            </a:r>
          </a:p>
          <a:p>
            <a:pPr marL="304800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持续性：是否具有长期发展潜力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注意事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项：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避免使用行业陈词滥调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确保定位声明简洁有力，同时富有洞察力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考虑定位的可扩展性，以适应未来的品牌发展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以上指南，创建一个全面而富有洞察力的品牌定位方案。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Picture 9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960119"/>
            <a:ext cx="6240780" cy="5775960"/>
          </a:xfrm>
          <a:prstGeom prst="rect">
            <a:avLst/>
          </a:prstGeom>
        </p:spPr>
      </p:pic>
      <p:pic>
        <p:nvPicPr>
          <p:cNvPr id="973" name="Picture 9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1508760"/>
            <a:ext cx="5471160" cy="5212080"/>
          </a:xfrm>
          <a:prstGeom prst="rect">
            <a:avLst/>
          </a:prstGeom>
        </p:spPr>
      </p:pic>
      <p:sp>
        <p:nvSpPr>
          <p:cNvPr id="2" name="TextBox 973"/>
          <p:cNvSpPr txBox="1"/>
          <p:nvPr/>
        </p:nvSpPr>
        <p:spPr>
          <a:xfrm>
            <a:off x="376554" y="289633"/>
            <a:ext cx="774188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价值主张：传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递独特的品牌价值</a:t>
            </a:r>
          </a:p>
        </p:txBody>
      </p:sp>
      <p:sp>
        <p:nvSpPr>
          <p:cNvPr id="974" name="TextBox 974"/>
          <p:cNvSpPr txBox="1"/>
          <p:nvPr/>
        </p:nvSpPr>
        <p:spPr>
          <a:xfrm>
            <a:off x="523875" y="1160144"/>
            <a:ext cx="1838311" cy="14820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9209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关键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考量：</a:t>
            </a:r>
          </a:p>
          <a:p>
            <a:pPr>
              <a:lnSpc>
                <a:spcPts val="814"/>
              </a:lnSpc>
            </a:pPr>
            <a:endParaRPr lang="en-US" dirty="0"/>
          </a:p>
          <a:p>
            <a:pPr marL="0" indent="111125">
              <a:lnSpc>
                <a:spcPct val="101666"/>
              </a:lnSpc>
            </a:pP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产品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/</a:t>
            </a: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服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务的核心优势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4699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情感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和功能价值的平衡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�常见</a:t>
            </a: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陷阱：</a:t>
            </a:r>
          </a:p>
        </p:txBody>
      </p:sp>
      <p:sp>
        <p:nvSpPr>
          <p:cNvPr id="975" name="TextBox 975"/>
          <p:cNvSpPr txBox="1"/>
          <p:nvPr/>
        </p:nvSpPr>
        <p:spPr>
          <a:xfrm>
            <a:off x="2999739" y="1596773"/>
            <a:ext cx="2324721" cy="576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5560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解决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客户痛点的能力</a:t>
            </a:r>
          </a:p>
          <a:p>
            <a:pPr>
              <a:lnSpc>
                <a:spcPts val="1119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价值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主张的可信度和可证明性</a:t>
            </a:r>
          </a:p>
        </p:txBody>
      </p:sp>
      <p:sp>
        <p:nvSpPr>
          <p:cNvPr id="976" name="TextBox 976"/>
          <p:cNvSpPr txBox="1"/>
          <p:nvPr/>
        </p:nvSpPr>
        <p:spPr>
          <a:xfrm>
            <a:off x="5827395" y="1035100"/>
            <a:ext cx="6058525" cy="157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 hangingPunct="0">
              <a:lnSpc>
                <a:spcPct val="125000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列举品牌产品或服务的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个核心优势。每个优势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都应该与竞争对手有明显区别，并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能直接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解决客户痛点。</a:t>
            </a:r>
          </a:p>
          <a:p>
            <a:pPr marL="0" indent="304800">
              <a:lnSpc>
                <a:spcPct val="100000"/>
              </a:lnSpc>
              <a:spcBef>
                <a:spcPts val="17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情感价值：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描述品牌如何在情感层面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与客户建立联系。包括品牌带来的情感体验、生活方式改善</a:t>
            </a:r>
          </a:p>
          <a:p>
            <a:pPr marL="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或个人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成长等方面。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（6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）证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明点：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提供2—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个支持价值主张的具体证据或数据点。这可以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包括客户见证、行业认证、性</a:t>
            </a:r>
          </a:p>
        </p:txBody>
      </p:sp>
      <p:sp>
        <p:nvSpPr>
          <p:cNvPr id="977" name="TextBox 977"/>
          <p:cNvSpPr txBox="1"/>
          <p:nvPr/>
        </p:nvSpPr>
        <p:spPr>
          <a:xfrm>
            <a:off x="285115" y="2716400"/>
            <a:ext cx="3402949" cy="15218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价值主张过于复杂，难以传达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忽视情感价值，过度强调功能特性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夸大其词，无法兑现承诺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与竞争对手的价值主张过于相似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50408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</p:txBody>
      </p:sp>
      <p:sp>
        <p:nvSpPr>
          <p:cNvPr id="978" name="TextBox 978"/>
          <p:cNvSpPr txBox="1"/>
          <p:nvPr/>
        </p:nvSpPr>
        <p:spPr>
          <a:xfrm>
            <a:off x="5827395" y="2658160"/>
            <a:ext cx="5956288" cy="15544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能数据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或比较测试结果。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7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）差异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化陈述：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解释品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牌的价值主张如何与主要竞争对手区分开来。强调品牌的独特之处。</a:t>
            </a:r>
          </a:p>
          <a:p>
            <a:pPr marL="0" indent="304800">
              <a:lnSpc>
                <a:spcPct val="100000"/>
              </a:lnSpc>
              <a:spcBef>
                <a:spcPts val="354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长期价值：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描述客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户长期使用品牌产品或服务可能获得的持续利益。这有助于建立品牌忠诚度。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9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）视觉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化元素：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提供一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个能直观展示价值主张的视觉元素或比喻。这有助于增强价值主张的记忆度。</a:t>
            </a:r>
          </a:p>
        </p:txBody>
      </p:sp>
      <p:sp>
        <p:nvSpPr>
          <p:cNvPr id="979" name="TextBox 979"/>
          <p:cNvSpPr txBox="1"/>
          <p:nvPr/>
        </p:nvSpPr>
        <p:spPr>
          <a:xfrm>
            <a:off x="286384" y="4323765"/>
            <a:ext cx="5260964" cy="2468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制定一个有利的品牌价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值主张，遵循以下指南：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）核心价值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概述：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用一句话概括品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牌的核心价值主张。这句话应该简洁有力，能够清晰传达</a:t>
            </a:r>
          </a:p>
          <a:p>
            <a:pPr marL="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品牌的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独特价值。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）目标受众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痛点：</a:t>
            </a:r>
          </a:p>
          <a:p>
            <a:pPr marL="0" indent="304800" hangingPunct="0">
              <a:lnSpc>
                <a:spcPct val="125000"/>
              </a:lnSpc>
              <a:spcBef>
                <a:spcPts val="179"/>
              </a:spcBef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列出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个目标受众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最关心的痛点或需求。对每个痛点进行简要描述，解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释它们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对目标受众的影响。</a:t>
            </a:r>
          </a:p>
          <a:p>
            <a:pPr marL="0" indent="304800">
              <a:lnSpc>
                <a:spcPct val="100000"/>
              </a:lnSpc>
              <a:spcBef>
                <a:spcPts val="175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）问题解决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方案：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针对上述每个痛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点，详细说明品牌如何解决这些问题。突出品牌的独特方</a:t>
            </a:r>
          </a:p>
          <a:p>
            <a:pPr marL="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法或技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术。</a:t>
            </a:r>
          </a:p>
          <a:p>
            <a:pPr marL="0" indent="304800">
              <a:lnSpc>
                <a:spcPct val="100000"/>
              </a:lnSpc>
              <a:spcBef>
                <a:spcPts val="354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）核心优势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</a:p>
        </p:txBody>
      </p:sp>
      <p:sp>
        <p:nvSpPr>
          <p:cNvPr id="980" name="TextBox 980"/>
          <p:cNvSpPr txBox="1"/>
          <p:nvPr/>
        </p:nvSpPr>
        <p:spPr>
          <a:xfrm>
            <a:off x="5827395" y="4258360"/>
            <a:ext cx="6058525" cy="2468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）简化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版本：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创建一个简化版的价值主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张，适用于快速传播或口头传达。这个版本应该在保留核心</a:t>
            </a:r>
          </a:p>
          <a:p>
            <a:pPr marL="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信息的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同时更加简洁。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评估标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准：</a:t>
            </a:r>
          </a:p>
          <a:p>
            <a:pPr marL="0" indent="304800">
              <a:lnSpc>
                <a:spcPct val="100000"/>
              </a:lnSpc>
              <a:spcBef>
                <a:spcPts val="35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清晰度：价值主张是否易于理解和记忆</a:t>
            </a:r>
          </a:p>
          <a:p>
            <a:pPr marL="304800" hangingPunct="0">
              <a:lnSpc>
                <a:spcPct val="125000"/>
              </a:lnSpc>
              <a:spcBef>
                <a:spcPts val="1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9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相关性：是否直接解决目标受众的核心需求和痛点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独特性：是否明显区别于竞争对手的价值主张</a:t>
            </a:r>
          </a:p>
          <a:p>
            <a:pPr marL="0" indent="304800">
              <a:lnSpc>
                <a:spcPct val="100000"/>
              </a:lnSpc>
              <a:spcBef>
                <a:spcPts val="175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可信度：是否有足够的证据支持</a:t>
            </a:r>
          </a:p>
          <a:p>
            <a:pPr marL="304800" hangingPunct="0">
              <a:lnSpc>
                <a:spcPct val="125000"/>
              </a:lnSpc>
              <a:spcBef>
                <a:spcPts val="1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9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情感共鸣：是否能在情感层面与目标受众产生共鸣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可执行性：品牌是否有能力持续兑现这一价值主张</a:t>
            </a:r>
          </a:p>
          <a:p>
            <a:pPr marL="0" indent="304800">
              <a:lnSpc>
                <a:spcPct val="100000"/>
              </a:lnSpc>
              <a:spcBef>
                <a:spcPts val="175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以上指南，创建一个全面而有说服力的品牌价值主张。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Picture 9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1493520"/>
            <a:ext cx="5494020" cy="5212080"/>
          </a:xfrm>
          <a:prstGeom prst="rect">
            <a:avLst/>
          </a:prstGeom>
        </p:spPr>
      </p:pic>
      <p:pic>
        <p:nvPicPr>
          <p:cNvPr id="983" name="Picture 9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20" y="1059180"/>
            <a:ext cx="6240780" cy="5646420"/>
          </a:xfrm>
          <a:prstGeom prst="rect">
            <a:avLst/>
          </a:prstGeom>
        </p:spPr>
      </p:pic>
      <p:sp>
        <p:nvSpPr>
          <p:cNvPr id="2" name="TextBox 983"/>
          <p:cNvSpPr txBox="1"/>
          <p:nvPr/>
        </p:nvSpPr>
        <p:spPr>
          <a:xfrm>
            <a:off x="376554" y="289633"/>
            <a:ext cx="774188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未来愿景：描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绘品牌的长远目标</a:t>
            </a:r>
          </a:p>
        </p:txBody>
      </p:sp>
      <p:sp>
        <p:nvSpPr>
          <p:cNvPr id="984" name="TextBox 984"/>
          <p:cNvSpPr txBox="1"/>
          <p:nvPr/>
        </p:nvSpPr>
        <p:spPr>
          <a:xfrm>
            <a:off x="297815" y="1160144"/>
            <a:ext cx="2680321" cy="14820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55269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关键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考量：</a:t>
            </a:r>
          </a:p>
          <a:p>
            <a:pPr>
              <a:lnSpc>
                <a:spcPts val="814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与当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前品牌定位的一致性和延续性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397509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员工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和客户的参与感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indent="226059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�常见</a:t>
            </a: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陷阱：</a:t>
            </a:r>
          </a:p>
        </p:txBody>
      </p:sp>
      <p:sp>
        <p:nvSpPr>
          <p:cNvPr id="985" name="TextBox 985"/>
          <p:cNvSpPr txBox="1"/>
          <p:nvPr/>
        </p:nvSpPr>
        <p:spPr>
          <a:xfrm>
            <a:off x="3105785" y="1591058"/>
            <a:ext cx="2324721" cy="5820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92735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对行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业和社会的积极影响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-5" dirty="0">
                <a:solidFill>
                  <a:srgbClr val="000000"/>
                </a:solidFill>
                <a:latin typeface="Arial Unicode MS"/>
                <a:ea typeface="Arial Unicode MS"/>
              </a:rPr>
              <a:t>愿景</a:t>
            </a:r>
            <a:r>
              <a:rPr lang="zh-CN" altLang="en-US" sz="1400" dirty="0">
                <a:solidFill>
                  <a:srgbClr val="000000"/>
                </a:solidFill>
                <a:latin typeface="Arial Unicode MS"/>
                <a:ea typeface="Arial Unicode MS"/>
              </a:rPr>
              <a:t>的远大与可实现性的平衡</a:t>
            </a:r>
          </a:p>
        </p:txBody>
      </p:sp>
      <p:sp>
        <p:nvSpPr>
          <p:cNvPr id="986" name="TextBox 986"/>
          <p:cNvSpPr txBox="1"/>
          <p:nvPr/>
        </p:nvSpPr>
        <p:spPr>
          <a:xfrm>
            <a:off x="5827395" y="1121460"/>
            <a:ext cx="6058525" cy="15943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800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描绘品牌如何在未来更好地服务客户，提升客户体验或解决更复杂的问题。（</a:t>
            </a:r>
            <a:r>
              <a:rPr lang="zh-CN" altLang="en-US" sz="1200" spc="8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）员工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愿景：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说明品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牌将如何为员工创造更好的工作环境、发展机会和个人成长空间。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6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创新项目：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提出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个体现品牌未来愿景的创新项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目或倡议。这些项目应该既有前瞻性，又基于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品牌的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核心能力。</a:t>
            </a:r>
          </a:p>
          <a:p>
            <a:pPr marL="0" indent="30480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（7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）里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程碑：</a:t>
            </a:r>
          </a:p>
          <a:p>
            <a:pPr marL="0" indent="304800">
              <a:lnSpc>
                <a:spcPct val="99583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设定3—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个实现愿景的关键里程碑。这些里程碑应该是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具体、可衡量的，并且时间跨</a:t>
            </a:r>
          </a:p>
        </p:txBody>
      </p:sp>
      <p:sp>
        <p:nvSpPr>
          <p:cNvPr id="987" name="TextBox 987"/>
          <p:cNvSpPr txBox="1"/>
          <p:nvPr/>
        </p:nvSpPr>
        <p:spPr>
          <a:xfrm>
            <a:off x="285115" y="2716400"/>
            <a:ext cx="5278109" cy="3869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愿景过于抽象，缺乏实际意义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忽视社会责任，仅关注商业目标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未能激发利益相关者的共鸣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愿景与品牌当前形象差距过大，缺乏可信度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50408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indent="306069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为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品牌名称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创造一个富有感染力的品牌未来愿景，包含以下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元素：</a:t>
            </a:r>
          </a:p>
          <a:p>
            <a:pPr marL="0" indent="30606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愿景陈述：</a:t>
            </a:r>
          </a:p>
          <a:p>
            <a:pPr marL="0" indent="304800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用一句话描述品牌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—10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年后的理想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状态。这个陈述应该简洁有力，富有远见，同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时与品牌当前的核心价值观保持一致。</a:t>
            </a:r>
          </a:p>
          <a:p>
            <a:pPr marL="0" indent="306069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行业影响：</a:t>
            </a:r>
          </a:p>
          <a:p>
            <a:pPr marL="0" indent="30606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描述品牌将如何引领行业发展或改变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行业格局。包括技术创新、商业模式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革新或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服务标准提升等方面。</a:t>
            </a:r>
          </a:p>
          <a:p>
            <a:pPr marL="0" indent="30606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社会贡献：</a:t>
            </a:r>
          </a:p>
          <a:p>
            <a:pPr marL="0" indent="30606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阐述品牌将为社会带来的积极影响。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考虑环境保护、社会公平、教育发展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或健康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促进等方面的贡献。</a:t>
            </a:r>
          </a:p>
          <a:p>
            <a:pPr marL="0" indent="30606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客户价值：</a:t>
            </a:r>
          </a:p>
        </p:txBody>
      </p:sp>
      <p:sp>
        <p:nvSpPr>
          <p:cNvPr id="988" name="TextBox 988"/>
          <p:cNvSpPr txBox="1"/>
          <p:nvPr/>
        </p:nvSpPr>
        <p:spPr>
          <a:xfrm>
            <a:off x="5827395" y="2757220"/>
            <a:ext cx="6100433" cy="38404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度合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理。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8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全球视野：</a:t>
            </a:r>
          </a:p>
          <a:p>
            <a:pPr marL="0" indent="30480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如果适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用，描述品牌在全球市场中的未来定位和发展规划。</a:t>
            </a:r>
          </a:p>
          <a:p>
            <a:pPr marL="0" indent="30480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9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技术展望：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预测品牌将如何利用新兴技术来实现愿景，可能包括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AI、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物联网、可持续能源等领域。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）伙伴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生态：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描述品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牌将如何与其他企业、机构或组织合作，共同实现更大的目标。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11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）激励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口号：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创造一个能激励员工和客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户的口号，体现共同奋斗的精神。这个口号应该简短有力，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易于记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忆和传播。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12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）视觉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象征：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提出一个能够直观表现未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来愿景的视觉元素或符号。这个元素应该能够简洁地传达愿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景的核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心理念。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评估标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准：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一致性：与当前品牌定位和价值观的连贯性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远见性：展现了足够远大和鼓舞人心的未来图景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可信度：基于品牌的核心优势，具有实现的可能性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共鸣度：能否激发员工、客户和其他利益相关者的热情</a:t>
            </a:r>
          </a:p>
          <a:p>
            <a:pPr marL="0" indent="30480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请基于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以上指南，创造一个全面、富有感染力且能指引品牌长远发展的未来愿景。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Picture 9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127760"/>
            <a:ext cx="2240280" cy="929640"/>
          </a:xfrm>
          <a:prstGeom prst="rect">
            <a:avLst/>
          </a:prstGeom>
        </p:spPr>
      </p:pic>
      <p:pic>
        <p:nvPicPr>
          <p:cNvPr id="991" name="Picture 9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127760"/>
            <a:ext cx="2247900" cy="929640"/>
          </a:xfrm>
          <a:prstGeom prst="rect">
            <a:avLst/>
          </a:prstGeom>
        </p:spPr>
      </p:pic>
      <p:pic>
        <p:nvPicPr>
          <p:cNvPr id="992" name="Picture 9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59" y="1112519"/>
            <a:ext cx="2240280" cy="937260"/>
          </a:xfrm>
          <a:prstGeom prst="rect">
            <a:avLst/>
          </a:prstGeom>
        </p:spPr>
      </p:pic>
      <p:sp>
        <p:nvSpPr>
          <p:cNvPr id="5" name="TextBox 992"/>
          <p:cNvSpPr txBox="1"/>
          <p:nvPr/>
        </p:nvSpPr>
        <p:spPr>
          <a:xfrm>
            <a:off x="376554" y="289633"/>
            <a:ext cx="555494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年终总结</a:t>
            </a:r>
            <a:r>
              <a:rPr lang="zh-CN" altLang="en-US" sz="4000" b="1" spc="254" dirty="0">
                <a:solidFill>
                  <a:srgbClr val="242424"/>
                </a:solidFill>
                <a:latin typeface="宋体"/>
                <a:ea typeface="宋体"/>
              </a:rPr>
              <a:t>的提示语设计</a:t>
            </a:r>
          </a:p>
        </p:txBody>
      </p:sp>
      <p:sp>
        <p:nvSpPr>
          <p:cNvPr id="993" name="TextBox 993"/>
          <p:cNvSpPr txBox="1"/>
          <p:nvPr/>
        </p:nvSpPr>
        <p:spPr>
          <a:xfrm>
            <a:off x="378459" y="1210843"/>
            <a:ext cx="3314049" cy="217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2997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业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绩回顾</a:t>
            </a:r>
          </a:p>
          <a:p>
            <a:pPr>
              <a:lnSpc>
                <a:spcPts val="1910"/>
              </a:lnSpc>
            </a:pPr>
            <a:endParaRPr lang="en-US" dirty="0"/>
          </a:p>
          <a:p>
            <a:pPr marL="0" hangingPunct="0">
              <a:lnSpc>
                <a:spcPct val="115416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业绩回顾部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分旨在清晰、全面地展示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过去一年的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工作成绩。提示语设计应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侧重于以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下要点：</a:t>
            </a:r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成果展示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结构清晰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具体事例</a:t>
            </a:r>
          </a:p>
        </p:txBody>
      </p:sp>
      <p:sp>
        <p:nvSpPr>
          <p:cNvPr id="994" name="TextBox 994"/>
          <p:cNvSpPr txBox="1"/>
          <p:nvPr/>
        </p:nvSpPr>
        <p:spPr>
          <a:xfrm>
            <a:off x="4469129" y="1210843"/>
            <a:ext cx="3314049" cy="217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98221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成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就展示</a:t>
            </a:r>
          </a:p>
          <a:p>
            <a:pPr>
              <a:lnSpc>
                <a:spcPts val="1910"/>
              </a:lnSpc>
            </a:pPr>
            <a:endParaRPr lang="en-US" dirty="0"/>
          </a:p>
          <a:p>
            <a:pPr marL="0" hangingPunct="0">
              <a:lnSpc>
                <a:spcPct val="115416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成就展示部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分应突出个人和团队在过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去一年的创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新、突破及贡献，提示语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设计应侧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重：</a:t>
            </a:r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团队贡献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创新与突破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个人荣誉</a:t>
            </a:r>
          </a:p>
        </p:txBody>
      </p:sp>
      <p:sp>
        <p:nvSpPr>
          <p:cNvPr id="995" name="TextBox 995"/>
          <p:cNvSpPr txBox="1"/>
          <p:nvPr/>
        </p:nvSpPr>
        <p:spPr>
          <a:xfrm>
            <a:off x="8559800" y="1194968"/>
            <a:ext cx="3314048" cy="22060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6647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未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来规划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44"/>
              </a:lnSpc>
            </a:pPr>
            <a:endParaRPr lang="en-US" dirty="0"/>
          </a:p>
          <a:p>
            <a:pPr marL="0" hangingPunct="0">
              <a:lnSpc>
                <a:spcPct val="115416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未来规划部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分是年终总结的重点，旨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在为新的一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年设定明确的目标和发展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方向。提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示语设计应关注以下要点：</a:t>
            </a:r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目标设定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行动计划</a:t>
            </a:r>
          </a:p>
          <a:p>
            <a:pPr marL="0">
              <a:lnSpc>
                <a:spcPct val="100833"/>
              </a:lnSpc>
              <a:spcBef>
                <a:spcPts val="27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个人成长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6519" y="3537584"/>
          <a:ext cx="4089400" cy="3234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30">
                <a:tc>
                  <a:txBody>
                    <a:bodyPr/>
                    <a:lstStyle/>
                    <a:p>
                      <a:pPr marL="0" indent="198754">
                        <a:lnSpc>
                          <a:spcPct val="101666"/>
                        </a:lnSpc>
                        <a:spcBef>
                          <a:spcPts val="20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9875">
                        <a:lnSpc>
                          <a:spcPct val="101666"/>
                        </a:lnSpc>
                        <a:spcBef>
                          <a:spcPts val="200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02970">
                        <a:lnSpc>
                          <a:spcPct val="101666"/>
                        </a:lnSpc>
                        <a:spcBef>
                          <a:spcPts val="20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86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450"/>
                        </a:lnSpc>
                      </a:pPr>
                      <a:endParaRPr lang="en-US" dirty="0"/>
                    </a:p>
                    <a:p>
                      <a:pPr marL="0" indent="59054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成果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概述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9"/>
                        </a:lnSpc>
                      </a:pPr>
                      <a:endParaRPr lang="en-US" dirty="0"/>
                    </a:p>
                    <a:p>
                      <a:pPr marL="60325" hangingPunct="0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请总结过去一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年中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的主要工作成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果，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重点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展示对业务的</a:t>
                      </a:r>
                    </a:p>
                    <a:p>
                      <a:pPr marL="0" indent="269875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推动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作用。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  <a:endParaRPr lang="en-US" dirty="0"/>
                    </a:p>
                    <a:p>
                      <a:pPr marL="64770" indent="50164" hangingPunct="0">
                        <a:lnSpc>
                          <a:spcPct val="99583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业绩突出项：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列出关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键业绩指</a:t>
                      </a:r>
                      <a:br/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标，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如销售额、客户增长率、项目完成情况等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成果分析：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分析</a:t>
                      </a:r>
                      <a:br/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这些成果带来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的具体影响，如提</a:t>
                      </a:r>
                    </a:p>
                    <a:p>
                      <a:pPr marL="0" indent="39433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升效率、拓展市场等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565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 marL="0" indent="59054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支撑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79"/>
                        </a:lnSpc>
                      </a:pPr>
                      <a:endParaRPr lang="en-US" dirty="0"/>
                    </a:p>
                    <a:p>
                      <a:pPr marL="0" indent="6032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请提供支撑业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绩的</a:t>
                      </a:r>
                    </a:p>
                    <a:p>
                      <a:pPr marL="0" indent="6032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具体数据，并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</a:t>
                      </a:r>
                    </a:p>
                    <a:p>
                      <a:pPr marL="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数据展示工作成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效。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indent="26669" hangingPunct="0">
                        <a:lnSpc>
                          <a:spcPct val="99583"/>
                        </a:lnSpc>
                        <a:spcBef>
                          <a:spcPts val="359"/>
                        </a:spcBef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数据呈现：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使用具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体数字或百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分比，如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销售额增长了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20%”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或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客户满意度提升了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10%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数据来</a:t>
                      </a:r>
                    </a:p>
                    <a:p>
                      <a:pPr marL="0" indent="11493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源：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明确数据来源和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依据，确</a:t>
                      </a:r>
                    </a:p>
                    <a:p>
                      <a:pPr marL="0" indent="743585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保真实性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895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845"/>
                        </a:lnSpc>
                      </a:pPr>
                      <a:endParaRPr lang="en-US" dirty="0"/>
                    </a:p>
                    <a:p>
                      <a:pPr marL="0" indent="59054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项目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亮点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4"/>
                        </a:lnSpc>
                      </a:pPr>
                      <a:endParaRPr lang="en-US" dirty="0"/>
                    </a:p>
                    <a:p>
                      <a:pPr marL="60325" hangingPunct="0">
                        <a:lnSpc>
                          <a:spcPct val="99583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请列举过去一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年中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参与的重要项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目及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其成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果，展示在项</a:t>
                      </a:r>
                    </a:p>
                    <a:p>
                      <a:pPr marL="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目中的角色和贡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献。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4"/>
                        </a:lnSpc>
                      </a:pPr>
                      <a:endParaRPr lang="en-US" dirty="0"/>
                    </a:p>
                    <a:p>
                      <a:pPr marL="0" indent="11493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关键项目：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列举项目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名称、目</a:t>
                      </a:r>
                    </a:p>
                    <a:p>
                      <a:pPr marL="114935" indent="-69850" hangingPunct="0">
                        <a:lnSpc>
                          <a:spcPct val="99583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标、结果及自己的角色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影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响力：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项目如何推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动了部门或公司目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标的实现，具体成果如何体现</a:t>
                      </a:r>
                      <a:r>
                        <a:rPr lang="en-US" altLang="zh-CN" sz="1100" spc="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47515" y="3537584"/>
          <a:ext cx="3936365" cy="3234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9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185419">
                        <a:lnSpc>
                          <a:spcPct val="101666"/>
                        </a:lnSpc>
                        <a:spcBef>
                          <a:spcPts val="204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17804">
                        <a:lnSpc>
                          <a:spcPct val="101666"/>
                        </a:lnSpc>
                        <a:spcBef>
                          <a:spcPts val="204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90905">
                        <a:lnSpc>
                          <a:spcPct val="101666"/>
                        </a:lnSpc>
                        <a:spcBef>
                          <a:spcPts val="204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76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485"/>
                        </a:lnSpc>
                      </a:pPr>
                      <a:endParaRPr lang="en-US" dirty="0"/>
                    </a:p>
                    <a:p>
                      <a:pPr marL="0" indent="11556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团队贡</a:t>
                      </a:r>
                    </a:p>
                    <a:p>
                      <a:pPr marL="0" indent="255269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献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5"/>
                        </a:lnSpc>
                      </a:pPr>
                      <a:endParaRPr lang="en-US" dirty="0"/>
                    </a:p>
                    <a:p>
                      <a:pPr marL="78104" hangingPunct="0">
                        <a:lnSpc>
                          <a:spcPct val="99583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请总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结团队在过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去一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年中取得的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重大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成果，并展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示团队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合作的优</a:t>
                      </a:r>
                    </a:p>
                    <a:p>
                      <a:pPr marL="0" indent="427354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势。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5"/>
                        </a:lnSpc>
                      </a:pPr>
                      <a:endParaRPr lang="en-US" dirty="0"/>
                    </a:p>
                    <a:p>
                      <a:pPr marL="0" indent="10350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团队协作：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描述团队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在协作中</a:t>
                      </a:r>
                    </a:p>
                    <a:p>
                      <a:pPr marL="83820" indent="38735" hangingPunct="0">
                        <a:lnSpc>
                          <a:spcPct val="99583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的表现，如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跨部门合作、协调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沟通等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团队成就：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列举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团队在目标实现方面的成绩，如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年度</a:t>
                      </a:r>
                    </a:p>
                    <a:p>
                      <a:pPr marL="0" indent="32067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目标完成度达到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120%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75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25"/>
                        </a:lnSpc>
                      </a:pPr>
                      <a:endParaRPr lang="en-US" dirty="0"/>
                    </a:p>
                    <a:p>
                      <a:pPr marL="0" indent="11556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创新突</a:t>
                      </a:r>
                    </a:p>
                    <a:p>
                      <a:pPr marL="0" indent="255269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破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4" hangingPunct="0">
                        <a:lnSpc>
                          <a:spcPct val="99583"/>
                        </a:lnSpc>
                        <a:spcBef>
                          <a:spcPts val="345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请描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述在工作中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做出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的创新举措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或取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得的突破性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进展，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展示个人</a:t>
                      </a:r>
                    </a:p>
                    <a:p>
                      <a:pPr marL="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和团队的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创造力。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 indent="-19050" hangingPunct="0">
                        <a:lnSpc>
                          <a:spcPct val="99583"/>
                        </a:lnSpc>
                        <a:spcBef>
                          <a:spcPts val="34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创新成果：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展示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创新的产品、</a:t>
                      </a:r>
                      <a:br/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流程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或技术，并具体描述其影</a:t>
                      </a:r>
                    </a:p>
                    <a:p>
                      <a:pPr marL="0" indent="8382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响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突破性进展：</a:t>
                      </a:r>
                      <a:r>
                        <a:rPr lang="en-US" altLang="zh-CN" sz="1100" spc="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分析突破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如何</a:t>
                      </a:r>
                    </a:p>
                    <a:p>
                      <a:pPr marL="0" indent="12255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解决了长期存在的问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题或带来</a:t>
                      </a:r>
                    </a:p>
                    <a:p>
                      <a:pPr marL="0" indent="732155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显著改变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505"/>
                        </a:lnSpc>
                      </a:pPr>
                      <a:endParaRPr lang="en-US" dirty="0"/>
                    </a:p>
                    <a:p>
                      <a:pPr marL="0" indent="11556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个人荣</a:t>
                      </a:r>
                    </a:p>
                    <a:p>
                      <a:pPr marL="0" indent="255269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誉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78104" hangingPunct="0">
                        <a:lnSpc>
                          <a:spcPct val="99583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请列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举个人在过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去一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年中获得的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奖项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、荣誉或表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彰，突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出个人贡</a:t>
                      </a:r>
                    </a:p>
                    <a:p>
                      <a:pPr marL="0" indent="427354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献。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25"/>
                        </a:lnSpc>
                      </a:pPr>
                      <a:endParaRPr lang="en-US" dirty="0"/>
                    </a:p>
                    <a:p>
                      <a:pPr marL="0" indent="10350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荣誉奖项：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列出获得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的奖项或</a:t>
                      </a:r>
                    </a:p>
                    <a:p>
                      <a:pPr marL="0" indent="12319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特别表彰，如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最佳员工奖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创</a:t>
                      </a:r>
                    </a:p>
                    <a:p>
                      <a:pPr marL="0" indent="6096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新贡献奖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等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个人影响：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通过个</a:t>
                      </a:r>
                    </a:p>
                    <a:p>
                      <a:pPr marL="0" indent="12255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人努力，推动了业务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或团队的</a:t>
                      </a:r>
                    </a:p>
                    <a:p>
                      <a:pPr marL="0" indent="31305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成长，取得了哪些成果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68334" y="3537584"/>
          <a:ext cx="3839209" cy="3234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0" indent="177165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  <a:solidFill>
                      <a:srgbClr val="33A2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6519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  <a:solidFill>
                      <a:srgbClr val="33A2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72819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  <a:solidFill>
                      <a:srgbClr val="33A2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95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25"/>
                        </a:lnSpc>
                      </a:pPr>
                      <a:endParaRPr lang="en-US" dirty="0"/>
                    </a:p>
                    <a:p>
                      <a:pPr marL="0" indent="10731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年度目</a:t>
                      </a:r>
                    </a:p>
                    <a:p>
                      <a:pPr marL="0" indent="247015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标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4"/>
                        </a:lnSpc>
                      </a:pPr>
                      <a:endParaRPr lang="en-US" dirty="0"/>
                    </a:p>
                    <a:p>
                      <a:pPr marL="96519" hangingPunct="0">
                        <a:lnSpc>
                          <a:spcPct val="99583"/>
                        </a:lnSpc>
                      </a:pP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请设定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明年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的主要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工作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，并确</a:t>
                      </a:r>
                    </a:p>
                    <a:p>
                      <a:pPr marL="0" indent="26669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保目标具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体、</a:t>
                      </a:r>
                    </a:p>
                    <a:p>
                      <a:pPr marL="0" indent="166369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可度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量。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4"/>
                        </a:lnSpc>
                      </a:pPr>
                      <a:endParaRPr lang="en-US" dirty="0"/>
                    </a:p>
                    <a:p>
                      <a:pPr marL="0" indent="45084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目标设定：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明确具体的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工作目标，</a:t>
                      </a:r>
                    </a:p>
                    <a:p>
                      <a:pPr marL="114934" indent="-69850" hangingPunct="0">
                        <a:lnSpc>
                          <a:spcPct val="99583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如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实现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XX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销售额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拓展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XX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客户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等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目标量化：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为每个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目标设定具体</a:t>
                      </a:r>
                      <a:br/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的量化标准，如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年度增长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30%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或</a:t>
                      </a:r>
                    </a:p>
                    <a:p>
                      <a:pPr marL="0" indent="549909">
                        <a:lnSpc>
                          <a:spcPct val="1016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增加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个大客户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”]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955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625"/>
                        </a:lnSpc>
                      </a:pPr>
                      <a:endParaRPr lang="en-US" dirty="0"/>
                    </a:p>
                    <a:p>
                      <a:pPr marL="0" indent="10731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行动计</a:t>
                      </a:r>
                    </a:p>
                    <a:p>
                      <a:pPr marL="0" indent="247015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划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4"/>
                        </a:lnSpc>
                      </a:pPr>
                      <a:endParaRPr lang="en-US" dirty="0"/>
                    </a:p>
                    <a:p>
                      <a:pPr marL="96519" hangingPunct="0">
                        <a:lnSpc>
                          <a:spcPct val="100000"/>
                        </a:lnSpc>
                      </a:pP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请根据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制定具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体的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行动步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骤或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策略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，确保</a:t>
                      </a:r>
                    </a:p>
                    <a:p>
                      <a:pPr marL="0" indent="26669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目标的实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现。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4"/>
                        </a:lnSpc>
                      </a:pPr>
                      <a:endParaRPr lang="en-US" dirty="0"/>
                    </a:p>
                    <a:p>
                      <a:pPr marL="0" indent="114934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行动步骤：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列出为实现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目标所需</a:t>
                      </a:r>
                    </a:p>
                    <a:p>
                      <a:pPr marL="45719" indent="65405" hangingPunct="0">
                        <a:lnSpc>
                          <a:spcPct val="99583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的主要行动，如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提升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客户服务质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量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加强跨部门协作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等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时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间节点：</a:t>
                      </a:r>
                    </a:p>
                    <a:p>
                      <a:pPr marL="0" indent="114934">
                        <a:lnSpc>
                          <a:spcPct val="100000"/>
                        </a:lnSpc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为每个目标设定具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体的时间表或</a:t>
                      </a:r>
                    </a:p>
                    <a:p>
                      <a:pPr marL="0" indent="74358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阶段性目标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44"/>
                        </a:lnSpc>
                      </a:pPr>
                      <a:endParaRPr lang="en-US" dirty="0"/>
                    </a:p>
                    <a:p>
                      <a:pPr marL="0" indent="107315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发展方</a:t>
                      </a:r>
                    </a:p>
                    <a:p>
                      <a:pPr marL="0" indent="247015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向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19" hangingPunct="0">
                        <a:lnSpc>
                          <a:spcPct val="99583"/>
                        </a:lnSpc>
                      </a:pP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请阐述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未来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一年在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职业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发展或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个人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成长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方面的</a:t>
                      </a:r>
                    </a:p>
                    <a:p>
                      <a:pPr marL="0" indent="236219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规划。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indent="50165" hangingPunct="0">
                        <a:lnSpc>
                          <a:spcPct val="99583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个人发展：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设定个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人的职业成长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目标，如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提升管理能力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”“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拓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展行业知识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等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团队协作：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描述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计划如何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进一步提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升团队合作或打造高效团</a:t>
                      </a:r>
                    </a:p>
                    <a:p>
                      <a:pPr marL="0" indent="1022984">
                        <a:lnSpc>
                          <a:spcPct val="101666"/>
                        </a:lnSpc>
                      </a:pPr>
                      <a:r>
                        <a:rPr lang="zh-CN" altLang="en-US" sz="1100" spc="-85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队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Picture 1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3909060"/>
            <a:ext cx="4823460" cy="2849880"/>
          </a:xfrm>
          <a:prstGeom prst="rect">
            <a:avLst/>
          </a:prstGeom>
        </p:spPr>
      </p:pic>
      <p:sp>
        <p:nvSpPr>
          <p:cNvPr id="2" name="Freeform 1000"/>
          <p:cNvSpPr/>
          <p:nvPr/>
        </p:nvSpPr>
        <p:spPr>
          <a:xfrm>
            <a:off x="6229350" y="2444750"/>
            <a:ext cx="2114550" cy="361950"/>
          </a:xfrm>
          <a:custGeom>
            <a:avLst/>
            <a:gdLst>
              <a:gd name="connsiteX0" fmla="*/ 17526 w 2114550"/>
              <a:gd name="connsiteY0" fmla="*/ 75945 h 361950"/>
              <a:gd name="connsiteX1" fmla="*/ 75438 w 2114550"/>
              <a:gd name="connsiteY1" fmla="*/ 18033 h 361950"/>
              <a:gd name="connsiteX2" fmla="*/ 2065781 w 2114550"/>
              <a:gd name="connsiteY2" fmla="*/ 18033 h 361950"/>
              <a:gd name="connsiteX3" fmla="*/ 2123693 w 2114550"/>
              <a:gd name="connsiteY3" fmla="*/ 75945 h 361950"/>
              <a:gd name="connsiteX4" fmla="*/ 2123693 w 2114550"/>
              <a:gd name="connsiteY4" fmla="*/ 309117 h 361950"/>
              <a:gd name="connsiteX5" fmla="*/ 2065781 w 2114550"/>
              <a:gd name="connsiteY5" fmla="*/ 367029 h 361950"/>
              <a:gd name="connsiteX6" fmla="*/ 75438 w 2114550"/>
              <a:gd name="connsiteY6" fmla="*/ 367029 h 361950"/>
              <a:gd name="connsiteX7" fmla="*/ 17526 w 2114550"/>
              <a:gd name="connsiteY7" fmla="*/ 309117 h 361950"/>
              <a:gd name="connsiteX8" fmla="*/ 17526 w 2114550"/>
              <a:gd name="connsiteY8" fmla="*/ 75945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17526" y="75945"/>
                </a:moveTo>
                <a:cubicBezTo>
                  <a:pt x="17145" y="43840"/>
                  <a:pt x="43205" y="17779"/>
                  <a:pt x="75438" y="18033"/>
                </a:cubicBezTo>
                <a:lnTo>
                  <a:pt x="2065781" y="18033"/>
                </a:lnTo>
                <a:cubicBezTo>
                  <a:pt x="2097379" y="17779"/>
                  <a:pt x="2123440" y="43840"/>
                  <a:pt x="2123693" y="75945"/>
                </a:cubicBezTo>
                <a:lnTo>
                  <a:pt x="2123693" y="309117"/>
                </a:lnTo>
                <a:cubicBezTo>
                  <a:pt x="2123440" y="340969"/>
                  <a:pt x="2097379" y="367029"/>
                  <a:pt x="2065781" y="367029"/>
                </a:cubicBezTo>
                <a:lnTo>
                  <a:pt x="75438" y="367029"/>
                </a:lnTo>
                <a:cubicBezTo>
                  <a:pt x="43205" y="367029"/>
                  <a:pt x="17145" y="340969"/>
                  <a:pt x="17526" y="309117"/>
                </a:cubicBezTo>
                <a:lnTo>
                  <a:pt x="17526" y="75945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2" name="Picture 1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2811780"/>
            <a:ext cx="5501640" cy="3680460"/>
          </a:xfrm>
          <a:prstGeom prst="rect">
            <a:avLst/>
          </a:prstGeom>
        </p:spPr>
      </p:pic>
      <p:sp>
        <p:nvSpPr>
          <p:cNvPr id="3" name="TextBox 1002"/>
          <p:cNvSpPr txBox="1"/>
          <p:nvPr/>
        </p:nvSpPr>
        <p:spPr>
          <a:xfrm>
            <a:off x="376554" y="289633"/>
            <a:ext cx="992881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玩转微信公众号：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内容生产的提示语策略</a:t>
            </a:r>
          </a:p>
        </p:txBody>
      </p:sp>
      <p:sp>
        <p:nvSpPr>
          <p:cNvPr id="1003" name="TextBox 1003"/>
          <p:cNvSpPr txBox="1"/>
          <p:nvPr/>
        </p:nvSpPr>
        <p:spPr>
          <a:xfrm>
            <a:off x="301625" y="1280794"/>
            <a:ext cx="5498449" cy="2803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7747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平台特性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与算法机制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微信公众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号具有四大核心特性：私域流量、深度阅读、规范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体系和互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动机制。这些特性直接影响提示语设计的策略方向：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私域流量属性要求提示语需保持稳定的调性，建立品牌认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知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深度阅读场景决定了内容结构需层次分明，重视逻辑传递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规范体系下的提示语设计需符合平台规则，避免触碰敏感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词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互动机制为提示语优化提供数据基础，可持续迭代改进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6235065" y="1280794"/>
            <a:ext cx="5354304" cy="5168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选题规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划提示语</a:t>
            </a:r>
          </a:p>
          <a:p>
            <a:pPr>
              <a:lnSpc>
                <a:spcPts val="1269"/>
              </a:lnSpc>
            </a:pPr>
            <a:endParaRPr lang="en-US" dirty="0"/>
          </a:p>
          <a:p>
            <a:pPr marL="0" indent="59054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选题规划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提示的核心在于明确内容定位与读者价值。典型的</a:t>
            </a:r>
          </a:p>
          <a:p>
            <a:pPr marL="0" indent="59054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提示语模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板：</a:t>
            </a:r>
          </a:p>
          <a:p>
            <a:pPr>
              <a:lnSpc>
                <a:spcPts val="1625"/>
              </a:lnSpc>
            </a:pPr>
            <a:endParaRPr lang="en-US" dirty="0"/>
          </a:p>
          <a:p>
            <a:pPr marL="0" indent="60568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407669" hangingPunct="0">
              <a:lnSpc>
                <a:spcPct val="13875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任务目标：生成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具体领域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选题规划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背景信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息：</a:t>
            </a:r>
          </a:p>
          <a:p>
            <a:pPr marL="407669" hangingPunct="0">
              <a:lnSpc>
                <a:spcPct val="138750"/>
              </a:lnSpc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184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账号定位：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填写定位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目标读者：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读者画像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407669" hangingPunct="0">
              <a:lnSpc>
                <a:spcPct val="13875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核心诉求：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读者需求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</a:p>
          <a:p>
            <a:pPr marL="0" indent="407669">
              <a:lnSpc>
                <a:spcPct val="100000"/>
              </a:lnSpc>
              <a:spcBef>
                <a:spcPts val="279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）生成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个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选题方向</a:t>
            </a:r>
          </a:p>
          <a:p>
            <a:pPr marL="520065" indent="-112395" hangingPunct="0">
              <a:lnSpc>
                <a:spcPct val="138750"/>
              </a:lnSpc>
              <a:spcBef>
                <a:spcPts val="279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（2）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每个选题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包含：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主标题</a:t>
            </a:r>
          </a:p>
          <a:p>
            <a:pPr marL="0" indent="520065">
              <a:lnSpc>
                <a:spcPct val="100000"/>
              </a:lnSpc>
              <a:spcBef>
                <a:spcPts val="2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副标题</a:t>
            </a:r>
          </a:p>
          <a:p>
            <a:pPr marL="520065" hangingPunct="0">
              <a:lnSpc>
                <a:spcPct val="138750"/>
              </a:lnSpc>
              <a:spcBef>
                <a:spcPts val="279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核心观点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价值主张</a:t>
            </a:r>
          </a:p>
          <a:p>
            <a:pPr marL="407669" hangingPunct="0">
              <a:lnSpc>
                <a:spcPct val="13875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考虑时效性与持久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性的平衡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输出格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式：表格呈现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Picture 10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79" y="2103120"/>
            <a:ext cx="5471160" cy="4389120"/>
          </a:xfrm>
          <a:prstGeom prst="rect">
            <a:avLst/>
          </a:prstGeom>
        </p:spPr>
      </p:pic>
      <p:pic>
        <p:nvPicPr>
          <p:cNvPr id="1007" name="Picture 10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716280"/>
            <a:ext cx="5890260" cy="5928360"/>
          </a:xfrm>
          <a:prstGeom prst="rect">
            <a:avLst/>
          </a:prstGeom>
        </p:spPr>
      </p:pic>
      <p:sp>
        <p:nvSpPr>
          <p:cNvPr id="2" name="TextBox 1007"/>
          <p:cNvSpPr txBox="1"/>
          <p:nvPr/>
        </p:nvSpPr>
        <p:spPr>
          <a:xfrm>
            <a:off x="376554" y="289633"/>
            <a:ext cx="11115024" cy="802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31666"/>
              </a:lnSpc>
            </a:pPr>
            <a:r>
              <a:rPr lang="zh-CN" altLang="en-US" sz="4000" b="1" spc="150" dirty="0">
                <a:solidFill>
                  <a:srgbClr val="242424"/>
                </a:solidFill>
                <a:latin typeface="Arial Unicode MS"/>
                <a:ea typeface="Arial Unicode MS"/>
              </a:rPr>
              <a:t>创作引导提示语（</a:t>
            </a:r>
            <a:r>
              <a:rPr lang="zh-CN" altLang="en-US" sz="4000" b="1" spc="160" dirty="0">
                <a:solidFill>
                  <a:srgbClr val="242424"/>
                </a:solidFill>
                <a:latin typeface="Arial Unicode MS"/>
                <a:ea typeface="Arial Unicode MS"/>
              </a:rPr>
              <a:t>一）</a:t>
            </a:r>
            <a:r>
              <a:rPr lang="zh-CN" altLang="en-US" sz="4000" b="1" spc="50" dirty="0">
                <a:solidFill>
                  <a:srgbClr val="242424"/>
                </a:solidFill>
                <a:latin typeface="Arial Unicode MS"/>
                <a:cs typeface="Arial Unicode MS"/>
              </a:rPr>
              <a:t>   </a:t>
            </a:r>
            <a:r>
              <a:rPr lang="zh-CN" altLang="en-US" sz="1600" spc="60" dirty="0">
                <a:solidFill>
                  <a:srgbClr val="000000"/>
                </a:solidFill>
                <a:latin typeface="Arial Unicode MS"/>
                <a:ea typeface="Arial Unicode MS"/>
              </a:rPr>
              <a:t>基于以上特质，设计标题生成的提示语需把握以下原则：</a:t>
            </a:r>
          </a:p>
        </p:txBody>
      </p:sp>
      <p:sp>
        <p:nvSpPr>
          <p:cNvPr id="1008" name="TextBox 1008"/>
          <p:cNvSpPr txBox="1"/>
          <p:nvPr/>
        </p:nvSpPr>
        <p:spPr>
          <a:xfrm>
            <a:off x="362584" y="1185415"/>
            <a:ext cx="5312395" cy="46953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微信公众号作为深度阅读平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台，其内容创作需要在吸引力、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专业性和传播性之间找到平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衡。设计高效的创作提示语，需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要关注文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章的结构设计与表达特色。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75"/>
              </a:lnSpc>
            </a:pPr>
            <a:endParaRPr lang="en-US" dirty="0"/>
          </a:p>
          <a:p>
            <a:pPr marL="0" indent="15875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标题创作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的提示设计</a:t>
            </a:r>
          </a:p>
          <a:p>
            <a:pPr>
              <a:lnSpc>
                <a:spcPts val="113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优质的公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众号标题通常具备以下特质：</a:t>
            </a:r>
          </a:p>
        </p:txBody>
      </p:sp>
      <p:sp>
        <p:nvSpPr>
          <p:cNvPr id="1009" name="TextBox 1009"/>
          <p:cNvSpPr txBox="1"/>
          <p:nvPr/>
        </p:nvSpPr>
        <p:spPr>
          <a:xfrm>
            <a:off x="6285229" y="1139695"/>
            <a:ext cx="5487019" cy="4950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）明确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价值维度：指明文章提供的具体价值类型，如解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决方案、深度分析、经验分享等。这有助于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聚焦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输出方向。</a:t>
            </a:r>
          </a:p>
          <a:p>
            <a:pPr marL="0" hangingPunct="0">
              <a:lnSpc>
                <a:spcPct val="11958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）设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定语气基调：根据账号调性确定表达基调，可以是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严谨专业型、观点鲜明型或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温和建议型。不同基调会影响标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题的表达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方式。</a:t>
            </a:r>
          </a:p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）限定结构要素：规定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标题需包含的核心要素，如热点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词、数据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点、专家观点等，确保生成的标题信息完整。</a:t>
            </a:r>
          </a:p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）平衡吸引力与专业性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：在提示语中设置约束条件，避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免标题过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于营销化或者过于学术化。</a:t>
            </a:r>
          </a:p>
          <a:p>
            <a:pPr>
              <a:lnSpc>
                <a:spcPts val="1964"/>
              </a:lnSpc>
            </a:pPr>
            <a:endParaRPr lang="en-US" dirty="0"/>
          </a:p>
          <a:p>
            <a:pPr marL="0" indent="21452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 marL="12065" hangingPunct="0">
              <a:lnSpc>
                <a:spcPct val="95416"/>
              </a:lnSpc>
              <a:spcBef>
                <a:spcPts val="17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请基于以下要素生成文章标题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:</a:t>
            </a:r>
            <a:br/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 indent="12065">
              <a:lnSpc>
                <a:spcPct val="100000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核心观点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观点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 indent="12065">
              <a:lnSpc>
                <a:spcPct val="100000"/>
              </a:lnSpc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目标读者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读者群体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12065" hangingPunct="0">
              <a:lnSpc>
                <a:spcPct val="95416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价值类型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分析型/方法型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经验型</a:t>
            </a:r>
            <a:br/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表达基调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专业/犀利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温和</a:t>
            </a:r>
          </a:p>
          <a:p>
            <a:pPr marL="49529" indent="-37464" hangingPunct="0">
              <a:lnSpc>
                <a:spcPct val="95416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必要元素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数据点/行业洞察/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专家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引用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差异化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</a:p>
          <a:p>
            <a:pPr marL="124460" hangingPunct="0">
              <a:lnSpc>
                <a:spcPct val="95416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184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竞品分析：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[3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个同主题标题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创新角度：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具体说明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459689" y="6146901"/>
            <a:ext cx="92898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6EBF"/>
                </a:solidFill>
                <a:latin typeface="Arial Unicode MS"/>
                <a:ea typeface="Arial Unicode MS"/>
              </a:rPr>
              <a:t>信</a:t>
            </a: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息密度</a:t>
            </a:r>
          </a:p>
        </p:txBody>
      </p:sp>
      <p:sp>
        <p:nvSpPr>
          <p:cNvPr id="1011" name="TextBox 1011"/>
          <p:cNvSpPr txBox="1"/>
          <p:nvPr/>
        </p:nvSpPr>
        <p:spPr>
          <a:xfrm>
            <a:off x="1849069" y="6146901"/>
            <a:ext cx="92898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6EBF"/>
                </a:solidFill>
                <a:latin typeface="Arial Unicode MS"/>
                <a:ea typeface="Arial Unicode MS"/>
              </a:rPr>
              <a:t>差</a:t>
            </a: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异价值</a:t>
            </a:r>
          </a:p>
        </p:txBody>
      </p:sp>
      <p:sp>
        <p:nvSpPr>
          <p:cNvPr id="1012" name="TextBox 1012"/>
          <p:cNvSpPr txBox="1"/>
          <p:nvPr/>
        </p:nvSpPr>
        <p:spPr>
          <a:xfrm>
            <a:off x="3352749" y="6146901"/>
            <a:ext cx="69975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6EBF"/>
                </a:solidFill>
                <a:latin typeface="Arial Unicode MS"/>
                <a:ea typeface="Arial Unicode MS"/>
              </a:rPr>
              <a:t>时效性</a:t>
            </a:r>
          </a:p>
        </p:txBody>
      </p:sp>
      <p:sp>
        <p:nvSpPr>
          <p:cNvPr id="1013" name="TextBox 1013"/>
          <p:cNvSpPr txBox="1"/>
          <p:nvPr/>
        </p:nvSpPr>
        <p:spPr>
          <a:xfrm>
            <a:off x="4627829" y="6146901"/>
            <a:ext cx="92898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6EBF"/>
                </a:solidFill>
                <a:latin typeface="Arial Unicode MS"/>
                <a:ea typeface="Arial Unicode MS"/>
              </a:rPr>
              <a:t>平</a:t>
            </a: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台调性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6297295" y="6090335"/>
            <a:ext cx="1432548" cy="548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生成要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提供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个方案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每个方案说明亮点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Freeform 1015"/>
          <p:cNvSpPr/>
          <p:nvPr/>
        </p:nvSpPr>
        <p:spPr>
          <a:xfrm>
            <a:off x="4514850" y="958850"/>
            <a:ext cx="2114550" cy="361950"/>
          </a:xfrm>
          <a:custGeom>
            <a:avLst/>
            <a:gdLst>
              <a:gd name="connsiteX0" fmla="*/ 8382 w 2114550"/>
              <a:gd name="connsiteY0" fmla="*/ 74422 h 361950"/>
              <a:gd name="connsiteX1" fmla="*/ 66294 w 2114550"/>
              <a:gd name="connsiteY1" fmla="*/ 16510 h 361950"/>
              <a:gd name="connsiteX2" fmla="*/ 2055114 w 2114550"/>
              <a:gd name="connsiteY2" fmla="*/ 16510 h 361950"/>
              <a:gd name="connsiteX3" fmla="*/ 2114550 w 2114550"/>
              <a:gd name="connsiteY3" fmla="*/ 74422 h 361950"/>
              <a:gd name="connsiteX4" fmla="*/ 2114550 w 2114550"/>
              <a:gd name="connsiteY4" fmla="*/ 307594 h 361950"/>
              <a:gd name="connsiteX5" fmla="*/ 2055114 w 2114550"/>
              <a:gd name="connsiteY5" fmla="*/ 365505 h 361950"/>
              <a:gd name="connsiteX6" fmla="*/ 66294 w 2114550"/>
              <a:gd name="connsiteY6" fmla="*/ 365505 h 361950"/>
              <a:gd name="connsiteX7" fmla="*/ 8382 w 2114550"/>
              <a:gd name="connsiteY7" fmla="*/ 307594 h 361950"/>
              <a:gd name="connsiteX8" fmla="*/ 8382 w 2114550"/>
              <a:gd name="connsiteY8" fmla="*/ 74422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8382" y="74422"/>
                </a:moveTo>
                <a:cubicBezTo>
                  <a:pt x="7620" y="42570"/>
                  <a:pt x="33680" y="16510"/>
                  <a:pt x="66294" y="16510"/>
                </a:cubicBezTo>
                <a:lnTo>
                  <a:pt x="2055114" y="16510"/>
                </a:lnTo>
                <a:cubicBezTo>
                  <a:pt x="2087854" y="16510"/>
                  <a:pt x="2113915" y="42570"/>
                  <a:pt x="2114550" y="74422"/>
                </a:cubicBezTo>
                <a:lnTo>
                  <a:pt x="2114550" y="307594"/>
                </a:lnTo>
                <a:cubicBezTo>
                  <a:pt x="2113915" y="339699"/>
                  <a:pt x="2087854" y="365760"/>
                  <a:pt x="2055114" y="365505"/>
                </a:cubicBezTo>
                <a:lnTo>
                  <a:pt x="66294" y="365505"/>
                </a:lnTo>
                <a:cubicBezTo>
                  <a:pt x="33680" y="365760"/>
                  <a:pt x="7620" y="339699"/>
                  <a:pt x="8382" y="307594"/>
                </a:cubicBezTo>
                <a:lnTo>
                  <a:pt x="8382" y="7442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7" name="Picture 10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97380"/>
            <a:ext cx="4084320" cy="4732020"/>
          </a:xfrm>
          <a:prstGeom prst="rect">
            <a:avLst/>
          </a:prstGeom>
        </p:spPr>
      </p:pic>
      <p:pic>
        <p:nvPicPr>
          <p:cNvPr id="1018" name="Picture 1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79" y="1303020"/>
            <a:ext cx="3642360" cy="5318760"/>
          </a:xfrm>
          <a:prstGeom prst="rect">
            <a:avLst/>
          </a:prstGeom>
        </p:spPr>
      </p:pic>
      <p:pic>
        <p:nvPicPr>
          <p:cNvPr id="1019" name="Picture 10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1303020"/>
            <a:ext cx="3642360" cy="5318760"/>
          </a:xfrm>
          <a:prstGeom prst="rect">
            <a:avLst/>
          </a:prstGeom>
        </p:spPr>
      </p:pic>
      <p:sp>
        <p:nvSpPr>
          <p:cNvPr id="2" name="TextBox 1019"/>
          <p:cNvSpPr txBox="1"/>
          <p:nvPr/>
        </p:nvSpPr>
        <p:spPr>
          <a:xfrm>
            <a:off x="376554" y="289633"/>
            <a:ext cx="555494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0" dirty="0">
                <a:solidFill>
                  <a:srgbClr val="242424"/>
                </a:solidFill>
                <a:latin typeface="Arial Unicode MS"/>
                <a:ea typeface="Arial Unicode MS"/>
              </a:rPr>
              <a:t>创作引导提示语（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二）</a:t>
            </a:r>
          </a:p>
        </p:txBody>
      </p:sp>
      <p:sp>
        <p:nvSpPr>
          <p:cNvPr id="1020" name="TextBox 1020"/>
          <p:cNvSpPr txBox="1"/>
          <p:nvPr/>
        </p:nvSpPr>
        <p:spPr>
          <a:xfrm>
            <a:off x="379729" y="1176654"/>
            <a:ext cx="3870309" cy="53941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875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内容结构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的提示设计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高质量的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内容结构通常体现以下特点：</a:t>
            </a:r>
          </a:p>
          <a:p>
            <a:pPr>
              <a:lnSpc>
                <a:spcPts val="1014"/>
              </a:lnSpc>
            </a:pPr>
            <a:endParaRPr lang="en-US" dirty="0"/>
          </a:p>
          <a:p>
            <a:pPr marL="0" indent="211404">
              <a:lnSpc>
                <a:spcPct val="101250"/>
              </a:lnSpc>
              <a:tabLst>
                <a:tab pos="1600784" algn="l"/>
                <a:tab pos="2990164" algn="l"/>
              </a:tabLst>
            </a:pP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层次感	节奏感	</a:t>
            </a:r>
            <a:r>
              <a:rPr lang="zh-CN" altLang="en-US" sz="1800" b="1" spc="-15" dirty="0">
                <a:solidFill>
                  <a:srgbClr val="006EBF"/>
                </a:solidFill>
                <a:latin typeface="Arial Unicode MS"/>
                <a:ea typeface="Arial Unicode MS"/>
              </a:rPr>
              <a:t>互动性</a:t>
            </a:r>
          </a:p>
          <a:p>
            <a:pPr>
              <a:lnSpc>
                <a:spcPts val="1904"/>
              </a:lnSpc>
            </a:pPr>
            <a:endParaRPr lang="en-US" dirty="0"/>
          </a:p>
          <a:p>
            <a:pPr marL="0" indent="87629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基于这些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特点，内容结构的提示语设计应</a:t>
            </a:r>
          </a:p>
          <a:p>
            <a:pPr marL="0" indent="87629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该：</a:t>
            </a:r>
          </a:p>
          <a:p>
            <a:pPr marL="87629" hangingPunct="0">
              <a:lnSpc>
                <a:spcPct val="11958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）明确结构框架：在提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示语中预设文章</a:t>
            </a:r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的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整体框架，确保内容展开有序。关键在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于设定每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个部分的功能定位和重点。</a:t>
            </a:r>
          </a:p>
          <a:p>
            <a:pPr marL="87629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）设置深度要求：针对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不同层次的内容</a:t>
            </a:r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模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块，规定论述深度、案例数量、数据支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撑等具体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要求。</a:t>
            </a:r>
          </a:p>
          <a:p>
            <a:pPr marL="87629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）预设互动节点：在提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示语中规划互动</a:t>
            </a:r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设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计位置，确保互动引导自然融入内容脉</a:t>
            </a: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络。</a:t>
            </a:r>
          </a:p>
          <a:p>
            <a:pPr marL="87629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）控制信息密度：通过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提示语调节不同</a:t>
            </a:r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段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落的信息密度，避免内容过于松散或者</a:t>
            </a: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过于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密集。</a:t>
            </a:r>
          </a:p>
        </p:txBody>
      </p:sp>
      <p:sp>
        <p:nvSpPr>
          <p:cNvPr id="1021" name="TextBox 1021"/>
          <p:cNvSpPr txBox="1"/>
          <p:nvPr/>
        </p:nvSpPr>
        <p:spPr>
          <a:xfrm>
            <a:off x="4909820" y="1033830"/>
            <a:ext cx="3136888" cy="53686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0690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7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任务描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述：创作一篇深度分析类文章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主题：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目标：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写作目的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>
              <a:lnSpc>
                <a:spcPct val="9708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一、结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构设计要求：</a:t>
            </a:r>
          </a:p>
          <a:p>
            <a:pPr marL="0">
              <a:lnSpc>
                <a:spcPct val="97083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）开篇模块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800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  <a:p>
            <a:pPr marL="112395" hangingPunct="0">
              <a:lnSpc>
                <a:spcPct val="95416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问题背景：从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数据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现象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热点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切入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现状分析：点明行业痛点与挑战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核心观点：提出独特视角与解决思路</a:t>
            </a:r>
          </a:p>
          <a:p>
            <a:pPr marL="0">
              <a:lnSpc>
                <a:spcPct val="98333"/>
              </a:lnSpc>
            </a:pP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）主体部分（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2500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字左右）</a:t>
            </a:r>
          </a:p>
          <a:p>
            <a:pPr marL="112395" hangingPunct="0">
              <a:lnSpc>
                <a:spcPct val="95416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分论点展开：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个核心论点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每个论点要求：</a:t>
            </a:r>
          </a:p>
          <a:p>
            <a:pPr marL="187325" hangingPunct="0">
              <a:lnSpc>
                <a:spcPct val="95416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*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观点陈述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150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字左右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*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原理解析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300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字左右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*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案例佐证：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个典型案例</a:t>
            </a:r>
          </a:p>
          <a:p>
            <a:pPr marL="0" indent="18732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*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数据支撑：权威来源数据</a:t>
            </a:r>
          </a:p>
          <a:p>
            <a:pPr marL="0" indent="18732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*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专家观点：引用领域专家验证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）结尾部分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700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字以内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观点总结：呼应开篇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趋势判断：前瞻性洞察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行动建议：3—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5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点可执行建议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二、互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动设计节点：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（1）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开篇互动：设置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情境思考问题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）主体互动：每个论点后设置观点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讨论区</a:t>
            </a:r>
          </a:p>
          <a:p>
            <a:pPr marL="0" hangingPunct="0">
              <a:lnSpc>
                <a:spcPct val="95416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（3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）结尾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互动：邀请读者分享经验与观点三、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三、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内容节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奏控制：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）信息密度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分配：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开篇：以叙事为主，重在引发兴趣</a:t>
            </a:r>
          </a:p>
        </p:txBody>
      </p:sp>
      <p:sp>
        <p:nvSpPr>
          <p:cNvPr id="1022" name="TextBox 1022"/>
          <p:cNvSpPr txBox="1"/>
          <p:nvPr/>
        </p:nvSpPr>
        <p:spPr>
          <a:xfrm>
            <a:off x="8713469" y="1432610"/>
            <a:ext cx="3108948" cy="50698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9860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7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主体：论证为主，配比为</a:t>
            </a:r>
            <a:r>
              <a:rPr lang="zh-CN" altLang="en-US" sz="1200" spc="-8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论述40%</a:t>
            </a:r>
            <a:r>
              <a:rPr lang="zh-CN" altLang="en-US" sz="1200" spc="-8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+</a:t>
            </a:r>
            <a:r>
              <a:rPr lang="zh-CN" altLang="en-US" sz="1200" spc="-8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案例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30%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+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数据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20%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+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专家观点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10%</a:t>
            </a:r>
          </a:p>
          <a:p>
            <a:pPr marL="0" indent="14986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结尾：以洞察和建议为主，突出实操价值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段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落节奏：</a:t>
            </a:r>
          </a:p>
          <a:p>
            <a:pPr marL="112395" hangingPunct="0">
              <a:lnSpc>
                <a:spcPct val="110833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ea typeface="Arial Unicode MS"/>
              </a:rPr>
              <a:t>重点论述段：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250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300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ea typeface="Arial Unicode MS"/>
              </a:rPr>
              <a:t>字</a:t>
            </a:r>
            <a:br/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ea typeface="Arial Unicode MS"/>
              </a:rPr>
              <a:t>案例描述段：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200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250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ea typeface="Arial Unicode MS"/>
              </a:rPr>
              <a:t>字</a:t>
            </a:r>
          </a:p>
          <a:p>
            <a:pPr marL="112395" hangingPunct="0">
              <a:lnSpc>
                <a:spcPct val="110833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ea typeface="Arial Unicode MS"/>
              </a:rPr>
              <a:t>数据分析段：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150</a:t>
            </a:r>
            <a:r>
              <a:rPr lang="zh-CN" altLang="en-US" sz="1200" spc="-34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200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ea typeface="Arial Unicode MS"/>
              </a:rPr>
              <a:t>字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过渡段落：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100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字左右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四、高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级要求：</a:t>
            </a:r>
          </a:p>
          <a:p>
            <a:pPr marL="0">
              <a:lnSpc>
                <a:spcPct val="100000"/>
              </a:lnSpc>
              <a:spcBef>
                <a:spcPts val="154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逻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辑展开：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论点之间：递进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并列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转折关系明确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论据支撑：多维度佐证，避免单一类型证据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思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维深度：</a:t>
            </a:r>
          </a:p>
          <a:p>
            <a:pPr marL="112395" hangingPunct="0">
              <a:lnSpc>
                <a:spcPct val="110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表层：现象描述与问题呈现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中层：原因分析与逻辑推导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深层：本质洞察与规律总结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风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格把控：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语言基调：专业中立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专业术语：核心术语解释到位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表达方式：逻辑严谨，生动易懂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注意事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项：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1.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避免观点过于绝对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2.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确保数据来源可靠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3.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案例选择需要具有代表性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4.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互动设计要自然融入文脉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Picture 1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1897380"/>
            <a:ext cx="1516380" cy="403860"/>
          </a:xfrm>
          <a:prstGeom prst="rect">
            <a:avLst/>
          </a:prstGeom>
        </p:spPr>
      </p:pic>
      <p:pic>
        <p:nvPicPr>
          <p:cNvPr id="1025" name="Picture 10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79" y="3573779"/>
            <a:ext cx="1531620" cy="1874520"/>
          </a:xfrm>
          <a:prstGeom prst="rect">
            <a:avLst/>
          </a:prstGeom>
        </p:spPr>
      </p:pic>
      <p:sp>
        <p:nvSpPr>
          <p:cNvPr id="2" name="Freeform 1025"/>
          <p:cNvSpPr/>
          <p:nvPr/>
        </p:nvSpPr>
        <p:spPr>
          <a:xfrm>
            <a:off x="3702050" y="2076450"/>
            <a:ext cx="2127250" cy="425450"/>
          </a:xfrm>
          <a:custGeom>
            <a:avLst/>
            <a:gdLst>
              <a:gd name="connsiteX0" fmla="*/ 18034 w 2127250"/>
              <a:gd name="connsiteY0" fmla="*/ 80010 h 425450"/>
              <a:gd name="connsiteX1" fmla="*/ 89661 w 2127250"/>
              <a:gd name="connsiteY1" fmla="*/ 8382 h 425450"/>
              <a:gd name="connsiteX2" fmla="*/ 2063241 w 2127250"/>
              <a:gd name="connsiteY2" fmla="*/ 8382 h 425450"/>
              <a:gd name="connsiteX3" fmla="*/ 2134870 w 2127250"/>
              <a:gd name="connsiteY3" fmla="*/ 80010 h 425450"/>
              <a:gd name="connsiteX4" fmla="*/ 2134870 w 2127250"/>
              <a:gd name="connsiteY4" fmla="*/ 364998 h 425450"/>
              <a:gd name="connsiteX5" fmla="*/ 2063241 w 2127250"/>
              <a:gd name="connsiteY5" fmla="*/ 435101 h 425450"/>
              <a:gd name="connsiteX6" fmla="*/ 89661 w 2127250"/>
              <a:gd name="connsiteY6" fmla="*/ 435101 h 425450"/>
              <a:gd name="connsiteX7" fmla="*/ 18034 w 2127250"/>
              <a:gd name="connsiteY7" fmla="*/ 364998 h 425450"/>
              <a:gd name="connsiteX8" fmla="*/ 18034 w 2127250"/>
              <a:gd name="connsiteY8" fmla="*/ 80010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7250" h="425450">
                <a:moveTo>
                  <a:pt x="18034" y="80010"/>
                </a:moveTo>
                <a:cubicBezTo>
                  <a:pt x="18415" y="40144"/>
                  <a:pt x="50304" y="8254"/>
                  <a:pt x="89661" y="8382"/>
                </a:cubicBezTo>
                <a:lnTo>
                  <a:pt x="2063241" y="8382"/>
                </a:lnTo>
                <a:cubicBezTo>
                  <a:pt x="2102345" y="8254"/>
                  <a:pt x="2134234" y="40144"/>
                  <a:pt x="2134870" y="80010"/>
                </a:cubicBezTo>
                <a:lnTo>
                  <a:pt x="2134870" y="364998"/>
                </a:lnTo>
                <a:cubicBezTo>
                  <a:pt x="2134234" y="403720"/>
                  <a:pt x="2102345" y="435610"/>
                  <a:pt x="2063241" y="435101"/>
                </a:cubicBezTo>
                <a:lnTo>
                  <a:pt x="89661" y="435101"/>
                </a:lnTo>
                <a:cubicBezTo>
                  <a:pt x="50304" y="435610"/>
                  <a:pt x="18415" y="403720"/>
                  <a:pt x="18034" y="364998"/>
                </a:cubicBezTo>
                <a:lnTo>
                  <a:pt x="18034" y="80010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10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420" y="2407920"/>
            <a:ext cx="3474720" cy="4023360"/>
          </a:xfrm>
          <a:prstGeom prst="rect">
            <a:avLst/>
          </a:prstGeom>
        </p:spPr>
      </p:pic>
      <p:sp>
        <p:nvSpPr>
          <p:cNvPr id="3" name="Freeform 1027"/>
          <p:cNvSpPr/>
          <p:nvPr/>
        </p:nvSpPr>
        <p:spPr>
          <a:xfrm>
            <a:off x="8337550" y="2076450"/>
            <a:ext cx="2127250" cy="425450"/>
          </a:xfrm>
          <a:custGeom>
            <a:avLst/>
            <a:gdLst>
              <a:gd name="connsiteX0" fmla="*/ 13969 w 2127250"/>
              <a:gd name="connsiteY0" fmla="*/ 80010 h 425450"/>
              <a:gd name="connsiteX1" fmla="*/ 85597 w 2127250"/>
              <a:gd name="connsiteY1" fmla="*/ 8382 h 425450"/>
              <a:gd name="connsiteX2" fmla="*/ 2059178 w 2127250"/>
              <a:gd name="connsiteY2" fmla="*/ 8382 h 425450"/>
              <a:gd name="connsiteX3" fmla="*/ 2130806 w 2127250"/>
              <a:gd name="connsiteY3" fmla="*/ 80010 h 425450"/>
              <a:gd name="connsiteX4" fmla="*/ 2130806 w 2127250"/>
              <a:gd name="connsiteY4" fmla="*/ 364998 h 425450"/>
              <a:gd name="connsiteX5" fmla="*/ 2059178 w 2127250"/>
              <a:gd name="connsiteY5" fmla="*/ 435101 h 425450"/>
              <a:gd name="connsiteX6" fmla="*/ 85597 w 2127250"/>
              <a:gd name="connsiteY6" fmla="*/ 435101 h 425450"/>
              <a:gd name="connsiteX7" fmla="*/ 13969 w 2127250"/>
              <a:gd name="connsiteY7" fmla="*/ 364998 h 425450"/>
              <a:gd name="connsiteX8" fmla="*/ 13969 w 2127250"/>
              <a:gd name="connsiteY8" fmla="*/ 80010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7250" h="425450">
                <a:moveTo>
                  <a:pt x="13969" y="80010"/>
                </a:moveTo>
                <a:cubicBezTo>
                  <a:pt x="14605" y="40144"/>
                  <a:pt x="46494" y="8254"/>
                  <a:pt x="85597" y="8382"/>
                </a:cubicBezTo>
                <a:lnTo>
                  <a:pt x="2059178" y="8382"/>
                </a:lnTo>
                <a:cubicBezTo>
                  <a:pt x="2098535" y="8254"/>
                  <a:pt x="2130425" y="40144"/>
                  <a:pt x="2130806" y="80010"/>
                </a:cubicBezTo>
                <a:lnTo>
                  <a:pt x="2130806" y="364998"/>
                </a:lnTo>
                <a:cubicBezTo>
                  <a:pt x="2130425" y="403720"/>
                  <a:pt x="2098535" y="435610"/>
                  <a:pt x="2059178" y="435101"/>
                </a:cubicBezTo>
                <a:lnTo>
                  <a:pt x="85597" y="435101"/>
                </a:lnTo>
                <a:cubicBezTo>
                  <a:pt x="46494" y="435610"/>
                  <a:pt x="14605" y="403720"/>
                  <a:pt x="13969" y="364998"/>
                </a:cubicBezTo>
                <a:lnTo>
                  <a:pt x="13969" y="80010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10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407920"/>
            <a:ext cx="4236720" cy="4023360"/>
          </a:xfrm>
          <a:prstGeom prst="rect">
            <a:avLst/>
          </a:prstGeom>
        </p:spPr>
      </p:pic>
      <p:sp>
        <p:nvSpPr>
          <p:cNvPr id="4" name="TextBox 1029"/>
          <p:cNvSpPr txBox="1"/>
          <p:nvPr/>
        </p:nvSpPr>
        <p:spPr>
          <a:xfrm>
            <a:off x="376554" y="289633"/>
            <a:ext cx="555494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0" dirty="0">
                <a:solidFill>
                  <a:srgbClr val="242424"/>
                </a:solidFill>
                <a:latin typeface="Arial Unicode MS"/>
                <a:ea typeface="Arial Unicode MS"/>
              </a:rPr>
              <a:t>创作引导提示语（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三）</a:t>
            </a:r>
          </a:p>
        </p:txBody>
      </p:sp>
      <p:sp>
        <p:nvSpPr>
          <p:cNvPr id="1030" name="TextBox 1030"/>
          <p:cNvSpPr txBox="1"/>
          <p:nvPr/>
        </p:nvSpPr>
        <p:spPr>
          <a:xfrm>
            <a:off x="395604" y="1176654"/>
            <a:ext cx="2673331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论述逻辑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的提示设计</a:t>
            </a:r>
          </a:p>
        </p:txBody>
      </p:sp>
      <p:sp>
        <p:nvSpPr>
          <p:cNvPr id="1031" name="TextBox 1031"/>
          <p:cNvSpPr txBox="1"/>
          <p:nvPr/>
        </p:nvSpPr>
        <p:spPr>
          <a:xfrm>
            <a:off x="379729" y="1586735"/>
            <a:ext cx="9124299" cy="245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  <a:tabLst>
                <a:tab pos="3917950" algn="l"/>
              </a:tabLst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高质量的内容结构通常体现以下特点：	基于上述特征，论述逻辑的提示语设计应把握以下原则：</a:t>
            </a:r>
          </a:p>
        </p:txBody>
      </p:sp>
      <p:sp>
        <p:nvSpPr>
          <p:cNvPr id="1032" name="TextBox 1032"/>
          <p:cNvSpPr txBox="1"/>
          <p:nvPr/>
        </p:nvSpPr>
        <p:spPr>
          <a:xfrm>
            <a:off x="378459" y="1960956"/>
            <a:ext cx="3263249" cy="43884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342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6EBF"/>
                </a:solidFill>
                <a:latin typeface="Arial Unicode MS"/>
                <a:ea typeface="Arial Unicode MS"/>
              </a:rPr>
              <a:t>证据</a:t>
            </a: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链完整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17145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每个观点都需要数据支撑、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案例验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证或专家背书。与其他自媒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体平台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相比，微信公众号的读者对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论据的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权威性和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可靠性要求更高。</a:t>
            </a:r>
          </a:p>
          <a:p>
            <a:pPr>
              <a:lnSpc>
                <a:spcPts val="810"/>
              </a:lnSpc>
            </a:pPr>
            <a:endParaRPr lang="en-US" dirty="0"/>
          </a:p>
          <a:p>
            <a:pPr marL="0" indent="200545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6EBF"/>
                </a:solidFill>
                <a:latin typeface="Arial Unicode MS"/>
                <a:ea typeface="Arial Unicode MS"/>
              </a:rPr>
              <a:t>逻</a:t>
            </a: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辑递进</a:t>
            </a:r>
          </a:p>
          <a:p>
            <a:pPr>
              <a:lnSpc>
                <a:spcPts val="1230"/>
              </a:lnSpc>
            </a:pPr>
            <a:endParaRPr lang="en-US" dirty="0"/>
          </a:p>
          <a:p>
            <a:pPr marL="0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论点之间需要形成清晰的递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进关系，可以是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现象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原因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影响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对策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问题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分析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方案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效果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等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框架。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0052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6EBF"/>
                </a:solidFill>
                <a:latin typeface="Arial Unicode MS"/>
                <a:ea typeface="Arial Unicode MS"/>
              </a:rPr>
              <a:t>多</a:t>
            </a:r>
            <a:r>
              <a:rPr lang="zh-CN" altLang="en-US" sz="1800" b="1" dirty="0">
                <a:solidFill>
                  <a:srgbClr val="006EBF"/>
                </a:solidFill>
                <a:latin typeface="Arial Unicode MS"/>
                <a:ea typeface="Arial Unicode MS"/>
              </a:rPr>
              <a:t>维视角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在论证过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程中融入不同视角的观点，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既展现思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考的全面性，又能增强文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章的可信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度。</a:t>
            </a:r>
          </a:p>
        </p:txBody>
      </p:sp>
      <p:sp>
        <p:nvSpPr>
          <p:cNvPr id="1033" name="TextBox 1033"/>
          <p:cNvSpPr txBox="1"/>
          <p:nvPr/>
        </p:nvSpPr>
        <p:spPr>
          <a:xfrm>
            <a:off x="3822065" y="2182558"/>
            <a:ext cx="3969369" cy="4030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68515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设定论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证框架</a:t>
            </a:r>
          </a:p>
          <a:p>
            <a:pPr>
              <a:lnSpc>
                <a:spcPts val="147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通过提示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语明确文章的论证路径，包括论点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展开顺序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、论据类型和过渡方式。例如：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4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论点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：现象描述</a:t>
            </a:r>
            <a:r>
              <a:rPr lang="zh-CN" altLang="en-US" sz="16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+</a:t>
            </a:r>
            <a:r>
              <a:rPr lang="en-US" altLang="zh-CN" sz="1600" spc="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数据佐证</a:t>
            </a:r>
            <a:r>
              <a:rPr lang="zh-CN" altLang="en-US" sz="1600" spc="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+</a:t>
            </a:r>
            <a:r>
              <a:rPr lang="en-US" altLang="zh-CN" sz="1600" spc="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案例说明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4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论点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：问题分析</a:t>
            </a:r>
            <a:r>
              <a:rPr lang="zh-CN" altLang="en-US" sz="16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+</a:t>
            </a:r>
            <a:r>
              <a:rPr lang="en-US" altLang="zh-CN" sz="1600" spc="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专家观点</a:t>
            </a:r>
            <a:r>
              <a:rPr lang="zh-CN" altLang="en-US" sz="1600" spc="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+</a:t>
            </a:r>
            <a:r>
              <a:rPr lang="en-US" altLang="zh-CN" sz="1600" spc="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对比论证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4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论点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C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：方案提出</a:t>
            </a:r>
            <a:r>
              <a:rPr lang="zh-CN" altLang="en-US" sz="1600" spc="6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+</a:t>
            </a:r>
            <a:r>
              <a:rPr lang="en-US" altLang="zh-CN" sz="1600" spc="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实践验证</a:t>
            </a:r>
            <a:r>
              <a:rPr lang="zh-CN" altLang="en-US" sz="1600" spc="44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+</a:t>
            </a:r>
            <a:r>
              <a:rPr lang="en-US" altLang="zh-CN" sz="1600" spc="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效果预期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54"/>
              </a:lnSpc>
            </a:pPr>
            <a:endParaRPr lang="en-US" dirty="0"/>
          </a:p>
          <a:p>
            <a:pPr marL="0" indent="282485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控制论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证深度</a:t>
            </a:r>
          </a:p>
          <a:p>
            <a:pPr>
              <a:lnSpc>
                <a:spcPts val="1475"/>
              </a:lnSpc>
            </a:pPr>
            <a:endParaRPr lang="en-US" dirty="0"/>
          </a:p>
          <a:p>
            <a:pPr marL="0" indent="13969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针对不同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层级的论点设置不同的展开深度，</a:t>
            </a:r>
          </a:p>
          <a:p>
            <a:pPr marL="0" indent="13969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避免喧宾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夺主：</a:t>
            </a:r>
          </a:p>
          <a:p>
            <a:pPr marL="0" indent="13969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核心论点：充分论证，多维度支撑</a:t>
            </a:r>
          </a:p>
          <a:p>
            <a:pPr marL="0" indent="13969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次要论点：点到为止，简要说明</a:t>
            </a:r>
          </a:p>
          <a:p>
            <a:pPr marL="0" indent="13969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延伸论点：提供思考方向，不做过多展开</a:t>
            </a:r>
          </a:p>
        </p:txBody>
      </p:sp>
      <p:sp>
        <p:nvSpPr>
          <p:cNvPr id="1034" name="TextBox 1034"/>
          <p:cNvSpPr txBox="1"/>
          <p:nvPr/>
        </p:nvSpPr>
        <p:spPr>
          <a:xfrm>
            <a:off x="8443594" y="2182558"/>
            <a:ext cx="3263249" cy="3442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78676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规定证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据要求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在提示语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中涉及需要的证据类型和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数量用于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观点支撑，确保论证充分，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例如：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权威数据：来自官方机构的统计</a:t>
            </a:r>
          </a:p>
          <a:p>
            <a:pPr marL="0" indent="28575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或调研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案例分析：包含背景、过程、结</a:t>
            </a:r>
          </a:p>
          <a:p>
            <a:pPr marL="0" indent="28575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果的完整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案例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专家观点：行业认可度高的专家</a:t>
            </a:r>
          </a:p>
          <a:p>
            <a:pPr marL="0" indent="28575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见解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4328160"/>
            <a:ext cx="5562600" cy="1920239"/>
          </a:xfrm>
          <a:prstGeom prst="rect">
            <a:avLst/>
          </a:prstGeom>
        </p:spPr>
      </p:pic>
      <p:sp>
        <p:nvSpPr>
          <p:cNvPr id="3" name="TextBox 1036"/>
          <p:cNvSpPr txBox="1"/>
          <p:nvPr/>
        </p:nvSpPr>
        <p:spPr>
          <a:xfrm>
            <a:off x="376554" y="289633"/>
            <a:ext cx="391473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4" dirty="0">
                <a:solidFill>
                  <a:srgbClr val="242424"/>
                </a:solidFill>
                <a:latin typeface="Arial Unicode MS"/>
                <a:ea typeface="Arial Unicode MS"/>
              </a:rPr>
              <a:t>场景化</a:t>
            </a:r>
            <a:r>
              <a:rPr lang="zh-CN" altLang="en-US" sz="4000" b="1" spc="254" dirty="0">
                <a:solidFill>
                  <a:srgbClr val="242424"/>
                </a:solidFill>
                <a:latin typeface="Arial Unicode MS"/>
                <a:ea typeface="Arial Unicode MS"/>
              </a:rPr>
              <a:t>应用策略</a:t>
            </a:r>
          </a:p>
        </p:txBody>
      </p:sp>
      <p:sp>
        <p:nvSpPr>
          <p:cNvPr id="1037" name="TextBox 1037"/>
          <p:cNvSpPr txBox="1"/>
          <p:nvPr/>
        </p:nvSpPr>
        <p:spPr>
          <a:xfrm>
            <a:off x="551815" y="1599435"/>
            <a:ext cx="5001879" cy="4119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针对不同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内容场景，提示语设计需要采取差异化策略：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50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热点新闻改写：热点事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件在公众号平台的传播需</a:t>
            </a:r>
            <a:br/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要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注意差异化视角和深度价值挖掘。提示语设计应着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重引导形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成独特观点，避免同质化表达。</a:t>
            </a:r>
          </a:p>
          <a:p>
            <a:pPr marL="0" hangingPunct="0">
              <a:lnSpc>
                <a:spcPct val="12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原创内容创作：原创内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容是公众号的核心竞争力，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提示语需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要突出内容的专业性和实用性，同时注重知</a:t>
            </a:r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识结构的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完整性和逻辑性。通过提示语引导，确保内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容既有深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度又易于理解。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评论互动优化：基于读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者反馈进行的内容创作，</a:t>
            </a:r>
            <a:br/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需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要通过提示语准确把握用户痛点，设计出更有针对</a:t>
            </a:r>
            <a:br/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性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的解决方案。同时，提示语要引导形成对话感，增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强与读者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的连接。</a:t>
            </a:r>
          </a:p>
        </p:txBody>
      </p:sp>
      <p:sp>
        <p:nvSpPr>
          <p:cNvPr id="1038" name="TextBox 1038"/>
          <p:cNvSpPr txBox="1"/>
          <p:nvPr/>
        </p:nvSpPr>
        <p:spPr>
          <a:xfrm>
            <a:off x="6322059" y="1535429"/>
            <a:ext cx="2618089" cy="4480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场景化提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示语示例表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10"/>
              </a:lnSpc>
            </a:pPr>
            <a:endParaRPr lang="en-US" dirty="0"/>
          </a:p>
          <a:p>
            <a:pPr marL="0" indent="28829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实操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建议：</a:t>
            </a:r>
          </a:p>
          <a:p>
            <a:pPr marL="0" indent="28829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建立内容分类标签体系</a:t>
            </a:r>
          </a:p>
          <a:p>
            <a:pPr marL="0" indent="28829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积累高质量提示语模板</a:t>
            </a:r>
          </a:p>
          <a:p>
            <a:pPr marL="0" indent="28829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根据数据反馈持续优化</a:t>
            </a:r>
          </a:p>
          <a:p>
            <a:pPr marL="0" indent="28829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建立提示语评估机制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30620" y="1984375"/>
          <a:ext cx="5528945" cy="20453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810">
                <a:tc>
                  <a:txBody>
                    <a:bodyPr/>
                    <a:lstStyle/>
                    <a:p>
                      <a:pPr>
                        <a:lnSpc>
                          <a:spcPts val="719"/>
                        </a:lnSpc>
                      </a:pPr>
                      <a:endParaRPr lang="en-US" dirty="0"/>
                    </a:p>
                    <a:p>
                      <a:pPr marL="0" indent="230504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场景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类型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9"/>
                        </a:lnSpc>
                      </a:pPr>
                      <a:endParaRPr lang="en-US" dirty="0"/>
                    </a:p>
                    <a:p>
                      <a:pPr marL="0" indent="93599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语模板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9"/>
                        </a:lnSpc>
                      </a:pPr>
                      <a:endParaRPr lang="en-US" dirty="0"/>
                    </a:p>
                    <a:p>
                      <a:pPr marL="0" indent="64516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优化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建议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535"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endParaRPr lang="en-US" dirty="0"/>
                    </a:p>
                    <a:p>
                      <a:pPr marL="0" indent="9080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热点新闻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改写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19" indent="-19050" hangingPunct="0">
                        <a:lnSpc>
                          <a:spcPct val="99583"/>
                        </a:lnSpc>
                        <a:spcBef>
                          <a:spcPts val="234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将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热点事件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转化为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话题角度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的分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析文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章，重点关注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核心观点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，需要包含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数</a:t>
                      </a:r>
                    </a:p>
                    <a:p>
                      <a:pPr marL="0" indent="668019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据支撑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和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专家观点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4"/>
                        </a:lnSpc>
                      </a:pPr>
                      <a:endParaRPr lang="en-US" dirty="0"/>
                    </a:p>
                    <a:p>
                      <a:pPr marL="0" indent="1651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注重时效性，保持客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观立场，</a:t>
                      </a:r>
                    </a:p>
                    <a:p>
                      <a:pPr marL="0" indent="50546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突出独特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视角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534"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endParaRPr lang="en-US" dirty="0"/>
                    </a:p>
                    <a:p>
                      <a:pPr marL="0" indent="9080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原创内容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创作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4" indent="-31115" hangingPunct="0">
                        <a:lnSpc>
                          <a:spcPct val="99583"/>
                        </a:lnSpc>
                        <a:spcBef>
                          <a:spcPts val="234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以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主题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为核心，从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切入点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展开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讨论，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结合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案例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和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方法论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，形成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字数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的深</a:t>
                      </a:r>
                    </a:p>
                    <a:p>
                      <a:pPr marL="0" indent="1075690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度文章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4"/>
                        </a:lnSpc>
                      </a:pPr>
                      <a:endParaRPr lang="en-US" dirty="0"/>
                    </a:p>
                    <a:p>
                      <a:pPr marL="0" indent="1651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强调原创性，注重实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操价值，</a:t>
                      </a:r>
                    </a:p>
                    <a:p>
                      <a:pPr marL="0" indent="50546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设置互动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引导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454">
                <a:tc>
                  <a:txBody>
                    <a:bodyPr/>
                    <a:lstStyle/>
                    <a:p>
                      <a:pPr>
                        <a:lnSpc>
                          <a:spcPts val="985"/>
                        </a:lnSpc>
                      </a:pPr>
                      <a:endParaRPr lang="en-US" dirty="0"/>
                    </a:p>
                    <a:p>
                      <a:pPr marL="0" indent="9080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评论互动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优化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69" indent="-100965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分析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读者反馈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中的关键问题，整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理成</a:t>
                      </a:r>
                      <a:br/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主题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的解答文章，包含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实践建议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63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回应读者关切，提供解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决方</a:t>
                      </a:r>
                    </a:p>
                    <a:p>
                      <a:pPr marL="0" indent="43561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案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，保持对话感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Picture 10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" y="2164080"/>
            <a:ext cx="9319259" cy="1874520"/>
          </a:xfrm>
          <a:prstGeom prst="rect">
            <a:avLst/>
          </a:prstGeom>
        </p:spPr>
      </p:pic>
      <p:pic>
        <p:nvPicPr>
          <p:cNvPr id="1042" name="Picture 10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" y="4328160"/>
            <a:ext cx="7696200" cy="2217420"/>
          </a:xfrm>
          <a:prstGeom prst="rect">
            <a:avLst/>
          </a:prstGeom>
        </p:spPr>
      </p:pic>
      <p:pic>
        <p:nvPicPr>
          <p:cNvPr id="1043" name="Picture 10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420" y="4312920"/>
            <a:ext cx="3474720" cy="2240280"/>
          </a:xfrm>
          <a:prstGeom prst="rect">
            <a:avLst/>
          </a:prstGeom>
        </p:spPr>
      </p:pic>
      <p:sp>
        <p:nvSpPr>
          <p:cNvPr id="2" name="TextBox 1043"/>
          <p:cNvSpPr txBox="1"/>
          <p:nvPr/>
        </p:nvSpPr>
        <p:spPr>
          <a:xfrm>
            <a:off x="301625" y="289633"/>
            <a:ext cx="10578449" cy="1749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74929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驾驭微博</a:t>
            </a:r>
            <a:r>
              <a:rPr lang="zh-CN" altLang="en-US" sz="4000" b="1" spc="284" dirty="0">
                <a:solidFill>
                  <a:srgbClr val="242424"/>
                </a:solidFill>
                <a:latin typeface="Arial Unicode MS"/>
                <a:ea typeface="Arial Unicode MS"/>
              </a:rPr>
              <a:t>：短平快传播中的提示语设计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39"/>
              </a:lnSpc>
            </a:pPr>
            <a:endParaRPr lang="en-US" dirty="0"/>
          </a:p>
          <a:p>
            <a:pPr marL="0" indent="7747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平台特性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与传播机制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微博平台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具有四大核心特征：实时性、社交属性、话题引导和多媒体融合。这些特征直接影响提示语设计的策略方向：</a:t>
            </a:r>
          </a:p>
        </p:txBody>
      </p:sp>
      <p:sp>
        <p:nvSpPr>
          <p:cNvPr id="1044" name="TextBox 1044"/>
          <p:cNvSpPr txBox="1"/>
          <p:nvPr/>
        </p:nvSpPr>
        <p:spPr>
          <a:xfrm>
            <a:off x="499109" y="4747130"/>
            <a:ext cx="7440279" cy="14142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实时性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要求提示语必须具备快速响应能力，支持热点话题的及时跟进与创作。</a:t>
            </a:r>
          </a:p>
          <a:p>
            <a:pPr marL="0" hangingPunct="0">
              <a:lnSpc>
                <a:spcPct val="11958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）社交属性决定了内容需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要具备较强的互动性和对话感，提示语设计要融入互动</a:t>
            </a: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机制。</a:t>
            </a:r>
          </a:p>
          <a:p>
            <a:pPr marL="0">
              <a:lnSpc>
                <a:spcPct val="10083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话题引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导能力使平台成为舆论场，提示语需要把握议题设置的技巧。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多媒体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融合特性要求提示语能够协调处理文字、图片、视频等多种内容形式。</a:t>
            </a:r>
          </a:p>
        </p:txBody>
      </p:sp>
      <p:sp>
        <p:nvSpPr>
          <p:cNvPr id="1045" name="TextBox 1045"/>
          <p:cNvSpPr txBox="1"/>
          <p:nvPr/>
        </p:nvSpPr>
        <p:spPr>
          <a:xfrm>
            <a:off x="8443594" y="4653785"/>
            <a:ext cx="3060049" cy="1585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微博的内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容分发主要依赖于以下传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播路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径：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粉丝关系链传播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热门话题引流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兴趣推荐算法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转发评论互动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7" name="Picture 10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79" y="2522220"/>
            <a:ext cx="5715000" cy="4030979"/>
          </a:xfrm>
          <a:prstGeom prst="rect">
            <a:avLst/>
          </a:prstGeom>
        </p:spPr>
      </p:pic>
      <p:sp>
        <p:nvSpPr>
          <p:cNvPr id="3" name="TextBox 1047"/>
          <p:cNvSpPr txBox="1"/>
          <p:nvPr/>
        </p:nvSpPr>
        <p:spPr>
          <a:xfrm>
            <a:off x="376554" y="289633"/>
            <a:ext cx="664841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内容策略的提示设计（</a:t>
            </a:r>
            <a:r>
              <a:rPr lang="zh-CN" altLang="en-US" sz="4000" b="1" spc="290" dirty="0">
                <a:solidFill>
                  <a:srgbClr val="242424"/>
                </a:solidFill>
                <a:latin typeface="Arial Unicode MS"/>
                <a:ea typeface="Arial Unicode MS"/>
              </a:rPr>
              <a:t>一）</a:t>
            </a:r>
          </a:p>
        </p:txBody>
      </p:sp>
      <p:sp>
        <p:nvSpPr>
          <p:cNvPr id="1048" name="TextBox 1048"/>
          <p:cNvSpPr txBox="1"/>
          <p:nvPr/>
        </p:nvSpPr>
        <p:spPr>
          <a:xfrm>
            <a:off x="301625" y="1288285"/>
            <a:ext cx="11391249" cy="537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内容策略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的提示设计不仅涉及到信息传递的准确性，还需要考虑适用平台特性、用户需求差异、内容传播效果、创造力的激发以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及生成过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程中的灵活性和可控制性，具体可执行的策略如下：</a:t>
            </a:r>
          </a:p>
        </p:txBody>
      </p:sp>
      <p:sp>
        <p:nvSpPr>
          <p:cNvPr id="1049" name="TextBox 1049"/>
          <p:cNvSpPr txBox="1"/>
          <p:nvPr/>
        </p:nvSpPr>
        <p:spPr>
          <a:xfrm>
            <a:off x="378459" y="2049144"/>
            <a:ext cx="7751425" cy="3505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4999"/>
              </a:lnSpc>
              <a:tabLst>
                <a:tab pos="6096635" algn="l"/>
              </a:tabLst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基础框架设计	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差异化策略</a:t>
            </a:r>
          </a:p>
        </p:txBody>
      </p:sp>
      <p:sp>
        <p:nvSpPr>
          <p:cNvPr id="1050" name="TextBox 1050"/>
          <p:cNvSpPr txBox="1"/>
          <p:nvPr/>
        </p:nvSpPr>
        <p:spPr>
          <a:xfrm>
            <a:off x="414655" y="2825620"/>
            <a:ext cx="5611479" cy="3505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微博内容创作的关键在于把握</a:t>
            </a:r>
            <a:r>
              <a:rPr lang="en-US" altLang="zh-CN" sz="1600" spc="-25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短平快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的平台节奏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，同时又要</a:t>
            </a:r>
            <a:br/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确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保内容的价值密度。基于平台特性，提示语框架需要关注</a:t>
            </a:r>
            <a:br/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以下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维度：</a:t>
            </a:r>
          </a:p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时效性把控：提示语需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要建立快速响应机制，包括热点</a:t>
            </a:r>
            <a:br/>
            <a:r>
              <a:rPr lang="zh-CN" altLang="en-US" sz="1600" spc="5" dirty="0">
                <a:solidFill>
                  <a:srgbClr val="000000"/>
                </a:solidFill>
                <a:latin typeface="Arial Unicode MS"/>
                <a:ea typeface="Arial Unicode MS"/>
              </a:rPr>
              <a:t>捕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捉、议题延展和观点表达。重点在于保证信息的及时性和</a:t>
            </a:r>
            <a:br/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准确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性。</a:t>
            </a:r>
          </a:p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互动性设计：通过提示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语引导生成便于互动的内容形式，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如设置悬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念、提出问题、邀请讨论等，提升内容的社交属性。</a:t>
            </a:r>
          </a:p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传播性优化：针对微博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的传播特点，提示语要强化内容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的话题关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联性和情绪共鸣点，提升传播势能。</a:t>
            </a:r>
          </a:p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）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风格一致性：在快速响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应的同时，提示语要确保内容风</a:t>
            </a:r>
            <a:br/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格的一致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性，维护账号调性。</a:t>
            </a:r>
          </a:p>
        </p:txBody>
      </p:sp>
      <p:sp>
        <p:nvSpPr>
          <p:cNvPr id="1051" name="TextBox 1051"/>
          <p:cNvSpPr txBox="1"/>
          <p:nvPr/>
        </p:nvSpPr>
        <p:spPr>
          <a:xfrm>
            <a:off x="6420484" y="2566540"/>
            <a:ext cx="5498449" cy="830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针对不同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类型的微博内容，提示语设计需要采取差异化策略。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这种差异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不仅体现在内容形式上，更需要在创作思路和传播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策略上有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所区分。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83654" y="3557270"/>
          <a:ext cx="5480685" cy="2974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484">
                <a:tc>
                  <a:txBody>
                    <a:bodyPr/>
                    <a:lstStyle/>
                    <a:p>
                      <a:pPr>
                        <a:lnSpc>
                          <a:spcPts val="480"/>
                        </a:lnSpc>
                      </a:pPr>
                      <a:endParaRPr lang="en-US" dirty="0"/>
                    </a:p>
                    <a:p>
                      <a:pPr marL="0" indent="10287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内容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类型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80"/>
                        </a:lnSpc>
                      </a:pPr>
                      <a:endParaRPr lang="en-US" dirty="0"/>
                    </a:p>
                    <a:p>
                      <a:pPr marL="0" indent="320039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核心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特点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80"/>
                        </a:lnSpc>
                      </a:pPr>
                      <a:endParaRPr lang="en-US" dirty="0"/>
                    </a:p>
                    <a:p>
                      <a:pPr marL="0" indent="644525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关键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要素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80"/>
                        </a:lnSpc>
                      </a:pPr>
                      <a:endParaRPr lang="en-US" dirty="0"/>
                    </a:p>
                    <a:p>
                      <a:pPr marL="0" indent="427355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语重点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29"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  <a:endParaRPr lang="en-US" dirty="0"/>
                    </a:p>
                    <a:p>
                      <a:pPr marL="0" indent="10287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热点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跟进</a:t>
                      </a:r>
                    </a:p>
                    <a:p>
                      <a:pPr marL="0" indent="31242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  <a:endParaRPr lang="en-US" dirty="0"/>
                    </a:p>
                    <a:p>
                      <a:pPr marL="0" indent="110489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快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速响应、观点</a:t>
                      </a:r>
                    </a:p>
                    <a:p>
                      <a:pPr marL="0" indent="45973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鲜明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  <a:endParaRPr lang="en-US" dirty="0"/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热点关联、独特视角、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价值</a:t>
                      </a:r>
                    </a:p>
                    <a:p>
                      <a:pPr marL="0" indent="78422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延展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90"/>
                        </a:lnSpc>
                      </a:pPr>
                      <a:endParaRPr lang="en-US" dirty="0"/>
                    </a:p>
                    <a:p>
                      <a:pPr marL="0" indent="7810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抓取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热点、突出差异、</a:t>
                      </a:r>
                    </a:p>
                    <a:p>
                      <a:pPr marL="0" indent="497205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预设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风险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lnSpc>
                          <a:spcPts val="605"/>
                        </a:lnSpc>
                      </a:pPr>
                      <a:endParaRPr lang="en-US" dirty="0"/>
                    </a:p>
                    <a:p>
                      <a:pPr marL="0" indent="10287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原创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内容</a:t>
                      </a:r>
                    </a:p>
                    <a:p>
                      <a:pPr marL="0" indent="31242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5"/>
                        </a:lnSpc>
                      </a:pPr>
                      <a:endParaRPr lang="en-US" dirty="0"/>
                    </a:p>
                    <a:p>
                      <a:pPr marL="0" indent="110489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深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度思考、专业</a:t>
                      </a:r>
                    </a:p>
                    <a:p>
                      <a:pPr marL="0" indent="45973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价值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5"/>
                        </a:lnSpc>
                      </a:pPr>
                      <a:endParaRPr lang="en-US" dirty="0"/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专业洞察、案例支撑、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方法</a:t>
                      </a:r>
                    </a:p>
                    <a:p>
                      <a:pPr marL="0" indent="714375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论输出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5"/>
                        </a:lnSpc>
                      </a:pPr>
                      <a:endParaRPr lang="en-US" dirty="0"/>
                    </a:p>
                    <a:p>
                      <a:pPr marL="0" indent="7810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框架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完整、逻辑严密、</a:t>
                      </a:r>
                    </a:p>
                    <a:p>
                      <a:pPr marL="0" indent="497205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互动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10287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话题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引导</a:t>
                      </a:r>
                    </a:p>
                    <a:p>
                      <a:pPr marL="0" indent="31242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110489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议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题设置、观点</a:t>
                      </a:r>
                    </a:p>
                    <a:p>
                      <a:pPr marL="0" indent="45973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引导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话题规划、观点递进、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情绪</a:t>
                      </a:r>
                    </a:p>
                    <a:p>
                      <a:pPr marL="0" indent="78422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引导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7810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议题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设计、节奏把控、</a:t>
                      </a:r>
                    </a:p>
                    <a:p>
                      <a:pPr marL="0" indent="497205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互动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闭环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  <a:endParaRPr lang="en-US" dirty="0"/>
                    </a:p>
                    <a:p>
                      <a:pPr marL="0" indent="10287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品牌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营销</a:t>
                      </a:r>
                    </a:p>
                    <a:p>
                      <a:pPr marL="0" indent="31242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  <a:endParaRPr lang="en-US" dirty="0"/>
                    </a:p>
                    <a:p>
                      <a:pPr marL="0" indent="110489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牌价值、转化</a:t>
                      </a:r>
                    </a:p>
                    <a:p>
                      <a:pPr marL="0" indent="45973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目标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  <a:endParaRPr lang="en-US" dirty="0"/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品牌调性、用户痛点、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解决</a:t>
                      </a:r>
                    </a:p>
                    <a:p>
                      <a:pPr marL="0" indent="78422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方案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  <a:endParaRPr lang="en-US" dirty="0"/>
                    </a:p>
                    <a:p>
                      <a:pPr marL="0" indent="7810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价值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传递、情感共鸣、</a:t>
                      </a:r>
                    </a:p>
                    <a:p>
                      <a:pPr marL="0" indent="497205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行动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引导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4"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10287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互动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娱乐</a:t>
                      </a:r>
                    </a:p>
                    <a:p>
                      <a:pPr marL="0" indent="31242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110489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轻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松有趣、互动</a:t>
                      </a:r>
                    </a:p>
                    <a:p>
                      <a:pPr marL="0" indent="45973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性强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话题趣味、互动机制、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情绪</a:t>
                      </a:r>
                    </a:p>
                    <a:p>
                      <a:pPr marL="0" indent="78422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调动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5"/>
                        </a:lnSpc>
                      </a:pPr>
                      <a:endParaRPr lang="en-US" dirty="0"/>
                    </a:p>
                    <a:p>
                      <a:pPr marL="0" indent="78105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创意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设计、参与门槛、</a:t>
                      </a:r>
                    </a:p>
                    <a:p>
                      <a:pPr marL="0" indent="567055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传播性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Picture 10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" y="1173480"/>
            <a:ext cx="3649979" cy="2522220"/>
          </a:xfrm>
          <a:prstGeom prst="rect">
            <a:avLst/>
          </a:prstGeom>
        </p:spPr>
      </p:pic>
      <p:pic>
        <p:nvPicPr>
          <p:cNvPr id="1055" name="Picture 10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173480"/>
            <a:ext cx="3642360" cy="2499360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359" y="1173480"/>
            <a:ext cx="3688079" cy="2499360"/>
          </a:xfrm>
          <a:prstGeom prst="rect">
            <a:avLst/>
          </a:prstGeom>
        </p:spPr>
      </p:pic>
      <p:pic>
        <p:nvPicPr>
          <p:cNvPr id="1057" name="Picture 10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" y="3764279"/>
            <a:ext cx="5478780" cy="2842260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280" y="3779520"/>
            <a:ext cx="5471160" cy="2827020"/>
          </a:xfrm>
          <a:prstGeom prst="rect">
            <a:avLst/>
          </a:prstGeom>
        </p:spPr>
      </p:pic>
      <p:sp>
        <p:nvSpPr>
          <p:cNvPr id="2" name="TextBox 1058"/>
          <p:cNvSpPr txBox="1"/>
          <p:nvPr/>
        </p:nvSpPr>
        <p:spPr>
          <a:xfrm>
            <a:off x="376554" y="289633"/>
            <a:ext cx="664841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内容策略的提示设计（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二）</a:t>
            </a:r>
          </a:p>
        </p:txBody>
      </p:sp>
      <p:sp>
        <p:nvSpPr>
          <p:cNvPr id="1059" name="TextBox 1059"/>
          <p:cNvSpPr txBox="1"/>
          <p:nvPr/>
        </p:nvSpPr>
        <p:spPr>
          <a:xfrm>
            <a:off x="419887" y="2062149"/>
            <a:ext cx="241282" cy="1424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b="1" spc="-60" dirty="0">
                <a:solidFill>
                  <a:srgbClr val="FEFEFE"/>
                </a:solidFill>
                <a:latin typeface="宋体"/>
                <a:ea typeface="宋体"/>
              </a:rPr>
              <a:t>应用示</a:t>
            </a:r>
            <a:r>
              <a:rPr lang="zh-CN" altLang="en-US" sz="1800" b="1" spc="-80" dirty="0">
                <a:solidFill>
                  <a:srgbClr val="FEFEFE"/>
                </a:solidFill>
                <a:latin typeface="宋体"/>
                <a:ea typeface="宋体"/>
              </a:rPr>
              <a:t>例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864616" y="1270533"/>
            <a:ext cx="3013951" cy="2862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热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点跟进型</a:t>
            </a:r>
          </a:p>
          <a:p>
            <a:pPr>
              <a:lnSpc>
                <a:spcPts val="1910"/>
              </a:lnSpc>
            </a:pPr>
            <a:endParaRPr lang="en-US" dirty="0"/>
          </a:p>
          <a:p>
            <a:pPr marL="226948" hangingPunct="0">
              <a:lnSpc>
                <a:spcPct val="110833"/>
              </a:lnSpc>
            </a:pP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基于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34" dirty="0">
                <a:solidFill>
                  <a:srgbClr val="000000"/>
                </a:solidFill>
                <a:latin typeface="宋体"/>
                <a:ea typeface="宋体"/>
              </a:rPr>
              <a:t>热点事件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创作微</a:t>
            </a:r>
            <a:r>
              <a:rPr lang="zh-CN" altLang="en-US" sz="1200" spc="-34" dirty="0">
                <a:solidFill>
                  <a:srgbClr val="000000"/>
                </a:solidFill>
                <a:latin typeface="宋体"/>
                <a:ea typeface="宋体"/>
              </a:rPr>
              <a:t>博：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核心要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求：</a:t>
            </a:r>
          </a:p>
          <a:p>
            <a:pPr marL="0" indent="226948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陈述事实（50字）：客观描述核心事件</a:t>
            </a:r>
          </a:p>
          <a:p>
            <a:pPr marL="226948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5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专业解读（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100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字）：结合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领域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视角分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析</a:t>
            </a:r>
          </a:p>
          <a:p>
            <a:pPr marL="0" indent="226948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延展思考（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50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字）：提供独特观点</a:t>
            </a:r>
          </a:p>
          <a:p>
            <a:pPr marL="0" indent="226948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差异化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要求：</a:t>
            </a:r>
          </a:p>
          <a:p>
            <a:pPr marL="226948" hangingPunct="0">
              <a:lnSpc>
                <a:spcPct val="110833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避开热门观点角度</a:t>
            </a:r>
            <a:br/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结合领域专业知识</a:t>
            </a:r>
          </a:p>
          <a:p>
            <a:pPr marL="0" indent="226948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预设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—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个讨论问题</a:t>
            </a:r>
          </a:p>
          <a:p>
            <a:pPr marL="0">
              <a:lnSpc>
                <a:spcPct val="101250"/>
              </a:lnSpc>
              <a:spcBef>
                <a:spcPts val="329"/>
              </a:spcBef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品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牌营销型</a:t>
            </a:r>
          </a:p>
        </p:txBody>
      </p:sp>
      <p:sp>
        <p:nvSpPr>
          <p:cNvPr id="1061" name="TextBox 1061"/>
          <p:cNvSpPr txBox="1"/>
          <p:nvPr/>
        </p:nvSpPr>
        <p:spPr>
          <a:xfrm>
            <a:off x="4371975" y="2046122"/>
            <a:ext cx="241282" cy="1424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b="1" spc="-60" dirty="0">
                <a:solidFill>
                  <a:srgbClr val="FEFEFE"/>
                </a:solidFill>
                <a:latin typeface="宋体"/>
                <a:ea typeface="宋体"/>
              </a:rPr>
              <a:t>应用示</a:t>
            </a:r>
            <a:r>
              <a:rPr lang="zh-CN" altLang="en-US" sz="1800" b="1" spc="-80" dirty="0">
                <a:solidFill>
                  <a:srgbClr val="FEFEFE"/>
                </a:solidFill>
                <a:latin typeface="宋体"/>
                <a:ea typeface="宋体"/>
              </a:rPr>
              <a:t>例</a:t>
            </a:r>
          </a:p>
        </p:txBody>
      </p:sp>
      <p:sp>
        <p:nvSpPr>
          <p:cNvPr id="1062" name="TextBox 1062"/>
          <p:cNvSpPr txBox="1"/>
          <p:nvPr/>
        </p:nvSpPr>
        <p:spPr>
          <a:xfrm>
            <a:off x="4818126" y="1257198"/>
            <a:ext cx="3319127" cy="28831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原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创内容型</a:t>
            </a:r>
          </a:p>
          <a:p>
            <a:pPr>
              <a:lnSpc>
                <a:spcPts val="1580"/>
              </a:lnSpc>
            </a:pPr>
            <a:endParaRPr lang="en-US" dirty="0"/>
          </a:p>
          <a:p>
            <a:pPr marL="223773" hangingPunct="0">
              <a:lnSpc>
                <a:spcPct val="89583"/>
              </a:lnSpc>
            </a:pPr>
            <a:r>
              <a:rPr lang="zh-CN" altLang="en-US" sz="1200" spc="-44" dirty="0">
                <a:solidFill>
                  <a:srgbClr val="000000"/>
                </a:solidFill>
                <a:latin typeface="宋体"/>
                <a:ea typeface="宋体"/>
              </a:rPr>
              <a:t>创建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45" dirty="0">
                <a:solidFill>
                  <a:srgbClr val="000000"/>
                </a:solidFill>
                <a:latin typeface="宋体"/>
                <a:ea typeface="宋体"/>
              </a:rPr>
              <a:t>主题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原</a:t>
            </a:r>
            <a:r>
              <a:rPr lang="zh-CN" altLang="en-US" sz="1200" spc="-44" dirty="0">
                <a:solidFill>
                  <a:srgbClr val="000000"/>
                </a:solidFill>
                <a:latin typeface="宋体"/>
                <a:ea typeface="宋体"/>
              </a:rPr>
              <a:t>创内容：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内容结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构：</a:t>
            </a:r>
          </a:p>
          <a:p>
            <a:pPr marL="0" indent="223773">
              <a:lnSpc>
                <a:spcPct val="83333"/>
              </a:lnSpc>
            </a:pP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）核心论点（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60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字）：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填写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</a:p>
          <a:p>
            <a:pPr marL="0" indent="223773">
              <a:lnSpc>
                <a:spcPct val="833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（2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）专业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解析：</a:t>
            </a:r>
          </a:p>
          <a:p>
            <a:pPr marL="336169" hangingPunct="0">
              <a:lnSpc>
                <a:spcPct val="83333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理论依据（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100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字）</a:t>
            </a:r>
            <a:br/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实践案例（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80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字）</a:t>
            </a:r>
          </a:p>
          <a:p>
            <a:pPr marL="0" indent="223773">
              <a:lnSpc>
                <a:spcPct val="833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（3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）互动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引导：</a:t>
            </a:r>
          </a:p>
          <a:p>
            <a:pPr marL="336169" hangingPunct="0">
              <a:lnSpc>
                <a:spcPct val="83333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设置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个开放性问题</a:t>
            </a:r>
            <a:br/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预留讨论空间</a:t>
            </a:r>
          </a:p>
          <a:p>
            <a:pPr marL="0" indent="223773">
              <a:lnSpc>
                <a:spcPct val="833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传播策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略：</a:t>
            </a:r>
          </a:p>
          <a:p>
            <a:pPr marL="0" indent="336169">
              <a:lnSpc>
                <a:spcPct val="83333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关联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—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个相关话题</a:t>
            </a:r>
          </a:p>
          <a:p>
            <a:pPr marL="0" indent="223773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设计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2个传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播观点</a:t>
            </a:r>
          </a:p>
          <a:p>
            <a:pPr>
              <a:lnSpc>
                <a:spcPts val="1920"/>
              </a:lnSpc>
            </a:pPr>
            <a:endParaRPr lang="en-US" dirty="0"/>
          </a:p>
          <a:p>
            <a:pPr marL="0" indent="2160905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互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动娱乐型</a:t>
            </a:r>
          </a:p>
        </p:txBody>
      </p:sp>
      <p:sp>
        <p:nvSpPr>
          <p:cNvPr id="1063" name="TextBox 1063"/>
          <p:cNvSpPr txBox="1"/>
          <p:nvPr/>
        </p:nvSpPr>
        <p:spPr>
          <a:xfrm>
            <a:off x="8316264" y="2048332"/>
            <a:ext cx="241282" cy="142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29583"/>
              </a:lnSpc>
            </a:pPr>
            <a:r>
              <a:rPr lang="zh-CN" altLang="en-US" sz="1800" b="1" spc="-60" dirty="0">
                <a:solidFill>
                  <a:srgbClr val="FEFEFE"/>
                </a:solidFill>
                <a:latin typeface="宋体"/>
                <a:ea typeface="宋体"/>
              </a:rPr>
              <a:t>应用示</a:t>
            </a:r>
            <a:r>
              <a:rPr lang="zh-CN" altLang="en-US" sz="1800" b="1" spc="-80" dirty="0">
                <a:solidFill>
                  <a:srgbClr val="FEFEFE"/>
                </a:solidFill>
                <a:latin typeface="宋体"/>
                <a:ea typeface="宋体"/>
              </a:rPr>
              <a:t>例</a:t>
            </a:r>
          </a:p>
        </p:txBody>
      </p:sp>
      <p:sp>
        <p:nvSpPr>
          <p:cNvPr id="1064" name="TextBox 1064"/>
          <p:cNvSpPr txBox="1"/>
          <p:nvPr/>
        </p:nvSpPr>
        <p:spPr>
          <a:xfrm>
            <a:off x="8759570" y="1257833"/>
            <a:ext cx="2376412" cy="24322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话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题引导型</a:t>
            </a:r>
          </a:p>
          <a:p>
            <a:pPr>
              <a:lnSpc>
                <a:spcPts val="1989"/>
              </a:lnSpc>
            </a:pPr>
            <a:endParaRPr lang="en-US" dirty="0"/>
          </a:p>
          <a:p>
            <a:pPr marL="230123" hangingPunct="0">
              <a:lnSpc>
                <a:spcPct val="103750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话题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引导设计：</a:t>
            </a:r>
            <a:br/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主题：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#[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话题名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]#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引导策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略：</a:t>
            </a:r>
          </a:p>
          <a:p>
            <a:pPr marL="342519" indent="-112395" hangingPunct="0">
              <a:lnSpc>
                <a:spcPct val="95833"/>
              </a:lnSpc>
              <a:spcBef>
                <a:spcPts val="135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（1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）议题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设置：</a:t>
            </a:r>
            <a:br/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4" dirty="0">
                <a:solidFill>
                  <a:srgbClr val="000000"/>
                </a:solidFill>
                <a:latin typeface="宋体"/>
                <a:ea typeface="宋体"/>
              </a:rPr>
              <a:t>核心问题提出</a:t>
            </a:r>
          </a:p>
          <a:p>
            <a:pPr marL="0" indent="342519">
              <a:lnSpc>
                <a:spcPct val="100000"/>
              </a:lnSpc>
              <a:spcBef>
                <a:spcPts val="150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—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个讨论维度</a:t>
            </a:r>
          </a:p>
          <a:p>
            <a:pPr marL="342519" indent="-112395" hangingPunct="0">
              <a:lnSpc>
                <a:spcPct val="95833"/>
              </a:lnSpc>
              <a:spcBef>
                <a:spcPts val="15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）互动设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计：</a:t>
            </a:r>
            <a:br/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65" dirty="0">
                <a:solidFill>
                  <a:srgbClr val="000000"/>
                </a:solidFill>
                <a:latin typeface="宋体"/>
                <a:ea typeface="宋体"/>
              </a:rPr>
              <a:t>投票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64" dirty="0">
                <a:solidFill>
                  <a:srgbClr val="000000"/>
                </a:solidFill>
                <a:latin typeface="宋体"/>
                <a:ea typeface="宋体"/>
              </a:rPr>
              <a:t>提问形式</a:t>
            </a:r>
          </a:p>
          <a:p>
            <a:pPr marL="0" indent="342519">
              <a:lnSpc>
                <a:spcPct val="100000"/>
              </a:lnSpc>
              <a:spcBef>
                <a:spcPts val="150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观点引导方向</a:t>
            </a:r>
          </a:p>
          <a:p>
            <a:pPr marL="0" indent="230123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情绪基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调：保持开放性和包容性</a:t>
            </a:r>
          </a:p>
        </p:txBody>
      </p:sp>
      <p:sp>
        <p:nvSpPr>
          <p:cNvPr id="1065" name="TextBox 1065"/>
          <p:cNvSpPr txBox="1"/>
          <p:nvPr/>
        </p:nvSpPr>
        <p:spPr>
          <a:xfrm>
            <a:off x="737234" y="4375200"/>
            <a:ext cx="2256778" cy="2170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41833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用示例</a:t>
            </a:r>
          </a:p>
          <a:p>
            <a:pPr>
              <a:lnSpc>
                <a:spcPts val="58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zh-CN" altLang="en-US" sz="1200" spc="5" dirty="0">
                <a:solidFill>
                  <a:srgbClr val="000000"/>
                </a:solidFill>
                <a:latin typeface="宋体"/>
                <a:ea typeface="宋体"/>
              </a:rPr>
              <a:t>品牌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内容创作指南：</a:t>
            </a:r>
            <a:br/>
            <a:r>
              <a:rPr lang="zh-CN" altLang="en-US" sz="1200" spc="-44" dirty="0">
                <a:solidFill>
                  <a:srgbClr val="000000"/>
                </a:solidFill>
                <a:latin typeface="宋体"/>
                <a:ea typeface="宋体"/>
              </a:rPr>
              <a:t>营销目标：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45" dirty="0">
                <a:solidFill>
                  <a:srgbClr val="000000"/>
                </a:solidFill>
                <a:latin typeface="宋体"/>
                <a:ea typeface="宋体"/>
              </a:rPr>
              <a:t>目标设定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内容策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略：</a:t>
            </a:r>
          </a:p>
          <a:p>
            <a:pPr marL="0" hangingPunct="0">
              <a:lnSpc>
                <a:spcPct val="110833"/>
              </a:lnSpc>
            </a:pP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）</a:t>
            </a:r>
            <a:r>
              <a:rPr lang="zh-CN" altLang="en-US" sz="1200" spc="-8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0" dirty="0">
                <a:solidFill>
                  <a:srgbClr val="000000"/>
                </a:solidFill>
                <a:latin typeface="宋体"/>
                <a:ea typeface="宋体"/>
              </a:rPr>
              <a:t>品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牌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元</a:t>
            </a:r>
            <a:r>
              <a:rPr lang="zh-CN" altLang="en-US" sz="1200" spc="-8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素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0" dirty="0">
                <a:solidFill>
                  <a:srgbClr val="000000"/>
                </a:solidFill>
                <a:latin typeface="宋体"/>
                <a:ea typeface="宋体"/>
              </a:rPr>
              <a:t>植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入</a:t>
            </a:r>
            <a:r>
              <a:rPr lang="zh-CN" altLang="en-US" sz="1200" spc="-8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spc="-8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0" dirty="0">
                <a:solidFill>
                  <a:srgbClr val="000000"/>
                </a:solidFill>
                <a:latin typeface="宋体"/>
                <a:ea typeface="宋体"/>
              </a:rPr>
              <a:t>占</a:t>
            </a:r>
            <a:r>
              <a:rPr lang="zh-CN" altLang="en-US" sz="1200" spc="-9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164" dirty="0">
                <a:solidFill>
                  <a:srgbClr val="000000"/>
                </a:solidFill>
                <a:latin typeface="宋体"/>
                <a:ea typeface="宋体"/>
              </a:rPr>
              <a:t>比</a:t>
            </a:r>
            <a:r>
              <a:rPr lang="zh-CN" altLang="en-US" sz="1200" spc="69" dirty="0">
                <a:solidFill>
                  <a:srgbClr val="000000"/>
                </a:solidFill>
                <a:latin typeface="宋体"/>
                <a:ea typeface="宋体"/>
              </a:rPr>
              <a:t>&lt;30%</a:t>
            </a:r>
            <a:r>
              <a:rPr lang="zh-CN" altLang="en-US" sz="1200" spc="145" dirty="0">
                <a:solidFill>
                  <a:srgbClr val="000000"/>
                </a:solidFill>
                <a:latin typeface="宋体"/>
                <a:ea typeface="宋体"/>
              </a:rPr>
              <a:t>）：</a:t>
            </a:r>
          </a:p>
          <a:p>
            <a:pPr marL="112395" hangingPunct="0">
              <a:lnSpc>
                <a:spcPct val="110833"/>
              </a:lnSpc>
            </a:pP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65" dirty="0">
                <a:solidFill>
                  <a:srgbClr val="000000"/>
                </a:solidFill>
                <a:latin typeface="宋体"/>
                <a:ea typeface="宋体"/>
              </a:rPr>
              <a:t>产品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65" dirty="0">
                <a:solidFill>
                  <a:srgbClr val="000000"/>
                </a:solidFill>
                <a:latin typeface="宋体"/>
                <a:ea typeface="宋体"/>
              </a:rPr>
              <a:t>服务亮点</a:t>
            </a:r>
            <a:br/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品牌价值主张</a:t>
            </a:r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（2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）内容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包装：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场景化描述（80字）</a:t>
            </a:r>
          </a:p>
        </p:txBody>
      </p:sp>
      <p:sp>
        <p:nvSpPr>
          <p:cNvPr id="1066" name="TextBox 1066"/>
          <p:cNvSpPr txBox="1"/>
          <p:nvPr/>
        </p:nvSpPr>
        <p:spPr>
          <a:xfrm>
            <a:off x="3451859" y="4732705"/>
            <a:ext cx="1637018" cy="1818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2395" hangingPunct="0">
              <a:lnSpc>
                <a:spcPct val="110833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用户痛点关联</a:t>
            </a:r>
            <a:br/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解决方案呈现</a:t>
            </a:r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（3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）传播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设计：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话题：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#[</a:t>
            </a:r>
            <a:r>
              <a:rPr lang="zh-CN" altLang="en-US" sz="1200" spc="-60" dirty="0">
                <a:solidFill>
                  <a:srgbClr val="000000"/>
                </a:solidFill>
                <a:latin typeface="宋体"/>
                <a:ea typeface="宋体"/>
              </a:rPr>
              <a:t>话题名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]#</a:t>
            </a:r>
          </a:p>
          <a:p>
            <a:pPr marL="0" indent="112395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互动形式：投票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问答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注意事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项：</a:t>
            </a:r>
          </a:p>
          <a:p>
            <a:pPr marL="74930" hangingPunct="0">
              <a:lnSpc>
                <a:spcPct val="110833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避免硬广表达</a:t>
            </a:r>
            <a:br/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强调用户价值</a:t>
            </a:r>
          </a:p>
          <a:p>
            <a:pPr marL="0" indent="74930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保持语态自然</a:t>
            </a:r>
          </a:p>
        </p:txBody>
      </p:sp>
      <p:sp>
        <p:nvSpPr>
          <p:cNvPr id="1067" name="TextBox 1067"/>
          <p:cNvSpPr txBox="1"/>
          <p:nvPr/>
        </p:nvSpPr>
        <p:spPr>
          <a:xfrm>
            <a:off x="6563359" y="4381550"/>
            <a:ext cx="2199585" cy="21475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30123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应</a:t>
            </a: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用示例</a:t>
            </a:r>
          </a:p>
          <a:p>
            <a:pPr>
              <a:lnSpc>
                <a:spcPts val="4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互动娱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乐内容设计：</a:t>
            </a:r>
          </a:p>
          <a:p>
            <a:pPr marL="0" hangingPunct="0">
              <a:lnSpc>
                <a:spcPct val="110833"/>
              </a:lnSpc>
            </a:pP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形式类型：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测试</a:t>
            </a:r>
            <a:r>
              <a:rPr lang="zh-CN" altLang="en-US" sz="1200" spc="-30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问答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55" dirty="0">
                <a:solidFill>
                  <a:srgbClr val="000000"/>
                </a:solidFill>
                <a:latin typeface="宋体"/>
                <a:ea typeface="宋体"/>
              </a:rPr>
              <a:t>话题接龙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内容框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架：</a:t>
            </a:r>
          </a:p>
          <a:p>
            <a:pPr marL="112395" indent="-112395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）引导部分（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60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字）：</a:t>
            </a:r>
            <a:br/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设置悬念</a:t>
            </a:r>
            <a:r>
              <a:rPr lang="zh-CN" altLang="en-US" sz="1200" spc="-25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50" dirty="0">
                <a:solidFill>
                  <a:srgbClr val="000000"/>
                </a:solidFill>
                <a:latin typeface="宋体"/>
                <a:ea typeface="宋体"/>
              </a:rPr>
              <a:t>趣味点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40" dirty="0">
                <a:solidFill>
                  <a:srgbClr val="000000"/>
                </a:solidFill>
                <a:latin typeface="宋体"/>
                <a:ea typeface="宋体"/>
              </a:rPr>
              <a:t>情境化描述</a:t>
            </a:r>
          </a:p>
          <a:p>
            <a:pPr marL="112395" indent="-112395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（2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）互动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规则：</a:t>
            </a:r>
            <a:br/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4" dirty="0">
                <a:solidFill>
                  <a:srgbClr val="000000"/>
                </a:solidFill>
                <a:latin typeface="宋体"/>
                <a:ea typeface="宋体"/>
              </a:rPr>
              <a:t>参与方式说明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互动奖励机制</a:t>
            </a:r>
          </a:p>
        </p:txBody>
      </p:sp>
      <p:sp>
        <p:nvSpPr>
          <p:cNvPr id="1068" name="TextBox 1068"/>
          <p:cNvSpPr txBox="1"/>
          <p:nvPr/>
        </p:nvSpPr>
        <p:spPr>
          <a:xfrm>
            <a:off x="9279255" y="4935905"/>
            <a:ext cx="1242683" cy="142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2395" indent="-112395" hangingPunct="0">
              <a:lnSpc>
                <a:spcPct val="110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（3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）话题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延展：</a:t>
            </a:r>
            <a:br/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4" dirty="0">
                <a:solidFill>
                  <a:srgbClr val="000000"/>
                </a:solidFill>
                <a:latin typeface="宋体"/>
                <a:ea typeface="宋体"/>
              </a:rPr>
              <a:t>衍生讨论方向</a:t>
            </a:r>
          </a:p>
          <a:p>
            <a:pPr marL="0" indent="112395">
              <a:lnSpc>
                <a:spcPct val="100000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二次创作空间</a:t>
            </a:r>
          </a:p>
          <a:p>
            <a:pPr marL="0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调性要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求：</a:t>
            </a:r>
          </a:p>
          <a:p>
            <a:pPr marL="0" indent="74929">
              <a:lnSpc>
                <a:spcPct val="100000"/>
              </a:lnSpc>
              <a:spcBef>
                <a:spcPts val="160"/>
              </a:spcBef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轻松活泼基调</a:t>
            </a:r>
          </a:p>
          <a:p>
            <a:pPr marL="74929" hangingPunct="0">
              <a:lnSpc>
                <a:spcPct val="110833"/>
              </a:lnSpc>
            </a:pP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3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适度专业性融入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-</a:t>
            </a:r>
            <a:r>
              <a:rPr lang="zh-CN" altLang="en-US" sz="1200" spc="-29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200" spc="-35" dirty="0">
                <a:solidFill>
                  <a:srgbClr val="000000"/>
                </a:solidFill>
                <a:latin typeface="宋体"/>
                <a:ea typeface="宋体"/>
              </a:rPr>
              <a:t>正向价值导向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Freeform 1069"/>
          <p:cNvSpPr/>
          <p:nvPr/>
        </p:nvSpPr>
        <p:spPr>
          <a:xfrm>
            <a:off x="6089650" y="1784350"/>
            <a:ext cx="2101850" cy="349250"/>
          </a:xfrm>
          <a:custGeom>
            <a:avLst/>
            <a:gdLst>
              <a:gd name="connsiteX0" fmla="*/ 7873 w 2101850"/>
              <a:gd name="connsiteY0" fmla="*/ 67310 h 349250"/>
              <a:gd name="connsiteX1" fmla="*/ 65785 w 2101850"/>
              <a:gd name="connsiteY1" fmla="*/ 9398 h 349250"/>
              <a:gd name="connsiteX2" fmla="*/ 2056130 w 2101850"/>
              <a:gd name="connsiteY2" fmla="*/ 9398 h 349250"/>
              <a:gd name="connsiteX3" fmla="*/ 2114042 w 2101850"/>
              <a:gd name="connsiteY3" fmla="*/ 67310 h 349250"/>
              <a:gd name="connsiteX4" fmla="*/ 2114042 w 2101850"/>
              <a:gd name="connsiteY4" fmla="*/ 300482 h 349250"/>
              <a:gd name="connsiteX5" fmla="*/ 2056130 w 2101850"/>
              <a:gd name="connsiteY5" fmla="*/ 358394 h 349250"/>
              <a:gd name="connsiteX6" fmla="*/ 65785 w 2101850"/>
              <a:gd name="connsiteY6" fmla="*/ 358394 h 349250"/>
              <a:gd name="connsiteX7" fmla="*/ 7873 w 2101850"/>
              <a:gd name="connsiteY7" fmla="*/ 300482 h 349250"/>
              <a:gd name="connsiteX8" fmla="*/ 7873 w 2101850"/>
              <a:gd name="connsiteY8" fmla="*/ 6731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1850" h="349250">
                <a:moveTo>
                  <a:pt x="7873" y="67310"/>
                </a:moveTo>
                <a:cubicBezTo>
                  <a:pt x="8254" y="35585"/>
                  <a:pt x="34315" y="9525"/>
                  <a:pt x="65785" y="9398"/>
                </a:cubicBezTo>
                <a:lnTo>
                  <a:pt x="2056130" y="9398"/>
                </a:lnTo>
                <a:cubicBezTo>
                  <a:pt x="2088489" y="9525"/>
                  <a:pt x="2114550" y="35585"/>
                  <a:pt x="2114042" y="67310"/>
                </a:cubicBezTo>
                <a:lnTo>
                  <a:pt x="2114042" y="300482"/>
                </a:lnTo>
                <a:cubicBezTo>
                  <a:pt x="2114550" y="332714"/>
                  <a:pt x="2088489" y="358775"/>
                  <a:pt x="2056130" y="358394"/>
                </a:cubicBezTo>
                <a:lnTo>
                  <a:pt x="65785" y="358394"/>
                </a:lnTo>
                <a:cubicBezTo>
                  <a:pt x="34315" y="358775"/>
                  <a:pt x="8254" y="332714"/>
                  <a:pt x="7873" y="300482"/>
                </a:cubicBezTo>
                <a:lnTo>
                  <a:pt x="7873" y="67310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1" name="Picture 10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25980"/>
            <a:ext cx="5402580" cy="3589020"/>
          </a:xfrm>
          <a:prstGeom prst="rect">
            <a:avLst/>
          </a:prstGeom>
        </p:spPr>
      </p:pic>
      <p:sp>
        <p:nvSpPr>
          <p:cNvPr id="2" name="TextBox 1071"/>
          <p:cNvSpPr txBox="1"/>
          <p:nvPr/>
        </p:nvSpPr>
        <p:spPr>
          <a:xfrm>
            <a:off x="376554" y="289633"/>
            <a:ext cx="5501625" cy="15531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4" dirty="0">
                <a:solidFill>
                  <a:srgbClr val="242424"/>
                </a:solidFill>
                <a:latin typeface="Arial Unicode MS"/>
                <a:ea typeface="Arial Unicode MS"/>
              </a:rPr>
              <a:t>话题与</a:t>
            </a:r>
            <a:r>
              <a:rPr lang="zh-CN" altLang="en-US" sz="4000" b="1" spc="254" dirty="0">
                <a:solidFill>
                  <a:srgbClr val="242424"/>
                </a:solidFill>
                <a:latin typeface="Arial Unicode MS"/>
                <a:ea typeface="Arial Unicode MS"/>
              </a:rPr>
              <a:t>标签应用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3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微博话题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是重要的流量入口，提示语需要规范话题使用策略：</a:t>
            </a:r>
          </a:p>
        </p:txBody>
      </p:sp>
      <p:sp>
        <p:nvSpPr>
          <p:cNvPr id="1072" name="TextBox 1072"/>
          <p:cNvSpPr txBox="1"/>
          <p:nvPr/>
        </p:nvSpPr>
        <p:spPr>
          <a:xfrm>
            <a:off x="6692163" y="1852345"/>
            <a:ext cx="1043286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</p:txBody>
      </p:sp>
      <p:sp>
        <p:nvSpPr>
          <p:cNvPr id="1073" name="TextBox 1073"/>
          <p:cNvSpPr txBox="1"/>
          <p:nvPr/>
        </p:nvSpPr>
        <p:spPr>
          <a:xfrm>
            <a:off x="378459" y="2320925"/>
            <a:ext cx="2568559" cy="32321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话题选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择原则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indent="35559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与内容高相关性</a:t>
            </a:r>
          </a:p>
          <a:p>
            <a:pPr marL="0" indent="35559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活跃度适中的话题</a:t>
            </a:r>
          </a:p>
          <a:p>
            <a:pPr marL="0" indent="35559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避免过度竞争的热门话题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标签使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用策略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indent="52705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核心话题前置</a:t>
            </a:r>
          </a:p>
          <a:p>
            <a:pPr marL="0" indent="52705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相关话题补充</a:t>
            </a:r>
          </a:p>
          <a:p>
            <a:pPr marL="0" indent="52705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品牌话题植入</a:t>
            </a:r>
          </a:p>
        </p:txBody>
      </p:sp>
      <p:sp>
        <p:nvSpPr>
          <p:cNvPr id="1074" name="TextBox 1074"/>
          <p:cNvSpPr txBox="1"/>
          <p:nvPr/>
        </p:nvSpPr>
        <p:spPr>
          <a:xfrm>
            <a:off x="6549390" y="2472105"/>
            <a:ext cx="1333445" cy="29768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话题配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置要求：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主话题：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话题名称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相关话题：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个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位置要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求：</a:t>
            </a:r>
          </a:p>
          <a:p>
            <a:pPr marL="0">
              <a:lnSpc>
                <a:spcPct val="100000"/>
              </a:lnSpc>
              <a:spcBef>
                <a:spcPts val="39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主话题在开头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相关话题在正文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品牌话题在结尾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选择标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准：</a:t>
            </a:r>
          </a:p>
          <a:p>
            <a:pPr marL="0" hangingPunct="0">
              <a:lnSpc>
                <a:spcPct val="152499"/>
              </a:lnSpc>
              <a:spcBef>
                <a:spcPts val="379"/>
              </a:spcBef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184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话题活跃度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50" dirty="0">
                <a:solidFill>
                  <a:srgbClr val="000000"/>
                </a:solidFill>
                <a:latin typeface="Arial Unicode MS"/>
                <a:ea typeface="Arial Unicode MS"/>
              </a:rPr>
              <a:t>范围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竞争度评估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相关性判断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Freeform 1075"/>
          <p:cNvSpPr/>
          <p:nvPr/>
        </p:nvSpPr>
        <p:spPr>
          <a:xfrm>
            <a:off x="3714750" y="1543050"/>
            <a:ext cx="2114550" cy="349250"/>
          </a:xfrm>
          <a:custGeom>
            <a:avLst/>
            <a:gdLst>
              <a:gd name="connsiteX0" fmla="*/ 16002 w 2114550"/>
              <a:gd name="connsiteY0" fmla="*/ 69341 h 349250"/>
              <a:gd name="connsiteX1" fmla="*/ 73914 w 2114550"/>
              <a:gd name="connsiteY1" fmla="*/ 11430 h 349250"/>
              <a:gd name="connsiteX2" fmla="*/ 2062734 w 2114550"/>
              <a:gd name="connsiteY2" fmla="*/ 11430 h 349250"/>
              <a:gd name="connsiteX3" fmla="*/ 2122170 w 2114550"/>
              <a:gd name="connsiteY3" fmla="*/ 69341 h 349250"/>
              <a:gd name="connsiteX4" fmla="*/ 2122170 w 2114550"/>
              <a:gd name="connsiteY4" fmla="*/ 302514 h 349250"/>
              <a:gd name="connsiteX5" fmla="*/ 2062734 w 2114550"/>
              <a:gd name="connsiteY5" fmla="*/ 360426 h 349250"/>
              <a:gd name="connsiteX6" fmla="*/ 73914 w 2114550"/>
              <a:gd name="connsiteY6" fmla="*/ 360426 h 349250"/>
              <a:gd name="connsiteX7" fmla="*/ 16002 w 2114550"/>
              <a:gd name="connsiteY7" fmla="*/ 302514 h 349250"/>
              <a:gd name="connsiteX8" fmla="*/ 16002 w 2114550"/>
              <a:gd name="connsiteY8" fmla="*/ 6934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49250">
                <a:moveTo>
                  <a:pt x="16002" y="69341"/>
                </a:moveTo>
                <a:cubicBezTo>
                  <a:pt x="15240" y="36855"/>
                  <a:pt x="41300" y="10794"/>
                  <a:pt x="73914" y="11430"/>
                </a:cubicBezTo>
                <a:lnTo>
                  <a:pt x="2062734" y="11430"/>
                </a:lnTo>
                <a:cubicBezTo>
                  <a:pt x="2095474" y="10794"/>
                  <a:pt x="2121534" y="36855"/>
                  <a:pt x="2122170" y="69341"/>
                </a:cubicBezTo>
                <a:lnTo>
                  <a:pt x="2122170" y="302514"/>
                </a:lnTo>
                <a:cubicBezTo>
                  <a:pt x="2121534" y="333984"/>
                  <a:pt x="2095474" y="360045"/>
                  <a:pt x="2062734" y="360426"/>
                </a:cubicBezTo>
                <a:lnTo>
                  <a:pt x="73914" y="360426"/>
                </a:lnTo>
                <a:cubicBezTo>
                  <a:pt x="41300" y="360045"/>
                  <a:pt x="15240" y="333984"/>
                  <a:pt x="16002" y="302514"/>
                </a:cubicBezTo>
                <a:lnTo>
                  <a:pt x="16002" y="69341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Freeform 1076"/>
          <p:cNvSpPr/>
          <p:nvPr/>
        </p:nvSpPr>
        <p:spPr>
          <a:xfrm>
            <a:off x="9505950" y="1543050"/>
            <a:ext cx="2114550" cy="361950"/>
          </a:xfrm>
          <a:custGeom>
            <a:avLst/>
            <a:gdLst>
              <a:gd name="connsiteX0" fmla="*/ 9906 w 2114550"/>
              <a:gd name="connsiteY0" fmla="*/ 73913 h 361950"/>
              <a:gd name="connsiteX1" fmla="*/ 67818 w 2114550"/>
              <a:gd name="connsiteY1" fmla="*/ 16002 h 361950"/>
              <a:gd name="connsiteX2" fmla="*/ 2058161 w 2114550"/>
              <a:gd name="connsiteY2" fmla="*/ 16002 h 361950"/>
              <a:gd name="connsiteX3" fmla="*/ 2116073 w 2114550"/>
              <a:gd name="connsiteY3" fmla="*/ 73913 h 361950"/>
              <a:gd name="connsiteX4" fmla="*/ 2116073 w 2114550"/>
              <a:gd name="connsiteY4" fmla="*/ 305561 h 361950"/>
              <a:gd name="connsiteX5" fmla="*/ 2058161 w 2114550"/>
              <a:gd name="connsiteY5" fmla="*/ 364998 h 361950"/>
              <a:gd name="connsiteX6" fmla="*/ 67818 w 2114550"/>
              <a:gd name="connsiteY6" fmla="*/ 364998 h 361950"/>
              <a:gd name="connsiteX7" fmla="*/ 9906 w 2114550"/>
              <a:gd name="connsiteY7" fmla="*/ 305561 h 361950"/>
              <a:gd name="connsiteX8" fmla="*/ 9906 w 2114550"/>
              <a:gd name="connsiteY8" fmla="*/ 73913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361950">
                <a:moveTo>
                  <a:pt x="9906" y="73913"/>
                </a:moveTo>
                <a:cubicBezTo>
                  <a:pt x="9525" y="41300"/>
                  <a:pt x="35585" y="15239"/>
                  <a:pt x="67818" y="16002"/>
                </a:cubicBezTo>
                <a:lnTo>
                  <a:pt x="2058161" y="16002"/>
                </a:lnTo>
                <a:cubicBezTo>
                  <a:pt x="2089759" y="15239"/>
                  <a:pt x="2115819" y="41300"/>
                  <a:pt x="2116073" y="73913"/>
                </a:cubicBezTo>
                <a:lnTo>
                  <a:pt x="2116073" y="305561"/>
                </a:lnTo>
                <a:cubicBezTo>
                  <a:pt x="2115819" y="338429"/>
                  <a:pt x="2089759" y="364489"/>
                  <a:pt x="2058161" y="364998"/>
                </a:cubicBezTo>
                <a:lnTo>
                  <a:pt x="67818" y="364998"/>
                </a:lnTo>
                <a:cubicBezTo>
                  <a:pt x="35585" y="364489"/>
                  <a:pt x="9525" y="338429"/>
                  <a:pt x="9906" y="305561"/>
                </a:cubicBezTo>
                <a:lnTo>
                  <a:pt x="9906" y="73913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78" name="Picture 10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1882139"/>
            <a:ext cx="2476500" cy="4800600"/>
          </a:xfrm>
          <a:prstGeom prst="rect">
            <a:avLst/>
          </a:prstGeom>
        </p:spPr>
      </p:pic>
      <p:pic>
        <p:nvPicPr>
          <p:cNvPr id="1079" name="Picture 10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89760"/>
            <a:ext cx="5684520" cy="4792979"/>
          </a:xfrm>
          <a:prstGeom prst="rect">
            <a:avLst/>
          </a:prstGeom>
        </p:spPr>
      </p:pic>
      <p:sp>
        <p:nvSpPr>
          <p:cNvPr id="2" name="TextBox 1079"/>
          <p:cNvSpPr txBox="1"/>
          <p:nvPr/>
        </p:nvSpPr>
        <p:spPr>
          <a:xfrm>
            <a:off x="376554" y="289633"/>
            <a:ext cx="6720824" cy="10972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传播策略</a:t>
            </a:r>
            <a:r>
              <a:rPr lang="zh-CN" altLang="en-US" sz="4000" b="1" spc="265" dirty="0">
                <a:solidFill>
                  <a:srgbClr val="242424"/>
                </a:solidFill>
                <a:latin typeface="Arial Unicode MS"/>
                <a:ea typeface="Arial Unicode MS"/>
              </a:rPr>
              <a:t>的提示设计</a:t>
            </a:r>
          </a:p>
          <a:p>
            <a:pPr>
              <a:lnSpc>
                <a:spcPts val="183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微博内容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的传播效果很大程度取决于发布策略，提示语需要涵盖以下维度：</a:t>
            </a:r>
          </a:p>
        </p:txBody>
      </p:sp>
      <p:sp>
        <p:nvSpPr>
          <p:cNvPr id="1080" name="TextBox 1080"/>
          <p:cNvSpPr txBox="1"/>
          <p:nvPr/>
        </p:nvSpPr>
        <p:spPr>
          <a:xfrm>
            <a:off x="354965" y="1547494"/>
            <a:ext cx="3370565" cy="2177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热点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借力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4764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热点筛选：设定热点选择的标准，</a:t>
            </a:r>
          </a:p>
          <a:p>
            <a:pPr marL="0" indent="310515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如话题热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度、受众契合度等</a:t>
            </a:r>
          </a:p>
          <a:p>
            <a:pPr marL="0" indent="24764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角度创新：指导找到差异化的切</a:t>
            </a:r>
          </a:p>
          <a:p>
            <a:pPr marL="0" indent="310515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入点，避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免同质化表达</a:t>
            </a:r>
          </a:p>
          <a:p>
            <a:pPr marL="0" indent="24764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时机把握：明确内容发布的最佳</a:t>
            </a:r>
          </a:p>
          <a:p>
            <a:pPr marL="0" indent="310515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时间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窗口</a:t>
            </a:r>
          </a:p>
        </p:txBody>
      </p:sp>
      <p:sp>
        <p:nvSpPr>
          <p:cNvPr id="1081" name="TextBox 1081"/>
          <p:cNvSpPr txBox="1"/>
          <p:nvPr/>
        </p:nvSpPr>
        <p:spPr>
          <a:xfrm>
            <a:off x="3821429" y="1612315"/>
            <a:ext cx="2299915" cy="2404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818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热点借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力内容生成需求：</a:t>
            </a:r>
          </a:p>
          <a:p>
            <a:pPr marL="0">
              <a:lnSpc>
                <a:spcPct val="98750"/>
              </a:lnSpc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话题背景：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当前热点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 hangingPunct="0">
              <a:lnSpc>
                <a:spcPct val="95416"/>
              </a:lnSpc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热度指标：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热搜排名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话题讨论量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目标受众：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用户群体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差异化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要求：</a:t>
            </a:r>
          </a:p>
          <a:p>
            <a:pPr marL="0" hangingPunct="0">
              <a:lnSpc>
                <a:spcPct val="95416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分析现有观点角度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提出新的切入点</a:t>
            </a:r>
          </a:p>
          <a:p>
            <a:pPr marL="0" hangingPunct="0">
              <a:lnSpc>
                <a:spcPct val="95416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设计反直觉表达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传播策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略：</a:t>
            </a:r>
          </a:p>
          <a:p>
            <a:pPr marL="0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话题标签选择</a:t>
            </a:r>
          </a:p>
          <a:p>
            <a:pPr marL="0" hangingPunct="0">
              <a:lnSpc>
                <a:spcPct val="95416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关键意见领袖互动设计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评论引导策略</a:t>
            </a:r>
          </a:p>
        </p:txBody>
      </p:sp>
      <p:sp>
        <p:nvSpPr>
          <p:cNvPr id="1082" name="TextBox 1082"/>
          <p:cNvSpPr txBox="1"/>
          <p:nvPr/>
        </p:nvSpPr>
        <p:spPr>
          <a:xfrm>
            <a:off x="6476365" y="1547494"/>
            <a:ext cx="2939399" cy="21431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内容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节奏</a:t>
            </a:r>
          </a:p>
          <a:p>
            <a:pPr>
              <a:lnSpc>
                <a:spcPts val="80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发布频率：依据账号定位和粉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丝活跃度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设定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内容分类：不同类型内容的比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例配置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互动时间：明确重点互动的时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间段</a:t>
            </a:r>
          </a:p>
        </p:txBody>
      </p:sp>
      <p:sp>
        <p:nvSpPr>
          <p:cNvPr id="1083" name="TextBox 1083"/>
          <p:cNvSpPr txBox="1"/>
          <p:nvPr/>
        </p:nvSpPr>
        <p:spPr>
          <a:xfrm>
            <a:off x="9603105" y="1616760"/>
            <a:ext cx="2271383" cy="24625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6627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75" dirty="0">
                <a:solidFill>
                  <a:srgbClr val="000000"/>
                </a:solidFill>
                <a:latin typeface="Arial Unicode MS"/>
                <a:ea typeface="Arial Unicode MS"/>
              </a:rPr>
              <a:t>请帮我制定微博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账号的内容排期</a:t>
            </a:r>
          </a:p>
          <a:p>
            <a:pPr marL="0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规划：</a:t>
            </a:r>
          </a:p>
          <a:p>
            <a:pPr marL="0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账号信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息：</a:t>
            </a:r>
          </a:p>
          <a:p>
            <a:pPr marL="112394" hangingPunct="0">
              <a:lnSpc>
                <a:spcPct val="113750"/>
              </a:lnSpc>
              <a:spcBef>
                <a:spcPts val="100"/>
              </a:spcBef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184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定位：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40" dirty="0">
                <a:solidFill>
                  <a:srgbClr val="000000"/>
                </a:solidFill>
                <a:latin typeface="Arial Unicode MS"/>
                <a:ea typeface="Arial Unicode MS"/>
              </a:rPr>
              <a:t>填写账号定位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目标受众：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受众属性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 indent="112394">
              <a:lnSpc>
                <a:spcPct val="100000"/>
              </a:lnSpc>
              <a:spcBef>
                <a:spcPts val="10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当前粉丝量：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数量]</a:t>
            </a:r>
          </a:p>
          <a:p>
            <a:pPr marL="0" indent="112394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4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内容领域：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领域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需要考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虑以下要素：</a:t>
            </a:r>
          </a:p>
          <a:p>
            <a:pPr marL="0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）设计一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周的发布时间表，包</a:t>
            </a:r>
          </a:p>
        </p:txBody>
      </p:sp>
      <p:sp>
        <p:nvSpPr>
          <p:cNvPr id="1084" name="TextBox 1084"/>
          <p:cNvSpPr txBox="1"/>
          <p:nvPr/>
        </p:nvSpPr>
        <p:spPr>
          <a:xfrm>
            <a:off x="361950" y="4222750"/>
            <a:ext cx="3160379" cy="21850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内容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节奏</a:t>
            </a:r>
          </a:p>
          <a:p>
            <a:pPr>
              <a:lnSpc>
                <a:spcPts val="1135"/>
              </a:lnSpc>
            </a:pPr>
            <a:endParaRPr lang="en-US" dirty="0"/>
          </a:p>
          <a:p>
            <a:pPr marL="0" indent="17779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评论引导：设计能够激发用户表</a:t>
            </a:r>
          </a:p>
          <a:p>
            <a:pPr marL="0" indent="30353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达的互动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话题</a:t>
            </a:r>
          </a:p>
          <a:p>
            <a:pPr marL="0" indent="17779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转发激励：通过悬念设置或福利</a:t>
            </a:r>
          </a:p>
          <a:p>
            <a:pPr marL="0" indent="30353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机制提升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转发意愿</a:t>
            </a:r>
          </a:p>
          <a:p>
            <a:pPr marL="0" indent="17779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私信响应：规范化的私信回复策</a:t>
            </a:r>
          </a:p>
          <a:p>
            <a:pPr marL="0" indent="30353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略</a:t>
            </a:r>
          </a:p>
        </p:txBody>
      </p:sp>
      <p:sp>
        <p:nvSpPr>
          <p:cNvPr id="1085" name="TextBox 1085"/>
          <p:cNvSpPr txBox="1"/>
          <p:nvPr/>
        </p:nvSpPr>
        <p:spPr>
          <a:xfrm>
            <a:off x="3822065" y="4175175"/>
            <a:ext cx="5483841" cy="2555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02183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FEFEFE"/>
                </a:solidFill>
                <a:latin typeface="Arial Unicode MS"/>
                <a:ea typeface="Arial Unicode MS"/>
              </a:rPr>
              <a:t>应</a:t>
            </a: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用示例</a:t>
            </a:r>
          </a:p>
          <a:p>
            <a:pPr marL="0">
              <a:lnSpc>
                <a:spcPct val="100000"/>
              </a:lnSpc>
              <a:spcBef>
                <a:spcPts val="135"/>
              </a:spcBef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请为以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下微博内容设计互动策略：</a:t>
            </a:r>
          </a:p>
          <a:p>
            <a:pPr marL="0">
              <a:lnSpc>
                <a:spcPct val="88749"/>
              </a:lnSpc>
            </a:pP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内容主题：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主题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>
              <a:lnSpc>
                <a:spcPct val="86250"/>
              </a:lnSpc>
            </a:pP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内容形式：[图文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视频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20" dirty="0">
                <a:solidFill>
                  <a:srgbClr val="000000"/>
                </a:solidFill>
                <a:latin typeface="Arial Unicode MS"/>
                <a:ea typeface="Arial Unicode MS"/>
              </a:rPr>
              <a:t>文字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</a:p>
          <a:p>
            <a:pPr marL="0" hangingPunct="0">
              <a:lnSpc>
                <a:spcPct val="85833"/>
              </a:lnSpc>
            </a:pP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互动目标：</a:t>
            </a:r>
            <a:r>
              <a:rPr lang="zh-CN" altLang="en-US" sz="1200" spc="2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提升评论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转发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话题扩散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需要设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计：</a:t>
            </a:r>
          </a:p>
          <a:p>
            <a:pPr marL="0">
              <a:lnSpc>
                <a:spcPct val="86666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1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）评论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引导方案</a:t>
            </a:r>
          </a:p>
          <a:p>
            <a:pPr marL="0" indent="112395">
              <a:lnSpc>
                <a:spcPct val="85833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设计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个能引发讨论的问题</a:t>
            </a:r>
          </a:p>
          <a:p>
            <a:pPr marL="112395" hangingPunct="0">
              <a:lnSpc>
                <a:spcPct val="85833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ea typeface="Arial Unicode MS"/>
              </a:rPr>
              <a:t>提供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—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3</a:t>
            </a:r>
            <a:r>
              <a:rPr lang="zh-CN" altLang="en-US" sz="1200" spc="-20" dirty="0">
                <a:solidFill>
                  <a:srgbClr val="000000"/>
                </a:solidFill>
                <a:latin typeface="Arial Unicode MS"/>
                <a:ea typeface="Arial Unicode MS"/>
              </a:rPr>
              <a:t>个争议点</a:t>
            </a:r>
            <a:br/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25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设计悬念或期待感</a:t>
            </a:r>
          </a:p>
          <a:p>
            <a:pPr marL="0">
              <a:lnSpc>
                <a:spcPct val="86666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5" dirty="0">
                <a:solidFill>
                  <a:srgbClr val="000000"/>
                </a:solidFill>
                <a:latin typeface="Arial Unicode MS"/>
                <a:ea typeface="Arial Unicode MS"/>
              </a:rPr>
              <a:t>）转发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传播策略</a:t>
            </a:r>
          </a:p>
          <a:p>
            <a:pPr marL="112395" hangingPunct="0">
              <a:lnSpc>
                <a:spcPct val="8625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3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设计让用户主动转发的理由</a:t>
            </a:r>
            <a:br/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提供病毒式传播的关键点</a:t>
            </a:r>
          </a:p>
          <a:p>
            <a:pPr marL="0">
              <a:lnSpc>
                <a:spcPct val="85833"/>
              </a:lnSpc>
            </a:pPr>
            <a:r>
              <a:rPr lang="zh-CN" altLang="en-US" sz="1200" spc="35" dirty="0">
                <a:solidFill>
                  <a:srgbClr val="000000"/>
                </a:solidFill>
                <a:latin typeface="Arial Unicode MS"/>
                <a:ea typeface="Arial Unicode MS"/>
              </a:rPr>
              <a:t>请确保互</a:t>
            </a:r>
            <a:r>
              <a:rPr lang="zh-CN" altLang="en-US" sz="1200" spc="30" dirty="0">
                <a:solidFill>
                  <a:srgbClr val="000000"/>
                </a:solidFill>
                <a:latin typeface="Arial Unicode MS"/>
                <a:ea typeface="Arial Unicode MS"/>
              </a:rPr>
              <a:t>动设计自然融入内容，避免生硬的引导语。同时考虑话题的延展性和持</a:t>
            </a:r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续性。</a:t>
            </a:r>
          </a:p>
        </p:txBody>
      </p:sp>
      <p:sp>
        <p:nvSpPr>
          <p:cNvPr id="1086" name="TextBox 1086"/>
          <p:cNvSpPr txBox="1"/>
          <p:nvPr/>
        </p:nvSpPr>
        <p:spPr>
          <a:xfrm>
            <a:off x="9603105" y="4104690"/>
            <a:ext cx="2374888" cy="22783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括：</a:t>
            </a:r>
          </a:p>
          <a:p>
            <a:pPr marL="0" indent="112395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每天的发布频次建议</a:t>
            </a:r>
          </a:p>
          <a:p>
            <a:pPr marL="0" indent="112395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最佳发布时间点</a:t>
            </a:r>
          </a:p>
          <a:p>
            <a:pPr marL="0" indent="112395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不同时段的内容类型</a:t>
            </a:r>
          </a:p>
          <a:p>
            <a:pPr marL="112395" indent="-112395" hangingPunct="0">
              <a:lnSpc>
                <a:spcPct val="113750"/>
              </a:lnSpc>
              <a:spcBef>
                <a:spcPts val="100"/>
              </a:spcBef>
            </a:pP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2</a:t>
            </a:r>
            <a:r>
              <a:rPr lang="zh-CN" altLang="en-US" sz="12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）制定内容形式配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比，需包含：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各类内容的比例分配</a:t>
            </a:r>
          </a:p>
          <a:p>
            <a:pPr marL="0" indent="112395">
              <a:lnSpc>
                <a:spcPct val="100000"/>
              </a:lnSpc>
              <a:spcBef>
                <a:spcPts val="10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不同形式适合的发布时间</a:t>
            </a:r>
          </a:p>
          <a:p>
            <a:pPr marL="0" indent="112395">
              <a:lnSpc>
                <a:spcPct val="100000"/>
              </a:lnSpc>
              <a:spcBef>
                <a:spcPts val="20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-</a:t>
            </a:r>
            <a:r>
              <a:rPr lang="zh-CN" altLang="en-US" sz="1200" spc="-50" dirty="0">
                <a:solidFill>
                  <a:srgbClr val="000000"/>
                </a:solidFill>
                <a:latin typeface="Arial Unicode MS"/>
                <a:cs typeface="Arial Unicode MS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与粉丝互动的最佳时段</a:t>
            </a:r>
          </a:p>
          <a:p>
            <a:pPr marL="0" hangingPunct="0">
              <a:lnSpc>
                <a:spcPct val="113750"/>
              </a:lnSpc>
              <a:spcBef>
                <a:spcPts val="100"/>
              </a:spcBef>
            </a:pPr>
            <a:r>
              <a:rPr lang="zh-CN" altLang="en-US" sz="1200" spc="69" dirty="0">
                <a:solidFill>
                  <a:srgbClr val="000000"/>
                </a:solidFill>
                <a:latin typeface="Arial Unicode MS"/>
                <a:ea typeface="Arial Unicode MS"/>
              </a:rPr>
              <a:t>请给出详细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的排期建议，并说明</a:t>
            </a:r>
            <a:r>
              <a:rPr lang="zh-CN" altLang="en-US" sz="1200" spc="69" dirty="0">
                <a:solidFill>
                  <a:srgbClr val="000000"/>
                </a:solidFill>
                <a:latin typeface="Arial Unicode MS"/>
                <a:ea typeface="Arial Unicode MS"/>
              </a:rPr>
              <a:t>每个安排的</a:t>
            </a:r>
            <a:r>
              <a:rPr lang="zh-CN" altLang="en-US" sz="1200" spc="64" dirty="0">
                <a:solidFill>
                  <a:srgbClr val="000000"/>
                </a:solidFill>
                <a:latin typeface="Arial Unicode MS"/>
                <a:ea typeface="Arial Unicode MS"/>
              </a:rPr>
              <a:t>原因。同时，提供热</a:t>
            </a:r>
            <a:r>
              <a:rPr lang="zh-CN" altLang="en-US" sz="1200" spc="-5" dirty="0">
                <a:solidFill>
                  <a:srgbClr val="000000"/>
                </a:solidFill>
                <a:latin typeface="Arial Unicode MS"/>
                <a:ea typeface="Arial Unicode MS"/>
              </a:rPr>
              <a:t>点响应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的策略建议。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Picture 10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706880"/>
            <a:ext cx="5433060" cy="2514600"/>
          </a:xfrm>
          <a:prstGeom prst="rect">
            <a:avLst/>
          </a:prstGeom>
        </p:spPr>
      </p:pic>
      <p:pic>
        <p:nvPicPr>
          <p:cNvPr id="1089" name="Picture 10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4907280"/>
            <a:ext cx="5509260" cy="1760220"/>
          </a:xfrm>
          <a:prstGeom prst="rect">
            <a:avLst/>
          </a:prstGeom>
        </p:spPr>
      </p:pic>
      <p:pic>
        <p:nvPicPr>
          <p:cNvPr id="1090" name="Picture 10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980" y="2255520"/>
            <a:ext cx="3855720" cy="2446020"/>
          </a:xfrm>
          <a:prstGeom prst="rect">
            <a:avLst/>
          </a:prstGeom>
        </p:spPr>
      </p:pic>
      <p:pic>
        <p:nvPicPr>
          <p:cNvPr id="1091" name="Picture 109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980" y="5128260"/>
            <a:ext cx="3855720" cy="541020"/>
          </a:xfrm>
          <a:prstGeom prst="rect">
            <a:avLst/>
          </a:prstGeom>
        </p:spPr>
      </p:pic>
      <p:sp>
        <p:nvSpPr>
          <p:cNvPr id="2" name="TextBox 1091"/>
          <p:cNvSpPr txBox="1"/>
          <p:nvPr/>
        </p:nvSpPr>
        <p:spPr>
          <a:xfrm>
            <a:off x="376554" y="289633"/>
            <a:ext cx="8835349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布局小红书：种草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社区的提示语设计</a:t>
            </a:r>
          </a:p>
        </p:txBody>
      </p:sp>
      <p:sp>
        <p:nvSpPr>
          <p:cNvPr id="1092" name="TextBox 1092"/>
          <p:cNvSpPr txBox="1"/>
          <p:nvPr/>
        </p:nvSpPr>
        <p:spPr>
          <a:xfrm>
            <a:off x="533400" y="1280794"/>
            <a:ext cx="5219682" cy="9461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平台特性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与分发机制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79"/>
              </a:lnSpc>
            </a:pPr>
            <a:endParaRPr lang="en-US" dirty="0"/>
          </a:p>
          <a:p>
            <a:pPr marL="0" indent="120015">
              <a:lnSpc>
                <a:spcPct val="10083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小红书具有三大核心特征：</a:t>
            </a:r>
            <a:r>
              <a:rPr lang="zh-CN" altLang="en-US" sz="16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种草生态、社区氛围</a:t>
            </a:r>
            <a:r>
              <a:rPr lang="zh-CN" altLang="en-US" sz="1600" b="1" dirty="0">
                <a:solidFill>
                  <a:srgbClr val="000000"/>
                </a:solidFill>
                <a:latin typeface="Arial Unicode MS"/>
                <a:ea typeface="Arial Unicode MS"/>
              </a:rPr>
              <a:t>和垂直专</a:t>
            </a:r>
          </a:p>
        </p:txBody>
      </p:sp>
      <p:sp>
        <p:nvSpPr>
          <p:cNvPr id="1093" name="TextBox 1093"/>
          <p:cNvSpPr txBox="1"/>
          <p:nvPr/>
        </p:nvSpPr>
        <p:spPr>
          <a:xfrm>
            <a:off x="6424295" y="1280794"/>
            <a:ext cx="3437233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小红书内容创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作的核心原则</a:t>
            </a:r>
          </a:p>
        </p:txBody>
      </p:sp>
      <p:sp>
        <p:nvSpPr>
          <p:cNvPr id="1094" name="TextBox 1094"/>
          <p:cNvSpPr txBox="1"/>
          <p:nvPr/>
        </p:nvSpPr>
        <p:spPr>
          <a:xfrm>
            <a:off x="619759" y="2273170"/>
            <a:ext cx="5328904" cy="2406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3655">
              <a:lnSpc>
                <a:spcPct val="100833"/>
              </a:lnSpc>
            </a:pPr>
            <a:r>
              <a:rPr lang="zh-CN" altLang="en-US" sz="16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业</a:t>
            </a:r>
            <a:r>
              <a:rPr lang="zh-CN" altLang="en-US" sz="1600" spc="-10" dirty="0">
                <a:solidFill>
                  <a:srgbClr val="000000"/>
                </a:solidFill>
                <a:latin typeface="Arial Unicode MS"/>
                <a:ea typeface="Arial Unicode MS"/>
              </a:rPr>
              <a:t>；</a:t>
            </a:r>
          </a:p>
          <a:p>
            <a:pPr marL="33655" hangingPunct="0">
              <a:lnSpc>
                <a:spcPct val="11958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小红书的内容分发主要依赖三个层面：</a:t>
            </a:r>
            <a:r>
              <a:rPr lang="zh-CN" altLang="en-US" sz="1600" b="1" spc="-5" dirty="0">
                <a:solidFill>
                  <a:srgbClr val="000000"/>
                </a:solidFill>
                <a:latin typeface="Arial Unicode MS"/>
                <a:ea typeface="Arial Unicode MS"/>
              </a:rPr>
              <a:t>关注推荐流</a:t>
            </a:r>
            <a:r>
              <a:rPr lang="zh-CN" altLang="en-US" sz="1600" b="1" dirty="0">
                <a:solidFill>
                  <a:srgbClr val="000000"/>
                </a:solidFill>
                <a:latin typeface="Arial Unicode MS"/>
                <a:ea typeface="Arial Unicode MS"/>
              </a:rPr>
              <a:t>、兴趣</a:t>
            </a:r>
            <a:br/>
            <a:r>
              <a:rPr lang="zh-CN" altLang="en-US" sz="1600" b="1" dirty="0">
                <a:solidFill>
                  <a:srgbClr val="000000"/>
                </a:solidFill>
                <a:latin typeface="Arial Unicode MS"/>
                <a:ea typeface="Arial Unicode MS"/>
              </a:rPr>
              <a:t>标签、搜索发现</a:t>
            </a:r>
            <a:r>
              <a:rPr lang="zh-CN" altLang="en-US" sz="1600" spc="15" dirty="0">
                <a:solidFill>
                  <a:srgbClr val="000000"/>
                </a:solidFill>
                <a:latin typeface="Arial Unicode MS"/>
                <a:ea typeface="Arial Unicode MS"/>
              </a:rPr>
              <a:t>。</a:t>
            </a:r>
          </a:p>
          <a:p>
            <a:pPr marL="0" indent="33655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其中，推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荐流的展现形式要求内容必须在首图和标题上具</a:t>
            </a:r>
          </a:p>
          <a:p>
            <a:pPr marL="0" indent="33655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备足够吸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引力。</a:t>
            </a:r>
          </a:p>
          <a:p>
            <a:pPr marL="0" indent="33655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而搜索场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景则需要考虑关键词的布局和专业信息的完整性。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6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这些特性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也对提示语设计提出了具体要求：</a:t>
            </a:r>
          </a:p>
        </p:txBody>
      </p:sp>
      <p:sp>
        <p:nvSpPr>
          <p:cNvPr id="1095" name="TextBox 1095"/>
          <p:cNvSpPr txBox="1"/>
          <p:nvPr/>
        </p:nvSpPr>
        <p:spPr>
          <a:xfrm>
            <a:off x="7125499" y="2316324"/>
            <a:ext cx="304936" cy="218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139" dirty="0">
                <a:solidFill>
                  <a:srgbClr val="FEFEFE"/>
                </a:solidFill>
                <a:latin typeface="Arial"/>
                <a:ea typeface="Arial"/>
              </a:rPr>
              <a:t>01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spc="139" dirty="0">
                <a:solidFill>
                  <a:srgbClr val="FEFEFE"/>
                </a:solidFill>
                <a:latin typeface="Arial"/>
                <a:ea typeface="Arial"/>
              </a:rPr>
              <a:t>02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spc="139" dirty="0">
                <a:solidFill>
                  <a:srgbClr val="FEFEFE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96" name="TextBox 1096"/>
          <p:cNvSpPr txBox="1"/>
          <p:nvPr/>
        </p:nvSpPr>
        <p:spPr>
          <a:xfrm>
            <a:off x="7978888" y="2427970"/>
            <a:ext cx="2215499" cy="2154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134" dirty="0">
                <a:solidFill>
                  <a:srgbClr val="000000"/>
                </a:solidFill>
                <a:latin typeface="Arial Unicode MS"/>
                <a:ea typeface="Arial Unicode MS"/>
              </a:rPr>
              <a:t>注重实</a:t>
            </a:r>
            <a:r>
              <a:rPr lang="zh-CN" altLang="en-US" sz="1600" spc="129" dirty="0">
                <a:solidFill>
                  <a:srgbClr val="000000"/>
                </a:solidFill>
                <a:latin typeface="Arial Unicode MS"/>
                <a:ea typeface="Arial Unicode MS"/>
              </a:rPr>
              <a:t>用性与分享性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7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134" dirty="0">
                <a:solidFill>
                  <a:srgbClr val="000000"/>
                </a:solidFill>
                <a:latin typeface="Arial Unicode MS"/>
                <a:ea typeface="Arial Unicode MS"/>
              </a:rPr>
              <a:t>情感共鸣与个性</a:t>
            </a:r>
            <a:r>
              <a:rPr lang="zh-CN" altLang="en-US" sz="1600" spc="129" dirty="0">
                <a:solidFill>
                  <a:srgbClr val="000000"/>
                </a:solidFill>
                <a:latin typeface="Arial Unicode MS"/>
                <a:ea typeface="Arial Unicode MS"/>
              </a:rPr>
              <a:t>化表达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7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134" dirty="0">
                <a:solidFill>
                  <a:srgbClr val="000000"/>
                </a:solidFill>
                <a:latin typeface="Arial Unicode MS"/>
                <a:ea typeface="Arial Unicode MS"/>
              </a:rPr>
              <a:t>视觉与文字的协</a:t>
            </a:r>
            <a:r>
              <a:rPr lang="zh-CN" altLang="en-US" sz="1600" spc="129" dirty="0">
                <a:solidFill>
                  <a:srgbClr val="000000"/>
                </a:solidFill>
                <a:latin typeface="Arial Unicode MS"/>
                <a:ea typeface="Arial Unicode MS"/>
              </a:rPr>
              <a:t>同设计</a:t>
            </a:r>
          </a:p>
        </p:txBody>
      </p:sp>
      <p:sp>
        <p:nvSpPr>
          <p:cNvPr id="1097" name="TextBox 1097"/>
          <p:cNvSpPr txBox="1"/>
          <p:nvPr/>
        </p:nvSpPr>
        <p:spPr>
          <a:xfrm>
            <a:off x="762063" y="5026240"/>
            <a:ext cx="2304397" cy="988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社区化与用户生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成内容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05"/>
              </a:lnSpc>
            </a:pPr>
            <a:endParaRPr lang="en-US" dirty="0"/>
          </a:p>
          <a:p>
            <a:pPr marL="0" indent="45847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视觉内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容导向</a:t>
            </a:r>
          </a:p>
        </p:txBody>
      </p:sp>
      <p:sp>
        <p:nvSpPr>
          <p:cNvPr id="1098" name="TextBox 1098"/>
          <p:cNvSpPr txBox="1"/>
          <p:nvPr/>
        </p:nvSpPr>
        <p:spPr>
          <a:xfrm>
            <a:off x="3959923" y="5026240"/>
            <a:ext cx="1387456" cy="988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情感化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与共鸣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0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消费决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策引导</a:t>
            </a:r>
          </a:p>
        </p:txBody>
      </p:sp>
      <p:sp>
        <p:nvSpPr>
          <p:cNvPr id="1099" name="TextBox 1099"/>
          <p:cNvSpPr txBox="1"/>
          <p:nvPr/>
        </p:nvSpPr>
        <p:spPr>
          <a:xfrm>
            <a:off x="7125499" y="5179069"/>
            <a:ext cx="304936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139" dirty="0">
                <a:solidFill>
                  <a:srgbClr val="FEFEFE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100" name="TextBox 1100"/>
          <p:cNvSpPr txBox="1"/>
          <p:nvPr/>
        </p:nvSpPr>
        <p:spPr>
          <a:xfrm>
            <a:off x="7978888" y="5290728"/>
            <a:ext cx="1993249" cy="245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134" dirty="0">
                <a:solidFill>
                  <a:srgbClr val="000000"/>
                </a:solidFill>
                <a:latin typeface="Arial Unicode MS"/>
                <a:ea typeface="Arial Unicode MS"/>
              </a:rPr>
              <a:t>简洁明</a:t>
            </a:r>
            <a:r>
              <a:rPr lang="zh-CN" altLang="en-US" sz="1600" spc="129" dirty="0">
                <a:solidFill>
                  <a:srgbClr val="000000"/>
                </a:solidFill>
                <a:latin typeface="Arial Unicode MS"/>
                <a:ea typeface="Arial Unicode MS"/>
              </a:rPr>
              <a:t>了，突出重点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TextBox 1101"/>
          <p:cNvSpPr txBox="1"/>
          <p:nvPr/>
        </p:nvSpPr>
        <p:spPr>
          <a:xfrm>
            <a:off x="376554" y="289633"/>
            <a:ext cx="555494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Arial Unicode MS"/>
                <a:ea typeface="Arial Unicode MS"/>
              </a:rPr>
              <a:t>种草文案的提</a:t>
            </a:r>
            <a:r>
              <a:rPr lang="zh-CN" altLang="en-US" sz="4000" b="1" spc="270" dirty="0">
                <a:solidFill>
                  <a:srgbClr val="242424"/>
                </a:solidFill>
                <a:latin typeface="Arial Unicode MS"/>
                <a:ea typeface="Arial Unicode MS"/>
              </a:rPr>
              <a:t>示语设计</a:t>
            </a:r>
          </a:p>
        </p:txBody>
      </p:sp>
      <p:sp>
        <p:nvSpPr>
          <p:cNvPr id="1102" name="TextBox 1102"/>
          <p:cNvSpPr txBox="1"/>
          <p:nvPr/>
        </p:nvSpPr>
        <p:spPr>
          <a:xfrm>
            <a:off x="464819" y="1280794"/>
            <a:ext cx="5381610" cy="9823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信任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建设</a:t>
            </a:r>
          </a:p>
          <a:p>
            <a:pPr>
              <a:lnSpc>
                <a:spcPts val="864"/>
              </a:lnSpc>
            </a:pPr>
            <a:endParaRPr lang="en-US" dirty="0"/>
          </a:p>
          <a:p>
            <a:pPr marL="0" indent="8636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信任建设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的关键在于通过专业性与真实体验相结合，打造可</a:t>
            </a:r>
          </a:p>
          <a:p>
            <a:pPr marL="0" indent="8636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信赖的内容框架。信任建设提示语设计</a:t>
            </a: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</a:p>
        </p:txBody>
      </p:sp>
      <p:sp>
        <p:nvSpPr>
          <p:cNvPr id="1103" name="TextBox 1103"/>
          <p:cNvSpPr txBox="1"/>
          <p:nvPr/>
        </p:nvSpPr>
        <p:spPr>
          <a:xfrm>
            <a:off x="6626225" y="1280794"/>
            <a:ext cx="4888849" cy="1612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465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场景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化表达</a:t>
            </a:r>
          </a:p>
          <a:p>
            <a:pPr>
              <a:lnSpc>
                <a:spcPts val="864"/>
              </a:lnSpc>
            </a:pPr>
            <a:endParaRPr lang="en-US" dirty="0"/>
          </a:p>
          <a:p>
            <a:pPr marL="0" hangingPunct="0">
              <a:lnSpc>
                <a:spcPct val="11958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通过具体生活场景的描绘，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能让内容更具代入感，从而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增加其说服力。场景化不仅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仅是讲述使用过程，而是要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通过具体细节描绘，帮助用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户构建出真实的使用场景。景化表达提示语设计</a:t>
            </a: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</a:p>
        </p:txBody>
      </p:sp>
      <p:sp>
        <p:nvSpPr>
          <p:cNvPr id="1104" name="TextBox 1104"/>
          <p:cNvSpPr txBox="1"/>
          <p:nvPr/>
        </p:nvSpPr>
        <p:spPr>
          <a:xfrm>
            <a:off x="471805" y="3721735"/>
            <a:ext cx="5381609" cy="9823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风格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调性</a:t>
            </a:r>
          </a:p>
          <a:p>
            <a:pPr>
              <a:lnSpc>
                <a:spcPts val="864"/>
              </a:lnSpc>
            </a:pPr>
            <a:endParaRPr lang="en-US" dirty="0"/>
          </a:p>
          <a:p>
            <a:pPr marL="0" indent="86359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风格调性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的设计不仅影响内容的呈现方式，还决定了与目标</a:t>
            </a:r>
          </a:p>
          <a:p>
            <a:pPr marL="0" indent="86359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受众的情感共鸣。风格调性提示语设计</a:t>
            </a: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9740" y="2339339"/>
          <a:ext cx="5571490" cy="1303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430">
                <a:tc>
                  <a:txBody>
                    <a:bodyPr/>
                    <a:lstStyle/>
                    <a:p>
                      <a:pPr marL="0" indent="325754">
                        <a:lnSpc>
                          <a:spcPct val="101666"/>
                        </a:lnSpc>
                        <a:spcBef>
                          <a:spcPts val="25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3279">
                        <a:lnSpc>
                          <a:spcPct val="101666"/>
                        </a:lnSpc>
                        <a:spcBef>
                          <a:spcPts val="250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42975">
                        <a:lnSpc>
                          <a:spcPct val="101666"/>
                        </a:lnSpc>
                        <a:spcBef>
                          <a:spcPts val="25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097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39">
                <a:tc>
                  <a:txBody>
                    <a:bodyPr/>
                    <a:lstStyle/>
                    <a:p>
                      <a:pPr>
                        <a:lnSpc>
                          <a:spcPts val="565"/>
                        </a:lnSpc>
                      </a:pPr>
                      <a:endParaRPr lang="en-US" dirty="0"/>
                    </a:p>
                    <a:p>
                      <a:pPr marL="0" indent="325754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背景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5"/>
                        </a:lnSpc>
                      </a:pPr>
                      <a:endParaRPr lang="en-US" dirty="0"/>
                    </a:p>
                    <a:p>
                      <a:pPr marL="0" indent="144779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请设计一个建立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信任感的内容框架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1529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产品类型：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具体品类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  <a:p>
                      <a:pPr marL="0" indent="116204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个人身份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专业领域：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具体描述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49">
                <a:tc>
                  <a:txBody>
                    <a:bodyPr/>
                    <a:lstStyle/>
                    <a:p>
                      <a:pPr>
                        <a:lnSpc>
                          <a:spcPts val="1879"/>
                        </a:lnSpc>
                      </a:pPr>
                      <a:endParaRPr lang="en-US" dirty="0"/>
                    </a:p>
                    <a:p>
                      <a:pPr marL="0" indent="186054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内容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构成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3429" hangingPunct="0">
                        <a:lnSpc>
                          <a:spcPct val="99583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专业背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景展示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个人使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用历程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真实体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验分享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对比测评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内容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9"/>
                        </a:lnSpc>
                      </a:pPr>
                      <a:endParaRPr lang="en-US" dirty="0"/>
                    </a:p>
                    <a:p>
                      <a:pPr marL="663575" hangingPunct="0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避免过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度吹捧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呈现真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实缺点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保持客观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态度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9740" y="4758054"/>
          <a:ext cx="5571490" cy="1678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marL="0" indent="325754">
                        <a:lnSpc>
                          <a:spcPct val="101666"/>
                        </a:lnSpc>
                        <a:spcBef>
                          <a:spcPts val="37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  <a:solidFill>
                      <a:srgbClr val="33A2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15644">
                        <a:lnSpc>
                          <a:spcPct val="101666"/>
                        </a:lnSpc>
                        <a:spcBef>
                          <a:spcPts val="370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  <a:solidFill>
                      <a:srgbClr val="33A2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070610">
                        <a:lnSpc>
                          <a:spcPct val="101666"/>
                        </a:lnSpc>
                        <a:spcBef>
                          <a:spcPts val="370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  <a:solidFill>
                      <a:srgbClr val="33A2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59">
                <a:tc>
                  <a:txBody>
                    <a:bodyPr/>
                    <a:lstStyle/>
                    <a:p>
                      <a:pPr>
                        <a:lnSpc>
                          <a:spcPts val="1845"/>
                        </a:lnSpc>
                      </a:pPr>
                      <a:endParaRPr lang="en-US" dirty="0"/>
                    </a:p>
                    <a:p>
                      <a:pPr marL="0" indent="186054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风格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85"/>
                        </a:lnSpc>
                      </a:pPr>
                      <a:endParaRPr lang="en-US" dirty="0"/>
                    </a:p>
                    <a:p>
                      <a:pPr marL="0" indent="7937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请设计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美妆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美食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生活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领域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的内</a:t>
                      </a:r>
                    </a:p>
                    <a:p>
                      <a:pPr marL="0" indent="855344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容风格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61060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账号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定位：</a:t>
                      </a:r>
                    </a:p>
                    <a:p>
                      <a:pPr marL="682625" hangingPunct="0">
                        <a:lnSpc>
                          <a:spcPct val="99583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人设特征：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描述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br/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专业背景：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描述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br/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目标调性：</a:t>
                      </a: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描述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834">
                <a:tc>
                  <a:txBody>
                    <a:bodyPr/>
                    <a:lstStyle/>
                    <a:p>
                      <a:pPr>
                        <a:lnSpc>
                          <a:spcPts val="1294"/>
                        </a:lnSpc>
                      </a:pPr>
                      <a:endParaRPr lang="en-US" dirty="0"/>
                    </a:p>
                    <a:p>
                      <a:pPr marL="0" indent="116204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语言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风格要</a:t>
                      </a:r>
                    </a:p>
                    <a:p>
                      <a:pPr marL="0" indent="395604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求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36244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遵循以下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表达特点：</a:t>
                      </a:r>
                    </a:p>
                    <a:p>
                      <a:pPr marL="0" indent="785494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口吻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设定</a:t>
                      </a:r>
                    </a:p>
                    <a:p>
                      <a:pPr marL="0" indent="785494">
                        <a:lnSpc>
                          <a:spcPct val="100000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句式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特征</a:t>
                      </a:r>
                    </a:p>
                    <a:p>
                      <a:pPr marL="0" indent="575944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业术语使用度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271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情感基调：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（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主要情绪色彩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、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互动语</a:t>
                      </a:r>
                    </a:p>
                    <a:p>
                      <a:pPr marL="0" indent="651510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气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、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共情点设计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）</a:t>
                      </a:r>
                    </a:p>
                    <a:p>
                      <a:pPr marL="0" indent="9271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个性化元素：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（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固定开场语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、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独特表</a:t>
                      </a:r>
                    </a:p>
                    <a:p>
                      <a:pPr marL="0" indent="44196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达方式、签名式结束语）</a:t>
                      </a:r>
                    </a:p>
                  </a:txBody>
                  <a:tcPr marL="0" marR="0" marT="0" marB="0">
                    <a:lnL w="12700">
                      <a:solidFill>
                        <a:srgbClr val="93C854"/>
                      </a:solidFill>
                      <a:prstDash val="solid"/>
                    </a:lnL>
                    <a:lnR w="12700">
                      <a:solidFill>
                        <a:srgbClr val="93C854"/>
                      </a:solidFill>
                      <a:prstDash val="solid"/>
                    </a:lnR>
                    <a:lnT w="12700">
                      <a:solidFill>
                        <a:srgbClr val="93C854"/>
                      </a:solidFill>
                      <a:prstDash val="solid"/>
                    </a:lnT>
                    <a:lnB w="12700">
                      <a:solidFill>
                        <a:srgbClr val="93C8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72884" y="3176904"/>
          <a:ext cx="5049520" cy="3259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>
                        <a:lnSpc>
                          <a:spcPts val="565"/>
                        </a:lnSpc>
                      </a:pPr>
                      <a:endParaRPr lang="en-US" dirty="0"/>
                    </a:p>
                    <a:p>
                      <a:pPr marL="0" indent="280670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5"/>
                        </a:lnSpc>
                      </a:pPr>
                      <a:endParaRPr lang="en-US" dirty="0"/>
                    </a:p>
                    <a:p>
                      <a:pPr marL="0" indent="61468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5"/>
                        </a:lnSpc>
                      </a:pPr>
                      <a:endParaRPr lang="en-US" dirty="0"/>
                    </a:p>
                    <a:p>
                      <a:pPr marL="0" indent="955675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01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75"/>
                        </a:lnSpc>
                      </a:pPr>
                      <a:endParaRPr lang="en-US" dirty="0"/>
                    </a:p>
                    <a:p>
                      <a:pPr marL="0" indent="12192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产品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服务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14"/>
                        </a:lnSpc>
                      </a:pPr>
                      <a:endParaRPr lang="en-US" dirty="0"/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帮我设计一个场景化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的内容方</a:t>
                      </a:r>
                    </a:p>
                    <a:p>
                      <a:pPr marL="0" indent="89408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案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en-US" dirty="0"/>
                    </a:p>
                    <a:p>
                      <a:pPr marL="427989" indent="-19684" hangingPunct="0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产品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服务：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具体内容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典型场景：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使用场景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br/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目标用户：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用户画像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57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60"/>
                        </a:lnSpc>
                      </a:pPr>
                      <a:endParaRPr lang="en-US" dirty="0"/>
                    </a:p>
                    <a:p>
                      <a:pPr marL="0" indent="14097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场景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60"/>
                        </a:lnSpc>
                      </a:pPr>
                      <a:endParaRPr lang="en-US" dirty="0"/>
                    </a:p>
                    <a:p>
                      <a:pPr marL="0" indent="29654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个具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体应用场景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19"/>
                        </a:lnSpc>
                      </a:pPr>
                      <a:endParaRPr lang="en-US" dirty="0"/>
                    </a:p>
                    <a:p>
                      <a:pPr marL="0" indent="606425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每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个场景包含：</a:t>
                      </a:r>
                    </a:p>
                    <a:p>
                      <a:pPr marL="815975" hangingPunct="0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环境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描述</a:t>
                      </a:r>
                      <a:br/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痛点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呈现</a:t>
                      </a:r>
                      <a:br/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解决</a:t>
                      </a:r>
                      <a:r>
                        <a:rPr lang="zh-CN" altLang="en-US" sz="1100" spc="-34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过程</a:t>
                      </a:r>
                      <a:br/>
                      <a:r>
                        <a:rPr lang="zh-CN" altLang="en-US" sz="1100" spc="-4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效果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展示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42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00"/>
                        </a:lnSpc>
                      </a:pPr>
                      <a:endParaRPr lang="en-US" dirty="0"/>
                    </a:p>
                    <a:p>
                      <a:pPr marL="0" indent="14097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表达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9"/>
                        </a:lnSpc>
                      </a:pPr>
                      <a:endParaRPr lang="en-US" dirty="0"/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帮我描述每个场景的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具体生活</a:t>
                      </a:r>
                    </a:p>
                    <a:p>
                      <a:pPr marL="0" indent="-13969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背景，真实呈现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使用中的痛点，</a:t>
                      </a:r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并详细说明使用过程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及效果展</a:t>
                      </a:r>
                    </a:p>
                    <a:p>
                      <a:pPr marL="0" indent="89408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示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80"/>
                        </a:lnSpc>
                      </a:pPr>
                      <a:endParaRPr lang="en-US" dirty="0"/>
                    </a:p>
                    <a:p>
                      <a:pPr marL="676275" hangingPunct="0">
                        <a:lnSpc>
                          <a:spcPct val="99583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细节具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体真实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场景贴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近生活</a:t>
                      </a:r>
                      <a:br/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问题解决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完整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TextBox 1108"/>
          <p:cNvSpPr txBox="1"/>
          <p:nvPr/>
        </p:nvSpPr>
        <p:spPr>
          <a:xfrm>
            <a:off x="376554" y="289633"/>
            <a:ext cx="719514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文案创作的提示语示例（一）</a:t>
            </a:r>
          </a:p>
        </p:txBody>
      </p:sp>
      <p:sp>
        <p:nvSpPr>
          <p:cNvPr id="1109" name="TextBox 1109"/>
          <p:cNvSpPr txBox="1"/>
          <p:nvPr/>
        </p:nvSpPr>
        <p:spPr>
          <a:xfrm>
            <a:off x="293370" y="1280794"/>
            <a:ext cx="5381609" cy="9823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标题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创作</a:t>
            </a:r>
          </a:p>
          <a:p>
            <a:pPr>
              <a:lnSpc>
                <a:spcPts val="864"/>
              </a:lnSpc>
            </a:pPr>
            <a:endParaRPr lang="en-US" dirty="0"/>
          </a:p>
          <a:p>
            <a:pPr marL="0" indent="86359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标题创作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的提示语设计应考虑情感共鸣、专业性、搜索优化</a:t>
            </a:r>
          </a:p>
          <a:p>
            <a:pPr marL="0" indent="86359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和清晰的价值承诺。小红书标题创作提示语设计</a:t>
            </a:r>
            <a:r>
              <a:rPr lang="zh-CN" altLang="en-US" sz="1600" spc="-20" dirty="0">
                <a:solidFill>
                  <a:srgbClr val="000000"/>
                </a:solidFill>
                <a:latin typeface="Arial Unicode MS"/>
                <a:ea typeface="Arial Unicode MS"/>
              </a:rPr>
              <a:t>：</a:t>
            </a:r>
          </a:p>
        </p:txBody>
      </p:sp>
      <p:sp>
        <p:nvSpPr>
          <p:cNvPr id="1110" name="TextBox 1110"/>
          <p:cNvSpPr txBox="1"/>
          <p:nvPr/>
        </p:nvSpPr>
        <p:spPr>
          <a:xfrm>
            <a:off x="6067425" y="1280794"/>
            <a:ext cx="1400154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图文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结构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87020" y="2416175"/>
          <a:ext cx="5565140" cy="4262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pPr marL="0" indent="325120">
                        <a:lnSpc>
                          <a:spcPct val="101666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14375">
                        <a:lnSpc>
                          <a:spcPct val="101666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069340">
                        <a:lnSpc>
                          <a:spcPct val="101666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  <a:solidFill>
                      <a:srgbClr val="248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564"/>
                        </a:lnSpc>
                      </a:pPr>
                      <a:endParaRPr lang="en-US" dirty="0"/>
                    </a:p>
                    <a:p>
                      <a:pPr marL="0" indent="16637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领域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卖点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564"/>
                        </a:lnSpc>
                      </a:pPr>
                      <a:endParaRPr lang="en-US" dirty="0"/>
                    </a:p>
                    <a:p>
                      <a:pPr marL="0" indent="8572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帮我创作一篇小红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书笔记的标题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44"/>
                        </a:lnSpc>
                      </a:pPr>
                      <a:endParaRPr lang="en-US" dirty="0"/>
                    </a:p>
                    <a:p>
                      <a:pPr marL="0" indent="36322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内容领域：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美妆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美食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旅行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  <a:p>
                      <a:pPr marL="0" indent="24257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核心卖点：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具体收益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解决问题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  <a:p>
                      <a:pPr marL="0" indent="541654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目标受众：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受众画像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345">
                <a:tc>
                  <a:txBody>
                    <a:bodyPr/>
                    <a:lstStyle/>
                    <a:p>
                      <a:pPr>
                        <a:lnSpc>
                          <a:spcPts val="1910"/>
                        </a:lnSpc>
                      </a:pPr>
                      <a:endParaRPr lang="en-US" dirty="0"/>
                    </a:p>
                    <a:p>
                      <a:pPr marL="0" indent="115570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标题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设计要</a:t>
                      </a:r>
                    </a:p>
                    <a:p>
                      <a:pPr marL="0" indent="39497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569"/>
                        </a:lnSpc>
                      </a:pPr>
                      <a:endParaRPr lang="en-US" dirty="0"/>
                    </a:p>
                    <a:p>
                      <a:pPr marL="0" indent="42735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提供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3—5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个标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题方案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  <a:endParaRPr lang="en-US" dirty="0"/>
                    </a:p>
                    <a:p>
                      <a:pPr marL="0" indent="16129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每个标题包含：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吸引注意的开头语</a:t>
                      </a:r>
                    </a:p>
                    <a:p>
                      <a:pPr marL="0" indent="859790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核心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关键词</a:t>
                      </a:r>
                    </a:p>
                    <a:p>
                      <a:pPr marL="0" indent="770254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具体数字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方法</a:t>
                      </a:r>
                    </a:p>
                    <a:p>
                      <a:pPr marL="0" indent="72009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明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确的价值承诺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659">
                <a:tc>
                  <a:txBody>
                    <a:bodyPr/>
                    <a:lstStyle/>
                    <a:p>
                      <a:pPr>
                        <a:lnSpc>
                          <a:spcPts val="1494"/>
                        </a:lnSpc>
                      </a:pPr>
                      <a:endParaRPr lang="en-US" dirty="0"/>
                    </a:p>
                    <a:p>
                      <a:pPr marL="0" indent="185420">
                        <a:lnSpc>
                          <a:spcPct val="101666"/>
                        </a:lnSpc>
                      </a:pPr>
                      <a:r>
                        <a:rPr lang="zh-CN" altLang="en-US" sz="1100" spc="-3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标题</a:t>
                      </a: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特征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endParaRPr lang="en-US" dirty="0"/>
                    </a:p>
                    <a:p>
                      <a:pPr marL="0" indent="11747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字数：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15-25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字语气：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亲和但专</a:t>
                      </a:r>
                    </a:p>
                    <a:p>
                      <a:pPr marL="0" indent="993775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业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endParaRPr lang="en-US" dirty="0"/>
                    </a:p>
                    <a:p>
                      <a:pPr marL="0" indent="471804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必须包含的词：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关键词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  <a:p>
                      <a:pPr marL="0" indent="24257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避免使用：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禁用词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过度营销词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211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935"/>
                        </a:lnSpc>
                      </a:pPr>
                      <a:endParaRPr lang="en-US" dirty="0"/>
                    </a:p>
                    <a:p>
                      <a:pPr marL="0" indent="11557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差异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化考虑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endParaRPr lang="en-US" dirty="0"/>
                    </a:p>
                    <a:p>
                      <a:pPr marL="85725" indent="31115" hangingPunct="0">
                        <a:lnSpc>
                          <a:spcPct val="99583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请分析市场中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个同主题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的热门</a:t>
                      </a:r>
                      <a:br/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标题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，并根据其内容结构和语言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风格设计一个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创新的标题，确保</a:t>
                      </a:r>
                    </a:p>
                    <a:p>
                      <a:pPr marL="0" indent="2254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新标题在表达上有独特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性。</a:t>
                      </a:r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请提供一个标题，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通过与竞品对</a:t>
                      </a:r>
                    </a:p>
                    <a:p>
                      <a:pPr marL="0" indent="85725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比，突显出创新性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和差异化，避</a:t>
                      </a:r>
                    </a:p>
                    <a:p>
                      <a:pPr marL="0" indent="15875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免与市场上已有的标题过于相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似。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endParaRPr lang="en-US" dirty="0"/>
                    </a:p>
                    <a:p>
                      <a:pPr marL="0" indent="64135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竞品标题风格：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举例，分析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—5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个同</a:t>
                      </a:r>
                    </a:p>
                    <a:p>
                      <a:pPr marL="0" indent="9144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主题的热门标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题，明确其常见结构和</a:t>
                      </a:r>
                    </a:p>
                    <a:p>
                      <a:pPr marL="0" indent="1049654">
                        <a:lnSpc>
                          <a:spcPct val="100000"/>
                        </a:lnSpc>
                      </a:pPr>
                      <a:r>
                        <a:rPr lang="zh-CN" altLang="en-US" sz="1100" spc="-5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用词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  <a:p>
                      <a:pPr marL="0" indent="71754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创新表达方向：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说明新标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题在情感表</a:t>
                      </a:r>
                    </a:p>
                    <a:p>
                      <a:pPr marL="0" indent="9144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达、信息传递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、创意表达等方面的创</a:t>
                      </a:r>
                    </a:p>
                    <a:p>
                      <a:pPr marL="0" indent="2159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新点，例如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通过加入数字、问题设定、</a:t>
                      </a:r>
                    </a:p>
                    <a:p>
                      <a:pPr marL="0" indent="351154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独特观点或特色语言来创新</a:t>
                      </a:r>
                      <a:r>
                        <a:rPr lang="en-US" altLang="zh-CN" sz="1100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</a:p>
                  </a:txBody>
                  <a:tcPr marL="0" marR="0" marT="0" marB="0">
                    <a:lnL w="12700">
                      <a:solidFill>
                        <a:srgbClr val="E3B556"/>
                      </a:solidFill>
                      <a:prstDash val="solid"/>
                    </a:lnL>
                    <a:lnR w="12700">
                      <a:solidFill>
                        <a:srgbClr val="E3B556"/>
                      </a:solidFill>
                      <a:prstDash val="solid"/>
                    </a:lnR>
                    <a:lnT w="12700">
                      <a:solidFill>
                        <a:srgbClr val="E3B556"/>
                      </a:solidFill>
                      <a:prstDash val="solid"/>
                    </a:lnT>
                    <a:lnB w="12700">
                      <a:solidFill>
                        <a:srgbClr val="E3B55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44565" y="1644014"/>
          <a:ext cx="5921375" cy="5034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639">
                <a:tc>
                  <a:txBody>
                    <a:bodyPr/>
                    <a:lstStyle/>
                    <a:p>
                      <a:pPr marL="0" indent="17652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维度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46939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提示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语示例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641350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要求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  <a:solidFill>
                      <a:srgbClr val="6E2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505"/>
                        </a:lnSpc>
                      </a:pPr>
                      <a:endParaRPr lang="en-US" dirty="0"/>
                    </a:p>
                    <a:p>
                      <a:pPr marL="0" indent="10667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图文结</a:t>
                      </a:r>
                    </a:p>
                    <a:p>
                      <a:pPr marL="0" indent="106679">
                        <a:lnSpc>
                          <a:spcPct val="101666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构要求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164"/>
                        </a:lnSpc>
                      </a:pPr>
                      <a:endParaRPr lang="en-US" dirty="0"/>
                    </a:p>
                    <a:p>
                      <a:pPr marL="0" indent="840740">
                        <a:lnSpc>
                          <a:spcPct val="101666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请生成一篇小红书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种草笔记大纲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3664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商品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/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服务类型：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产品</a:t>
                      </a:r>
                    </a:p>
                    <a:p>
                      <a:pPr marL="113664" indent="-100964" hangingPunct="0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类型，例：美妆、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家居、食品等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]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目标效果：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[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期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望达成的转化目标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，如</a:t>
                      </a:r>
                      <a:br/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“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提高购买转化率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”“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增加</a:t>
                      </a:r>
                    </a:p>
                    <a:p>
                      <a:pPr marL="0" indent="459104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品牌曝光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”]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381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14"/>
                        </a:lnSpc>
                      </a:pPr>
                      <a:endParaRPr lang="en-US" dirty="0"/>
                    </a:p>
                    <a:p>
                      <a:pPr marL="0" indent="10667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图片安</a:t>
                      </a:r>
                    </a:p>
                    <a:p>
                      <a:pPr marL="0" indent="246379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排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35"/>
                        </a:lnSpc>
                      </a:pPr>
                      <a:endParaRPr lang="en-US" dirty="0"/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封面图：要求高质量且具吸引力，能体现产品特点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或创作</a:t>
                      </a:r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者个性</a:t>
                      </a:r>
                    </a:p>
                    <a:p>
                      <a:pPr marL="55880" hangingPunct="0">
                        <a:lnSpc>
                          <a:spcPct val="99583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细节图：展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示产品的使用细节或特征，增强产品的可信度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场景图：展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示产品使用的实际场景，帮助读者产生代入感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效果对比图：展示产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品使用前后的明显变化，增强说服力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/>
                    </a:p>
                    <a:p>
                      <a:pPr marL="82550" indent="-69850" hangingPunct="0">
                        <a:lnSpc>
                          <a:spcPct val="99583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图片质量：清晰、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专业，避免低质量模糊图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像场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景和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效果图要有真实感</a:t>
                      </a:r>
                    </a:p>
                    <a:p>
                      <a:pPr marL="0" indent="43180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和可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操作性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47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350"/>
                        </a:lnSpc>
                      </a:pPr>
                      <a:endParaRPr lang="en-US" dirty="0"/>
                    </a:p>
                    <a:p>
                      <a:pPr marL="0" indent="10667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文案结</a:t>
                      </a:r>
                    </a:p>
                    <a:p>
                      <a:pPr marL="0" indent="246379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构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69"/>
                        </a:lnSpc>
                      </a:pPr>
                      <a:endParaRPr lang="en-US" dirty="0"/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开篇吸引力设计：通过引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人注目的开头吸引读者注意</a:t>
                      </a:r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个人经验铺垫：分享作者的使用感受或故事，增强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亲和力</a:t>
                      </a:r>
                    </a:p>
                    <a:p>
                      <a:pPr marL="55880" hangingPunct="0">
                        <a:lnSpc>
                          <a:spcPct val="100000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使用方法说明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：详细介绍如何使用产品，确保信息清晰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效果总结：总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结使用产品后的具体效果，强化转化诉求</a:t>
                      </a:r>
                      <a:br/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购买建议：给出购买推荐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或附带优惠信息，引导决策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9"/>
                        </a:lnSpc>
                      </a:pPr>
                      <a:endParaRPr lang="en-US" dirty="0"/>
                    </a:p>
                    <a:p>
                      <a:pPr marL="82550" hangingPunct="0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开篇需简洁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明了，直接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点明内容亮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点中间部分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详尽描述使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用方法与效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果，避免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空洞的描述购</a:t>
                      </a:r>
                    </a:p>
                    <a:p>
                      <a:pPr marL="0" indent="12700">
                        <a:lnSpc>
                          <a:spcPct val="100000"/>
                        </a:lnSpc>
                      </a:pP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买建议要具备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实际价值，</a:t>
                      </a:r>
                    </a:p>
                    <a:p>
                      <a:pPr marL="0" indent="361950">
                        <a:lnSpc>
                          <a:spcPct val="101666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避免过度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推销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651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714"/>
                        </a:lnSpc>
                      </a:pPr>
                      <a:endParaRPr lang="en-US" dirty="0"/>
                    </a:p>
                    <a:p>
                      <a:pPr marL="0" indent="106679">
                        <a:lnSpc>
                          <a:spcPct val="100000"/>
                        </a:lnSpc>
                      </a:pP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差异化</a:t>
                      </a:r>
                    </a:p>
                    <a:p>
                      <a:pPr marL="0" indent="176529">
                        <a:lnSpc>
                          <a:spcPct val="101666"/>
                        </a:lnSpc>
                      </a:pPr>
                      <a:r>
                        <a:rPr lang="zh-CN" altLang="en-US" sz="1100" spc="-5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考虑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15"/>
                        </a:lnSpc>
                      </a:pPr>
                      <a:endParaRPr lang="en-US" dirty="0"/>
                    </a:p>
                    <a:p>
                      <a:pPr marL="55880" hangingPunct="0">
                        <a:lnSpc>
                          <a:spcPct val="99583"/>
                        </a:lnSpc>
                      </a:pP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真实感塑造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：避免过度修饰，保持内容的真实性与亲和力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专业性体现</a:t>
                      </a: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：通过数据、用户反馈或专家认证增强内容的</a:t>
                      </a:r>
                      <a:r>
                        <a:rPr lang="zh-CN" altLang="en-US" sz="1100" spc="-4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专业感</a:t>
                      </a:r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种草自然度：确保文案与图片配合自然，避免过度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营销或</a:t>
                      </a:r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生硬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的推销</a:t>
                      </a:r>
                    </a:p>
                    <a:p>
                      <a:pPr marL="0" indent="55880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互动引导设计：结尾部分需鼓励读者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参与互动，例如评论、</a:t>
                      </a:r>
                    </a:p>
                    <a:p>
                      <a:pPr marL="0" indent="55880">
                        <a:lnSpc>
                          <a:spcPct val="101666"/>
                        </a:lnSpc>
                      </a:pPr>
                      <a:r>
                        <a:rPr lang="zh-CN" altLang="en-US" sz="1100" spc="-2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点赞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或分享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35"/>
                        </a:lnSpc>
                      </a:pPr>
                      <a:endParaRPr lang="en-US" dirty="0"/>
                    </a:p>
                    <a:p>
                      <a:pPr marL="82550" hangingPunct="0">
                        <a:lnSpc>
                          <a:spcPct val="100000"/>
                        </a:lnSpc>
                      </a:pP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保持平衡，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既不夸大其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词，也不过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于保守在效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果展示和互</a:t>
                      </a:r>
                      <a:r>
                        <a:rPr lang="zh-CN" altLang="en-US" sz="1100" spc="-1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动设计时要</a:t>
                      </a:r>
                      <a:r>
                        <a:rPr lang="zh-CN" altLang="en-US" sz="1100" spc="-20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自然流畅</a:t>
                      </a:r>
                      <a:r>
                        <a:rPr lang="zh-CN" altLang="en-US" sz="1100" spc="-15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，避免强硬促</a:t>
                      </a:r>
                    </a:p>
                    <a:p>
                      <a:pPr marL="0" indent="711200">
                        <a:lnSpc>
                          <a:spcPct val="101666"/>
                        </a:lnSpc>
                      </a:pPr>
                      <a:r>
                        <a:rPr lang="zh-CN" altLang="en-US" sz="1100" spc="-109" dirty="0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</a:rPr>
                        <a:t>销</a:t>
                      </a:r>
                    </a:p>
                  </a:txBody>
                  <a:tcPr marL="0" marR="0" marT="0" marB="0">
                    <a:lnL w="12700">
                      <a:solidFill>
                        <a:srgbClr val="E5945E"/>
                      </a:solidFill>
                      <a:prstDash val="solid"/>
                    </a:lnL>
                    <a:lnR w="12700">
                      <a:solidFill>
                        <a:srgbClr val="E5945E"/>
                      </a:solidFill>
                      <a:prstDash val="solid"/>
                    </a:lnR>
                    <a:lnT w="12700">
                      <a:solidFill>
                        <a:srgbClr val="E5945E"/>
                      </a:solidFill>
                      <a:prstDash val="solid"/>
                    </a:lnT>
                    <a:lnB w="12700">
                      <a:solidFill>
                        <a:srgbClr val="E594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Picture 1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" y="1661160"/>
            <a:ext cx="11323320" cy="1120140"/>
          </a:xfrm>
          <a:prstGeom prst="rect">
            <a:avLst/>
          </a:prstGeom>
        </p:spPr>
      </p:pic>
      <p:pic>
        <p:nvPicPr>
          <p:cNvPr id="1115" name="Picture 1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" y="2926080"/>
            <a:ext cx="11323320" cy="1104900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" y="4183379"/>
            <a:ext cx="11323320" cy="1104900"/>
          </a:xfrm>
          <a:prstGeom prst="rect">
            <a:avLst/>
          </a:prstGeom>
        </p:spPr>
      </p:pic>
      <p:pic>
        <p:nvPicPr>
          <p:cNvPr id="1117" name="Picture 11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" y="5440680"/>
            <a:ext cx="11323320" cy="1112519"/>
          </a:xfrm>
          <a:prstGeom prst="rect">
            <a:avLst/>
          </a:prstGeom>
        </p:spPr>
      </p:pic>
      <p:sp>
        <p:nvSpPr>
          <p:cNvPr id="2" name="TextBox 1117"/>
          <p:cNvSpPr txBox="1"/>
          <p:nvPr/>
        </p:nvSpPr>
        <p:spPr>
          <a:xfrm>
            <a:off x="376554" y="289633"/>
            <a:ext cx="719514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文案创作的提示语示例（二）</a:t>
            </a:r>
          </a:p>
        </p:txBody>
      </p:sp>
      <p:sp>
        <p:nvSpPr>
          <p:cNvPr id="1118" name="TextBox 1118"/>
          <p:cNvSpPr txBox="1"/>
          <p:nvPr/>
        </p:nvSpPr>
        <p:spPr>
          <a:xfrm>
            <a:off x="293370" y="1280794"/>
            <a:ext cx="1400155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主体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内容</a:t>
            </a:r>
          </a:p>
        </p:txBody>
      </p:sp>
      <p:sp>
        <p:nvSpPr>
          <p:cNvPr id="1119" name="TextBox 1119"/>
          <p:cNvSpPr txBox="1"/>
          <p:nvPr/>
        </p:nvSpPr>
        <p:spPr>
          <a:xfrm>
            <a:off x="615924" y="1775586"/>
            <a:ext cx="299210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个人化体验分享的提示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语设计</a:t>
            </a:r>
          </a:p>
        </p:txBody>
      </p:sp>
      <p:sp>
        <p:nvSpPr>
          <p:cNvPr id="1120" name="TextBox 1120"/>
          <p:cNvSpPr txBox="1"/>
          <p:nvPr/>
        </p:nvSpPr>
        <p:spPr>
          <a:xfrm>
            <a:off x="4079875" y="1656585"/>
            <a:ext cx="7519020" cy="58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这种提示语能够帮助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生成具有情感化且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富有个性化的内容，让读者感受到作者的真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实情感，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从而增强用户的情感认同。</a:t>
            </a:r>
          </a:p>
        </p:txBody>
      </p:sp>
      <p:sp>
        <p:nvSpPr>
          <p:cNvPr id="1121" name="TextBox 1121"/>
          <p:cNvSpPr txBox="1"/>
          <p:nvPr/>
        </p:nvSpPr>
        <p:spPr>
          <a:xfrm>
            <a:off x="688314" y="2416936"/>
            <a:ext cx="8615694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  <a:tabLst>
                <a:tab pos="1376705" algn="l"/>
              </a:tabLst>
            </a:pP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应用示例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生成关于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个人经历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的分享内容，需描述具体的体验过程，突显个人情感变化，使内容更具温度和真实感。</a:t>
            </a:r>
          </a:p>
        </p:txBody>
      </p:sp>
      <p:sp>
        <p:nvSpPr>
          <p:cNvPr id="1122" name="TextBox 1122"/>
          <p:cNvSpPr txBox="1"/>
          <p:nvPr/>
        </p:nvSpPr>
        <p:spPr>
          <a:xfrm>
            <a:off x="959459" y="3036697"/>
            <a:ext cx="230439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情感共鸣型提示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语设计</a:t>
            </a:r>
          </a:p>
        </p:txBody>
      </p:sp>
      <p:sp>
        <p:nvSpPr>
          <p:cNvPr id="1123" name="TextBox 1123"/>
          <p:cNvSpPr txBox="1"/>
          <p:nvPr/>
        </p:nvSpPr>
        <p:spPr>
          <a:xfrm>
            <a:off x="4079875" y="2917695"/>
            <a:ext cx="7519020" cy="58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这种提示语将引导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使用温暖的语言和情感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化的表达方式，帮助内容打动读者，引发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共鸣，提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升内容的互动性。</a:t>
            </a:r>
          </a:p>
        </p:txBody>
      </p:sp>
      <p:sp>
        <p:nvSpPr>
          <p:cNvPr id="1124" name="TextBox 1124"/>
          <p:cNvSpPr txBox="1"/>
          <p:nvPr/>
        </p:nvSpPr>
        <p:spPr>
          <a:xfrm>
            <a:off x="688314" y="3678046"/>
            <a:ext cx="7244094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  <a:tabLst>
                <a:tab pos="1376705" algn="l"/>
              </a:tabLst>
            </a:pP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应用示例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生成一个关于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情感话题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的分享内容，采用温暖和鼓励的语气，激发读者的情感共鸣。</a:t>
            </a:r>
          </a:p>
        </p:txBody>
      </p:sp>
      <p:sp>
        <p:nvSpPr>
          <p:cNvPr id="1125" name="TextBox 1125"/>
          <p:cNvSpPr txBox="1"/>
          <p:nvPr/>
        </p:nvSpPr>
        <p:spPr>
          <a:xfrm>
            <a:off x="615924" y="4297807"/>
            <a:ext cx="299210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购物推荐与评测的提示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语设计</a:t>
            </a:r>
          </a:p>
        </p:txBody>
      </p:sp>
      <p:sp>
        <p:nvSpPr>
          <p:cNvPr id="1126" name="TextBox 1126"/>
          <p:cNvSpPr txBox="1"/>
          <p:nvPr/>
        </p:nvSpPr>
        <p:spPr>
          <a:xfrm>
            <a:off x="4079875" y="4178805"/>
            <a:ext cx="7519020" cy="58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这种提示语帮助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聚焦在产品的实际体验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与优势上，使得内容既具实用性，又能引导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用户产生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购买兴趣。</a:t>
            </a:r>
          </a:p>
        </p:txBody>
      </p:sp>
      <p:sp>
        <p:nvSpPr>
          <p:cNvPr id="1127" name="TextBox 1127"/>
          <p:cNvSpPr txBox="1"/>
          <p:nvPr/>
        </p:nvSpPr>
        <p:spPr>
          <a:xfrm>
            <a:off x="688314" y="4939157"/>
            <a:ext cx="10191763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  <a:tabLst>
                <a:tab pos="1376705" algn="l"/>
              </a:tabLst>
            </a:pP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应用示例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生成一个关于</a:t>
            </a:r>
            <a:r>
              <a:rPr lang="zh-CN" altLang="en-US" sz="1200" spc="15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产品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服务</a:t>
            </a:r>
            <a:r>
              <a:rPr lang="zh-CN" altLang="en-US" sz="1200" spc="5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的评测内容，需详细描述产品特点、使用体验，并加入个人使用后的真实感受，帮助读者做出购买决策。</a:t>
            </a:r>
          </a:p>
        </p:txBody>
      </p:sp>
      <p:sp>
        <p:nvSpPr>
          <p:cNvPr id="1128" name="TextBox 1128"/>
          <p:cNvSpPr txBox="1"/>
          <p:nvPr/>
        </p:nvSpPr>
        <p:spPr>
          <a:xfrm>
            <a:off x="959459" y="5558916"/>
            <a:ext cx="230439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5" dirty="0">
                <a:solidFill>
                  <a:srgbClr val="000000"/>
                </a:solidFill>
                <a:latin typeface="Arial Unicode MS"/>
                <a:ea typeface="Arial Unicode MS"/>
              </a:rPr>
              <a:t>互动性强的提示</a:t>
            </a:r>
            <a:r>
              <a:rPr lang="zh-CN" altLang="en-US" sz="1800" b="1" dirty="0">
                <a:solidFill>
                  <a:srgbClr val="000000"/>
                </a:solidFill>
                <a:latin typeface="Arial Unicode MS"/>
                <a:ea typeface="Arial Unicode MS"/>
              </a:rPr>
              <a:t>语设计</a:t>
            </a:r>
          </a:p>
        </p:txBody>
      </p:sp>
      <p:sp>
        <p:nvSpPr>
          <p:cNvPr id="1129" name="TextBox 1129"/>
          <p:cNvSpPr txBox="1"/>
          <p:nvPr/>
        </p:nvSpPr>
        <p:spPr>
          <a:xfrm>
            <a:off x="4079875" y="5439915"/>
            <a:ext cx="7519019" cy="58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通过在提示语中加入互动引导元素，能够让</a:t>
            </a:r>
            <a:r>
              <a:rPr lang="en-US" altLang="zh-CN" sz="1600" spc="-1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生成的内容更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加符合小红书平台的互动</a:t>
            </a:r>
            <a:r>
              <a:rPr lang="zh-CN" altLang="en-US" sz="1600" spc="-5" dirty="0">
                <a:solidFill>
                  <a:srgbClr val="000000"/>
                </a:solidFill>
                <a:latin typeface="Arial Unicode MS"/>
                <a:ea typeface="Arial Unicode MS"/>
              </a:rPr>
              <a:t>特点，吸</a:t>
            </a:r>
            <a:r>
              <a:rPr lang="zh-CN" altLang="en-US" sz="1600" dirty="0">
                <a:solidFill>
                  <a:srgbClr val="000000"/>
                </a:solidFill>
                <a:latin typeface="Arial Unicode MS"/>
                <a:ea typeface="Arial Unicode MS"/>
              </a:rPr>
              <a:t>引读者评论和参与讨论。</a:t>
            </a:r>
          </a:p>
        </p:txBody>
      </p:sp>
      <p:sp>
        <p:nvSpPr>
          <p:cNvPr id="1130" name="TextBox 1130"/>
          <p:cNvSpPr txBox="1"/>
          <p:nvPr/>
        </p:nvSpPr>
        <p:spPr>
          <a:xfrm>
            <a:off x="688314" y="6200266"/>
            <a:ext cx="7548894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  <a:tabLst>
                <a:tab pos="1376705" algn="l"/>
              </a:tabLst>
            </a:pPr>
            <a:r>
              <a:rPr lang="zh-CN" altLang="en-US" sz="1800" b="1" dirty="0">
                <a:solidFill>
                  <a:srgbClr val="FEFEFE"/>
                </a:solidFill>
                <a:latin typeface="Arial Unicode MS"/>
                <a:ea typeface="Arial Unicode MS"/>
              </a:rPr>
              <a:t>应用示例	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生成一个关于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话题</a:t>
            </a:r>
            <a:r>
              <a:rPr lang="zh-CN" altLang="en-US" sz="1200" spc="10" dirty="0">
                <a:solidFill>
                  <a:srgbClr val="000000"/>
                </a:solidFill>
                <a:latin typeface="Arial Unicode MS"/>
                <a:ea typeface="Arial Unicode MS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 Unicode MS"/>
                <a:ea typeface="Arial Unicode MS"/>
              </a:rPr>
              <a:t>的内容，结尾处提出问题或鼓励读者分享他们的看法，以增强互动性。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" name="Picture 1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4732020"/>
            <a:ext cx="5760720" cy="1760220"/>
          </a:xfrm>
          <a:prstGeom prst="rect">
            <a:avLst/>
          </a:prstGeom>
        </p:spPr>
      </p:pic>
      <p:pic>
        <p:nvPicPr>
          <p:cNvPr id="1133" name="Picture 11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80" y="4732020"/>
            <a:ext cx="5753100" cy="1744980"/>
          </a:xfrm>
          <a:prstGeom prst="rect">
            <a:avLst/>
          </a:prstGeom>
        </p:spPr>
      </p:pic>
      <p:sp>
        <p:nvSpPr>
          <p:cNvPr id="2" name="Freeform 1133"/>
          <p:cNvSpPr/>
          <p:nvPr/>
        </p:nvSpPr>
        <p:spPr>
          <a:xfrm>
            <a:off x="1390650" y="1797050"/>
            <a:ext cx="3968750" cy="882650"/>
          </a:xfrm>
          <a:custGeom>
            <a:avLst/>
            <a:gdLst>
              <a:gd name="connsiteX0" fmla="*/ 172974 w 3968750"/>
              <a:gd name="connsiteY0" fmla="*/ 10414 h 882650"/>
              <a:gd name="connsiteX1" fmla="*/ 3969258 w 3968750"/>
              <a:gd name="connsiteY1" fmla="*/ 10414 h 882650"/>
              <a:gd name="connsiteX2" fmla="*/ 3969258 w 3968750"/>
              <a:gd name="connsiteY2" fmla="*/ 726694 h 882650"/>
              <a:gd name="connsiteX3" fmla="*/ 3809238 w 3968750"/>
              <a:gd name="connsiteY3" fmla="*/ 886714 h 882650"/>
              <a:gd name="connsiteX4" fmla="*/ 12953 w 3968750"/>
              <a:gd name="connsiteY4" fmla="*/ 886714 h 882650"/>
              <a:gd name="connsiteX5" fmla="*/ 12953 w 3968750"/>
              <a:gd name="connsiteY5" fmla="*/ 170433 h 882650"/>
              <a:gd name="connsiteX6" fmla="*/ 172974 w 3968750"/>
              <a:gd name="connsiteY6" fmla="*/ 10414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68750" h="882650">
                <a:moveTo>
                  <a:pt x="172974" y="10414"/>
                </a:moveTo>
                <a:lnTo>
                  <a:pt x="3969258" y="10414"/>
                </a:lnTo>
                <a:lnTo>
                  <a:pt x="3969258" y="726694"/>
                </a:lnTo>
                <a:cubicBezTo>
                  <a:pt x="3969384" y="815479"/>
                  <a:pt x="3897769" y="887095"/>
                  <a:pt x="3809238" y="886714"/>
                </a:cubicBezTo>
                <a:lnTo>
                  <a:pt x="12953" y="886714"/>
                </a:lnTo>
                <a:lnTo>
                  <a:pt x="12953" y="170433"/>
                </a:lnTo>
                <a:cubicBezTo>
                  <a:pt x="12700" y="82410"/>
                  <a:pt x="84315" y="10795"/>
                  <a:pt x="172974" y="10414"/>
                </a:cubicBezTo>
                <a:close/>
              </a:path>
            </a:pathLst>
          </a:custGeom>
          <a:solidFill>
            <a:srgbClr val="F7F7F7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Freeform 1134"/>
          <p:cNvSpPr/>
          <p:nvPr/>
        </p:nvSpPr>
        <p:spPr>
          <a:xfrm>
            <a:off x="1492250" y="1936750"/>
            <a:ext cx="615950" cy="603250"/>
          </a:xfrm>
          <a:custGeom>
            <a:avLst/>
            <a:gdLst>
              <a:gd name="connsiteX0" fmla="*/ 14986 w 615950"/>
              <a:gd name="connsiteY0" fmla="*/ 309626 h 603250"/>
              <a:gd name="connsiteX1" fmla="*/ 319049 w 615950"/>
              <a:gd name="connsiteY1" fmla="*/ 6946 h 603250"/>
              <a:gd name="connsiteX2" fmla="*/ 622706 w 615950"/>
              <a:gd name="connsiteY2" fmla="*/ 308991 h 603250"/>
              <a:gd name="connsiteX3" fmla="*/ 319049 w 615950"/>
              <a:gd name="connsiteY3" fmla="*/ 611047 h 603250"/>
              <a:gd name="connsiteX4" fmla="*/ 14986 w 615950"/>
              <a:gd name="connsiteY4" fmla="*/ 309626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950" h="603250">
                <a:moveTo>
                  <a:pt x="14986" y="309626"/>
                </a:moveTo>
                <a:cubicBezTo>
                  <a:pt x="15392" y="142176"/>
                  <a:pt x="151345" y="6946"/>
                  <a:pt x="319049" y="6946"/>
                </a:cubicBezTo>
                <a:cubicBezTo>
                  <a:pt x="486752" y="6946"/>
                  <a:pt x="622706" y="142176"/>
                  <a:pt x="622706" y="308991"/>
                </a:cubicBezTo>
                <a:cubicBezTo>
                  <a:pt x="622706" y="475805"/>
                  <a:pt x="486752" y="611047"/>
                  <a:pt x="319049" y="611047"/>
                </a:cubicBezTo>
                <a:cubicBezTo>
                  <a:pt x="151345" y="611047"/>
                  <a:pt x="15392" y="475805"/>
                  <a:pt x="14986" y="309626"/>
                </a:cubicBezTo>
                <a:close/>
              </a:path>
            </a:pathLst>
          </a:custGeom>
          <a:solidFill>
            <a:srgbClr val="3B8FB7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Freeform 1135"/>
          <p:cNvSpPr/>
          <p:nvPr/>
        </p:nvSpPr>
        <p:spPr>
          <a:xfrm>
            <a:off x="1390650" y="2965450"/>
            <a:ext cx="3968750" cy="844550"/>
          </a:xfrm>
          <a:custGeom>
            <a:avLst/>
            <a:gdLst>
              <a:gd name="connsiteX0" fmla="*/ 166877 w 3968750"/>
              <a:gd name="connsiteY0" fmla="*/ 12445 h 844550"/>
              <a:gd name="connsiteX1" fmla="*/ 3969258 w 3968750"/>
              <a:gd name="connsiteY1" fmla="*/ 12445 h 844550"/>
              <a:gd name="connsiteX2" fmla="*/ 3969258 w 3968750"/>
              <a:gd name="connsiteY2" fmla="*/ 699770 h 844550"/>
              <a:gd name="connsiteX3" fmla="*/ 3815334 w 3968750"/>
              <a:gd name="connsiteY3" fmla="*/ 852170 h 844550"/>
              <a:gd name="connsiteX4" fmla="*/ 12953 w 3968750"/>
              <a:gd name="connsiteY4" fmla="*/ 852170 h 844550"/>
              <a:gd name="connsiteX5" fmla="*/ 12953 w 3968750"/>
              <a:gd name="connsiteY5" fmla="*/ 164845 h 844550"/>
              <a:gd name="connsiteX6" fmla="*/ 166877 w 3968750"/>
              <a:gd name="connsiteY6" fmla="*/ 12445 h 84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68750" h="844550">
                <a:moveTo>
                  <a:pt x="166877" y="12445"/>
                </a:moveTo>
                <a:lnTo>
                  <a:pt x="3969258" y="12445"/>
                </a:lnTo>
                <a:lnTo>
                  <a:pt x="3969258" y="699770"/>
                </a:lnTo>
                <a:cubicBezTo>
                  <a:pt x="3969384" y="784085"/>
                  <a:pt x="3900665" y="852804"/>
                  <a:pt x="3815334" y="852170"/>
                </a:cubicBezTo>
                <a:lnTo>
                  <a:pt x="12953" y="852170"/>
                </a:lnTo>
                <a:lnTo>
                  <a:pt x="12953" y="164845"/>
                </a:lnTo>
                <a:cubicBezTo>
                  <a:pt x="12700" y="80784"/>
                  <a:pt x="81419" y="12064"/>
                  <a:pt x="166877" y="12445"/>
                </a:cubicBezTo>
                <a:close/>
              </a:path>
            </a:pathLst>
          </a:custGeom>
          <a:solidFill>
            <a:srgbClr val="F7F7F7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Freeform 1136"/>
          <p:cNvSpPr/>
          <p:nvPr/>
        </p:nvSpPr>
        <p:spPr>
          <a:xfrm>
            <a:off x="1492250" y="3079750"/>
            <a:ext cx="615950" cy="615950"/>
          </a:xfrm>
          <a:custGeom>
            <a:avLst/>
            <a:gdLst>
              <a:gd name="connsiteX0" fmla="*/ 14986 w 615950"/>
              <a:gd name="connsiteY0" fmla="*/ 317246 h 615950"/>
              <a:gd name="connsiteX1" fmla="*/ 318770 w 615950"/>
              <a:gd name="connsiteY1" fmla="*/ 14604 h 615950"/>
              <a:gd name="connsiteX2" fmla="*/ 622300 w 615950"/>
              <a:gd name="connsiteY2" fmla="*/ 316547 h 615950"/>
              <a:gd name="connsiteX3" fmla="*/ 318770 w 615950"/>
              <a:gd name="connsiteY3" fmla="*/ 618490 h 615950"/>
              <a:gd name="connsiteX4" fmla="*/ 14986 w 615950"/>
              <a:gd name="connsiteY4" fmla="*/ 317246 h 61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950" h="615950">
                <a:moveTo>
                  <a:pt x="14986" y="317246"/>
                </a:moveTo>
                <a:cubicBezTo>
                  <a:pt x="15239" y="149783"/>
                  <a:pt x="151129" y="14604"/>
                  <a:pt x="318770" y="14604"/>
                </a:cubicBezTo>
                <a:cubicBezTo>
                  <a:pt x="486410" y="14604"/>
                  <a:pt x="622300" y="149783"/>
                  <a:pt x="622300" y="316547"/>
                </a:cubicBezTo>
                <a:cubicBezTo>
                  <a:pt x="622300" y="483311"/>
                  <a:pt x="486410" y="618490"/>
                  <a:pt x="318770" y="618490"/>
                </a:cubicBezTo>
                <a:cubicBezTo>
                  <a:pt x="151129" y="618490"/>
                  <a:pt x="15239" y="483311"/>
                  <a:pt x="14986" y="317246"/>
                </a:cubicBezTo>
                <a:close/>
              </a:path>
            </a:pathLst>
          </a:custGeom>
          <a:solidFill>
            <a:srgbClr val="37638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Freeform 1137"/>
          <p:cNvSpPr/>
          <p:nvPr/>
        </p:nvSpPr>
        <p:spPr>
          <a:xfrm>
            <a:off x="6242050" y="1797050"/>
            <a:ext cx="3956050" cy="908050"/>
          </a:xfrm>
          <a:custGeom>
            <a:avLst/>
            <a:gdLst>
              <a:gd name="connsiteX0" fmla="*/ 172465 w 3956050"/>
              <a:gd name="connsiteY0" fmla="*/ 10414 h 908050"/>
              <a:gd name="connsiteX1" fmla="*/ 3962654 w 3956050"/>
              <a:gd name="connsiteY1" fmla="*/ 10414 h 908050"/>
              <a:gd name="connsiteX2" fmla="*/ 3962654 w 3956050"/>
              <a:gd name="connsiteY2" fmla="*/ 751077 h 908050"/>
              <a:gd name="connsiteX3" fmla="*/ 3798061 w 3956050"/>
              <a:gd name="connsiteY3" fmla="*/ 917194 h 908050"/>
              <a:gd name="connsiteX4" fmla="*/ 6350 w 3956050"/>
              <a:gd name="connsiteY4" fmla="*/ 917194 h 908050"/>
              <a:gd name="connsiteX5" fmla="*/ 6350 w 3956050"/>
              <a:gd name="connsiteY5" fmla="*/ 176529 h 908050"/>
              <a:gd name="connsiteX6" fmla="*/ 172465 w 3956050"/>
              <a:gd name="connsiteY6" fmla="*/ 10414 h 9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6050" h="908050">
                <a:moveTo>
                  <a:pt x="172465" y="10414"/>
                </a:moveTo>
                <a:lnTo>
                  <a:pt x="3962654" y="10414"/>
                </a:lnTo>
                <a:lnTo>
                  <a:pt x="3962654" y="751077"/>
                </a:lnTo>
                <a:cubicBezTo>
                  <a:pt x="3963034" y="842886"/>
                  <a:pt x="3888981" y="916939"/>
                  <a:pt x="3798061" y="917194"/>
                </a:cubicBezTo>
                <a:lnTo>
                  <a:pt x="6350" y="917194"/>
                </a:lnTo>
                <a:lnTo>
                  <a:pt x="6350" y="176529"/>
                </a:lnTo>
                <a:cubicBezTo>
                  <a:pt x="6350" y="84848"/>
                  <a:pt x="80403" y="10795"/>
                  <a:pt x="172465" y="10414"/>
                </a:cubicBezTo>
                <a:close/>
              </a:path>
            </a:pathLst>
          </a:custGeom>
          <a:solidFill>
            <a:srgbClr val="F7F7F7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Freeform 1138"/>
          <p:cNvSpPr/>
          <p:nvPr/>
        </p:nvSpPr>
        <p:spPr>
          <a:xfrm>
            <a:off x="6369050" y="1936750"/>
            <a:ext cx="603250" cy="615950"/>
          </a:xfrm>
          <a:custGeom>
            <a:avLst/>
            <a:gdLst>
              <a:gd name="connsiteX0" fmla="*/ 7365 w 603250"/>
              <a:gd name="connsiteY0" fmla="*/ 320294 h 615950"/>
              <a:gd name="connsiteX1" fmla="*/ 310883 w 603250"/>
              <a:gd name="connsiteY1" fmla="*/ 17741 h 615950"/>
              <a:gd name="connsiteX2" fmla="*/ 614540 w 603250"/>
              <a:gd name="connsiteY2" fmla="*/ 319785 h 615950"/>
              <a:gd name="connsiteX3" fmla="*/ 310883 w 603250"/>
              <a:gd name="connsiteY3" fmla="*/ 621842 h 615950"/>
              <a:gd name="connsiteX4" fmla="*/ 7365 w 603250"/>
              <a:gd name="connsiteY4" fmla="*/ 320294 h 61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250" h="615950">
                <a:moveTo>
                  <a:pt x="7365" y="320294"/>
                </a:moveTo>
                <a:cubicBezTo>
                  <a:pt x="7226" y="152971"/>
                  <a:pt x="143179" y="17741"/>
                  <a:pt x="310883" y="17741"/>
                </a:cubicBezTo>
                <a:cubicBezTo>
                  <a:pt x="478587" y="17741"/>
                  <a:pt x="614540" y="152971"/>
                  <a:pt x="614540" y="319785"/>
                </a:cubicBezTo>
                <a:cubicBezTo>
                  <a:pt x="614540" y="486600"/>
                  <a:pt x="478587" y="621842"/>
                  <a:pt x="310883" y="621842"/>
                </a:cubicBezTo>
                <a:cubicBezTo>
                  <a:pt x="143179" y="621842"/>
                  <a:pt x="7226" y="486600"/>
                  <a:pt x="7365" y="320294"/>
                </a:cubicBezTo>
                <a:close/>
              </a:path>
            </a:pathLst>
          </a:custGeom>
          <a:solidFill>
            <a:srgbClr val="5077A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Freeform 1139"/>
          <p:cNvSpPr/>
          <p:nvPr/>
        </p:nvSpPr>
        <p:spPr>
          <a:xfrm>
            <a:off x="6242050" y="2965450"/>
            <a:ext cx="3956050" cy="844550"/>
          </a:xfrm>
          <a:custGeom>
            <a:avLst/>
            <a:gdLst>
              <a:gd name="connsiteX0" fmla="*/ 160273 w 3956050"/>
              <a:gd name="connsiteY0" fmla="*/ 12445 h 844550"/>
              <a:gd name="connsiteX1" fmla="*/ 3962654 w 3956050"/>
              <a:gd name="connsiteY1" fmla="*/ 12445 h 844550"/>
              <a:gd name="connsiteX2" fmla="*/ 3962654 w 3956050"/>
              <a:gd name="connsiteY2" fmla="*/ 699770 h 844550"/>
              <a:gd name="connsiteX3" fmla="*/ 3810254 w 3956050"/>
              <a:gd name="connsiteY3" fmla="*/ 852170 h 844550"/>
              <a:gd name="connsiteX4" fmla="*/ 6350 w 3956050"/>
              <a:gd name="connsiteY4" fmla="*/ 852170 h 844550"/>
              <a:gd name="connsiteX5" fmla="*/ 6350 w 3956050"/>
              <a:gd name="connsiteY5" fmla="*/ 164845 h 844550"/>
              <a:gd name="connsiteX6" fmla="*/ 160273 w 3956050"/>
              <a:gd name="connsiteY6" fmla="*/ 12445 h 84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6050" h="844550">
                <a:moveTo>
                  <a:pt x="160273" y="12445"/>
                </a:moveTo>
                <a:lnTo>
                  <a:pt x="3962654" y="12445"/>
                </a:lnTo>
                <a:lnTo>
                  <a:pt x="3962654" y="699770"/>
                </a:lnTo>
                <a:cubicBezTo>
                  <a:pt x="3963034" y="784085"/>
                  <a:pt x="3894315" y="852804"/>
                  <a:pt x="3810254" y="852170"/>
                </a:cubicBezTo>
                <a:lnTo>
                  <a:pt x="6350" y="852170"/>
                </a:lnTo>
                <a:lnTo>
                  <a:pt x="6350" y="164845"/>
                </a:lnTo>
                <a:cubicBezTo>
                  <a:pt x="6350" y="80784"/>
                  <a:pt x="75069" y="12064"/>
                  <a:pt x="160273" y="12445"/>
                </a:cubicBezTo>
                <a:close/>
              </a:path>
            </a:pathLst>
          </a:custGeom>
          <a:solidFill>
            <a:srgbClr val="F7F7F7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Freeform 1140"/>
          <p:cNvSpPr/>
          <p:nvPr/>
        </p:nvSpPr>
        <p:spPr>
          <a:xfrm>
            <a:off x="6369050" y="3079750"/>
            <a:ext cx="603250" cy="615950"/>
          </a:xfrm>
          <a:custGeom>
            <a:avLst/>
            <a:gdLst>
              <a:gd name="connsiteX0" fmla="*/ 7365 w 603250"/>
              <a:gd name="connsiteY0" fmla="*/ 315721 h 615950"/>
              <a:gd name="connsiteX1" fmla="*/ 311518 w 603250"/>
              <a:gd name="connsiteY1" fmla="*/ 14389 h 615950"/>
              <a:gd name="connsiteX2" fmla="*/ 615175 w 603250"/>
              <a:gd name="connsiteY2" fmla="*/ 316433 h 615950"/>
              <a:gd name="connsiteX3" fmla="*/ 311518 w 603250"/>
              <a:gd name="connsiteY3" fmla="*/ 618477 h 615950"/>
              <a:gd name="connsiteX4" fmla="*/ 7365 w 603250"/>
              <a:gd name="connsiteY4" fmla="*/ 315721 h 61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250" h="615950">
                <a:moveTo>
                  <a:pt x="7365" y="315721"/>
                </a:moveTo>
                <a:cubicBezTo>
                  <a:pt x="7861" y="149618"/>
                  <a:pt x="143814" y="14389"/>
                  <a:pt x="311518" y="14389"/>
                </a:cubicBezTo>
                <a:cubicBezTo>
                  <a:pt x="479221" y="14389"/>
                  <a:pt x="615175" y="149618"/>
                  <a:pt x="615175" y="316433"/>
                </a:cubicBezTo>
                <a:cubicBezTo>
                  <a:pt x="615175" y="483247"/>
                  <a:pt x="479221" y="618477"/>
                  <a:pt x="311518" y="618477"/>
                </a:cubicBezTo>
                <a:cubicBezTo>
                  <a:pt x="143814" y="618477"/>
                  <a:pt x="7861" y="483247"/>
                  <a:pt x="7365" y="315721"/>
                </a:cubicBezTo>
                <a:close/>
              </a:path>
            </a:pathLst>
          </a:custGeom>
          <a:solidFill>
            <a:srgbClr val="40539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TextBox 1141"/>
          <p:cNvSpPr txBox="1"/>
          <p:nvPr/>
        </p:nvSpPr>
        <p:spPr>
          <a:xfrm>
            <a:off x="293370" y="289633"/>
            <a:ext cx="8804234" cy="13251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3184">
              <a:lnSpc>
                <a:spcPct val="101250"/>
              </a:lnSpc>
            </a:pPr>
            <a:r>
              <a:rPr lang="zh-CN" altLang="en-US" sz="4000" b="1" spc="289" dirty="0">
                <a:solidFill>
                  <a:srgbClr val="242424"/>
                </a:solidFill>
                <a:latin typeface="Arial Unicode MS"/>
                <a:ea typeface="Arial Unicode MS"/>
              </a:rPr>
              <a:t>掌握抖音：短视频</a:t>
            </a:r>
            <a:r>
              <a:rPr lang="zh-CN" altLang="en-US" sz="4000" b="1" spc="279" dirty="0">
                <a:solidFill>
                  <a:srgbClr val="242424"/>
                </a:solidFill>
                <a:latin typeface="Arial Unicode MS"/>
                <a:ea typeface="Arial Unicode MS"/>
              </a:rPr>
              <a:t>内容的提示语设计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39"/>
              </a:lnSpc>
            </a:pPr>
            <a:endParaRPr lang="en-US" dirty="0"/>
          </a:p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抖音平台内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容特性分析</a:t>
            </a:r>
          </a:p>
        </p:txBody>
      </p:sp>
      <p:sp>
        <p:nvSpPr>
          <p:cNvPr id="1142" name="TextBox 1142"/>
          <p:cNvSpPr txBox="1"/>
          <p:nvPr/>
        </p:nvSpPr>
        <p:spPr>
          <a:xfrm>
            <a:off x="1739900" y="2093748"/>
            <a:ext cx="155141" cy="14554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1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5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143" name="TextBox 1143"/>
          <p:cNvSpPr txBox="1"/>
          <p:nvPr/>
        </p:nvSpPr>
        <p:spPr>
          <a:xfrm>
            <a:off x="2358389" y="2135375"/>
            <a:ext cx="2437749" cy="13958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139" dirty="0">
                <a:solidFill>
                  <a:srgbClr val="242424"/>
                </a:solidFill>
                <a:latin typeface="Arial Unicode MS"/>
                <a:ea typeface="Arial Unicode MS"/>
              </a:rPr>
              <a:t>高度视觉化与</a:t>
            </a:r>
            <a:r>
              <a:rPr lang="zh-CN" altLang="en-US" sz="1600" spc="129" dirty="0">
                <a:solidFill>
                  <a:srgbClr val="242424"/>
                </a:solidFill>
                <a:latin typeface="Arial Unicode MS"/>
                <a:ea typeface="Arial Unicode MS"/>
              </a:rPr>
              <a:t>短时吸引力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1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135" dirty="0">
                <a:solidFill>
                  <a:srgbClr val="242424"/>
                </a:solidFill>
                <a:latin typeface="Arial Unicode MS"/>
                <a:ea typeface="Arial Unicode MS"/>
              </a:rPr>
              <a:t>强互动性</a:t>
            </a:r>
            <a:r>
              <a:rPr lang="zh-CN" altLang="en-US" sz="1600" spc="125" dirty="0">
                <a:solidFill>
                  <a:srgbClr val="242424"/>
                </a:solidFill>
                <a:latin typeface="Arial Unicode MS"/>
                <a:ea typeface="Arial Unicode MS"/>
              </a:rPr>
              <a:t>与挑战性</a:t>
            </a:r>
          </a:p>
        </p:txBody>
      </p:sp>
      <p:sp>
        <p:nvSpPr>
          <p:cNvPr id="1144" name="TextBox 1144"/>
          <p:cNvSpPr txBox="1"/>
          <p:nvPr/>
        </p:nvSpPr>
        <p:spPr>
          <a:xfrm>
            <a:off x="6609359" y="2104543"/>
            <a:ext cx="154951" cy="14444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2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145" name="TextBox 1145"/>
          <p:cNvSpPr txBox="1"/>
          <p:nvPr/>
        </p:nvSpPr>
        <p:spPr>
          <a:xfrm>
            <a:off x="7202805" y="2134105"/>
            <a:ext cx="1770999" cy="14447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135" dirty="0">
                <a:solidFill>
                  <a:srgbClr val="242424"/>
                </a:solidFill>
                <a:latin typeface="Arial Unicode MS"/>
                <a:ea typeface="Arial Unicode MS"/>
              </a:rPr>
              <a:t>情绪饱满</a:t>
            </a:r>
            <a:r>
              <a:rPr lang="zh-CN" altLang="en-US" sz="1600" spc="125" dirty="0">
                <a:solidFill>
                  <a:srgbClr val="242424"/>
                </a:solidFill>
                <a:latin typeface="Arial Unicode MS"/>
                <a:ea typeface="Arial Unicode MS"/>
              </a:rPr>
              <a:t>与娱乐性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0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125" dirty="0">
                <a:solidFill>
                  <a:srgbClr val="242424"/>
                </a:solidFill>
                <a:latin typeface="Arial Unicode MS"/>
                <a:ea typeface="Arial Unicode MS"/>
              </a:rPr>
              <a:t>剧情与</a:t>
            </a:r>
            <a:r>
              <a:rPr lang="zh-CN" altLang="en-US" sz="1600" spc="120" dirty="0">
                <a:solidFill>
                  <a:srgbClr val="242424"/>
                </a:solidFill>
                <a:latin typeface="Arial Unicode MS"/>
                <a:ea typeface="Arial Unicode MS"/>
              </a:rPr>
              <a:t>故事性</a:t>
            </a:r>
          </a:p>
        </p:txBody>
      </p:sp>
      <p:sp>
        <p:nvSpPr>
          <p:cNvPr id="1146" name="TextBox 1146"/>
          <p:cNvSpPr txBox="1"/>
          <p:nvPr/>
        </p:nvSpPr>
        <p:spPr>
          <a:xfrm>
            <a:off x="368934" y="4199890"/>
            <a:ext cx="3182600" cy="3340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9583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�</a:t>
            </a:r>
            <a:r>
              <a:rPr lang="zh-CN" altLang="en-US" sz="2000" b="1" spc="10" dirty="0">
                <a:solidFill>
                  <a:srgbClr val="000000"/>
                </a:solidFill>
                <a:latin typeface="Arial Unicode MS"/>
                <a:ea typeface="Arial Unicode MS"/>
              </a:rPr>
              <a:t>抖音内容创</a:t>
            </a:r>
            <a:r>
              <a:rPr lang="zh-CN" altLang="en-US" sz="2000" b="1" dirty="0">
                <a:solidFill>
                  <a:srgbClr val="000000"/>
                </a:solidFill>
                <a:latin typeface="Arial Unicode MS"/>
                <a:ea typeface="Arial Unicode MS"/>
              </a:rPr>
              <a:t>作的核心原则</a:t>
            </a:r>
          </a:p>
        </p:txBody>
      </p:sp>
      <p:sp>
        <p:nvSpPr>
          <p:cNvPr id="1147" name="TextBox 1147"/>
          <p:cNvSpPr txBox="1"/>
          <p:nvPr/>
        </p:nvSpPr>
        <p:spPr>
          <a:xfrm>
            <a:off x="583565" y="5043040"/>
            <a:ext cx="2356471" cy="1051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67970">
              <a:lnSpc>
                <a:spcPct val="100833"/>
              </a:lnSpc>
            </a:pPr>
            <a:r>
              <a:rPr lang="zh-CN" altLang="en-US" sz="1600" b="1" spc="269" dirty="0">
                <a:solidFill>
                  <a:srgbClr val="1C6BC1"/>
                </a:solidFill>
                <a:latin typeface="Arial Unicode MS"/>
                <a:ea typeface="Arial Unicode MS"/>
              </a:rPr>
              <a:t>视觉冲击</a:t>
            </a:r>
            <a:r>
              <a:rPr lang="zh-CN" altLang="en-US" sz="1600" b="1" spc="259" dirty="0">
                <a:solidFill>
                  <a:srgbClr val="1C6BC1"/>
                </a:solidFill>
                <a:latin typeface="Arial Unicode MS"/>
                <a:ea typeface="Arial Unicode MS"/>
              </a:rPr>
              <a:t>与情绪感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zh-CN" altLang="en-US" sz="1400" spc="134" dirty="0">
                <a:solidFill>
                  <a:srgbClr val="575757"/>
                </a:solidFill>
                <a:latin typeface="Arial Unicode MS"/>
                <a:ea typeface="Arial Unicode MS"/>
              </a:rPr>
              <a:t>提示语设计应突出场</a:t>
            </a:r>
            <a:r>
              <a:rPr lang="zh-CN" altLang="en-US" sz="1400" spc="129" dirty="0">
                <a:solidFill>
                  <a:srgbClr val="575757"/>
                </a:solidFill>
                <a:latin typeface="Arial Unicode MS"/>
                <a:ea typeface="Arial Unicode MS"/>
              </a:rPr>
              <a:t>景描述</a:t>
            </a:r>
            <a:r>
              <a:rPr lang="zh-CN" altLang="en-US" sz="1400" spc="134" dirty="0">
                <a:solidFill>
                  <a:srgbClr val="575757"/>
                </a:solidFill>
                <a:latin typeface="Arial Unicode MS"/>
                <a:ea typeface="Arial Unicode MS"/>
              </a:rPr>
              <a:t>和情绪表达，使内容</a:t>
            </a:r>
            <a:r>
              <a:rPr lang="zh-CN" altLang="en-US" sz="1400" spc="129" dirty="0">
                <a:solidFill>
                  <a:srgbClr val="575757"/>
                </a:solidFill>
                <a:latin typeface="Arial Unicode MS"/>
                <a:ea typeface="Arial Unicode MS"/>
              </a:rPr>
              <a:t>富有感</a:t>
            </a:r>
            <a:r>
              <a:rPr lang="zh-CN" altLang="en-US" sz="1400" spc="94" dirty="0">
                <a:solidFill>
                  <a:srgbClr val="575757"/>
                </a:solidFill>
                <a:latin typeface="Arial Unicode MS"/>
                <a:ea typeface="Arial Unicode MS"/>
              </a:rPr>
              <a:t>染力。</a:t>
            </a:r>
          </a:p>
        </p:txBody>
      </p:sp>
      <p:sp>
        <p:nvSpPr>
          <p:cNvPr id="1148" name="TextBox 1148"/>
          <p:cNvSpPr txBox="1"/>
          <p:nvPr/>
        </p:nvSpPr>
        <p:spPr>
          <a:xfrm>
            <a:off x="3477259" y="5058915"/>
            <a:ext cx="2396477" cy="1137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1475">
              <a:lnSpc>
                <a:spcPct val="100833"/>
              </a:lnSpc>
            </a:pPr>
            <a:r>
              <a:rPr lang="zh-CN" altLang="en-US" sz="1600" b="1" spc="264" dirty="0">
                <a:solidFill>
                  <a:srgbClr val="1C6BC1"/>
                </a:solidFill>
                <a:latin typeface="Arial Unicode MS"/>
                <a:ea typeface="Arial Unicode MS"/>
              </a:rPr>
              <a:t>引导参</a:t>
            </a:r>
            <a:r>
              <a:rPr lang="zh-CN" altLang="en-US" sz="1600" b="1" spc="254" dirty="0">
                <a:solidFill>
                  <a:srgbClr val="1C6BC1"/>
                </a:solidFill>
                <a:latin typeface="Arial Unicode MS"/>
                <a:ea typeface="Arial Unicode MS"/>
              </a:rPr>
              <a:t>与与互动</a:t>
            </a:r>
          </a:p>
          <a:p>
            <a:pPr>
              <a:lnSpc>
                <a:spcPts val="775"/>
              </a:lnSpc>
            </a:pPr>
            <a:endParaRPr lang="en-US" dirty="0"/>
          </a:p>
          <a:p>
            <a:pPr marL="0" hangingPunct="0">
              <a:lnSpc>
                <a:spcPct val="100000"/>
              </a:lnSpc>
            </a:pPr>
            <a:r>
              <a:rPr lang="zh-CN" altLang="en-US" sz="1300" spc="85" dirty="0">
                <a:solidFill>
                  <a:srgbClr val="575757"/>
                </a:solidFill>
                <a:latin typeface="Arial Unicode MS"/>
                <a:ea typeface="Arial Unicode MS"/>
              </a:rPr>
              <a:t>提示语应引导</a:t>
            </a:r>
            <a:r>
              <a:rPr lang="zh-CN" altLang="en-US" sz="1300" spc="25" dirty="0">
                <a:solidFill>
                  <a:srgbClr val="575757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300" spc="44" dirty="0">
                <a:solidFill>
                  <a:srgbClr val="575757"/>
                </a:solidFill>
                <a:latin typeface="Arial"/>
                <a:ea typeface="Arial"/>
              </a:rPr>
              <a:t>AI</a:t>
            </a:r>
            <a:r>
              <a:rPr lang="en-US" altLang="zh-CN" sz="1300" spc="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lang="zh-CN" altLang="en-US" sz="1300" spc="85" dirty="0">
                <a:solidFill>
                  <a:srgbClr val="575757"/>
                </a:solidFill>
                <a:latin typeface="Arial Unicode MS"/>
                <a:ea typeface="Arial Unicode MS"/>
              </a:rPr>
              <a:t>生成具有互动</a:t>
            </a:r>
            <a:r>
              <a:rPr lang="zh-CN" altLang="en-US" sz="1300" spc="139" dirty="0">
                <a:solidFill>
                  <a:srgbClr val="575757"/>
                </a:solidFill>
                <a:latin typeface="Arial Unicode MS"/>
                <a:ea typeface="Arial Unicode MS"/>
              </a:rPr>
              <a:t>性的脚本</a:t>
            </a:r>
            <a:r>
              <a:rPr lang="zh-CN" altLang="en-US" sz="1300" spc="135" dirty="0">
                <a:solidFill>
                  <a:srgbClr val="575757"/>
                </a:solidFill>
                <a:latin typeface="Arial Unicode MS"/>
                <a:ea typeface="Arial Unicode MS"/>
              </a:rPr>
              <a:t>和文案，通过设问、</a:t>
            </a:r>
            <a:r>
              <a:rPr lang="zh-CN" altLang="en-US" sz="1300" spc="139" dirty="0">
                <a:solidFill>
                  <a:srgbClr val="575757"/>
                </a:solidFill>
                <a:latin typeface="Arial Unicode MS"/>
                <a:ea typeface="Arial Unicode MS"/>
              </a:rPr>
              <a:t>挑战等方</a:t>
            </a:r>
            <a:r>
              <a:rPr lang="zh-CN" altLang="en-US" sz="1300" spc="135" dirty="0">
                <a:solidFill>
                  <a:srgbClr val="575757"/>
                </a:solidFill>
                <a:latin typeface="Arial Unicode MS"/>
                <a:ea typeface="Arial Unicode MS"/>
              </a:rPr>
              <a:t>式，吸引用户积极参</a:t>
            </a:r>
            <a:r>
              <a:rPr lang="zh-CN" altLang="en-US" sz="1300" spc="64" dirty="0">
                <a:solidFill>
                  <a:srgbClr val="575757"/>
                </a:solidFill>
                <a:latin typeface="Arial Unicode MS"/>
                <a:ea typeface="Arial Unicode MS"/>
              </a:rPr>
              <a:t>与。</a:t>
            </a:r>
          </a:p>
        </p:txBody>
      </p:sp>
      <p:sp>
        <p:nvSpPr>
          <p:cNvPr id="1149" name="TextBox 1149"/>
          <p:cNvSpPr txBox="1"/>
          <p:nvPr/>
        </p:nvSpPr>
        <p:spPr>
          <a:xfrm>
            <a:off x="6337300" y="5058915"/>
            <a:ext cx="2365996" cy="1130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6679">
              <a:lnSpc>
                <a:spcPct val="100833"/>
              </a:lnSpc>
            </a:pPr>
            <a:r>
              <a:rPr lang="zh-CN" altLang="en-US" sz="1600" b="1" spc="275" dirty="0">
                <a:solidFill>
                  <a:srgbClr val="1C6BC1"/>
                </a:solidFill>
                <a:latin typeface="Arial Unicode MS"/>
                <a:ea typeface="Arial Unicode MS"/>
              </a:rPr>
              <a:t>节奏鲜明</a:t>
            </a:r>
            <a:r>
              <a:rPr lang="zh-CN" altLang="en-US" sz="1600" b="1" spc="265" dirty="0">
                <a:solidFill>
                  <a:srgbClr val="1C6BC1"/>
                </a:solidFill>
                <a:latin typeface="Arial Unicode MS"/>
                <a:ea typeface="Arial Unicode MS"/>
              </a:rPr>
              <a:t>与简洁高效</a:t>
            </a:r>
          </a:p>
          <a:p>
            <a:pPr>
              <a:lnSpc>
                <a:spcPts val="52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zh-CN" altLang="en-US" sz="1400" spc="129" dirty="0">
                <a:solidFill>
                  <a:srgbClr val="575757"/>
                </a:solidFill>
                <a:latin typeface="Arial Unicode MS"/>
                <a:ea typeface="Arial Unicode MS"/>
              </a:rPr>
              <a:t>提示语应帮助</a:t>
            </a:r>
            <a:r>
              <a:rPr lang="en-US" altLang="zh-CN" sz="1400" spc="75" dirty="0">
                <a:solidFill>
                  <a:srgbClr val="575757"/>
                </a:solidFill>
                <a:latin typeface="Arial"/>
                <a:ea typeface="Arial"/>
              </a:rPr>
              <a:t>AI</a:t>
            </a:r>
            <a:r>
              <a:rPr lang="en-US" altLang="zh-CN" sz="1400" spc="-239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lang="zh-CN" altLang="en-US" sz="1400" spc="135" dirty="0">
                <a:solidFill>
                  <a:srgbClr val="575757"/>
                </a:solidFill>
                <a:latin typeface="Arial Unicode MS"/>
                <a:ea typeface="Arial Unicode MS"/>
              </a:rPr>
              <a:t>生成节奏明</a:t>
            </a:r>
            <a:r>
              <a:rPr lang="zh-CN" altLang="en-US" sz="1400" spc="139" dirty="0">
                <a:solidFill>
                  <a:srgbClr val="575757"/>
                </a:solidFill>
                <a:latin typeface="Arial Unicode MS"/>
                <a:ea typeface="Arial Unicode MS"/>
              </a:rPr>
              <a:t>快、表</a:t>
            </a:r>
            <a:r>
              <a:rPr lang="zh-CN" altLang="en-US" sz="1400" spc="135" dirty="0">
                <a:solidFill>
                  <a:srgbClr val="575757"/>
                </a:solidFill>
                <a:latin typeface="Arial Unicode MS"/>
                <a:ea typeface="Arial Unicode MS"/>
              </a:rPr>
              <a:t>达简洁的内容，去除</a:t>
            </a:r>
            <a:r>
              <a:rPr lang="zh-CN" altLang="en-US" sz="1400" spc="139" dirty="0">
                <a:solidFill>
                  <a:srgbClr val="575757"/>
                </a:solidFill>
                <a:latin typeface="Arial Unicode MS"/>
                <a:ea typeface="Arial Unicode MS"/>
              </a:rPr>
              <a:t>冗余信</a:t>
            </a:r>
            <a:r>
              <a:rPr lang="zh-CN" altLang="en-US" sz="1400" spc="135" dirty="0">
                <a:solidFill>
                  <a:srgbClr val="575757"/>
                </a:solidFill>
                <a:latin typeface="Arial Unicode MS"/>
                <a:ea typeface="Arial Unicode MS"/>
              </a:rPr>
              <a:t>息，确保信息传递高</a:t>
            </a:r>
            <a:r>
              <a:rPr lang="zh-CN" altLang="en-US" sz="1400" spc="129" dirty="0">
                <a:solidFill>
                  <a:srgbClr val="575757"/>
                </a:solidFill>
                <a:latin typeface="Arial Unicode MS"/>
                <a:ea typeface="Arial Unicode MS"/>
              </a:rPr>
              <a:t>效且不失</a:t>
            </a:r>
            <a:r>
              <a:rPr lang="zh-CN" altLang="en-US" sz="1400" spc="125" dirty="0">
                <a:solidFill>
                  <a:srgbClr val="575757"/>
                </a:solidFill>
                <a:latin typeface="Arial Unicode MS"/>
                <a:ea typeface="Arial Unicode MS"/>
              </a:rPr>
              <a:t>趣味。</a:t>
            </a:r>
          </a:p>
        </p:txBody>
      </p:sp>
      <p:sp>
        <p:nvSpPr>
          <p:cNvPr id="1150" name="TextBox 1150"/>
          <p:cNvSpPr txBox="1"/>
          <p:nvPr/>
        </p:nvSpPr>
        <p:spPr>
          <a:xfrm>
            <a:off x="9191625" y="5058915"/>
            <a:ext cx="2365996" cy="10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8109">
              <a:lnSpc>
                <a:spcPct val="100833"/>
              </a:lnSpc>
            </a:pPr>
            <a:r>
              <a:rPr lang="zh-CN" altLang="en-US" sz="1600" b="1" spc="275" dirty="0">
                <a:solidFill>
                  <a:srgbClr val="1C6BC1"/>
                </a:solidFill>
                <a:latin typeface="Arial Unicode MS"/>
                <a:ea typeface="Arial Unicode MS"/>
              </a:rPr>
              <a:t>贴近热点</a:t>
            </a:r>
            <a:r>
              <a:rPr lang="zh-CN" altLang="en-US" sz="1600" b="1" spc="265" dirty="0">
                <a:solidFill>
                  <a:srgbClr val="1C6BC1"/>
                </a:solidFill>
                <a:latin typeface="Arial Unicode MS"/>
                <a:ea typeface="Arial Unicode MS"/>
              </a:rPr>
              <a:t>与用户需求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zh-CN" altLang="en-US" sz="1400" spc="129" dirty="0">
                <a:solidFill>
                  <a:srgbClr val="575757"/>
                </a:solidFill>
                <a:latin typeface="Arial Unicode MS"/>
                <a:ea typeface="Arial Unicode MS"/>
              </a:rPr>
              <a:t>提示语设计需引导</a:t>
            </a:r>
            <a:r>
              <a:rPr lang="en-US" altLang="zh-CN" sz="1400" spc="80" dirty="0">
                <a:solidFill>
                  <a:srgbClr val="575757"/>
                </a:solidFill>
                <a:latin typeface="Arial"/>
                <a:ea typeface="Arial"/>
              </a:rPr>
              <a:t>AI</a:t>
            </a:r>
            <a:r>
              <a:rPr lang="en-US" altLang="zh-CN" sz="1400" spc="-239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lang="zh-CN" altLang="en-US" sz="1400" spc="135" dirty="0">
                <a:solidFill>
                  <a:srgbClr val="575757"/>
                </a:solidFill>
                <a:latin typeface="Arial Unicode MS"/>
                <a:ea typeface="Arial Unicode MS"/>
              </a:rPr>
              <a:t>关注当</a:t>
            </a:r>
            <a:r>
              <a:rPr lang="zh-CN" altLang="en-US" sz="1400" spc="139" dirty="0">
                <a:solidFill>
                  <a:srgbClr val="575757"/>
                </a:solidFill>
                <a:latin typeface="Arial Unicode MS"/>
                <a:ea typeface="Arial Unicode MS"/>
              </a:rPr>
              <a:t>下流行</a:t>
            </a:r>
            <a:r>
              <a:rPr lang="zh-CN" altLang="en-US" sz="1400" spc="135" dirty="0">
                <a:solidFill>
                  <a:srgbClr val="575757"/>
                </a:solidFill>
                <a:latin typeface="Arial Unicode MS"/>
                <a:ea typeface="Arial Unicode MS"/>
              </a:rPr>
              <a:t>话题，创作具有话题</a:t>
            </a:r>
            <a:r>
              <a:rPr lang="zh-CN" altLang="en-US" sz="1400" spc="134" dirty="0">
                <a:solidFill>
                  <a:srgbClr val="575757"/>
                </a:solidFill>
                <a:latin typeface="Arial Unicode MS"/>
                <a:ea typeface="Arial Unicode MS"/>
              </a:rPr>
              <a:t>性和吸引力</a:t>
            </a:r>
            <a:r>
              <a:rPr lang="zh-CN" altLang="en-US" sz="1400" spc="129" dirty="0">
                <a:solidFill>
                  <a:srgbClr val="575757"/>
                </a:solidFill>
                <a:latin typeface="Arial Unicode MS"/>
                <a:ea typeface="Arial Unicode MS"/>
              </a:rPr>
              <a:t>的内容。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2" name="Picture 1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19" y="1363980"/>
            <a:ext cx="4488179" cy="1051560"/>
          </a:xfrm>
          <a:prstGeom prst="rect">
            <a:avLst/>
          </a:prstGeom>
        </p:spPr>
      </p:pic>
      <p:pic>
        <p:nvPicPr>
          <p:cNvPr id="1153" name="Picture 1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017520"/>
            <a:ext cx="4503420" cy="716280"/>
          </a:xfrm>
          <a:prstGeom prst="rect">
            <a:avLst/>
          </a:prstGeom>
        </p:spPr>
      </p:pic>
      <p:pic>
        <p:nvPicPr>
          <p:cNvPr id="1154" name="Picture 1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19" y="4046220"/>
            <a:ext cx="4556760" cy="1051560"/>
          </a:xfrm>
          <a:prstGeom prst="rect">
            <a:avLst/>
          </a:prstGeom>
        </p:spPr>
      </p:pic>
      <p:pic>
        <p:nvPicPr>
          <p:cNvPr id="1155" name="Picture 11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620" y="1363980"/>
            <a:ext cx="4488179" cy="1051560"/>
          </a:xfrm>
          <a:prstGeom prst="rect">
            <a:avLst/>
          </a:prstGeom>
        </p:spPr>
      </p:pic>
      <p:pic>
        <p:nvPicPr>
          <p:cNvPr id="1156" name="Picture 11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620" y="4046220"/>
            <a:ext cx="4556760" cy="1051560"/>
          </a:xfrm>
          <a:prstGeom prst="rect">
            <a:avLst/>
          </a:prstGeom>
        </p:spPr>
      </p:pic>
      <p:pic>
        <p:nvPicPr>
          <p:cNvPr id="1157" name="Picture 11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480" y="3017520"/>
            <a:ext cx="4503420" cy="716280"/>
          </a:xfrm>
          <a:prstGeom prst="rect">
            <a:avLst/>
          </a:prstGeom>
        </p:spPr>
      </p:pic>
      <p:pic>
        <p:nvPicPr>
          <p:cNvPr id="1158" name="Picture 11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5684520"/>
            <a:ext cx="4503420" cy="708660"/>
          </a:xfrm>
          <a:prstGeom prst="rect">
            <a:avLst/>
          </a:prstGeom>
        </p:spPr>
      </p:pic>
      <p:pic>
        <p:nvPicPr>
          <p:cNvPr id="1159" name="Picture 11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7480" y="5684520"/>
            <a:ext cx="4503420" cy="708660"/>
          </a:xfrm>
          <a:prstGeom prst="rect">
            <a:avLst/>
          </a:prstGeom>
        </p:spPr>
      </p:pic>
      <p:sp>
        <p:nvSpPr>
          <p:cNvPr id="2" name="TextBox 1159"/>
          <p:cNvSpPr txBox="1"/>
          <p:nvPr/>
        </p:nvSpPr>
        <p:spPr>
          <a:xfrm>
            <a:off x="376554" y="352729"/>
            <a:ext cx="10540327" cy="55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3600" b="1" spc="290" dirty="0">
                <a:solidFill>
                  <a:srgbClr val="242424"/>
                </a:solidFill>
                <a:latin typeface="宋体"/>
                <a:ea typeface="宋体"/>
              </a:rPr>
              <a:t>提示语策略：提升</a:t>
            </a:r>
            <a:r>
              <a:rPr lang="en-US" altLang="zh-CN" sz="3600" b="1" spc="145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  <a:r>
              <a:rPr lang="zh-CN" altLang="en-US" sz="3600" b="1" spc="295" dirty="0">
                <a:solidFill>
                  <a:srgbClr val="242424"/>
                </a:solidFill>
                <a:latin typeface="宋体"/>
                <a:ea typeface="宋体"/>
              </a:rPr>
              <a:t>生成</a:t>
            </a:r>
            <a:r>
              <a:rPr lang="zh-CN" altLang="en-US" sz="3600" b="1" spc="290" dirty="0">
                <a:solidFill>
                  <a:srgbClr val="242424"/>
                </a:solidFill>
                <a:latin typeface="宋体"/>
                <a:ea typeface="宋体"/>
              </a:rPr>
              <a:t>抖音文案与脚本的技巧</a:t>
            </a:r>
          </a:p>
        </p:txBody>
      </p:sp>
      <p:sp>
        <p:nvSpPr>
          <p:cNvPr id="1160" name="TextBox 1160"/>
          <p:cNvSpPr txBox="1"/>
          <p:nvPr/>
        </p:nvSpPr>
        <p:spPr>
          <a:xfrm>
            <a:off x="1132839" y="1484122"/>
            <a:ext cx="4381487" cy="4163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41374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吸睛开头的提示语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5"/>
              </a:lnSpc>
            </a:pPr>
            <a:endParaRPr lang="en-US" dirty="0"/>
          </a:p>
          <a:p>
            <a:pPr marL="72390" hangingPunct="0">
              <a:lnSpc>
                <a:spcPct val="119583"/>
              </a:lnSpc>
            </a:pPr>
            <a:r>
              <a:rPr lang="zh-CN" altLang="en-US" sz="1600" spc="15" dirty="0">
                <a:solidFill>
                  <a:srgbClr val="000000"/>
                </a:solidFill>
                <a:latin typeface="宋体"/>
                <a:ea typeface="宋体"/>
              </a:rPr>
              <a:t>在抖音内容中，视频开头</a:t>
            </a:r>
            <a:r>
              <a:rPr lang="en-US" altLang="zh-CN" sz="1600" spc="25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秒决定了观</a:t>
            </a:r>
            <a:r>
              <a:rPr lang="zh-CN" altLang="en-US" sz="1600" spc="15" dirty="0">
                <a:solidFill>
                  <a:srgbClr val="000000"/>
                </a:solidFill>
                <a:latin typeface="宋体"/>
                <a:ea typeface="宋体"/>
              </a:rPr>
              <a:t>众的停留</a:t>
            </a:r>
            <a:r>
              <a:rPr lang="zh-CN" altLang="en-US" sz="1600" spc="64" dirty="0">
                <a:solidFill>
                  <a:srgbClr val="000000"/>
                </a:solidFill>
                <a:latin typeface="宋体"/>
                <a:ea typeface="宋体"/>
              </a:rPr>
              <a:t>意愿，提示语需引导</a:t>
            </a:r>
            <a:r>
              <a:rPr lang="en-US" altLang="zh-CN" sz="1600" spc="34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在文案或</a:t>
            </a:r>
            <a:r>
              <a:rPr lang="zh-CN" altLang="en-US" sz="1600" spc="64" dirty="0">
                <a:solidFill>
                  <a:srgbClr val="000000"/>
                </a:solidFill>
                <a:latin typeface="宋体"/>
                <a:ea typeface="宋体"/>
              </a:rPr>
              <a:t>脚本开头快速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引入吸睛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元素。</a:t>
            </a:r>
          </a:p>
          <a:p>
            <a:pPr>
              <a:lnSpc>
                <a:spcPts val="1410"/>
              </a:lnSpc>
            </a:pPr>
            <a:endParaRPr lang="en-US" dirty="0"/>
          </a:p>
          <a:p>
            <a:pPr marL="0" indent="10922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生成一个强吸引力的开场，聚焦</a:t>
            </a:r>
            <a:r>
              <a:rPr lang="zh-CN" altLang="en-US" sz="1200" spc="2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视觉冲击或情绪渲染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，确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保在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 indent="71755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秒内引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起观众兴趣。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30"/>
              </a:lnSpc>
            </a:pPr>
            <a:endParaRPr lang="en-US" dirty="0"/>
          </a:p>
          <a:p>
            <a:pPr marL="0" indent="845159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节奏紧凑的剧情提示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语设计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00"/>
              </a:lnSpc>
            </a:pPr>
            <a:endParaRPr lang="en-US" dirty="0"/>
          </a:p>
          <a:p>
            <a:pPr marL="0" hangingPunct="0">
              <a:lnSpc>
                <a:spcPct val="119583"/>
              </a:lnSpc>
            </a:pPr>
            <a:r>
              <a:rPr lang="zh-CN" altLang="en-US" sz="1600" spc="10" dirty="0">
                <a:solidFill>
                  <a:srgbClr val="000000"/>
                </a:solidFill>
                <a:latin typeface="宋体"/>
                <a:ea typeface="宋体"/>
              </a:rPr>
              <a:t>抖音短视频内容需要剧情紧凑、节奏鲜</a:t>
            </a:r>
            <a:r>
              <a:rPr lang="zh-CN" altLang="en-US" sz="1600" spc="5" dirty="0">
                <a:solidFill>
                  <a:srgbClr val="000000"/>
                </a:solidFill>
                <a:latin typeface="宋体"/>
                <a:ea typeface="宋体"/>
              </a:rPr>
              <a:t>明，提示</a:t>
            </a:r>
            <a:r>
              <a:rPr lang="zh-CN" altLang="en-US" sz="1600" spc="10" dirty="0">
                <a:solidFill>
                  <a:srgbClr val="000000"/>
                </a:solidFill>
                <a:latin typeface="宋体"/>
                <a:ea typeface="宋体"/>
              </a:rPr>
              <a:t>语设计应帮助</a:t>
            </a:r>
            <a:r>
              <a:rPr lang="en-US" altLang="zh-CN" sz="1600" spc="1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15" dirty="0">
                <a:solidFill>
                  <a:srgbClr val="000000"/>
                </a:solidFill>
                <a:latin typeface="宋体"/>
                <a:ea typeface="宋体"/>
              </a:rPr>
              <a:t>在有限时间内创造出完</a:t>
            </a:r>
            <a:r>
              <a:rPr lang="zh-CN" altLang="en-US" sz="1600" spc="10" dirty="0">
                <a:solidFill>
                  <a:srgbClr val="000000"/>
                </a:solidFill>
                <a:latin typeface="宋体"/>
                <a:ea typeface="宋体"/>
              </a:rPr>
              <a:t>整、连贯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的故事情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节。</a:t>
            </a:r>
          </a:p>
        </p:txBody>
      </p:sp>
      <p:sp>
        <p:nvSpPr>
          <p:cNvPr id="1161" name="TextBox 1161"/>
          <p:cNvSpPr txBox="1"/>
          <p:nvPr/>
        </p:nvSpPr>
        <p:spPr>
          <a:xfrm>
            <a:off x="6543675" y="1484122"/>
            <a:ext cx="4385933" cy="4163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41362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情绪共鸣型提示语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72390">
              <a:lnSpc>
                <a:spcPct val="100833"/>
              </a:lnSpc>
            </a:pPr>
            <a:r>
              <a:rPr lang="zh-CN" altLang="en-US" sz="1600" spc="65" dirty="0">
                <a:solidFill>
                  <a:srgbClr val="000000"/>
                </a:solidFill>
                <a:latin typeface="宋体"/>
                <a:ea typeface="宋体"/>
              </a:rPr>
              <a:t>抖音用户偏好情感强烈的内容，提</a:t>
            </a:r>
            <a:r>
              <a:rPr lang="zh-CN" altLang="en-US" sz="1600" spc="60" dirty="0">
                <a:solidFill>
                  <a:srgbClr val="000000"/>
                </a:solidFill>
                <a:latin typeface="宋体"/>
                <a:ea typeface="宋体"/>
              </a:rPr>
              <a:t>示语应引导</a:t>
            </a:r>
          </a:p>
          <a:p>
            <a:pPr marL="0" indent="7239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在文案和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脚本中融入情绪化表达。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85"/>
              </a:lnSpc>
            </a:pPr>
            <a:endParaRPr lang="en-US" dirty="0"/>
          </a:p>
          <a:p>
            <a:pPr marL="74930" indent="37464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生成一个富有情感共鸣的脚本或文案，通过</a:t>
            </a:r>
            <a:r>
              <a:rPr lang="zh-CN" altLang="en-US" sz="1200" spc="25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幽默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/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感人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/刺激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的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情绪表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达，引发观众共鸣。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54"/>
              </a:lnSpc>
            </a:pPr>
            <a:endParaRPr lang="en-US" dirty="0"/>
          </a:p>
          <a:p>
            <a:pPr marL="0" indent="1074394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互动性强的提示语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设计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00"/>
              </a:lnSpc>
            </a:pPr>
            <a:endParaRPr lang="en-US" dirty="0"/>
          </a:p>
          <a:p>
            <a:pPr marL="0" hangingPunct="0">
              <a:lnSpc>
                <a:spcPct val="119583"/>
              </a:lnSpc>
            </a:pPr>
            <a:r>
              <a:rPr lang="zh-CN" altLang="en-US" sz="1600" spc="10" dirty="0">
                <a:solidFill>
                  <a:srgbClr val="000000"/>
                </a:solidFill>
                <a:latin typeface="宋体"/>
                <a:ea typeface="宋体"/>
              </a:rPr>
              <a:t>抖音内容鼓励用户参与互动，提示语设</a:t>
            </a:r>
            <a:r>
              <a:rPr lang="zh-CN" altLang="en-US" sz="1600" spc="5" dirty="0">
                <a:solidFill>
                  <a:srgbClr val="000000"/>
                </a:solidFill>
                <a:latin typeface="宋体"/>
                <a:ea typeface="宋体"/>
              </a:rPr>
              <a:t>计应引导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15" dirty="0">
                <a:solidFill>
                  <a:srgbClr val="000000"/>
                </a:solidFill>
                <a:latin typeface="宋体"/>
                <a:ea typeface="宋体"/>
              </a:rPr>
              <a:t>生成鼓励互动的内容，吸引观众</a:t>
            </a:r>
            <a:r>
              <a:rPr lang="zh-CN" altLang="en-US" sz="1600" spc="10" dirty="0">
                <a:solidFill>
                  <a:srgbClr val="000000"/>
                </a:solidFill>
                <a:latin typeface="宋体"/>
                <a:ea typeface="宋体"/>
              </a:rPr>
              <a:t>积极参与评论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或模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仿。</a:t>
            </a:r>
          </a:p>
        </p:txBody>
      </p:sp>
      <p:sp>
        <p:nvSpPr>
          <p:cNvPr id="1162" name="TextBox 1162"/>
          <p:cNvSpPr txBox="1"/>
          <p:nvPr/>
        </p:nvSpPr>
        <p:spPr>
          <a:xfrm>
            <a:off x="1202055" y="5825540"/>
            <a:ext cx="4318623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8734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生成一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个节奏紧凑的剧情脚本，开篇引入冲突，结尾设有反转，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确保内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容连贯有趣。</a:t>
            </a:r>
          </a:p>
        </p:txBody>
      </p:sp>
      <p:sp>
        <p:nvSpPr>
          <p:cNvPr id="1163" name="TextBox 1163"/>
          <p:cNvSpPr txBox="1"/>
          <p:nvPr/>
        </p:nvSpPr>
        <p:spPr>
          <a:xfrm>
            <a:off x="6618605" y="5824905"/>
            <a:ext cx="4311007" cy="4622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464">
              <a:lnSpc>
                <a:spcPct val="100000"/>
              </a:lnSpc>
            </a:pPr>
            <a:r>
              <a:rPr lang="zh-CN" altLang="en-US" sz="1200" spc="45" dirty="0">
                <a:solidFill>
                  <a:srgbClr val="000000"/>
                </a:solidFill>
                <a:latin typeface="宋体"/>
                <a:ea typeface="宋体"/>
              </a:rPr>
              <a:t>生成一个具有互动感的文案</a:t>
            </a:r>
            <a:r>
              <a:rPr lang="zh-CN" altLang="en-US" sz="1200" spc="40" dirty="0">
                <a:solidFill>
                  <a:srgbClr val="000000"/>
                </a:solidFill>
                <a:latin typeface="宋体"/>
                <a:ea typeface="宋体"/>
              </a:rPr>
              <a:t>，提出引发思考或挑战性的问题，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引导观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众参与互动或模仿挑战。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Freeform 1164"/>
          <p:cNvSpPr/>
          <p:nvPr/>
        </p:nvSpPr>
        <p:spPr>
          <a:xfrm>
            <a:off x="603250" y="1390650"/>
            <a:ext cx="3943350" cy="438150"/>
          </a:xfrm>
          <a:custGeom>
            <a:avLst/>
            <a:gdLst>
              <a:gd name="connsiteX0" fmla="*/ 13969 w 3943350"/>
              <a:gd name="connsiteY0" fmla="*/ 84582 h 438150"/>
              <a:gd name="connsiteX1" fmla="*/ 85598 w 3943350"/>
              <a:gd name="connsiteY1" fmla="*/ 12953 h 438150"/>
              <a:gd name="connsiteX2" fmla="*/ 3874261 w 3943350"/>
              <a:gd name="connsiteY2" fmla="*/ 12953 h 438150"/>
              <a:gd name="connsiteX3" fmla="*/ 3945890 w 3943350"/>
              <a:gd name="connsiteY3" fmla="*/ 84582 h 438150"/>
              <a:gd name="connsiteX4" fmla="*/ 3945890 w 3943350"/>
              <a:gd name="connsiteY4" fmla="*/ 371094 h 438150"/>
              <a:gd name="connsiteX5" fmla="*/ 3874261 w 3943350"/>
              <a:gd name="connsiteY5" fmla="*/ 442722 h 438150"/>
              <a:gd name="connsiteX6" fmla="*/ 85598 w 3943350"/>
              <a:gd name="connsiteY6" fmla="*/ 442722 h 438150"/>
              <a:gd name="connsiteX7" fmla="*/ 13969 w 3943350"/>
              <a:gd name="connsiteY7" fmla="*/ 371094 h 438150"/>
              <a:gd name="connsiteX8" fmla="*/ 13969 w 3943350"/>
              <a:gd name="connsiteY8" fmla="*/ 84582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3350" h="438150">
                <a:moveTo>
                  <a:pt x="13969" y="84582"/>
                </a:moveTo>
                <a:cubicBezTo>
                  <a:pt x="13969" y="45313"/>
                  <a:pt x="45948" y="13335"/>
                  <a:pt x="85598" y="12953"/>
                </a:cubicBezTo>
                <a:lnTo>
                  <a:pt x="3874261" y="12953"/>
                </a:lnTo>
                <a:cubicBezTo>
                  <a:pt x="3913911" y="13335"/>
                  <a:pt x="3945890" y="45313"/>
                  <a:pt x="3945890" y="84582"/>
                </a:cubicBezTo>
                <a:lnTo>
                  <a:pt x="3945890" y="371094"/>
                </a:lnTo>
                <a:cubicBezTo>
                  <a:pt x="3945890" y="409981"/>
                  <a:pt x="3913911" y="441960"/>
                  <a:pt x="3874261" y="442722"/>
                </a:cubicBezTo>
                <a:lnTo>
                  <a:pt x="85598" y="442722"/>
                </a:lnTo>
                <a:cubicBezTo>
                  <a:pt x="45948" y="441960"/>
                  <a:pt x="13969" y="409981"/>
                  <a:pt x="13969" y="371094"/>
                </a:cubicBezTo>
                <a:lnTo>
                  <a:pt x="13969" y="8458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6" name="Picture 1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0" y="1897380"/>
            <a:ext cx="2689860" cy="1051560"/>
          </a:xfrm>
          <a:prstGeom prst="rect">
            <a:avLst/>
          </a:prstGeom>
        </p:spPr>
      </p:pic>
      <p:pic>
        <p:nvPicPr>
          <p:cNvPr id="1167" name="Picture 11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" y="3017520"/>
            <a:ext cx="5257800" cy="716280"/>
          </a:xfrm>
          <a:prstGeom prst="rect">
            <a:avLst/>
          </a:prstGeom>
        </p:spPr>
      </p:pic>
      <p:sp>
        <p:nvSpPr>
          <p:cNvPr id="2" name="Freeform 1167"/>
          <p:cNvSpPr/>
          <p:nvPr/>
        </p:nvSpPr>
        <p:spPr>
          <a:xfrm>
            <a:off x="6318250" y="1390650"/>
            <a:ext cx="3943350" cy="438150"/>
          </a:xfrm>
          <a:custGeom>
            <a:avLst/>
            <a:gdLst>
              <a:gd name="connsiteX0" fmla="*/ 18541 w 3943350"/>
              <a:gd name="connsiteY0" fmla="*/ 84582 h 438150"/>
              <a:gd name="connsiteX1" fmla="*/ 90170 w 3943350"/>
              <a:gd name="connsiteY1" fmla="*/ 12953 h 438150"/>
              <a:gd name="connsiteX2" fmla="*/ 3878833 w 3943350"/>
              <a:gd name="connsiteY2" fmla="*/ 12953 h 438150"/>
              <a:gd name="connsiteX3" fmla="*/ 3950461 w 3943350"/>
              <a:gd name="connsiteY3" fmla="*/ 84582 h 438150"/>
              <a:gd name="connsiteX4" fmla="*/ 3950461 w 3943350"/>
              <a:gd name="connsiteY4" fmla="*/ 371094 h 438150"/>
              <a:gd name="connsiteX5" fmla="*/ 3878833 w 3943350"/>
              <a:gd name="connsiteY5" fmla="*/ 442722 h 438150"/>
              <a:gd name="connsiteX6" fmla="*/ 90170 w 3943350"/>
              <a:gd name="connsiteY6" fmla="*/ 442722 h 438150"/>
              <a:gd name="connsiteX7" fmla="*/ 18541 w 3943350"/>
              <a:gd name="connsiteY7" fmla="*/ 371094 h 438150"/>
              <a:gd name="connsiteX8" fmla="*/ 18541 w 3943350"/>
              <a:gd name="connsiteY8" fmla="*/ 84582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3350" h="438150">
                <a:moveTo>
                  <a:pt x="18541" y="84582"/>
                </a:moveTo>
                <a:cubicBezTo>
                  <a:pt x="19050" y="45313"/>
                  <a:pt x="51028" y="13335"/>
                  <a:pt x="90170" y="12953"/>
                </a:cubicBezTo>
                <a:lnTo>
                  <a:pt x="3878833" y="12953"/>
                </a:lnTo>
                <a:cubicBezTo>
                  <a:pt x="3918991" y="13335"/>
                  <a:pt x="3950969" y="45313"/>
                  <a:pt x="3950461" y="84582"/>
                </a:cubicBezTo>
                <a:lnTo>
                  <a:pt x="3950461" y="371094"/>
                </a:lnTo>
                <a:cubicBezTo>
                  <a:pt x="3950969" y="409981"/>
                  <a:pt x="3918991" y="441960"/>
                  <a:pt x="3878833" y="442722"/>
                </a:cubicBezTo>
                <a:lnTo>
                  <a:pt x="90170" y="442722"/>
                </a:lnTo>
                <a:cubicBezTo>
                  <a:pt x="51028" y="441960"/>
                  <a:pt x="19050" y="409981"/>
                  <a:pt x="18541" y="371094"/>
                </a:cubicBezTo>
                <a:lnTo>
                  <a:pt x="18541" y="8458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9" name="Picture 11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920" y="1897380"/>
            <a:ext cx="2697480" cy="1051560"/>
          </a:xfrm>
          <a:prstGeom prst="rect">
            <a:avLst/>
          </a:prstGeom>
        </p:spPr>
      </p:pic>
      <p:sp>
        <p:nvSpPr>
          <p:cNvPr id="3" name="Freeform 1169"/>
          <p:cNvSpPr/>
          <p:nvPr/>
        </p:nvSpPr>
        <p:spPr>
          <a:xfrm>
            <a:off x="603250" y="4057650"/>
            <a:ext cx="3943350" cy="438150"/>
          </a:xfrm>
          <a:custGeom>
            <a:avLst/>
            <a:gdLst>
              <a:gd name="connsiteX0" fmla="*/ 13969 w 3943350"/>
              <a:gd name="connsiteY0" fmla="*/ 84582 h 438150"/>
              <a:gd name="connsiteX1" fmla="*/ 85598 w 3943350"/>
              <a:gd name="connsiteY1" fmla="*/ 12953 h 438150"/>
              <a:gd name="connsiteX2" fmla="*/ 3875785 w 3943350"/>
              <a:gd name="connsiteY2" fmla="*/ 12953 h 438150"/>
              <a:gd name="connsiteX3" fmla="*/ 3945890 w 3943350"/>
              <a:gd name="connsiteY3" fmla="*/ 84582 h 438150"/>
              <a:gd name="connsiteX4" fmla="*/ 3945890 w 3943350"/>
              <a:gd name="connsiteY4" fmla="*/ 371094 h 438150"/>
              <a:gd name="connsiteX5" fmla="*/ 3875785 w 3943350"/>
              <a:gd name="connsiteY5" fmla="*/ 442721 h 438150"/>
              <a:gd name="connsiteX6" fmla="*/ 85598 w 3943350"/>
              <a:gd name="connsiteY6" fmla="*/ 442721 h 438150"/>
              <a:gd name="connsiteX7" fmla="*/ 13969 w 3943350"/>
              <a:gd name="connsiteY7" fmla="*/ 371094 h 438150"/>
              <a:gd name="connsiteX8" fmla="*/ 13969 w 3943350"/>
              <a:gd name="connsiteY8" fmla="*/ 84582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3350" h="438150">
                <a:moveTo>
                  <a:pt x="13969" y="84582"/>
                </a:moveTo>
                <a:cubicBezTo>
                  <a:pt x="14605" y="45313"/>
                  <a:pt x="46583" y="13334"/>
                  <a:pt x="85598" y="12953"/>
                </a:cubicBezTo>
                <a:lnTo>
                  <a:pt x="3875785" y="12953"/>
                </a:lnTo>
                <a:cubicBezTo>
                  <a:pt x="3914546" y="13334"/>
                  <a:pt x="3946525" y="45313"/>
                  <a:pt x="3945890" y="84582"/>
                </a:cubicBezTo>
                <a:lnTo>
                  <a:pt x="3945890" y="371094"/>
                </a:lnTo>
                <a:cubicBezTo>
                  <a:pt x="3946525" y="409981"/>
                  <a:pt x="3914546" y="441959"/>
                  <a:pt x="3875785" y="442721"/>
                </a:cubicBezTo>
                <a:lnTo>
                  <a:pt x="85598" y="442721"/>
                </a:lnTo>
                <a:cubicBezTo>
                  <a:pt x="46583" y="441959"/>
                  <a:pt x="14605" y="409981"/>
                  <a:pt x="13969" y="371094"/>
                </a:cubicBezTo>
                <a:lnTo>
                  <a:pt x="13969" y="8458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reeform 1170"/>
          <p:cNvSpPr/>
          <p:nvPr/>
        </p:nvSpPr>
        <p:spPr>
          <a:xfrm>
            <a:off x="6330950" y="4057650"/>
            <a:ext cx="3930650" cy="438150"/>
          </a:xfrm>
          <a:custGeom>
            <a:avLst/>
            <a:gdLst>
              <a:gd name="connsiteX0" fmla="*/ 7365 w 3930650"/>
              <a:gd name="connsiteY0" fmla="*/ 84582 h 438150"/>
              <a:gd name="connsiteX1" fmla="*/ 78994 w 3930650"/>
              <a:gd name="connsiteY1" fmla="*/ 12953 h 438150"/>
              <a:gd name="connsiteX2" fmla="*/ 3867657 w 3930650"/>
              <a:gd name="connsiteY2" fmla="*/ 12953 h 438150"/>
              <a:gd name="connsiteX3" fmla="*/ 3939285 w 3930650"/>
              <a:gd name="connsiteY3" fmla="*/ 84582 h 438150"/>
              <a:gd name="connsiteX4" fmla="*/ 3939285 w 3930650"/>
              <a:gd name="connsiteY4" fmla="*/ 371094 h 438150"/>
              <a:gd name="connsiteX5" fmla="*/ 3867657 w 3930650"/>
              <a:gd name="connsiteY5" fmla="*/ 442721 h 438150"/>
              <a:gd name="connsiteX6" fmla="*/ 78994 w 3930650"/>
              <a:gd name="connsiteY6" fmla="*/ 442721 h 438150"/>
              <a:gd name="connsiteX7" fmla="*/ 7365 w 3930650"/>
              <a:gd name="connsiteY7" fmla="*/ 371094 h 438150"/>
              <a:gd name="connsiteX8" fmla="*/ 7365 w 3930650"/>
              <a:gd name="connsiteY8" fmla="*/ 84582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0650" h="438150">
                <a:moveTo>
                  <a:pt x="7365" y="84582"/>
                </a:moveTo>
                <a:cubicBezTo>
                  <a:pt x="6984" y="45313"/>
                  <a:pt x="38963" y="13334"/>
                  <a:pt x="78994" y="12953"/>
                </a:cubicBezTo>
                <a:lnTo>
                  <a:pt x="3867657" y="12953"/>
                </a:lnTo>
                <a:cubicBezTo>
                  <a:pt x="3906926" y="13334"/>
                  <a:pt x="3938905" y="45313"/>
                  <a:pt x="3939285" y="84582"/>
                </a:cubicBezTo>
                <a:lnTo>
                  <a:pt x="3939285" y="371094"/>
                </a:lnTo>
                <a:cubicBezTo>
                  <a:pt x="3938905" y="409981"/>
                  <a:pt x="3906926" y="441959"/>
                  <a:pt x="3867657" y="442721"/>
                </a:cubicBezTo>
                <a:lnTo>
                  <a:pt x="78994" y="442721"/>
                </a:lnTo>
                <a:cubicBezTo>
                  <a:pt x="38963" y="441959"/>
                  <a:pt x="6984" y="409981"/>
                  <a:pt x="7365" y="371094"/>
                </a:cubicBezTo>
                <a:lnTo>
                  <a:pt x="7365" y="84582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2" name="Picture 11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032760"/>
            <a:ext cx="5265420" cy="701040"/>
          </a:xfrm>
          <a:prstGeom prst="rect">
            <a:avLst/>
          </a:prstGeom>
        </p:spPr>
      </p:pic>
      <p:pic>
        <p:nvPicPr>
          <p:cNvPr id="1173" name="Picture 11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" y="4564379"/>
            <a:ext cx="5257800" cy="1988820"/>
          </a:xfrm>
          <a:prstGeom prst="rect">
            <a:avLst/>
          </a:prstGeom>
        </p:spPr>
      </p:pic>
      <p:pic>
        <p:nvPicPr>
          <p:cNvPr id="1174" name="Picture 11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564379"/>
            <a:ext cx="5265420" cy="1988820"/>
          </a:xfrm>
          <a:prstGeom prst="rect">
            <a:avLst/>
          </a:prstGeom>
        </p:spPr>
      </p:pic>
      <p:sp>
        <p:nvSpPr>
          <p:cNvPr id="4" name="TextBox 1174"/>
          <p:cNvSpPr txBox="1"/>
          <p:nvPr/>
        </p:nvSpPr>
        <p:spPr>
          <a:xfrm>
            <a:off x="376554" y="289633"/>
            <a:ext cx="11569024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实际操作：优化提示语在抖音内容创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作中的应用</a:t>
            </a:r>
          </a:p>
        </p:txBody>
      </p:sp>
      <p:sp>
        <p:nvSpPr>
          <p:cNvPr id="1175" name="TextBox 1175"/>
          <p:cNvSpPr txBox="1"/>
          <p:nvPr/>
        </p:nvSpPr>
        <p:spPr>
          <a:xfrm>
            <a:off x="1092796" y="1502524"/>
            <a:ext cx="8826493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  <a:tabLst>
                <a:tab pos="5720092" algn="l"/>
              </a:tabLst>
            </a:pP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案例一：故事情节类脚本创作	</a:t>
            </a: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案例二：实用技能分享类文案</a:t>
            </a:r>
          </a:p>
        </p:txBody>
      </p:sp>
      <p:sp>
        <p:nvSpPr>
          <p:cNvPr id="1176" name="TextBox 1176"/>
          <p:cNvSpPr txBox="1"/>
          <p:nvPr/>
        </p:nvSpPr>
        <p:spPr>
          <a:xfrm>
            <a:off x="748030" y="2038220"/>
            <a:ext cx="2356469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75" dirty="0">
                <a:solidFill>
                  <a:srgbClr val="000000"/>
                </a:solidFill>
                <a:latin typeface="宋体"/>
                <a:ea typeface="宋体"/>
              </a:rPr>
              <a:t>对于具备情节性</a:t>
            </a: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的抖音视</a:t>
            </a:r>
            <a:r>
              <a:rPr lang="zh-CN" altLang="en-US" sz="1600" spc="80" dirty="0">
                <a:solidFill>
                  <a:srgbClr val="000000"/>
                </a:solidFill>
                <a:latin typeface="宋体"/>
                <a:ea typeface="宋体"/>
              </a:rPr>
              <a:t>频，提示语需引导</a:t>
            </a:r>
            <a:r>
              <a:rPr lang="en-US" altLang="zh-CN" sz="1600" spc="4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注重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故事性和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悬念设计。</a:t>
            </a:r>
          </a:p>
        </p:txBody>
      </p:sp>
      <p:sp>
        <p:nvSpPr>
          <p:cNvPr id="1177" name="TextBox 1177"/>
          <p:cNvSpPr txBox="1"/>
          <p:nvPr/>
        </p:nvSpPr>
        <p:spPr>
          <a:xfrm>
            <a:off x="3275329" y="2033140"/>
            <a:ext cx="2497439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迭代方向：</a:t>
            </a:r>
            <a:r>
              <a:rPr lang="en-US" altLang="zh-CN" sz="16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40" dirty="0">
                <a:solidFill>
                  <a:srgbClr val="000000"/>
                </a:solidFill>
                <a:latin typeface="宋体"/>
                <a:ea typeface="宋体"/>
              </a:rPr>
              <a:t>生成的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内容具备吸引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力和故事性，能够引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导观众观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看完整视频。</a:t>
            </a:r>
          </a:p>
        </p:txBody>
      </p:sp>
      <p:sp>
        <p:nvSpPr>
          <p:cNvPr id="1178" name="TextBox 1178"/>
          <p:cNvSpPr txBox="1"/>
          <p:nvPr/>
        </p:nvSpPr>
        <p:spPr>
          <a:xfrm>
            <a:off x="6468109" y="2038220"/>
            <a:ext cx="2450449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80" dirty="0">
                <a:solidFill>
                  <a:srgbClr val="000000"/>
                </a:solidFill>
                <a:latin typeface="宋体"/>
                <a:ea typeface="宋体"/>
              </a:rPr>
              <a:t>实用性内容在抖音</a:t>
            </a:r>
            <a:r>
              <a:rPr lang="zh-CN" altLang="en-US" sz="1600" spc="75" dirty="0">
                <a:solidFill>
                  <a:srgbClr val="000000"/>
                </a:solidFill>
                <a:latin typeface="宋体"/>
                <a:ea typeface="宋体"/>
              </a:rPr>
              <a:t>上非常</a:t>
            </a:r>
            <a:r>
              <a:rPr lang="zh-CN" altLang="en-US" sz="1600" spc="80" dirty="0">
                <a:solidFill>
                  <a:srgbClr val="000000"/>
                </a:solidFill>
                <a:latin typeface="宋体"/>
                <a:ea typeface="宋体"/>
              </a:rPr>
              <a:t>受欢迎，提示语应</a:t>
            </a:r>
            <a:r>
              <a:rPr lang="zh-CN" altLang="en-US" sz="1600" spc="75" dirty="0">
                <a:solidFill>
                  <a:srgbClr val="000000"/>
                </a:solidFill>
                <a:latin typeface="宋体"/>
                <a:ea typeface="宋体"/>
              </a:rPr>
              <a:t>确保内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容清晰、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简洁且步骤明确。</a:t>
            </a:r>
          </a:p>
        </p:txBody>
      </p:sp>
      <p:sp>
        <p:nvSpPr>
          <p:cNvPr id="1179" name="TextBox 1179"/>
          <p:cNvSpPr txBox="1"/>
          <p:nvPr/>
        </p:nvSpPr>
        <p:spPr>
          <a:xfrm>
            <a:off x="8995409" y="2033140"/>
            <a:ext cx="2497440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迭代方向：</a:t>
            </a:r>
            <a:r>
              <a:rPr lang="en-US" altLang="zh-CN" sz="16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40" dirty="0">
                <a:solidFill>
                  <a:srgbClr val="000000"/>
                </a:solidFill>
                <a:latin typeface="宋体"/>
                <a:ea typeface="宋体"/>
              </a:rPr>
              <a:t>生成的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脚本结构简明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，适合教学内容，方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便观众理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解和应用。</a:t>
            </a:r>
          </a:p>
        </p:txBody>
      </p:sp>
      <p:sp>
        <p:nvSpPr>
          <p:cNvPr id="1180" name="TextBox 1180"/>
          <p:cNvSpPr txBox="1"/>
          <p:nvPr/>
        </p:nvSpPr>
        <p:spPr>
          <a:xfrm>
            <a:off x="708659" y="3115360"/>
            <a:ext cx="5064115" cy="1331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465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为[主题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]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生成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一个引人入胜的短故事脚本，采用悬念开头，逐步揭示关键情节，引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导观众追随剧情发展。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04"/>
              </a:lnSpc>
            </a:pPr>
            <a:endParaRPr lang="en-US" dirty="0"/>
          </a:p>
          <a:p>
            <a:pPr marL="0" indent="155536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案例三：引发情绪共鸣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的情感文案</a:t>
            </a:r>
          </a:p>
        </p:txBody>
      </p:sp>
      <p:sp>
        <p:nvSpPr>
          <p:cNvPr id="1181" name="TextBox 1181"/>
          <p:cNvSpPr txBox="1"/>
          <p:nvPr/>
        </p:nvSpPr>
        <p:spPr>
          <a:xfrm>
            <a:off x="6439534" y="3173780"/>
            <a:ext cx="5210163" cy="12734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6675">
              <a:lnSpc>
                <a:spcPct val="100000"/>
              </a:lnSpc>
            </a:pP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生成一个关于</a:t>
            </a:r>
            <a:r>
              <a:rPr lang="zh-CN" altLang="en-US" sz="1200" spc="-2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实用技能</a:t>
            </a:r>
            <a:r>
              <a:rPr lang="zh-CN" altLang="en-US" sz="1200" spc="-15" dirty="0">
                <a:solidFill>
                  <a:srgbClr val="000000"/>
                </a:solidFill>
                <a:latin typeface="宋体"/>
                <a:ea typeface="宋体"/>
              </a:rPr>
              <a:t>]的简单教程脚本，以清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晰步骤和简洁语言进行描述，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让观众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能够快速掌握。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373977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FEFEFE"/>
                </a:solidFill>
                <a:latin typeface="宋体"/>
                <a:ea typeface="宋体"/>
              </a:rPr>
              <a:t>案例四：引导互动的</a:t>
            </a:r>
            <a:r>
              <a:rPr lang="zh-CN" altLang="en-US" sz="1800" b="1" dirty="0">
                <a:solidFill>
                  <a:srgbClr val="FEFEFE"/>
                </a:solidFill>
                <a:latin typeface="宋体"/>
                <a:ea typeface="宋体"/>
              </a:rPr>
              <a:t>结尾语句</a:t>
            </a:r>
          </a:p>
        </p:txBody>
      </p:sp>
      <p:sp>
        <p:nvSpPr>
          <p:cNvPr id="1182" name="TextBox 1182"/>
          <p:cNvSpPr txBox="1"/>
          <p:nvPr/>
        </p:nvSpPr>
        <p:spPr>
          <a:xfrm>
            <a:off x="748665" y="4636005"/>
            <a:ext cx="2356469" cy="1168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75" dirty="0">
                <a:solidFill>
                  <a:srgbClr val="000000"/>
                </a:solidFill>
                <a:latin typeface="宋体"/>
                <a:ea typeface="宋体"/>
              </a:rPr>
              <a:t>情感化内容在抖</a:t>
            </a: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音上有较</a:t>
            </a:r>
            <a:r>
              <a:rPr lang="zh-CN" altLang="en-US" sz="1600" spc="75" dirty="0">
                <a:solidFill>
                  <a:srgbClr val="000000"/>
                </a:solidFill>
                <a:latin typeface="宋体"/>
                <a:ea typeface="宋体"/>
              </a:rPr>
              <a:t>强的传播力，提</a:t>
            </a: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示语应引</a:t>
            </a:r>
            <a:r>
              <a:rPr lang="zh-CN" altLang="en-US" sz="1600" spc="80" dirty="0">
                <a:solidFill>
                  <a:srgbClr val="000000"/>
                </a:solidFill>
                <a:latin typeface="宋体"/>
                <a:ea typeface="宋体"/>
              </a:rPr>
              <a:t>导</a:t>
            </a:r>
            <a:r>
              <a:rPr lang="en-US" altLang="zh-CN" sz="1600" spc="34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注重情感的</a:t>
            </a:r>
            <a:r>
              <a:rPr lang="zh-CN" altLang="en-US" sz="1600" spc="80" dirty="0">
                <a:solidFill>
                  <a:srgbClr val="000000"/>
                </a:solidFill>
                <a:latin typeface="宋体"/>
                <a:ea typeface="宋体"/>
              </a:rPr>
              <a:t>真实性和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共鸣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度。</a:t>
            </a:r>
          </a:p>
        </p:txBody>
      </p:sp>
      <p:sp>
        <p:nvSpPr>
          <p:cNvPr id="1183" name="TextBox 1183"/>
          <p:cNvSpPr txBox="1"/>
          <p:nvPr/>
        </p:nvSpPr>
        <p:spPr>
          <a:xfrm>
            <a:off x="3275965" y="4700140"/>
            <a:ext cx="2653649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34" dirty="0">
                <a:solidFill>
                  <a:srgbClr val="000000"/>
                </a:solidFill>
                <a:latin typeface="宋体"/>
                <a:ea typeface="宋体"/>
              </a:rPr>
              <a:t>迭代方向：</a:t>
            </a:r>
            <a:r>
              <a:rPr lang="en-US" altLang="zh-CN" sz="16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44" dirty="0">
                <a:solidFill>
                  <a:srgbClr val="000000"/>
                </a:solidFill>
                <a:latin typeface="宋体"/>
                <a:ea typeface="宋体"/>
              </a:rPr>
              <a:t>生成的</a:t>
            </a:r>
            <a:r>
              <a:rPr lang="zh-CN" altLang="en-US" sz="1600" spc="34" dirty="0">
                <a:solidFill>
                  <a:srgbClr val="000000"/>
                </a:solidFill>
                <a:latin typeface="宋体"/>
                <a:ea typeface="宋体"/>
              </a:rPr>
              <a:t>内容情</a:t>
            </a:r>
            <a:r>
              <a:rPr lang="zh-CN" altLang="en-US" sz="1600" spc="35" dirty="0">
                <a:solidFill>
                  <a:srgbClr val="000000"/>
                </a:solidFill>
                <a:latin typeface="宋体"/>
                <a:ea typeface="宋体"/>
              </a:rPr>
              <a:t>感表达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自然，能够引发观众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的情绪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共鸣，提升互动效果。</a:t>
            </a:r>
          </a:p>
        </p:txBody>
      </p:sp>
      <p:sp>
        <p:nvSpPr>
          <p:cNvPr id="1184" name="TextBox 1184"/>
          <p:cNvSpPr txBox="1"/>
          <p:nvPr/>
        </p:nvSpPr>
        <p:spPr>
          <a:xfrm>
            <a:off x="6468745" y="4705220"/>
            <a:ext cx="2356883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75" dirty="0">
                <a:solidFill>
                  <a:srgbClr val="000000"/>
                </a:solidFill>
                <a:latin typeface="宋体"/>
                <a:ea typeface="宋体"/>
              </a:rPr>
              <a:t>抖音内容通常在</a:t>
            </a: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结尾处引</a:t>
            </a:r>
            <a:r>
              <a:rPr lang="zh-CN" altLang="en-US" sz="1600" spc="80" dirty="0">
                <a:solidFill>
                  <a:srgbClr val="000000"/>
                </a:solidFill>
                <a:latin typeface="宋体"/>
                <a:ea typeface="宋体"/>
              </a:rPr>
              <a:t>导互动，提示语应引导</a:t>
            </a:r>
            <a:r>
              <a:rPr lang="en-US" altLang="zh-CN" sz="1600" spc="44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设计引人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互动的语句。</a:t>
            </a:r>
          </a:p>
        </p:txBody>
      </p:sp>
      <p:sp>
        <p:nvSpPr>
          <p:cNvPr id="1185" name="TextBox 1185"/>
          <p:cNvSpPr txBox="1"/>
          <p:nvPr/>
        </p:nvSpPr>
        <p:spPr>
          <a:xfrm>
            <a:off x="8996044" y="4682360"/>
            <a:ext cx="2497441" cy="1168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9583"/>
              </a:lnSpc>
            </a:pP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迭代方向：</a:t>
            </a:r>
            <a:r>
              <a:rPr lang="en-US" altLang="zh-CN" sz="1600" spc="2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40" dirty="0">
                <a:solidFill>
                  <a:srgbClr val="000000"/>
                </a:solidFill>
                <a:latin typeface="宋体"/>
                <a:ea typeface="宋体"/>
              </a:rPr>
              <a:t>生成的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结尾语句具备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号召性，有助于引导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观众互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动，增加视频的传播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效果。</a:t>
            </a:r>
          </a:p>
        </p:txBody>
      </p:sp>
      <p:sp>
        <p:nvSpPr>
          <p:cNvPr id="1186" name="TextBox 1186"/>
          <p:cNvSpPr txBox="1"/>
          <p:nvPr/>
        </p:nvSpPr>
        <p:spPr>
          <a:xfrm>
            <a:off x="708659" y="5944920"/>
            <a:ext cx="5065385" cy="558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7465" hangingPunct="0">
              <a:lnSpc>
                <a:spcPct val="152499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生成一个关于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[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情感主题]</a:t>
            </a:r>
            <a:r>
              <a:rPr lang="zh-CN" altLang="en-US" sz="1200" spc="-10" dirty="0">
                <a:solidFill>
                  <a:srgbClr val="000000"/>
                </a:solidFill>
                <a:latin typeface="宋体"/>
                <a:ea typeface="宋体"/>
              </a:rPr>
              <a:t>的真挚文案，采用亲切的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语气，引发观众的情感共</a:t>
            </a: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鸣，使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内容更贴近生活。</a:t>
            </a:r>
          </a:p>
        </p:txBody>
      </p:sp>
      <p:sp>
        <p:nvSpPr>
          <p:cNvPr id="1187" name="TextBox 1187"/>
          <p:cNvSpPr txBox="1"/>
          <p:nvPr/>
        </p:nvSpPr>
        <p:spPr>
          <a:xfrm>
            <a:off x="6506209" y="6231940"/>
            <a:ext cx="5041888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200" spc="-5" dirty="0">
                <a:solidFill>
                  <a:srgbClr val="000000"/>
                </a:solidFill>
                <a:latin typeface="宋体"/>
                <a:ea typeface="宋体"/>
              </a:rPr>
              <a:t>生成一</a:t>
            </a:r>
            <a:r>
              <a:rPr lang="zh-CN" altLang="en-US" sz="1200" dirty="0">
                <a:solidFill>
                  <a:srgbClr val="000000"/>
                </a:solidFill>
                <a:latin typeface="宋体"/>
                <a:ea typeface="宋体"/>
              </a:rPr>
              <a:t>个互动引导语句，鼓励观众点赞、评论或分享，增强视频的互动性。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Freeform 1188"/>
          <p:cNvSpPr/>
          <p:nvPr/>
        </p:nvSpPr>
        <p:spPr>
          <a:xfrm>
            <a:off x="133350" y="4044950"/>
            <a:ext cx="3829050" cy="501650"/>
          </a:xfrm>
          <a:custGeom>
            <a:avLst/>
            <a:gdLst>
              <a:gd name="connsiteX0" fmla="*/ 8381 w 3829050"/>
              <a:gd name="connsiteY0" fmla="*/ 18034 h 501650"/>
              <a:gd name="connsiteX1" fmla="*/ 3830573 w 3829050"/>
              <a:gd name="connsiteY1" fmla="*/ 18034 h 501650"/>
              <a:gd name="connsiteX2" fmla="*/ 3830573 w 3829050"/>
              <a:gd name="connsiteY2" fmla="*/ 502666 h 501650"/>
              <a:gd name="connsiteX3" fmla="*/ 8381 w 3829050"/>
              <a:gd name="connsiteY3" fmla="*/ 502666 h 501650"/>
              <a:gd name="connsiteX4" fmla="*/ 8381 w 3829050"/>
              <a:gd name="connsiteY4" fmla="*/ 18034 h 5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9050" h="501650">
                <a:moveTo>
                  <a:pt x="8381" y="18034"/>
                </a:moveTo>
                <a:lnTo>
                  <a:pt x="3830573" y="18034"/>
                </a:lnTo>
                <a:lnTo>
                  <a:pt x="3830573" y="502666"/>
                </a:lnTo>
                <a:lnTo>
                  <a:pt x="8381" y="502666"/>
                </a:lnTo>
                <a:lnTo>
                  <a:pt x="8381" y="18034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Freeform 1189"/>
          <p:cNvSpPr/>
          <p:nvPr/>
        </p:nvSpPr>
        <p:spPr>
          <a:xfrm>
            <a:off x="4197350" y="4095750"/>
            <a:ext cx="3841750" cy="488950"/>
          </a:xfrm>
          <a:custGeom>
            <a:avLst/>
            <a:gdLst>
              <a:gd name="connsiteX0" fmla="*/ 18034 w 3841750"/>
              <a:gd name="connsiteY0" fmla="*/ 12953 h 488950"/>
              <a:gd name="connsiteX1" fmla="*/ 3853942 w 3841750"/>
              <a:gd name="connsiteY1" fmla="*/ 12953 h 488950"/>
              <a:gd name="connsiteX2" fmla="*/ 3853942 w 3841750"/>
              <a:gd name="connsiteY2" fmla="*/ 499109 h 488950"/>
              <a:gd name="connsiteX3" fmla="*/ 18034 w 3841750"/>
              <a:gd name="connsiteY3" fmla="*/ 499109 h 488950"/>
              <a:gd name="connsiteX4" fmla="*/ 18034 w 3841750"/>
              <a:gd name="connsiteY4" fmla="*/ 12953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1750" h="488950">
                <a:moveTo>
                  <a:pt x="18034" y="12953"/>
                </a:moveTo>
                <a:lnTo>
                  <a:pt x="3853942" y="12953"/>
                </a:lnTo>
                <a:lnTo>
                  <a:pt x="3853942" y="499109"/>
                </a:lnTo>
                <a:lnTo>
                  <a:pt x="18034" y="499109"/>
                </a:lnTo>
                <a:lnTo>
                  <a:pt x="18034" y="12953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" name="Freeform 1190"/>
          <p:cNvSpPr/>
          <p:nvPr/>
        </p:nvSpPr>
        <p:spPr>
          <a:xfrm>
            <a:off x="8274050" y="4083050"/>
            <a:ext cx="3727450" cy="488950"/>
          </a:xfrm>
          <a:custGeom>
            <a:avLst/>
            <a:gdLst>
              <a:gd name="connsiteX0" fmla="*/ 13461 w 3727450"/>
              <a:gd name="connsiteY0" fmla="*/ 13461 h 488950"/>
              <a:gd name="connsiteX1" fmla="*/ 3735069 w 3727450"/>
              <a:gd name="connsiteY1" fmla="*/ 13461 h 488950"/>
              <a:gd name="connsiteX2" fmla="*/ 3735069 w 3727450"/>
              <a:gd name="connsiteY2" fmla="*/ 498094 h 488950"/>
              <a:gd name="connsiteX3" fmla="*/ 13461 w 3727450"/>
              <a:gd name="connsiteY3" fmla="*/ 498094 h 488950"/>
              <a:gd name="connsiteX4" fmla="*/ 13461 w 3727450"/>
              <a:gd name="connsiteY4" fmla="*/ 1346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7450" h="488950">
                <a:moveTo>
                  <a:pt x="13461" y="13461"/>
                </a:moveTo>
                <a:lnTo>
                  <a:pt x="3735069" y="13461"/>
                </a:lnTo>
                <a:lnTo>
                  <a:pt x="3735069" y="498094"/>
                </a:lnTo>
                <a:lnTo>
                  <a:pt x="13461" y="498094"/>
                </a:lnTo>
                <a:lnTo>
                  <a:pt x="13461" y="13461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Freeform 1191"/>
          <p:cNvSpPr/>
          <p:nvPr/>
        </p:nvSpPr>
        <p:spPr>
          <a:xfrm>
            <a:off x="8312150" y="1085850"/>
            <a:ext cx="3740150" cy="488950"/>
          </a:xfrm>
          <a:custGeom>
            <a:avLst/>
            <a:gdLst>
              <a:gd name="connsiteX0" fmla="*/ 10414 w 3740150"/>
              <a:gd name="connsiteY0" fmla="*/ 8382 h 488950"/>
              <a:gd name="connsiteX1" fmla="*/ 3742690 w 3740150"/>
              <a:gd name="connsiteY1" fmla="*/ 8382 h 488950"/>
              <a:gd name="connsiteX2" fmla="*/ 3742690 w 3740150"/>
              <a:gd name="connsiteY2" fmla="*/ 493014 h 488950"/>
              <a:gd name="connsiteX3" fmla="*/ 10414 w 3740150"/>
              <a:gd name="connsiteY3" fmla="*/ 493014 h 488950"/>
              <a:gd name="connsiteX4" fmla="*/ 10414 w 3740150"/>
              <a:gd name="connsiteY4" fmla="*/ 8382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0150" h="488950">
                <a:moveTo>
                  <a:pt x="10414" y="8382"/>
                </a:moveTo>
                <a:lnTo>
                  <a:pt x="3742690" y="8382"/>
                </a:lnTo>
                <a:lnTo>
                  <a:pt x="3742690" y="493014"/>
                </a:lnTo>
                <a:lnTo>
                  <a:pt x="10414" y="493014"/>
                </a:lnTo>
                <a:lnTo>
                  <a:pt x="10414" y="8382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2" name="Freeform 1192"/>
          <p:cNvSpPr/>
          <p:nvPr/>
        </p:nvSpPr>
        <p:spPr>
          <a:xfrm>
            <a:off x="4210050" y="1060450"/>
            <a:ext cx="3829050" cy="501650"/>
          </a:xfrm>
          <a:custGeom>
            <a:avLst/>
            <a:gdLst>
              <a:gd name="connsiteX0" fmla="*/ 9905 w 3829050"/>
              <a:gd name="connsiteY0" fmla="*/ 18541 h 501650"/>
              <a:gd name="connsiteX1" fmla="*/ 3836669 w 3829050"/>
              <a:gd name="connsiteY1" fmla="*/ 18541 h 501650"/>
              <a:gd name="connsiteX2" fmla="*/ 3836669 w 3829050"/>
              <a:gd name="connsiteY2" fmla="*/ 504697 h 501650"/>
              <a:gd name="connsiteX3" fmla="*/ 9905 w 3829050"/>
              <a:gd name="connsiteY3" fmla="*/ 504697 h 501650"/>
              <a:gd name="connsiteX4" fmla="*/ 9905 w 3829050"/>
              <a:gd name="connsiteY4" fmla="*/ 18541 h 5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9050" h="501650">
                <a:moveTo>
                  <a:pt x="9905" y="18541"/>
                </a:moveTo>
                <a:lnTo>
                  <a:pt x="3836669" y="18541"/>
                </a:lnTo>
                <a:lnTo>
                  <a:pt x="3836669" y="504697"/>
                </a:lnTo>
                <a:lnTo>
                  <a:pt x="9905" y="504697"/>
                </a:lnTo>
                <a:lnTo>
                  <a:pt x="9905" y="18541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3" name="Freeform 1193"/>
          <p:cNvSpPr/>
          <p:nvPr/>
        </p:nvSpPr>
        <p:spPr>
          <a:xfrm>
            <a:off x="107950" y="1085850"/>
            <a:ext cx="3829050" cy="488950"/>
          </a:xfrm>
          <a:custGeom>
            <a:avLst/>
            <a:gdLst>
              <a:gd name="connsiteX0" fmla="*/ 13970 w 3829050"/>
              <a:gd name="connsiteY0" fmla="*/ 8382 h 488950"/>
              <a:gd name="connsiteX1" fmla="*/ 3836161 w 3829050"/>
              <a:gd name="connsiteY1" fmla="*/ 8382 h 488950"/>
              <a:gd name="connsiteX2" fmla="*/ 3836161 w 3829050"/>
              <a:gd name="connsiteY2" fmla="*/ 493014 h 488950"/>
              <a:gd name="connsiteX3" fmla="*/ 13970 w 3829050"/>
              <a:gd name="connsiteY3" fmla="*/ 493014 h 488950"/>
              <a:gd name="connsiteX4" fmla="*/ 13970 w 3829050"/>
              <a:gd name="connsiteY4" fmla="*/ 8382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9050" h="488950">
                <a:moveTo>
                  <a:pt x="13970" y="8382"/>
                </a:moveTo>
                <a:lnTo>
                  <a:pt x="3836161" y="8382"/>
                </a:lnTo>
                <a:lnTo>
                  <a:pt x="3836161" y="493014"/>
                </a:lnTo>
                <a:lnTo>
                  <a:pt x="13970" y="493014"/>
                </a:lnTo>
                <a:lnTo>
                  <a:pt x="13970" y="8382"/>
                </a:lnTo>
                <a:close/>
              </a:path>
            </a:pathLst>
          </a:custGeom>
          <a:solidFill>
            <a:srgbClr val="BDD3F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95" name="Picture 11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1554480"/>
            <a:ext cx="11978640" cy="1889760"/>
          </a:xfrm>
          <a:prstGeom prst="rect">
            <a:avLst/>
          </a:prstGeom>
        </p:spPr>
      </p:pic>
      <p:pic>
        <p:nvPicPr>
          <p:cNvPr id="1196" name="Picture 1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4526279"/>
            <a:ext cx="11917680" cy="1927860"/>
          </a:xfrm>
          <a:prstGeom prst="rect">
            <a:avLst/>
          </a:prstGeom>
        </p:spPr>
      </p:pic>
      <p:pic>
        <p:nvPicPr>
          <p:cNvPr id="1197" name="Picture 11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3497579"/>
            <a:ext cx="358140" cy="518159"/>
          </a:xfrm>
          <a:prstGeom prst="rect">
            <a:avLst/>
          </a:prstGeom>
        </p:spPr>
      </p:pic>
      <p:pic>
        <p:nvPicPr>
          <p:cNvPr id="1198" name="Picture 11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497579"/>
            <a:ext cx="403860" cy="480059"/>
          </a:xfrm>
          <a:prstGeom prst="rect">
            <a:avLst/>
          </a:prstGeom>
        </p:spPr>
      </p:pic>
      <p:sp>
        <p:nvSpPr>
          <p:cNvPr id="2" name="TextBox 1198"/>
          <p:cNvSpPr txBox="1"/>
          <p:nvPr/>
        </p:nvSpPr>
        <p:spPr>
          <a:xfrm>
            <a:off x="86994" y="45158"/>
            <a:ext cx="7412316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-15" dirty="0">
                <a:solidFill>
                  <a:srgbClr val="000000"/>
                </a:solidFill>
                <a:latin typeface="宋体"/>
                <a:ea typeface="宋体"/>
              </a:rPr>
              <a:t>提示词工程：精准指引</a:t>
            </a:r>
            <a:r>
              <a:rPr lang="zh-CN" altLang="en-US" sz="4000" b="1" spc="-69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4000" b="1" spc="-10" dirty="0">
                <a:solidFill>
                  <a:srgbClr val="000000"/>
                </a:solidFill>
                <a:latin typeface="宋体"/>
                <a:ea typeface="宋体"/>
              </a:rPr>
              <a:t>效能增益</a:t>
            </a:r>
          </a:p>
        </p:txBody>
      </p:sp>
      <p:sp>
        <p:nvSpPr>
          <p:cNvPr id="1199" name="TextBox 1199"/>
          <p:cNvSpPr txBox="1"/>
          <p:nvPr/>
        </p:nvSpPr>
        <p:spPr>
          <a:xfrm>
            <a:off x="229844" y="1171511"/>
            <a:ext cx="3727432" cy="2197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b="1" spc="-25" dirty="0">
                <a:solidFill>
                  <a:srgbClr val="000000"/>
                </a:solidFill>
                <a:latin typeface="宋体"/>
                <a:ea typeface="宋体"/>
              </a:rPr>
              <a:t>设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定明确的目标与上下文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说明任务的具体目标（如获取信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息、生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成文本、分析数据等）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提供背景信息，以减少模型的猜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测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针对不同的场景，给出期望的输</a:t>
            </a:r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出类型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（如表格、列表、总结等）</a:t>
            </a:r>
          </a:p>
        </p:txBody>
      </p:sp>
      <p:sp>
        <p:nvSpPr>
          <p:cNvPr id="1200" name="TextBox 1200"/>
          <p:cNvSpPr txBox="1"/>
          <p:nvPr/>
        </p:nvSpPr>
        <p:spPr>
          <a:xfrm>
            <a:off x="4299394" y="1168920"/>
            <a:ext cx="3727433" cy="2197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ea typeface="宋体"/>
              </a:rPr>
              <a:t>激活角色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与思维模式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设定模型为某种特定的身份，如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85" dirty="0">
                <a:solidFill>
                  <a:srgbClr val="000000"/>
                </a:solidFill>
                <a:latin typeface="宋体"/>
                <a:ea typeface="宋体"/>
              </a:rPr>
              <a:t>技术专家、教师或</a:t>
            </a:r>
            <a:r>
              <a:rPr lang="zh-CN" altLang="en-US" sz="1800" spc="50" dirty="0">
                <a:solidFill>
                  <a:srgbClr val="000000"/>
                </a:solidFill>
                <a:latin typeface="宋体"/>
                <a:ea typeface="宋体"/>
              </a:rPr>
              <a:t>HR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指导模型使用某种特定的写作风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格（如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正式、非正式、技术性等）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1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55" dirty="0">
                <a:solidFill>
                  <a:srgbClr val="000000"/>
                </a:solidFill>
                <a:latin typeface="宋体"/>
                <a:ea typeface="宋体"/>
              </a:rPr>
              <a:t>让模型模拟某种特定的思维模式，</a:t>
            </a:r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如批判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性思维、创造性思维等</a:t>
            </a:r>
          </a:p>
        </p:txBody>
      </p:sp>
      <p:sp>
        <p:nvSpPr>
          <p:cNvPr id="1201" name="TextBox 1201"/>
          <p:cNvSpPr txBox="1"/>
          <p:nvPr/>
        </p:nvSpPr>
        <p:spPr>
          <a:xfrm>
            <a:off x="8416290" y="1163675"/>
            <a:ext cx="3498832" cy="2197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3.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ea typeface="宋体"/>
              </a:rPr>
              <a:t>逐</a:t>
            </a:r>
            <a:r>
              <a:rPr lang="zh-CN" altLang="en-US" sz="1800" b="1" spc="-25" dirty="0">
                <a:solidFill>
                  <a:srgbClr val="000000"/>
                </a:solidFill>
                <a:latin typeface="宋体"/>
                <a:ea typeface="宋体"/>
              </a:rPr>
              <a:t>步拆解复杂任务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将复杂问题分解为多个独立的步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骤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在每一步操作结束后，请求模型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总结或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验证中间结果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合并多个子任务的输出，形成完</a:t>
            </a:r>
          </a:p>
          <a:p>
            <a:pPr marL="0" indent="285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整的解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决方案或总结</a:t>
            </a:r>
          </a:p>
        </p:txBody>
      </p:sp>
      <p:sp>
        <p:nvSpPr>
          <p:cNvPr id="1202" name="TextBox 1202"/>
          <p:cNvSpPr txBox="1"/>
          <p:nvPr/>
        </p:nvSpPr>
        <p:spPr>
          <a:xfrm>
            <a:off x="273329" y="4158005"/>
            <a:ext cx="3498832" cy="21983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6.</a:t>
            </a:r>
            <a:r>
              <a:rPr lang="zh-CN" altLang="en-US" sz="1800" b="1" spc="-30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25" dirty="0">
                <a:solidFill>
                  <a:srgbClr val="000000"/>
                </a:solidFill>
                <a:latin typeface="宋体"/>
                <a:ea typeface="宋体"/>
              </a:rPr>
              <a:t>动态反馈与迭代优化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在收到回答后，指出模型的误差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或不足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，并要求修正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让模型根据前一轮的输出进行自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我改进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请求模型总结多轮对话中的关键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点，确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保连贯性和准确性</a:t>
            </a:r>
          </a:p>
        </p:txBody>
      </p:sp>
      <p:sp>
        <p:nvSpPr>
          <p:cNvPr id="1203" name="TextBox 1203"/>
          <p:cNvSpPr txBox="1"/>
          <p:nvPr/>
        </p:nvSpPr>
        <p:spPr>
          <a:xfrm>
            <a:off x="4315269" y="4202455"/>
            <a:ext cx="3727433" cy="21983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5.</a:t>
            </a:r>
            <a:r>
              <a:rPr lang="zh-CN" altLang="en-US" sz="1800" b="1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提供参考材料与外部资源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1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55" dirty="0">
                <a:solidFill>
                  <a:srgbClr val="000000"/>
                </a:solidFill>
                <a:latin typeface="宋体"/>
                <a:ea typeface="宋体"/>
              </a:rPr>
              <a:t>向模型提供外部参考文献或文本，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并要求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根据这些材料生成答案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要求模型在作答时引用或链接到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具体的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来源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集成外部工具（如代码执行）来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完成复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杂的计算或查找任务</a:t>
            </a:r>
          </a:p>
        </p:txBody>
      </p:sp>
      <p:sp>
        <p:nvSpPr>
          <p:cNvPr id="1204" name="TextBox 1204"/>
          <p:cNvSpPr txBox="1"/>
          <p:nvPr/>
        </p:nvSpPr>
        <p:spPr>
          <a:xfrm>
            <a:off x="8357209" y="4209453"/>
            <a:ext cx="3498832" cy="21983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4.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ea typeface="宋体"/>
              </a:rPr>
              <a:t>引导深入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推理与思考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55"/>
              </a:lnSpc>
            </a:pPr>
            <a:endParaRPr lang="en-US" dirty="0"/>
          </a:p>
          <a:p>
            <a:pPr marL="285750" indent="-285750" hangingPunct="0">
              <a:lnSpc>
                <a:spcPct val="100000"/>
              </a:lnSpc>
            </a:pP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55" dirty="0">
                <a:solidFill>
                  <a:srgbClr val="000000"/>
                </a:solidFill>
                <a:latin typeface="宋体"/>
                <a:ea typeface="宋体"/>
              </a:rPr>
              <a:t>让模型分步骤推导出答案，要求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“思维链</a:t>
            </a: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”推理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要求模型在作答前进行简要的自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我反思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或验证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60" dirty="0">
                <a:solidFill>
                  <a:srgbClr val="000000"/>
                </a:solidFill>
                <a:latin typeface="宋体"/>
                <a:ea typeface="宋体"/>
              </a:rPr>
              <a:t>要求模型解释每一步的思路，而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不仅仅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是给出最终答案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Freeform 1205"/>
          <p:cNvSpPr/>
          <p:nvPr/>
        </p:nvSpPr>
        <p:spPr>
          <a:xfrm>
            <a:off x="107950" y="3702050"/>
            <a:ext cx="5492750" cy="2736850"/>
          </a:xfrm>
          <a:custGeom>
            <a:avLst/>
            <a:gdLst>
              <a:gd name="connsiteX0" fmla="*/ 7873 w 5492750"/>
              <a:gd name="connsiteY0" fmla="*/ 13461 h 2736850"/>
              <a:gd name="connsiteX1" fmla="*/ 5500370 w 5492750"/>
              <a:gd name="connsiteY1" fmla="*/ 13461 h 2736850"/>
              <a:gd name="connsiteX2" fmla="*/ 5500370 w 5492750"/>
              <a:gd name="connsiteY2" fmla="*/ 2747517 h 2736850"/>
              <a:gd name="connsiteX3" fmla="*/ 7873 w 5492750"/>
              <a:gd name="connsiteY3" fmla="*/ 2747517 h 2736850"/>
              <a:gd name="connsiteX4" fmla="*/ 7873 w 5492750"/>
              <a:gd name="connsiteY4" fmla="*/ 13461 h 273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2750" h="2736850">
                <a:moveTo>
                  <a:pt x="7873" y="13461"/>
                </a:moveTo>
                <a:lnTo>
                  <a:pt x="5500370" y="13461"/>
                </a:lnTo>
                <a:lnTo>
                  <a:pt x="5500370" y="2747517"/>
                </a:lnTo>
                <a:lnTo>
                  <a:pt x="7873" y="2747517"/>
                </a:lnTo>
                <a:lnTo>
                  <a:pt x="7873" y="1346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" name="Freeform 1206"/>
          <p:cNvSpPr/>
          <p:nvPr/>
        </p:nvSpPr>
        <p:spPr>
          <a:xfrm>
            <a:off x="5810250" y="958850"/>
            <a:ext cx="6191250" cy="2305050"/>
          </a:xfrm>
          <a:custGeom>
            <a:avLst/>
            <a:gdLst>
              <a:gd name="connsiteX0" fmla="*/ 12953 w 6191250"/>
              <a:gd name="connsiteY0" fmla="*/ 7366 h 2305050"/>
              <a:gd name="connsiteX1" fmla="*/ 6194297 w 6191250"/>
              <a:gd name="connsiteY1" fmla="*/ 7366 h 2305050"/>
              <a:gd name="connsiteX2" fmla="*/ 6194297 w 6191250"/>
              <a:gd name="connsiteY2" fmla="*/ 2314702 h 2305050"/>
              <a:gd name="connsiteX3" fmla="*/ 12953 w 6191250"/>
              <a:gd name="connsiteY3" fmla="*/ 2314702 h 2305050"/>
              <a:gd name="connsiteX4" fmla="*/ 12953 w 6191250"/>
              <a:gd name="connsiteY4" fmla="*/ 7366 h 23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1250" h="2305050">
                <a:moveTo>
                  <a:pt x="12953" y="7366"/>
                </a:moveTo>
                <a:lnTo>
                  <a:pt x="6194297" y="7366"/>
                </a:lnTo>
                <a:lnTo>
                  <a:pt x="6194297" y="2314702"/>
                </a:lnTo>
                <a:lnTo>
                  <a:pt x="12953" y="2314702"/>
                </a:lnTo>
                <a:lnTo>
                  <a:pt x="12953" y="7366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8" name="Picture 1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" y="944880"/>
            <a:ext cx="5989320" cy="2369820"/>
          </a:xfrm>
          <a:prstGeom prst="rect">
            <a:avLst/>
          </a:prstGeom>
        </p:spPr>
      </p:pic>
      <p:pic>
        <p:nvPicPr>
          <p:cNvPr id="1209" name="Picture 1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3688079"/>
            <a:ext cx="6576059" cy="2788920"/>
          </a:xfrm>
          <a:prstGeom prst="rect">
            <a:avLst/>
          </a:prstGeom>
        </p:spPr>
      </p:pic>
      <p:sp>
        <p:nvSpPr>
          <p:cNvPr id="2" name="TextBox 1209"/>
          <p:cNvSpPr txBox="1"/>
          <p:nvPr/>
        </p:nvSpPr>
        <p:spPr>
          <a:xfrm>
            <a:off x="86994" y="45158"/>
            <a:ext cx="5097741" cy="12344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-15" dirty="0">
                <a:solidFill>
                  <a:srgbClr val="000000"/>
                </a:solidFill>
                <a:latin typeface="宋体"/>
                <a:ea typeface="宋体"/>
              </a:rPr>
              <a:t>提示词框架：逻</a:t>
            </a:r>
            <a:r>
              <a:rPr lang="zh-CN" altLang="en-US" sz="4000" b="1" spc="-10" dirty="0">
                <a:solidFill>
                  <a:srgbClr val="000000"/>
                </a:solidFill>
                <a:latin typeface="宋体"/>
                <a:ea typeface="宋体"/>
              </a:rPr>
              <a:t>辑锚定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00"/>
              </a:lnSpc>
            </a:pPr>
            <a:endParaRPr lang="en-US" dirty="0"/>
          </a:p>
          <a:p>
            <a:pPr marL="0" indent="119989">
              <a:lnSpc>
                <a:spcPct val="100000"/>
              </a:lnSpc>
            </a:pPr>
            <a:r>
              <a:rPr lang="zh-CN" altLang="en-US" sz="1800" b="1" spc="89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b="1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89" dirty="0">
                <a:solidFill>
                  <a:srgbClr val="000000"/>
                </a:solidFill>
                <a:latin typeface="宋体"/>
                <a:ea typeface="宋体"/>
              </a:rPr>
              <a:t>TASTE</a:t>
            </a:r>
            <a:r>
              <a:rPr lang="zh-CN" altLang="en-US" sz="1800" b="1" spc="179" dirty="0">
                <a:solidFill>
                  <a:srgbClr val="000000"/>
                </a:solidFill>
                <a:latin typeface="宋体"/>
                <a:ea typeface="宋体"/>
              </a:rPr>
              <a:t>框架</a:t>
            </a:r>
          </a:p>
        </p:txBody>
      </p:sp>
      <p:sp>
        <p:nvSpPr>
          <p:cNvPr id="1210" name="TextBox 1210"/>
          <p:cNvSpPr txBox="1"/>
          <p:nvPr/>
        </p:nvSpPr>
        <p:spPr>
          <a:xfrm>
            <a:off x="5339079" y="45158"/>
            <a:ext cx="2045931" cy="12344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-20" dirty="0">
                <a:solidFill>
                  <a:srgbClr val="000000"/>
                </a:solidFill>
                <a:latin typeface="宋体"/>
                <a:ea typeface="宋体"/>
              </a:rPr>
              <a:t>思</a:t>
            </a:r>
            <a:r>
              <a:rPr lang="zh-CN" altLang="en-US" sz="4000" b="1" spc="-15" dirty="0">
                <a:solidFill>
                  <a:srgbClr val="000000"/>
                </a:solidFill>
                <a:latin typeface="宋体"/>
                <a:ea typeface="宋体"/>
              </a:rPr>
              <a:t>维引导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00"/>
              </a:lnSpc>
            </a:pPr>
            <a:endParaRPr lang="en-US" dirty="0"/>
          </a:p>
          <a:p>
            <a:pPr marL="0" indent="703579">
              <a:lnSpc>
                <a:spcPct val="10000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示例</a:t>
            </a:r>
          </a:p>
        </p:txBody>
      </p:sp>
      <p:sp>
        <p:nvSpPr>
          <p:cNvPr id="1211" name="TextBox 1211"/>
          <p:cNvSpPr txBox="1"/>
          <p:nvPr/>
        </p:nvSpPr>
        <p:spPr>
          <a:xfrm>
            <a:off x="206984" y="1279601"/>
            <a:ext cx="11694168" cy="274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5835675" algn="l"/>
              </a:tabLst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24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Task</a:t>
            </a:r>
            <a:r>
              <a:rPr lang="zh-CN" altLang="en-US" sz="1800" b="1" spc="-24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(任务):</a:t>
            </a:r>
            <a:r>
              <a:rPr lang="zh-CN" altLang="en-US" sz="1800" spc="-24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定义模型主要任务或生成内容。	•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Task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写一篇关于数据隐私的重要性的简短博客文章。</a:t>
            </a:r>
          </a:p>
        </p:txBody>
      </p:sp>
      <p:sp>
        <p:nvSpPr>
          <p:cNvPr id="1212" name="TextBox 1212"/>
          <p:cNvSpPr txBox="1"/>
          <p:nvPr/>
        </p:nvSpPr>
        <p:spPr>
          <a:xfrm>
            <a:off x="206984" y="1553921"/>
            <a:ext cx="1323990" cy="548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189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189" dirty="0">
                <a:solidFill>
                  <a:srgbClr val="000000"/>
                </a:solidFill>
                <a:latin typeface="宋体"/>
                <a:ea typeface="宋体"/>
              </a:rPr>
              <a:t>Audience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64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44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64" dirty="0">
                <a:solidFill>
                  <a:srgbClr val="000000"/>
                </a:solidFill>
                <a:latin typeface="宋体"/>
                <a:ea typeface="宋体"/>
              </a:rPr>
              <a:t>Structure</a:t>
            </a:r>
          </a:p>
        </p:txBody>
      </p:sp>
      <p:sp>
        <p:nvSpPr>
          <p:cNvPr id="1213" name="TextBox 1213"/>
          <p:cNvSpPr txBox="1"/>
          <p:nvPr/>
        </p:nvSpPr>
        <p:spPr>
          <a:xfrm>
            <a:off x="1571599" y="1553921"/>
            <a:ext cx="3965557" cy="548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1589">
              <a:lnSpc>
                <a:spcPct val="100000"/>
              </a:lnSpc>
            </a:pPr>
            <a:r>
              <a:rPr lang="zh-CN" altLang="en-US" sz="1800" spc="-35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spc="-64" dirty="0">
                <a:solidFill>
                  <a:srgbClr val="000000"/>
                </a:solidFill>
                <a:latin typeface="宋体"/>
                <a:ea typeface="宋体"/>
              </a:rPr>
              <a:t>目标受众</a:t>
            </a:r>
            <a:r>
              <a:rPr lang="zh-CN" altLang="en-US" sz="1800" spc="-34" dirty="0">
                <a:solidFill>
                  <a:srgbClr val="000000"/>
                </a:solidFill>
                <a:latin typeface="宋体"/>
                <a:ea typeface="宋体"/>
              </a:rPr>
              <a:t>):</a:t>
            </a:r>
            <a:r>
              <a:rPr lang="zh-CN" altLang="en-US" sz="1800" spc="-3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64" dirty="0">
                <a:solidFill>
                  <a:srgbClr val="000000"/>
                </a:solidFill>
                <a:latin typeface="宋体"/>
                <a:ea typeface="宋体"/>
              </a:rPr>
              <a:t>明确说明目标受众。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结构</a:t>
            </a:r>
            <a:r>
              <a:rPr lang="zh-CN" altLang="en-US" sz="1800" spc="-25" dirty="0">
                <a:solidFill>
                  <a:srgbClr val="000000"/>
                </a:solidFill>
                <a:latin typeface="宋体"/>
                <a:ea typeface="宋体"/>
              </a:rPr>
              <a:t>):</a:t>
            </a:r>
            <a:r>
              <a:rPr lang="zh-CN" altLang="en-US" sz="1800" spc="-32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为输出的内容提供明确的组织结</a:t>
            </a:r>
          </a:p>
        </p:txBody>
      </p:sp>
      <p:sp>
        <p:nvSpPr>
          <p:cNvPr id="1214" name="TextBox 1214"/>
          <p:cNvSpPr txBox="1"/>
          <p:nvPr/>
        </p:nvSpPr>
        <p:spPr>
          <a:xfrm>
            <a:off x="6042659" y="1554137"/>
            <a:ext cx="5779753" cy="5484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spc="1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10" dirty="0">
                <a:solidFill>
                  <a:srgbClr val="000000"/>
                </a:solidFill>
                <a:latin typeface="宋体"/>
                <a:ea typeface="宋体"/>
              </a:rPr>
              <a:t>Audience</a:t>
            </a:r>
            <a:r>
              <a:rPr lang="zh-CN" altLang="en-US" sz="1800" spc="4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25" dirty="0">
                <a:solidFill>
                  <a:srgbClr val="000000"/>
                </a:solidFill>
                <a:latin typeface="宋体"/>
                <a:ea typeface="宋体"/>
              </a:rPr>
              <a:t>普通的互联网用户，非技术背景。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26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Structure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文章需要有明确的开头、中间讨论和结尾，</a:t>
            </a:r>
          </a:p>
        </p:txBody>
      </p:sp>
      <p:sp>
        <p:nvSpPr>
          <p:cNvPr id="1215" name="TextBox 1215"/>
          <p:cNvSpPr txBox="1"/>
          <p:nvPr/>
        </p:nvSpPr>
        <p:spPr>
          <a:xfrm>
            <a:off x="492734" y="2102561"/>
            <a:ext cx="11449057" cy="274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5835675" algn="l"/>
              </a:tabLst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构，包括段落安排、论点展开顺序或其他逻辑关系。	开头提出问题，中间介绍原因和影响，结尾提供建议。</a:t>
            </a:r>
          </a:p>
        </p:txBody>
      </p:sp>
      <p:sp>
        <p:nvSpPr>
          <p:cNvPr id="1216" name="TextBox 1216"/>
          <p:cNvSpPr txBox="1"/>
          <p:nvPr/>
        </p:nvSpPr>
        <p:spPr>
          <a:xfrm>
            <a:off x="206984" y="2376881"/>
            <a:ext cx="9438013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5835675" algn="l"/>
              </a:tabLst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16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Tone</a:t>
            </a:r>
            <a:r>
              <a:rPr lang="zh-CN" altLang="en-US" sz="1800" b="1" spc="-1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(语气):</a:t>
            </a:r>
            <a:r>
              <a:rPr lang="zh-CN" altLang="en-US" sz="1800" spc="-1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指定模型回答时的语气或风格。	•</a:t>
            </a:r>
            <a:r>
              <a:rPr lang="zh-CN" altLang="en-US" sz="1800" spc="15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Tone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15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采用友好、易懂的语气。</a:t>
            </a:r>
          </a:p>
        </p:txBody>
      </p:sp>
      <p:sp>
        <p:nvSpPr>
          <p:cNvPr id="1217" name="TextBox 1217"/>
          <p:cNvSpPr txBox="1"/>
          <p:nvPr/>
        </p:nvSpPr>
        <p:spPr>
          <a:xfrm>
            <a:off x="206984" y="2651201"/>
            <a:ext cx="11216013" cy="274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Example</a:t>
            </a:r>
            <a:r>
              <a:rPr lang="zh-CN" altLang="en-US" sz="1800" b="1" spc="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(示例):例子或模板可帮助模型理解输出风</a:t>
            </a:r>
            <a:r>
              <a:rPr lang="zh-CN" altLang="en-US" sz="1800" spc="250" dirty="0">
                <a:solidFill>
                  <a:srgbClr val="000000"/>
                </a:solidFill>
                <a:latin typeface="宋体"/>
                <a:cs typeface="宋体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Example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类似于《纽约时报》科技专栏的风格。</a:t>
            </a:r>
          </a:p>
        </p:txBody>
      </p:sp>
      <p:sp>
        <p:nvSpPr>
          <p:cNvPr id="1218" name="TextBox 1218"/>
          <p:cNvSpPr txBox="1"/>
          <p:nvPr/>
        </p:nvSpPr>
        <p:spPr>
          <a:xfrm>
            <a:off x="207035" y="2925521"/>
            <a:ext cx="5377162" cy="33027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85699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格或格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式。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zh-CN" altLang="en-US" sz="1800" b="1" spc="75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b="1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80" dirty="0">
                <a:solidFill>
                  <a:srgbClr val="000000"/>
                </a:solidFill>
                <a:latin typeface="宋体"/>
                <a:ea typeface="宋体"/>
              </a:rPr>
              <a:t>ALIGN</a:t>
            </a:r>
            <a:r>
              <a:rPr lang="zh-CN" altLang="en-US" sz="1800" b="1" spc="160" dirty="0">
                <a:solidFill>
                  <a:srgbClr val="000000"/>
                </a:solidFill>
                <a:latin typeface="宋体"/>
                <a:ea typeface="宋体"/>
              </a:rPr>
              <a:t>框架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1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Aim</a:t>
            </a:r>
            <a:r>
              <a:rPr lang="zh-CN" altLang="en-US" sz="1800" b="1" spc="-17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(目标):</a:t>
            </a:r>
            <a:r>
              <a:rPr lang="zh-CN" altLang="en-US" sz="1800" spc="-17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明确任务的最终目标。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ea typeface="宋体"/>
              </a:rPr>
              <a:t>Level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难度级别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):</a:t>
            </a:r>
            <a:r>
              <a:rPr lang="zh-CN" altLang="en-US" sz="1800" spc="-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定义输出的难度级别。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ea typeface="宋体"/>
              </a:rPr>
              <a:t>Input</a:t>
            </a:r>
            <a:r>
              <a:rPr lang="zh-CN" altLang="en-US" sz="1800" b="1" spc="-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输入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):</a:t>
            </a:r>
            <a:r>
              <a:rPr lang="zh-CN" altLang="en-US" sz="1800" spc="-4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55" dirty="0">
                <a:solidFill>
                  <a:srgbClr val="000000"/>
                </a:solidFill>
                <a:latin typeface="宋体"/>
                <a:ea typeface="宋体"/>
              </a:rPr>
              <a:t>指定需要处理的输入数据或信息，或</a:t>
            </a:r>
          </a:p>
          <a:p>
            <a:pPr marL="0" indent="285749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要求模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型依据某些事实或条件进行推理。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-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25" dirty="0">
                <a:solidFill>
                  <a:srgbClr val="000000"/>
                </a:solidFill>
                <a:latin typeface="宋体"/>
                <a:ea typeface="宋体"/>
              </a:rPr>
              <a:t>Guidelines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34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spc="-50" dirty="0">
                <a:solidFill>
                  <a:srgbClr val="000000"/>
                </a:solidFill>
                <a:latin typeface="宋体"/>
                <a:ea typeface="宋体"/>
              </a:rPr>
              <a:t>指导原则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):</a:t>
            </a:r>
            <a:r>
              <a:rPr lang="zh-CN" altLang="en-US" sz="1800" spc="-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50" dirty="0">
                <a:solidFill>
                  <a:srgbClr val="000000"/>
                </a:solidFill>
                <a:latin typeface="宋体"/>
                <a:ea typeface="宋体"/>
              </a:rPr>
              <a:t>提供模型在执行任务时应</a:t>
            </a:r>
          </a:p>
          <a:p>
            <a:pPr marL="0" indent="285749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该遵循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的规则或约束。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Novelty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spc="-40" dirty="0">
                <a:solidFill>
                  <a:srgbClr val="000000"/>
                </a:solidFill>
                <a:latin typeface="宋体"/>
                <a:ea typeface="宋体"/>
              </a:rPr>
              <a:t>新颖性</a:t>
            </a: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):</a:t>
            </a:r>
            <a:r>
              <a:rPr lang="zh-CN" altLang="en-US" sz="1800" spc="-3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40" dirty="0">
                <a:solidFill>
                  <a:srgbClr val="000000"/>
                </a:solidFill>
                <a:latin typeface="宋体"/>
                <a:ea typeface="宋体"/>
              </a:rPr>
              <a:t>明确是否需要模型提供原创性、</a:t>
            </a:r>
          </a:p>
          <a:p>
            <a:pPr marL="0" indent="285749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创新性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的内容，是否允许引用已有知识。</a:t>
            </a:r>
          </a:p>
        </p:txBody>
      </p:sp>
      <p:sp>
        <p:nvSpPr>
          <p:cNvPr id="1219" name="TextBox 1219"/>
          <p:cNvSpPr txBox="1"/>
          <p:nvPr/>
        </p:nvSpPr>
        <p:spPr>
          <a:xfrm>
            <a:off x="5902959" y="3713459"/>
            <a:ext cx="6055342" cy="274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示例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15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Aim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15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创建一篇关于“可持续发展”的文章，解释其核心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理念。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Level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适合高中生阅读，不需要专业术语。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Input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-25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提供目前的环境问题的背景，讨论应对全球变暖的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策略。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spc="-17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Guidelines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-18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文章应使用简洁明了的语言，并避免复杂的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技术概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念。</a:t>
            </a:r>
          </a:p>
          <a:p>
            <a:pPr marL="0">
              <a:lnSpc>
                <a:spcPct val="10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Novelty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spc="-1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要求结合最新的环境数据，提出新颖的观点和解</a:t>
            </a:r>
          </a:p>
          <a:p>
            <a:pPr marL="0" indent="285750">
              <a:lnSpc>
                <a:spcPct val="10000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决方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案。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Picture 12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2727960"/>
            <a:ext cx="4335779" cy="3360420"/>
          </a:xfrm>
          <a:prstGeom prst="rect">
            <a:avLst/>
          </a:prstGeom>
        </p:spPr>
      </p:pic>
      <p:pic>
        <p:nvPicPr>
          <p:cNvPr id="1222" name="Picture 12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059" y="2354580"/>
            <a:ext cx="2788920" cy="3817620"/>
          </a:xfrm>
          <a:prstGeom prst="rect">
            <a:avLst/>
          </a:prstGeom>
        </p:spPr>
      </p:pic>
      <p:sp>
        <p:nvSpPr>
          <p:cNvPr id="2" name="TextBox 1222"/>
          <p:cNvSpPr txBox="1"/>
          <p:nvPr/>
        </p:nvSpPr>
        <p:spPr>
          <a:xfrm>
            <a:off x="90246" y="26184"/>
            <a:ext cx="7374203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40" dirty="0">
                <a:solidFill>
                  <a:srgbClr val="000000"/>
                </a:solidFill>
                <a:latin typeface="宋体"/>
                <a:ea typeface="宋体"/>
              </a:rPr>
              <a:t>三重概率：多层互动</a:t>
            </a:r>
            <a:r>
              <a:rPr lang="zh-CN" altLang="en-US" sz="4000" b="1" spc="-28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4000" b="1" spc="240" dirty="0">
                <a:solidFill>
                  <a:srgbClr val="000000"/>
                </a:solidFill>
                <a:latin typeface="宋体"/>
                <a:ea typeface="宋体"/>
              </a:rPr>
              <a:t>逐层精炼</a:t>
            </a:r>
          </a:p>
        </p:txBody>
      </p:sp>
      <p:sp>
        <p:nvSpPr>
          <p:cNvPr id="1223" name="TextBox 1223"/>
          <p:cNvSpPr txBox="1"/>
          <p:nvPr/>
        </p:nvSpPr>
        <p:spPr>
          <a:xfrm>
            <a:off x="1037589" y="1063777"/>
            <a:ext cx="10346035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04" dirty="0">
                <a:solidFill>
                  <a:srgbClr val="000000"/>
                </a:solidFill>
                <a:latin typeface="宋体"/>
                <a:ea typeface="宋体"/>
              </a:rPr>
              <a:t>AIGC</a:t>
            </a:r>
            <a:r>
              <a:rPr lang="zh-CN" altLang="en-US" sz="1800" spc="214" dirty="0">
                <a:solidFill>
                  <a:srgbClr val="000000"/>
                </a:solidFill>
                <a:latin typeface="宋体"/>
                <a:ea typeface="宋体"/>
              </a:rPr>
              <a:t>的三层概率交互的内容生</a:t>
            </a:r>
            <a:r>
              <a:rPr lang="zh-CN" altLang="en-US" sz="1800" spc="209" dirty="0">
                <a:solidFill>
                  <a:srgbClr val="000000"/>
                </a:solidFill>
                <a:latin typeface="宋体"/>
                <a:ea typeface="宋体"/>
              </a:rPr>
              <a:t>成体系，描述了人工智能与人类在内容创作中的协同合作。通</a:t>
            </a:r>
          </a:p>
        </p:txBody>
      </p:sp>
      <p:sp>
        <p:nvSpPr>
          <p:cNvPr id="1224" name="TextBox 1224"/>
          <p:cNvSpPr txBox="1"/>
          <p:nvPr/>
        </p:nvSpPr>
        <p:spPr>
          <a:xfrm>
            <a:off x="580390" y="1420012"/>
            <a:ext cx="10803229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50" dirty="0">
                <a:solidFill>
                  <a:srgbClr val="000000"/>
                </a:solidFill>
                <a:latin typeface="宋体"/>
                <a:ea typeface="宋体"/>
              </a:rPr>
              <a:t>过</a:t>
            </a:r>
            <a:r>
              <a:rPr lang="zh-CN" altLang="en-US" sz="1800" b="1" spc="150" dirty="0">
                <a:solidFill>
                  <a:srgbClr val="000000"/>
                </a:solidFill>
                <a:latin typeface="宋体"/>
                <a:ea typeface="宋体"/>
              </a:rPr>
              <a:t>初始生成</a:t>
            </a:r>
            <a:r>
              <a:rPr lang="zh-CN" altLang="en-US" sz="1800" spc="164" dirty="0">
                <a:solidFill>
                  <a:srgbClr val="000000"/>
                </a:solidFill>
                <a:latin typeface="宋体"/>
                <a:ea typeface="宋体"/>
              </a:rPr>
              <a:t>、</a:t>
            </a:r>
            <a:r>
              <a:rPr lang="zh-CN" altLang="en-US" sz="1800" b="1" spc="150" dirty="0">
                <a:solidFill>
                  <a:srgbClr val="000000"/>
                </a:solidFill>
                <a:latin typeface="宋体"/>
                <a:ea typeface="宋体"/>
              </a:rPr>
              <a:t>交互筛选</a:t>
            </a:r>
            <a:r>
              <a:rPr lang="zh-CN" altLang="en-US" sz="1800" spc="164" dirty="0">
                <a:solidFill>
                  <a:srgbClr val="000000"/>
                </a:solidFill>
                <a:latin typeface="宋体"/>
                <a:ea typeface="宋体"/>
              </a:rPr>
              <a:t>和</a:t>
            </a:r>
            <a:r>
              <a:rPr lang="zh-CN" altLang="en-US" sz="1800" b="1" spc="150" dirty="0">
                <a:solidFill>
                  <a:srgbClr val="000000"/>
                </a:solidFill>
                <a:latin typeface="宋体"/>
                <a:ea typeface="宋体"/>
              </a:rPr>
              <a:t>主观优化</a:t>
            </a:r>
            <a:r>
              <a:rPr lang="zh-CN" altLang="en-US" sz="1800" spc="154" dirty="0">
                <a:solidFill>
                  <a:srgbClr val="000000"/>
                </a:solidFill>
                <a:latin typeface="宋体"/>
                <a:ea typeface="宋体"/>
              </a:rPr>
              <a:t>三个层次，构建了一个动态循环的创作流</a:t>
            </a:r>
            <a:r>
              <a:rPr lang="zh-CN" altLang="en-US" sz="1800" spc="150" dirty="0">
                <a:solidFill>
                  <a:srgbClr val="000000"/>
                </a:solidFill>
                <a:latin typeface="宋体"/>
                <a:ea typeface="宋体"/>
              </a:rPr>
              <a:t>程，以提升内容生成的</a:t>
            </a:r>
          </a:p>
        </p:txBody>
      </p:sp>
      <p:sp>
        <p:nvSpPr>
          <p:cNvPr id="1225" name="TextBox 1225"/>
          <p:cNvSpPr txBox="1"/>
          <p:nvPr/>
        </p:nvSpPr>
        <p:spPr>
          <a:xfrm>
            <a:off x="580390" y="1776247"/>
            <a:ext cx="431798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144" dirty="0">
                <a:solidFill>
                  <a:srgbClr val="000000"/>
                </a:solidFill>
                <a:latin typeface="宋体"/>
                <a:ea typeface="宋体"/>
              </a:rPr>
              <a:t>效率</a:t>
            </a:r>
            <a:r>
              <a:rPr lang="zh-CN" altLang="en-US" sz="1800" spc="139" dirty="0">
                <a:solidFill>
                  <a:srgbClr val="000000"/>
                </a:solidFill>
                <a:latin typeface="宋体"/>
                <a:ea typeface="宋体"/>
              </a:rPr>
              <a:t>和质量，满足市场的多样化需求。</a:t>
            </a:r>
          </a:p>
        </p:txBody>
      </p:sp>
      <p:sp>
        <p:nvSpPr>
          <p:cNvPr id="1226" name="TextBox 1226"/>
          <p:cNvSpPr txBox="1"/>
          <p:nvPr/>
        </p:nvSpPr>
        <p:spPr>
          <a:xfrm>
            <a:off x="8273415" y="2605557"/>
            <a:ext cx="1501756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交互</a:t>
            </a: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筛选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概率</a:t>
            </a:r>
          </a:p>
        </p:txBody>
      </p:sp>
      <p:sp>
        <p:nvSpPr>
          <p:cNvPr id="1227" name="TextBox 1227"/>
          <p:cNvSpPr txBox="1"/>
          <p:nvPr/>
        </p:nvSpPr>
        <p:spPr>
          <a:xfrm>
            <a:off x="4470552" y="3273958"/>
            <a:ext cx="3723625" cy="2923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初始生</a:t>
            </a:r>
            <a:r>
              <a:rPr lang="zh-CN" altLang="en-US" sz="1800" b="1" dirty="0">
                <a:solidFill>
                  <a:srgbClr val="5E94E5"/>
                </a:solidFill>
                <a:latin typeface="宋体"/>
                <a:ea typeface="宋体"/>
              </a:rPr>
              <a:t>成概率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en-US" altLang="zh-CN" sz="1600" spc="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通过大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模型的概率预测与推理生成初步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内容。</a:t>
            </a:r>
          </a:p>
          <a:p>
            <a:pPr marL="0">
              <a:lnSpc>
                <a:spcPct val="101250"/>
              </a:lnSpc>
              <a:spcBef>
                <a:spcPts val="284"/>
              </a:spcBef>
            </a:pPr>
            <a:r>
              <a:rPr lang="zh-CN" altLang="en-US" sz="1800" b="1" spc="-10" dirty="0">
                <a:solidFill>
                  <a:srgbClr val="56B5E3"/>
                </a:solidFill>
                <a:latin typeface="宋体"/>
                <a:ea typeface="宋体"/>
              </a:rPr>
              <a:t>交互筛</a:t>
            </a:r>
            <a:r>
              <a:rPr lang="zh-CN" altLang="en-US" sz="1800" b="1" dirty="0">
                <a:solidFill>
                  <a:srgbClr val="56B5E3"/>
                </a:solidFill>
                <a:latin typeface="宋体"/>
                <a:ea typeface="宋体"/>
              </a:rPr>
              <a:t>选概率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hangingPunct="0">
              <a:lnSpc>
                <a:spcPct val="129583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用户与</a:t>
            </a:r>
            <a:r>
              <a:rPr lang="en-US" altLang="zh-CN" sz="1600" spc="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互动，</a:t>
            </a: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通过对话和选择筛选出更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优作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品。</a:t>
            </a:r>
          </a:p>
          <a:p>
            <a:pPr>
              <a:lnSpc>
                <a:spcPts val="690"/>
              </a:lnSpc>
            </a:pPr>
            <a:endParaRPr lang="en-US" dirty="0"/>
          </a:p>
          <a:p>
            <a:pPr marL="0">
              <a:lnSpc>
                <a:spcPct val="100416"/>
              </a:lnSpc>
            </a:pPr>
            <a:r>
              <a:rPr lang="zh-CN" altLang="en-US" sz="1800" b="1" spc="-10" dirty="0">
                <a:solidFill>
                  <a:srgbClr val="5E94E5"/>
                </a:solidFill>
                <a:latin typeface="宋体"/>
                <a:ea typeface="宋体"/>
              </a:rPr>
              <a:t>主观优</a:t>
            </a:r>
            <a:r>
              <a:rPr lang="zh-CN" altLang="en-US" sz="1800" b="1" dirty="0">
                <a:solidFill>
                  <a:srgbClr val="5E94E5"/>
                </a:solidFill>
                <a:latin typeface="宋体"/>
                <a:ea typeface="宋体"/>
              </a:rPr>
              <a:t>化概率</a:t>
            </a:r>
          </a:p>
          <a:p>
            <a:pPr marL="0">
              <a:lnSpc>
                <a:spcPct val="100833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用户基于自身能力和创</a:t>
            </a: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意对生成内容进行</a:t>
            </a:r>
          </a:p>
          <a:p>
            <a:pPr>
              <a:lnSpc>
                <a:spcPts val="5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个性化优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化。</a:t>
            </a:r>
          </a:p>
        </p:txBody>
      </p:sp>
      <p:sp>
        <p:nvSpPr>
          <p:cNvPr id="1228" name="TextBox 1228"/>
          <p:cNvSpPr txBox="1"/>
          <p:nvPr/>
        </p:nvSpPr>
        <p:spPr>
          <a:xfrm>
            <a:off x="10427969" y="3251352"/>
            <a:ext cx="1605263" cy="2290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17805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初始生成概率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6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主观</a:t>
            </a: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优化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概率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Picture 1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79" y="1356360"/>
            <a:ext cx="4823460" cy="4792979"/>
          </a:xfrm>
          <a:prstGeom prst="rect">
            <a:avLst/>
          </a:prstGeom>
        </p:spPr>
      </p:pic>
      <p:sp>
        <p:nvSpPr>
          <p:cNvPr id="2" name="TextBox 1230"/>
          <p:cNvSpPr txBox="1"/>
          <p:nvPr/>
        </p:nvSpPr>
        <p:spPr>
          <a:xfrm>
            <a:off x="376554" y="289633"/>
            <a:ext cx="7195145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9" dirty="0">
                <a:solidFill>
                  <a:srgbClr val="242424"/>
                </a:solidFill>
                <a:latin typeface="宋体"/>
                <a:ea typeface="宋体"/>
              </a:rPr>
              <a:t>人机共生时代</a:t>
            </a:r>
            <a:r>
              <a:rPr lang="zh-CN" altLang="en-US" sz="4000" b="1" spc="259" dirty="0">
                <a:solidFill>
                  <a:srgbClr val="242424"/>
                </a:solidFill>
                <a:latin typeface="宋体"/>
                <a:ea typeface="宋体"/>
              </a:rPr>
              <a:t>的能力培养体系</a:t>
            </a:r>
          </a:p>
        </p:txBody>
      </p:sp>
      <p:sp>
        <p:nvSpPr>
          <p:cNvPr id="1231" name="TextBox 1231"/>
          <p:cNvSpPr txBox="1"/>
          <p:nvPr/>
        </p:nvSpPr>
        <p:spPr>
          <a:xfrm>
            <a:off x="4467225" y="2247519"/>
            <a:ext cx="413374" cy="2996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8575">
              <a:lnSpc>
                <a:spcPct val="101250"/>
              </a:lnSpc>
            </a:pPr>
            <a:r>
              <a:rPr lang="zh-CN" altLang="en-US" sz="900" spc="-5" dirty="0">
                <a:solidFill>
                  <a:srgbClr val="FEFEFE"/>
                </a:solidFill>
                <a:latin typeface="宋体"/>
                <a:ea typeface="宋体"/>
              </a:rPr>
              <a:t>元认知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9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050" spc="-5" dirty="0">
                <a:solidFill>
                  <a:srgbClr val="FEFEFE"/>
                </a:solidFill>
                <a:latin typeface="宋体"/>
                <a:ea typeface="宋体"/>
              </a:rPr>
              <a:t>整合力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25"/>
              </a:lnSpc>
            </a:pPr>
            <a:endParaRPr lang="en-US" dirty="0"/>
          </a:p>
          <a:p>
            <a:pPr marL="0" indent="28575">
              <a:lnSpc>
                <a:spcPct val="101250"/>
              </a:lnSpc>
            </a:pPr>
            <a:r>
              <a:rPr lang="zh-CN" altLang="en-US" sz="900" spc="-5" dirty="0">
                <a:solidFill>
                  <a:srgbClr val="FEFEFE"/>
                </a:solidFill>
                <a:latin typeface="宋体"/>
                <a:ea typeface="宋体"/>
              </a:rPr>
              <a:t>创造力</a:t>
            </a:r>
          </a:p>
        </p:txBody>
      </p:sp>
      <p:sp>
        <p:nvSpPr>
          <p:cNvPr id="1232" name="TextBox 1232"/>
          <p:cNvSpPr txBox="1"/>
          <p:nvPr/>
        </p:nvSpPr>
        <p:spPr>
          <a:xfrm>
            <a:off x="5791200" y="2227582"/>
            <a:ext cx="622288" cy="30201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9537">
              <a:lnSpc>
                <a:spcPct val="101666"/>
              </a:lnSpc>
            </a:pPr>
            <a:r>
              <a:rPr lang="en-US" altLang="zh-CN" sz="1050" dirty="0">
                <a:solidFill>
                  <a:srgbClr val="FEFEFE"/>
                </a:solidFill>
                <a:latin typeface="Arial"/>
                <a:ea typeface="Arial"/>
              </a:rPr>
              <a:t>AI</a:t>
            </a:r>
            <a:r>
              <a:rPr lang="zh-CN" altLang="en-US" sz="1050" spc="-5" dirty="0">
                <a:solidFill>
                  <a:srgbClr val="FEFEFE"/>
                </a:solidFill>
                <a:latin typeface="宋体"/>
                <a:ea typeface="宋体"/>
              </a:rPr>
              <a:t>思维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人机</a:t>
            </a:r>
            <a:r>
              <a:rPr lang="zh-CN" altLang="en-US" sz="1200" dirty="0">
                <a:solidFill>
                  <a:srgbClr val="FEFEFE"/>
                </a:solidFill>
                <a:latin typeface="宋体"/>
                <a:ea typeface="宋体"/>
              </a:rPr>
              <a:t>共生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39"/>
              </a:lnSpc>
            </a:pPr>
            <a:endParaRPr lang="en-US" dirty="0"/>
          </a:p>
          <a:p>
            <a:pPr marL="0" indent="104775">
              <a:lnSpc>
                <a:spcPct val="101666"/>
              </a:lnSpc>
            </a:pPr>
            <a:r>
              <a:rPr lang="zh-CN" altLang="en-US" sz="1050" spc="-5" dirty="0">
                <a:solidFill>
                  <a:srgbClr val="FEFEFE"/>
                </a:solidFill>
                <a:latin typeface="宋体"/>
                <a:ea typeface="宋体"/>
              </a:rPr>
              <a:t>引导力</a:t>
            </a:r>
          </a:p>
        </p:txBody>
      </p:sp>
      <p:sp>
        <p:nvSpPr>
          <p:cNvPr id="1233" name="TextBox 1233"/>
          <p:cNvSpPr txBox="1"/>
          <p:nvPr/>
        </p:nvSpPr>
        <p:spPr>
          <a:xfrm>
            <a:off x="7296150" y="2247519"/>
            <a:ext cx="469891" cy="2996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900" spc="-10" dirty="0">
                <a:solidFill>
                  <a:srgbClr val="FEFEFE"/>
                </a:solidFill>
                <a:latin typeface="宋体"/>
                <a:ea typeface="宋体"/>
              </a:rPr>
              <a:t>系统</a:t>
            </a:r>
            <a:r>
              <a:rPr lang="zh-CN" altLang="en-US" sz="900" dirty="0">
                <a:solidFill>
                  <a:srgbClr val="FEFEFE"/>
                </a:solidFill>
                <a:latin typeface="宋体"/>
                <a:ea typeface="宋体"/>
              </a:rPr>
              <a:t>思维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95"/>
              </a:lnSpc>
            </a:pPr>
            <a:endParaRPr lang="en-US" dirty="0"/>
          </a:p>
          <a:p>
            <a:pPr marL="0" indent="28575">
              <a:lnSpc>
                <a:spcPct val="101666"/>
              </a:lnSpc>
            </a:pPr>
            <a:r>
              <a:rPr lang="zh-CN" altLang="en-US" sz="1050" spc="-5" dirty="0">
                <a:solidFill>
                  <a:srgbClr val="FEFEFE"/>
                </a:solidFill>
                <a:latin typeface="宋体"/>
                <a:ea typeface="宋体"/>
              </a:rPr>
              <a:t>判断力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25"/>
              </a:lnSpc>
            </a:pPr>
            <a:endParaRPr lang="en-US" dirty="0"/>
          </a:p>
          <a:p>
            <a:pPr marL="0" indent="57150">
              <a:lnSpc>
                <a:spcPct val="101250"/>
              </a:lnSpc>
            </a:pPr>
            <a:r>
              <a:rPr lang="zh-CN" altLang="en-US" sz="900" spc="-5" dirty="0">
                <a:solidFill>
                  <a:srgbClr val="FEFEFE"/>
                </a:solidFill>
                <a:latin typeface="宋体"/>
                <a:ea typeface="宋体"/>
              </a:rPr>
              <a:t>决策力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Freeform 1234"/>
          <p:cNvSpPr/>
          <p:nvPr/>
        </p:nvSpPr>
        <p:spPr>
          <a:xfrm>
            <a:off x="400050" y="1428750"/>
            <a:ext cx="2114550" cy="425450"/>
          </a:xfrm>
          <a:custGeom>
            <a:avLst/>
            <a:gdLst>
              <a:gd name="connsiteX0" fmla="*/ 6858 w 2114550"/>
              <a:gd name="connsiteY0" fmla="*/ 78486 h 425450"/>
              <a:gd name="connsiteX1" fmla="*/ 78486 w 2114550"/>
              <a:gd name="connsiteY1" fmla="*/ 6858 h 425450"/>
              <a:gd name="connsiteX2" fmla="*/ 2052066 w 2114550"/>
              <a:gd name="connsiteY2" fmla="*/ 6858 h 425450"/>
              <a:gd name="connsiteX3" fmla="*/ 2122170 w 2114550"/>
              <a:gd name="connsiteY3" fmla="*/ 78486 h 425450"/>
              <a:gd name="connsiteX4" fmla="*/ 2122170 w 2114550"/>
              <a:gd name="connsiteY4" fmla="*/ 363473 h 425450"/>
              <a:gd name="connsiteX5" fmla="*/ 2052066 w 2114550"/>
              <a:gd name="connsiteY5" fmla="*/ 435101 h 425450"/>
              <a:gd name="connsiteX6" fmla="*/ 78486 w 2114550"/>
              <a:gd name="connsiteY6" fmla="*/ 435101 h 425450"/>
              <a:gd name="connsiteX7" fmla="*/ 6858 w 2114550"/>
              <a:gd name="connsiteY7" fmla="*/ 363473 h 425450"/>
              <a:gd name="connsiteX8" fmla="*/ 6858 w 2114550"/>
              <a:gd name="connsiteY8" fmla="*/ 78486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425450">
                <a:moveTo>
                  <a:pt x="6858" y="78486"/>
                </a:moveTo>
                <a:cubicBezTo>
                  <a:pt x="6984" y="38874"/>
                  <a:pt x="38874" y="6985"/>
                  <a:pt x="78486" y="6858"/>
                </a:cubicBezTo>
                <a:lnTo>
                  <a:pt x="2052066" y="6858"/>
                </a:lnTo>
                <a:cubicBezTo>
                  <a:pt x="2090915" y="6985"/>
                  <a:pt x="2122804" y="38874"/>
                  <a:pt x="2122170" y="78486"/>
                </a:cubicBezTo>
                <a:lnTo>
                  <a:pt x="2122170" y="363473"/>
                </a:lnTo>
                <a:cubicBezTo>
                  <a:pt x="2122804" y="402450"/>
                  <a:pt x="2090915" y="434339"/>
                  <a:pt x="2052066" y="435101"/>
                </a:cubicBezTo>
                <a:lnTo>
                  <a:pt x="78486" y="435101"/>
                </a:lnTo>
                <a:cubicBezTo>
                  <a:pt x="38874" y="434339"/>
                  <a:pt x="6984" y="402450"/>
                  <a:pt x="6858" y="363473"/>
                </a:cubicBezTo>
                <a:lnTo>
                  <a:pt x="6858" y="78486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5" name="Freeform 1235"/>
          <p:cNvSpPr/>
          <p:nvPr/>
        </p:nvSpPr>
        <p:spPr>
          <a:xfrm>
            <a:off x="4832350" y="1428750"/>
            <a:ext cx="2114550" cy="425450"/>
          </a:xfrm>
          <a:custGeom>
            <a:avLst/>
            <a:gdLst>
              <a:gd name="connsiteX0" fmla="*/ 7873 w 2114550"/>
              <a:gd name="connsiteY0" fmla="*/ 78486 h 425450"/>
              <a:gd name="connsiteX1" fmla="*/ 79502 w 2114550"/>
              <a:gd name="connsiteY1" fmla="*/ 6858 h 425450"/>
              <a:gd name="connsiteX2" fmla="*/ 2053081 w 2114550"/>
              <a:gd name="connsiteY2" fmla="*/ 6858 h 425450"/>
              <a:gd name="connsiteX3" fmla="*/ 2124709 w 2114550"/>
              <a:gd name="connsiteY3" fmla="*/ 78486 h 425450"/>
              <a:gd name="connsiteX4" fmla="*/ 2124709 w 2114550"/>
              <a:gd name="connsiteY4" fmla="*/ 363473 h 425450"/>
              <a:gd name="connsiteX5" fmla="*/ 2053081 w 2114550"/>
              <a:gd name="connsiteY5" fmla="*/ 435101 h 425450"/>
              <a:gd name="connsiteX6" fmla="*/ 79502 w 2114550"/>
              <a:gd name="connsiteY6" fmla="*/ 435101 h 425450"/>
              <a:gd name="connsiteX7" fmla="*/ 7873 w 2114550"/>
              <a:gd name="connsiteY7" fmla="*/ 363473 h 425450"/>
              <a:gd name="connsiteX8" fmla="*/ 7873 w 2114550"/>
              <a:gd name="connsiteY8" fmla="*/ 78486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425450">
                <a:moveTo>
                  <a:pt x="7873" y="78486"/>
                </a:moveTo>
                <a:cubicBezTo>
                  <a:pt x="8254" y="38874"/>
                  <a:pt x="40144" y="6985"/>
                  <a:pt x="79502" y="6858"/>
                </a:cubicBezTo>
                <a:lnTo>
                  <a:pt x="2053081" y="6858"/>
                </a:lnTo>
                <a:cubicBezTo>
                  <a:pt x="2092185" y="6985"/>
                  <a:pt x="2124075" y="38874"/>
                  <a:pt x="2124709" y="78486"/>
                </a:cubicBezTo>
                <a:lnTo>
                  <a:pt x="2124709" y="363473"/>
                </a:lnTo>
                <a:cubicBezTo>
                  <a:pt x="2124075" y="402450"/>
                  <a:pt x="2092185" y="434339"/>
                  <a:pt x="2053081" y="435101"/>
                </a:cubicBezTo>
                <a:lnTo>
                  <a:pt x="79502" y="435101"/>
                </a:lnTo>
                <a:cubicBezTo>
                  <a:pt x="40144" y="434339"/>
                  <a:pt x="8254" y="402450"/>
                  <a:pt x="7873" y="363473"/>
                </a:cubicBezTo>
                <a:lnTo>
                  <a:pt x="7873" y="78486"/>
                </a:lnTo>
                <a:close/>
              </a:path>
            </a:pathLst>
          </a:custGeom>
          <a:solidFill>
            <a:srgbClr val="097FD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7" name="Picture 12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1760220"/>
            <a:ext cx="4236720" cy="4541520"/>
          </a:xfrm>
          <a:prstGeom prst="rect">
            <a:avLst/>
          </a:prstGeom>
        </p:spPr>
      </p:pic>
      <p:pic>
        <p:nvPicPr>
          <p:cNvPr id="1238" name="Picture 1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820" y="1760220"/>
            <a:ext cx="2697480" cy="4526279"/>
          </a:xfrm>
          <a:prstGeom prst="rect">
            <a:avLst/>
          </a:prstGeom>
        </p:spPr>
      </p:pic>
      <p:pic>
        <p:nvPicPr>
          <p:cNvPr id="1239" name="Picture 12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220" y="1760220"/>
            <a:ext cx="4221479" cy="4526279"/>
          </a:xfrm>
          <a:prstGeom prst="rect">
            <a:avLst/>
          </a:prstGeom>
        </p:spPr>
      </p:pic>
      <p:sp>
        <p:nvSpPr>
          <p:cNvPr id="2" name="TextBox 1239"/>
          <p:cNvSpPr txBox="1"/>
          <p:nvPr/>
        </p:nvSpPr>
        <p:spPr>
          <a:xfrm>
            <a:off x="376554" y="289633"/>
            <a:ext cx="317750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-20" dirty="0">
                <a:solidFill>
                  <a:srgbClr val="323232"/>
                </a:solidFill>
                <a:latin typeface="宋体"/>
                <a:ea typeface="宋体"/>
              </a:rPr>
              <a:t>四大核</a:t>
            </a:r>
            <a:r>
              <a:rPr lang="zh-CN" altLang="en-US" sz="4000" b="1" spc="-10" dirty="0">
                <a:solidFill>
                  <a:srgbClr val="323232"/>
                </a:solidFill>
                <a:latin typeface="宋体"/>
                <a:ea typeface="宋体"/>
              </a:rPr>
              <a:t>心能力</a:t>
            </a:r>
          </a:p>
        </p:txBody>
      </p:sp>
      <p:sp>
        <p:nvSpPr>
          <p:cNvPr id="1240" name="TextBox 1240"/>
          <p:cNvSpPr txBox="1"/>
          <p:nvPr/>
        </p:nvSpPr>
        <p:spPr>
          <a:xfrm>
            <a:off x="508634" y="1533588"/>
            <a:ext cx="3875389" cy="45756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16496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FEFEFE"/>
                </a:solidFill>
                <a:latin typeface="宋体"/>
                <a:ea typeface="宋体"/>
              </a:rPr>
              <a:t>AI</a:t>
            </a:r>
            <a:r>
              <a:rPr lang="zh-CN" altLang="en-US" sz="1800" b="1" spc="-35" dirty="0">
                <a:solidFill>
                  <a:srgbClr val="FEFEFE"/>
                </a:solidFill>
                <a:latin typeface="宋体"/>
                <a:ea typeface="宋体"/>
              </a:rPr>
              <a:t>思维</a:t>
            </a:r>
          </a:p>
          <a:p>
            <a:pPr>
              <a:lnSpc>
                <a:spcPts val="145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算法思维：理解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决策逻辑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数据洞察：数据驱动分析能力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边界认知：把握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能力边界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协同意识：建立人机协作模型</a:t>
            </a:r>
          </a:p>
          <a:p>
            <a:pPr marL="0" hangingPunct="0">
              <a:lnSpc>
                <a:spcPct val="10958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核心观点：掌握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思维模式，建立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人机协作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认知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框架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 indent="626021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引导力</a:t>
            </a:r>
          </a:p>
          <a:p>
            <a:pPr>
              <a:lnSpc>
                <a:spcPts val="1444"/>
              </a:lnSpc>
            </a:pPr>
            <a:endParaRPr lang="en-US" dirty="0"/>
          </a:p>
          <a:p>
            <a:pPr marL="0" indent="1397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提示工程：设计高效指令</a:t>
            </a:r>
          </a:p>
          <a:p>
            <a:pPr marL="0" indent="1397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对话管理：控制交互方向</a:t>
            </a:r>
          </a:p>
          <a:p>
            <a:pPr marL="0" indent="1397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任务分解：优化问题结构</a:t>
            </a:r>
          </a:p>
          <a:p>
            <a:pPr marL="0" indent="1397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质量控制：把控输出质量</a:t>
            </a:r>
          </a:p>
          <a:p>
            <a:pPr marL="13970" hangingPunct="0">
              <a:lnSpc>
                <a:spcPct val="10958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核心观点：主导</a:t>
            </a:r>
            <a:r>
              <a:rPr lang="en-US" altLang="zh-CN" sz="1600" spc="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交互过程，确保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输出符合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预期</a:t>
            </a:r>
          </a:p>
        </p:txBody>
      </p:sp>
      <p:sp>
        <p:nvSpPr>
          <p:cNvPr id="1241" name="TextBox 1241"/>
          <p:cNvSpPr txBox="1"/>
          <p:nvPr/>
        </p:nvSpPr>
        <p:spPr>
          <a:xfrm>
            <a:off x="4932045" y="1533588"/>
            <a:ext cx="3861419" cy="4570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2221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整合力</a:t>
            </a:r>
          </a:p>
          <a:p>
            <a:pPr>
              <a:lnSpc>
                <a:spcPts val="145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跨域翻译：转化领域知识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创意重组：重构工作方法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资源编排：优化人机协同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知识融合：整合新旧知识</a:t>
            </a:r>
          </a:p>
          <a:p>
            <a:pPr marL="0" hangingPunct="0">
              <a:lnSpc>
                <a:spcPct val="10958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核心观点：融合人机优势，创造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1+1&gt;2</a:t>
            </a:r>
            <a:r>
              <a:rPr lang="zh-CN" altLang="en-US" sz="1600" spc="15" dirty="0">
                <a:solidFill>
                  <a:srgbClr val="000000"/>
                </a:solidFill>
                <a:latin typeface="宋体"/>
                <a:ea typeface="宋体"/>
              </a:rPr>
              <a:t>的价</a:t>
            </a:r>
            <a:r>
              <a:rPr lang="zh-CN" altLang="en-US" sz="1600" spc="-20" dirty="0">
                <a:solidFill>
                  <a:srgbClr val="000000"/>
                </a:solidFill>
                <a:latin typeface="宋体"/>
                <a:ea typeface="宋体"/>
              </a:rPr>
              <a:t>值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00"/>
              </a:lnSpc>
            </a:pPr>
            <a:endParaRPr lang="en-US" dirty="0"/>
          </a:p>
          <a:p>
            <a:pPr marL="0" indent="62221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判断力</a:t>
            </a:r>
          </a:p>
          <a:p>
            <a:pPr>
              <a:lnSpc>
                <a:spcPts val="145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真伪辨识：评估内容可靠性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价值评估：判断应用价值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风险预测：预见潜在风险</a:t>
            </a:r>
          </a:p>
          <a:p>
            <a:pPr marL="0">
              <a:lnSpc>
                <a:spcPct val="100833"/>
              </a:lnSpc>
              <a:spcBef>
                <a:spcPts val="17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情境适配：评估场景适用性</a:t>
            </a:r>
          </a:p>
          <a:p>
            <a:pPr marL="0" hangingPunct="0">
              <a:lnSpc>
                <a:spcPct val="109583"/>
              </a:lnSpc>
              <a:spcBef>
                <a:spcPts val="170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核心观点：保持独立思考，做</a:t>
            </a:r>
            <a:r>
              <a:rPr lang="en-US" altLang="zh-CN" sz="1600" spc="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输出的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把关</a:t>
            </a:r>
            <a:r>
              <a:rPr lang="zh-CN" altLang="en-US" sz="1600" spc="-20" dirty="0">
                <a:solidFill>
                  <a:srgbClr val="000000"/>
                </a:solidFill>
                <a:latin typeface="宋体"/>
                <a:ea typeface="宋体"/>
              </a:rPr>
              <a:t>者</a:t>
            </a:r>
          </a:p>
        </p:txBody>
      </p:sp>
      <p:sp>
        <p:nvSpPr>
          <p:cNvPr id="1242" name="TextBox 1242"/>
          <p:cNvSpPr txBox="1"/>
          <p:nvPr/>
        </p:nvSpPr>
        <p:spPr>
          <a:xfrm>
            <a:off x="9463405" y="2609085"/>
            <a:ext cx="2329799" cy="2920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hangingPunct="0">
              <a:lnSpc>
                <a:spcPct val="11958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培养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“AI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思维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：</a:t>
            </a:r>
            <a:r>
              <a:rPr lang="zh-CN" altLang="en-US" sz="1600" spc="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理解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不同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的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能力边界和最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佳应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用场景</a:t>
            </a:r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发展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整合力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：将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能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力与人类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洞察有机结合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提升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引导力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：能够准</a:t>
            </a:r>
          </a:p>
          <a:p>
            <a:pPr marL="0" indent="28575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确地引导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完成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任务</a:t>
            </a:r>
          </a:p>
          <a:p>
            <a:pPr marL="285750" indent="-285750" hangingPunct="0">
              <a:lnSpc>
                <a:spcPct val="11958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强化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判断力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：对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输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出的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准确性和适用性做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出评估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Freeform 1243"/>
          <p:cNvSpPr/>
          <p:nvPr/>
        </p:nvSpPr>
        <p:spPr>
          <a:xfrm>
            <a:off x="1327150" y="2965450"/>
            <a:ext cx="4121150" cy="768350"/>
          </a:xfrm>
          <a:custGeom>
            <a:avLst/>
            <a:gdLst>
              <a:gd name="connsiteX0" fmla="*/ 154177 w 4121150"/>
              <a:gd name="connsiteY0" fmla="*/ 10922 h 768350"/>
              <a:gd name="connsiteX1" fmla="*/ 4133341 w 4121150"/>
              <a:gd name="connsiteY1" fmla="*/ 10922 h 768350"/>
              <a:gd name="connsiteX2" fmla="*/ 4133341 w 4121150"/>
              <a:gd name="connsiteY2" fmla="*/ 637285 h 768350"/>
              <a:gd name="connsiteX3" fmla="*/ 3993134 w 4121150"/>
              <a:gd name="connsiteY3" fmla="*/ 775970 h 768350"/>
              <a:gd name="connsiteX4" fmla="*/ 13969 w 4121150"/>
              <a:gd name="connsiteY4" fmla="*/ 775970 h 768350"/>
              <a:gd name="connsiteX5" fmla="*/ 13969 w 4121150"/>
              <a:gd name="connsiteY5" fmla="*/ 149605 h 768350"/>
              <a:gd name="connsiteX6" fmla="*/ 154177 w 4121150"/>
              <a:gd name="connsiteY6" fmla="*/ 10922 h 76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21150" h="768350">
                <a:moveTo>
                  <a:pt x="154177" y="10922"/>
                </a:moveTo>
                <a:lnTo>
                  <a:pt x="4133341" y="10922"/>
                </a:lnTo>
                <a:lnTo>
                  <a:pt x="4133341" y="637285"/>
                </a:lnTo>
                <a:cubicBezTo>
                  <a:pt x="4132579" y="713968"/>
                  <a:pt x="4069943" y="776604"/>
                  <a:pt x="3993134" y="775970"/>
                </a:cubicBezTo>
                <a:lnTo>
                  <a:pt x="13969" y="775970"/>
                </a:lnTo>
                <a:lnTo>
                  <a:pt x="13969" y="149605"/>
                </a:lnTo>
                <a:cubicBezTo>
                  <a:pt x="13969" y="72796"/>
                  <a:pt x="76606" y="10160"/>
                  <a:pt x="154177" y="10922"/>
                </a:cubicBezTo>
                <a:close/>
              </a:path>
            </a:pathLst>
          </a:custGeom>
          <a:solidFill>
            <a:srgbClr val="DEE9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" name="Freeform 1244"/>
          <p:cNvSpPr/>
          <p:nvPr/>
        </p:nvSpPr>
        <p:spPr>
          <a:xfrm>
            <a:off x="615950" y="1263650"/>
            <a:ext cx="615950" cy="603250"/>
          </a:xfrm>
          <a:custGeom>
            <a:avLst/>
            <a:gdLst>
              <a:gd name="connsiteX0" fmla="*/ 13462 w 615950"/>
              <a:gd name="connsiteY0" fmla="*/ 312166 h 603250"/>
              <a:gd name="connsiteX1" fmla="*/ 316509 w 615950"/>
              <a:gd name="connsiteY1" fmla="*/ 9486 h 603250"/>
              <a:gd name="connsiteX2" fmla="*/ 620166 w 615950"/>
              <a:gd name="connsiteY2" fmla="*/ 311530 h 603250"/>
              <a:gd name="connsiteX3" fmla="*/ 316509 w 615950"/>
              <a:gd name="connsiteY3" fmla="*/ 613587 h 603250"/>
              <a:gd name="connsiteX4" fmla="*/ 13462 w 615950"/>
              <a:gd name="connsiteY4" fmla="*/ 312166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950" h="603250">
                <a:moveTo>
                  <a:pt x="13462" y="312166"/>
                </a:moveTo>
                <a:cubicBezTo>
                  <a:pt x="12852" y="144716"/>
                  <a:pt x="148805" y="9486"/>
                  <a:pt x="316509" y="9486"/>
                </a:cubicBezTo>
                <a:cubicBezTo>
                  <a:pt x="484212" y="9486"/>
                  <a:pt x="620166" y="144716"/>
                  <a:pt x="620166" y="311530"/>
                </a:cubicBezTo>
                <a:cubicBezTo>
                  <a:pt x="620166" y="478345"/>
                  <a:pt x="484212" y="613587"/>
                  <a:pt x="316509" y="613587"/>
                </a:cubicBezTo>
                <a:cubicBezTo>
                  <a:pt x="148805" y="613587"/>
                  <a:pt x="12852" y="478345"/>
                  <a:pt x="13462" y="312166"/>
                </a:cubicBezTo>
                <a:close/>
              </a:path>
            </a:pathLst>
          </a:custGeom>
          <a:solidFill>
            <a:srgbClr val="3B8FB7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5" name="Freeform 1245"/>
          <p:cNvSpPr/>
          <p:nvPr/>
        </p:nvSpPr>
        <p:spPr>
          <a:xfrm>
            <a:off x="615950" y="3829050"/>
            <a:ext cx="615950" cy="603250"/>
          </a:xfrm>
          <a:custGeom>
            <a:avLst/>
            <a:gdLst>
              <a:gd name="connsiteX0" fmla="*/ 13462 w 615950"/>
              <a:gd name="connsiteY0" fmla="*/ 310134 h 603250"/>
              <a:gd name="connsiteX1" fmla="*/ 316230 w 615950"/>
              <a:gd name="connsiteY1" fmla="*/ 7620 h 603250"/>
              <a:gd name="connsiteX2" fmla="*/ 619760 w 615950"/>
              <a:gd name="connsiteY2" fmla="*/ 309562 h 603250"/>
              <a:gd name="connsiteX3" fmla="*/ 316230 w 615950"/>
              <a:gd name="connsiteY3" fmla="*/ 611504 h 603250"/>
              <a:gd name="connsiteX4" fmla="*/ 13462 w 615950"/>
              <a:gd name="connsiteY4" fmla="*/ 310134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950" h="603250">
                <a:moveTo>
                  <a:pt x="13462" y="310134"/>
                </a:moveTo>
                <a:cubicBezTo>
                  <a:pt x="12700" y="142798"/>
                  <a:pt x="148590" y="7620"/>
                  <a:pt x="316230" y="7620"/>
                </a:cubicBezTo>
                <a:cubicBezTo>
                  <a:pt x="483869" y="7620"/>
                  <a:pt x="619760" y="142798"/>
                  <a:pt x="619760" y="309562"/>
                </a:cubicBezTo>
                <a:cubicBezTo>
                  <a:pt x="619760" y="476326"/>
                  <a:pt x="483869" y="611504"/>
                  <a:pt x="316230" y="611504"/>
                </a:cubicBezTo>
                <a:cubicBezTo>
                  <a:pt x="148590" y="611504"/>
                  <a:pt x="12700" y="476326"/>
                  <a:pt x="13462" y="310134"/>
                </a:cubicBezTo>
                <a:close/>
              </a:path>
            </a:pathLst>
          </a:custGeom>
          <a:solidFill>
            <a:srgbClr val="37638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6" name="Freeform 1246"/>
          <p:cNvSpPr/>
          <p:nvPr/>
        </p:nvSpPr>
        <p:spPr>
          <a:xfrm>
            <a:off x="6191250" y="1263650"/>
            <a:ext cx="615950" cy="603250"/>
          </a:xfrm>
          <a:custGeom>
            <a:avLst/>
            <a:gdLst>
              <a:gd name="connsiteX0" fmla="*/ 17526 w 615950"/>
              <a:gd name="connsiteY0" fmla="*/ 312166 h 603250"/>
              <a:gd name="connsiteX1" fmla="*/ 321043 w 615950"/>
              <a:gd name="connsiteY1" fmla="*/ 9486 h 603250"/>
              <a:gd name="connsiteX2" fmla="*/ 624700 w 615950"/>
              <a:gd name="connsiteY2" fmla="*/ 311530 h 603250"/>
              <a:gd name="connsiteX3" fmla="*/ 321043 w 615950"/>
              <a:gd name="connsiteY3" fmla="*/ 613587 h 603250"/>
              <a:gd name="connsiteX4" fmla="*/ 17526 w 615950"/>
              <a:gd name="connsiteY4" fmla="*/ 312166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950" h="603250">
                <a:moveTo>
                  <a:pt x="17526" y="312166"/>
                </a:moveTo>
                <a:cubicBezTo>
                  <a:pt x="17386" y="144716"/>
                  <a:pt x="153339" y="9486"/>
                  <a:pt x="321043" y="9486"/>
                </a:cubicBezTo>
                <a:cubicBezTo>
                  <a:pt x="488746" y="9486"/>
                  <a:pt x="624700" y="144716"/>
                  <a:pt x="624700" y="311530"/>
                </a:cubicBezTo>
                <a:cubicBezTo>
                  <a:pt x="624700" y="478345"/>
                  <a:pt x="488746" y="613587"/>
                  <a:pt x="321043" y="613587"/>
                </a:cubicBezTo>
                <a:cubicBezTo>
                  <a:pt x="153339" y="613587"/>
                  <a:pt x="17386" y="478345"/>
                  <a:pt x="17526" y="312166"/>
                </a:cubicBezTo>
                <a:close/>
              </a:path>
            </a:pathLst>
          </a:custGeom>
          <a:solidFill>
            <a:srgbClr val="5077A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7" name="Freeform 1247"/>
          <p:cNvSpPr/>
          <p:nvPr/>
        </p:nvSpPr>
        <p:spPr>
          <a:xfrm>
            <a:off x="6191250" y="3829050"/>
            <a:ext cx="615950" cy="603250"/>
          </a:xfrm>
          <a:custGeom>
            <a:avLst/>
            <a:gdLst>
              <a:gd name="connsiteX0" fmla="*/ 17526 w 615950"/>
              <a:gd name="connsiteY0" fmla="*/ 310134 h 603250"/>
              <a:gd name="connsiteX1" fmla="*/ 321678 w 615950"/>
              <a:gd name="connsiteY1" fmla="*/ 7404 h 603250"/>
              <a:gd name="connsiteX2" fmla="*/ 625335 w 615950"/>
              <a:gd name="connsiteY2" fmla="*/ 309448 h 603250"/>
              <a:gd name="connsiteX3" fmla="*/ 321678 w 615950"/>
              <a:gd name="connsiteY3" fmla="*/ 611492 h 603250"/>
              <a:gd name="connsiteX4" fmla="*/ 17526 w 615950"/>
              <a:gd name="connsiteY4" fmla="*/ 310134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950" h="603250">
                <a:moveTo>
                  <a:pt x="17526" y="310134"/>
                </a:moveTo>
                <a:cubicBezTo>
                  <a:pt x="18021" y="142633"/>
                  <a:pt x="153974" y="7404"/>
                  <a:pt x="321678" y="7404"/>
                </a:cubicBezTo>
                <a:cubicBezTo>
                  <a:pt x="489381" y="7404"/>
                  <a:pt x="625335" y="142633"/>
                  <a:pt x="625335" y="309448"/>
                </a:cubicBezTo>
                <a:cubicBezTo>
                  <a:pt x="625335" y="476262"/>
                  <a:pt x="489381" y="611492"/>
                  <a:pt x="321678" y="611492"/>
                </a:cubicBezTo>
                <a:cubicBezTo>
                  <a:pt x="153974" y="611492"/>
                  <a:pt x="18021" y="476262"/>
                  <a:pt x="17526" y="310134"/>
                </a:cubicBezTo>
                <a:close/>
              </a:path>
            </a:pathLst>
          </a:custGeom>
          <a:solidFill>
            <a:srgbClr val="40539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49" name="Picture 12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760220"/>
            <a:ext cx="4107179" cy="1211580"/>
          </a:xfrm>
          <a:prstGeom prst="rect">
            <a:avLst/>
          </a:prstGeom>
        </p:spPr>
      </p:pic>
      <p:pic>
        <p:nvPicPr>
          <p:cNvPr id="1250" name="Picture 1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87780"/>
            <a:ext cx="4122420" cy="464820"/>
          </a:xfrm>
          <a:prstGeom prst="rect">
            <a:avLst/>
          </a:prstGeom>
        </p:spPr>
      </p:pic>
      <p:sp>
        <p:nvSpPr>
          <p:cNvPr id="2" name="Freeform 1250"/>
          <p:cNvSpPr/>
          <p:nvPr/>
        </p:nvSpPr>
        <p:spPr>
          <a:xfrm>
            <a:off x="6927850" y="2965450"/>
            <a:ext cx="4121150" cy="768350"/>
          </a:xfrm>
          <a:custGeom>
            <a:avLst/>
            <a:gdLst>
              <a:gd name="connsiteX0" fmla="*/ 152654 w 4121150"/>
              <a:gd name="connsiteY0" fmla="*/ 10922 h 768350"/>
              <a:gd name="connsiteX1" fmla="*/ 4130293 w 4121150"/>
              <a:gd name="connsiteY1" fmla="*/ 10922 h 768350"/>
              <a:gd name="connsiteX2" fmla="*/ 4130293 w 4121150"/>
              <a:gd name="connsiteY2" fmla="*/ 637285 h 768350"/>
              <a:gd name="connsiteX3" fmla="*/ 3990085 w 4121150"/>
              <a:gd name="connsiteY3" fmla="*/ 775970 h 768350"/>
              <a:gd name="connsiteX4" fmla="*/ 12445 w 4121150"/>
              <a:gd name="connsiteY4" fmla="*/ 775970 h 768350"/>
              <a:gd name="connsiteX5" fmla="*/ 12445 w 4121150"/>
              <a:gd name="connsiteY5" fmla="*/ 149605 h 768350"/>
              <a:gd name="connsiteX6" fmla="*/ 152654 w 4121150"/>
              <a:gd name="connsiteY6" fmla="*/ 10922 h 76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21150" h="768350">
                <a:moveTo>
                  <a:pt x="152654" y="10922"/>
                </a:moveTo>
                <a:lnTo>
                  <a:pt x="4130293" y="10922"/>
                </a:lnTo>
                <a:lnTo>
                  <a:pt x="4130293" y="637285"/>
                </a:lnTo>
                <a:cubicBezTo>
                  <a:pt x="4130675" y="713968"/>
                  <a:pt x="4068038" y="776604"/>
                  <a:pt x="3990085" y="775970"/>
                </a:cubicBezTo>
                <a:lnTo>
                  <a:pt x="12445" y="775970"/>
                </a:lnTo>
                <a:lnTo>
                  <a:pt x="12445" y="149605"/>
                </a:lnTo>
                <a:cubicBezTo>
                  <a:pt x="12065" y="72796"/>
                  <a:pt x="74701" y="10160"/>
                  <a:pt x="152654" y="10922"/>
                </a:cubicBezTo>
                <a:close/>
              </a:path>
            </a:pathLst>
          </a:custGeom>
          <a:solidFill>
            <a:srgbClr val="DEE9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2" name="Picture 1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820" y="1760220"/>
            <a:ext cx="4107179" cy="1211580"/>
          </a:xfrm>
          <a:prstGeom prst="rect">
            <a:avLst/>
          </a:prstGeom>
        </p:spPr>
      </p:pic>
      <p:pic>
        <p:nvPicPr>
          <p:cNvPr id="1253" name="Picture 12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0" y="1287780"/>
            <a:ext cx="4122420" cy="464820"/>
          </a:xfrm>
          <a:prstGeom prst="rect">
            <a:avLst/>
          </a:prstGeom>
        </p:spPr>
      </p:pic>
      <p:sp>
        <p:nvSpPr>
          <p:cNvPr id="3" name="Freeform 1253"/>
          <p:cNvSpPr/>
          <p:nvPr/>
        </p:nvSpPr>
        <p:spPr>
          <a:xfrm>
            <a:off x="1339850" y="5619750"/>
            <a:ext cx="4133850" cy="768350"/>
          </a:xfrm>
          <a:custGeom>
            <a:avLst/>
            <a:gdLst>
              <a:gd name="connsiteX0" fmla="*/ 158241 w 4133850"/>
              <a:gd name="connsiteY0" fmla="*/ 6858 h 768350"/>
              <a:gd name="connsiteX1" fmla="*/ 4137405 w 4133850"/>
              <a:gd name="connsiteY1" fmla="*/ 6858 h 768350"/>
              <a:gd name="connsiteX2" fmla="*/ 4137405 w 4133850"/>
              <a:gd name="connsiteY2" fmla="*/ 633221 h 768350"/>
              <a:gd name="connsiteX3" fmla="*/ 3997197 w 4133850"/>
              <a:gd name="connsiteY3" fmla="*/ 773429 h 768350"/>
              <a:gd name="connsiteX4" fmla="*/ 18033 w 4133850"/>
              <a:gd name="connsiteY4" fmla="*/ 773429 h 768350"/>
              <a:gd name="connsiteX5" fmla="*/ 18033 w 4133850"/>
              <a:gd name="connsiteY5" fmla="*/ 145541 h 768350"/>
              <a:gd name="connsiteX6" fmla="*/ 158241 w 4133850"/>
              <a:gd name="connsiteY6" fmla="*/ 6858 h 76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3850" h="768350">
                <a:moveTo>
                  <a:pt x="158241" y="6858"/>
                </a:moveTo>
                <a:lnTo>
                  <a:pt x="4137405" y="6858"/>
                </a:lnTo>
                <a:lnTo>
                  <a:pt x="4137405" y="633221"/>
                </a:lnTo>
                <a:cubicBezTo>
                  <a:pt x="4137025" y="710158"/>
                  <a:pt x="4074388" y="772795"/>
                  <a:pt x="3997197" y="773429"/>
                </a:cubicBezTo>
                <a:lnTo>
                  <a:pt x="18033" y="773429"/>
                </a:lnTo>
                <a:lnTo>
                  <a:pt x="18033" y="145541"/>
                </a:lnTo>
                <a:cubicBezTo>
                  <a:pt x="18414" y="68986"/>
                  <a:pt x="81051" y="6350"/>
                  <a:pt x="158241" y="6858"/>
                </a:cubicBezTo>
                <a:close/>
              </a:path>
            </a:pathLst>
          </a:custGeom>
          <a:solidFill>
            <a:srgbClr val="DEE9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5" name="Picture 12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360" y="4411979"/>
            <a:ext cx="4107179" cy="1203960"/>
          </a:xfrm>
          <a:prstGeom prst="rect">
            <a:avLst/>
          </a:prstGeom>
        </p:spPr>
      </p:pic>
      <p:pic>
        <p:nvPicPr>
          <p:cNvPr id="1256" name="Picture 12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360" y="3947160"/>
            <a:ext cx="4107179" cy="449580"/>
          </a:xfrm>
          <a:prstGeom prst="rect">
            <a:avLst/>
          </a:prstGeom>
        </p:spPr>
      </p:pic>
      <p:sp>
        <p:nvSpPr>
          <p:cNvPr id="4" name="Freeform 1256"/>
          <p:cNvSpPr/>
          <p:nvPr/>
        </p:nvSpPr>
        <p:spPr>
          <a:xfrm>
            <a:off x="6965950" y="5607050"/>
            <a:ext cx="4121150" cy="768350"/>
          </a:xfrm>
          <a:custGeom>
            <a:avLst/>
            <a:gdLst>
              <a:gd name="connsiteX0" fmla="*/ 146557 w 4121150"/>
              <a:gd name="connsiteY0" fmla="*/ 8890 h 768350"/>
              <a:gd name="connsiteX1" fmla="*/ 4125721 w 4121150"/>
              <a:gd name="connsiteY1" fmla="*/ 8890 h 768350"/>
              <a:gd name="connsiteX2" fmla="*/ 4125721 w 4121150"/>
              <a:gd name="connsiteY2" fmla="*/ 635253 h 768350"/>
              <a:gd name="connsiteX3" fmla="*/ 3985514 w 4121150"/>
              <a:gd name="connsiteY3" fmla="*/ 775461 h 768350"/>
              <a:gd name="connsiteX4" fmla="*/ 6350 w 4121150"/>
              <a:gd name="connsiteY4" fmla="*/ 775461 h 768350"/>
              <a:gd name="connsiteX5" fmla="*/ 6350 w 4121150"/>
              <a:gd name="connsiteY5" fmla="*/ 147573 h 768350"/>
              <a:gd name="connsiteX6" fmla="*/ 146557 w 4121150"/>
              <a:gd name="connsiteY6" fmla="*/ 8890 h 76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21150" h="768350">
                <a:moveTo>
                  <a:pt x="146557" y="8890"/>
                </a:moveTo>
                <a:lnTo>
                  <a:pt x="4125721" y="8890"/>
                </a:lnTo>
                <a:lnTo>
                  <a:pt x="4125721" y="635253"/>
                </a:lnTo>
                <a:cubicBezTo>
                  <a:pt x="4124959" y="712063"/>
                  <a:pt x="4062323" y="774700"/>
                  <a:pt x="3985514" y="775461"/>
                </a:cubicBezTo>
                <a:lnTo>
                  <a:pt x="6350" y="775461"/>
                </a:lnTo>
                <a:lnTo>
                  <a:pt x="6350" y="147573"/>
                </a:lnTo>
                <a:cubicBezTo>
                  <a:pt x="6350" y="70891"/>
                  <a:pt x="68986" y="8254"/>
                  <a:pt x="146557" y="8890"/>
                </a:cubicBezTo>
                <a:close/>
              </a:path>
            </a:pathLst>
          </a:custGeom>
          <a:solidFill>
            <a:srgbClr val="DEE9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8" name="Picture 12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680" y="4404360"/>
            <a:ext cx="4122420" cy="1211580"/>
          </a:xfrm>
          <a:prstGeom prst="rect">
            <a:avLst/>
          </a:prstGeom>
        </p:spPr>
      </p:pic>
      <p:pic>
        <p:nvPicPr>
          <p:cNvPr id="1259" name="Picture 12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4680" y="3931920"/>
            <a:ext cx="4122420" cy="464820"/>
          </a:xfrm>
          <a:prstGeom prst="rect">
            <a:avLst/>
          </a:prstGeom>
        </p:spPr>
      </p:pic>
      <p:sp>
        <p:nvSpPr>
          <p:cNvPr id="5" name="TextBox 1259"/>
          <p:cNvSpPr txBox="1"/>
          <p:nvPr/>
        </p:nvSpPr>
        <p:spPr>
          <a:xfrm>
            <a:off x="376554" y="289633"/>
            <a:ext cx="264791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-25" dirty="0">
                <a:solidFill>
                  <a:srgbClr val="323232"/>
                </a:solidFill>
                <a:latin typeface="宋体"/>
                <a:ea typeface="宋体"/>
              </a:rPr>
              <a:t>AI</a:t>
            </a:r>
            <a:r>
              <a:rPr lang="zh-CN" altLang="en-US" sz="4000" b="1" spc="-55" dirty="0">
                <a:solidFill>
                  <a:srgbClr val="323232"/>
                </a:solidFill>
                <a:latin typeface="宋体"/>
                <a:ea typeface="宋体"/>
              </a:rPr>
              <a:t>进阶</a:t>
            </a:r>
            <a:r>
              <a:rPr lang="zh-CN" altLang="en-US" sz="4000" b="1" spc="-44" dirty="0">
                <a:solidFill>
                  <a:srgbClr val="323232"/>
                </a:solidFill>
                <a:latin typeface="宋体"/>
                <a:ea typeface="宋体"/>
              </a:rPr>
              <a:t>使用</a:t>
            </a:r>
          </a:p>
        </p:txBody>
      </p:sp>
      <p:sp>
        <p:nvSpPr>
          <p:cNvPr id="1260" name="TextBox 1260"/>
          <p:cNvSpPr txBox="1"/>
          <p:nvPr/>
        </p:nvSpPr>
        <p:spPr>
          <a:xfrm>
            <a:off x="861060" y="1423188"/>
            <a:ext cx="155141" cy="2868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1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261" name="TextBox 1261"/>
          <p:cNvSpPr txBox="1"/>
          <p:nvPr/>
        </p:nvSpPr>
        <p:spPr>
          <a:xfrm>
            <a:off x="1556385" y="1412938"/>
            <a:ext cx="3278025" cy="48570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04861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800" b="1" spc="-35" dirty="0">
                <a:solidFill>
                  <a:srgbClr val="000000"/>
                </a:solidFill>
                <a:latin typeface="宋体"/>
                <a:ea typeface="宋体"/>
              </a:rPr>
              <a:t>思维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1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构建个人提示词体系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设计层次化提示结构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创新性组合不同领域提示词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0" indent="728979">
              <a:lnSpc>
                <a:spcPct val="100833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提示词是撬动</a:t>
            </a:r>
            <a:r>
              <a:rPr lang="en-US" altLang="zh-CN" sz="1600" b="1" spc="-1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的杠杆</a:t>
            </a:r>
            <a:r>
              <a:rPr lang="en-US" altLang="zh-CN" sz="1600" b="1" spc="-5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</a:p>
          <a:p>
            <a:pPr marL="0" indent="42291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好的提示词体系是独特竞争力</a:t>
            </a:r>
            <a:r>
              <a:rPr lang="en-US" altLang="zh-CN" sz="1600" b="1" spc="-3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94"/>
              </a:lnSpc>
            </a:pPr>
            <a:endParaRPr lang="en-US" dirty="0"/>
          </a:p>
          <a:p>
            <a:pPr marL="0" indent="105909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深度整合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的思维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19"/>
              </a:lnSpc>
            </a:pPr>
            <a:endParaRPr lang="en-US" dirty="0"/>
          </a:p>
          <a:p>
            <a:pPr marL="0" indent="17144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跨领域知识整合</a:t>
            </a:r>
          </a:p>
          <a:p>
            <a:pPr marL="0" indent="17144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与专业知识融合</a:t>
            </a:r>
          </a:p>
          <a:p>
            <a:pPr marL="0" indent="17144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构建创新生态系统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0" indent="941069">
              <a:lnSpc>
                <a:spcPct val="100833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整合是创新的源泉</a:t>
            </a:r>
            <a:r>
              <a:rPr lang="en-US" altLang="zh-CN" sz="1600" b="1" spc="1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</a:p>
          <a:p>
            <a:pPr marL="0" indent="635635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跨界思维才能激发新可能</a:t>
            </a:r>
            <a:r>
              <a:rPr lang="en-US" altLang="zh-CN" sz="1600" b="1" spc="-3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</a:p>
        </p:txBody>
      </p:sp>
      <p:sp>
        <p:nvSpPr>
          <p:cNvPr id="1262" name="TextBox 1262"/>
          <p:cNvSpPr txBox="1"/>
          <p:nvPr/>
        </p:nvSpPr>
        <p:spPr>
          <a:xfrm>
            <a:off x="4869040" y="1423188"/>
            <a:ext cx="2291067" cy="5258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72678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2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79"/>
              </a:lnSpc>
            </a:pPr>
            <a:endParaRPr lang="en-US" dirty="0"/>
          </a:p>
          <a:p>
            <a:pPr marL="0" indent="1573314">
              <a:lnSpc>
                <a:spcPct val="100000"/>
              </a:lnSpc>
            </a:pPr>
            <a:r>
              <a:rPr lang="en-US" altLang="zh-CN" sz="2000" spc="-10" dirty="0">
                <a:solidFill>
                  <a:srgbClr val="FEFEFE"/>
                </a:solidFill>
                <a:latin typeface="Arial"/>
                <a:ea typeface="Arial"/>
              </a:rPr>
              <a:t>4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b="1" spc="-5" dirty="0">
                <a:solidFill>
                  <a:srgbClr val="323232"/>
                </a:solidFill>
                <a:latin typeface="宋体"/>
                <a:ea typeface="宋体"/>
              </a:rPr>
              <a:t>从</a:t>
            </a:r>
            <a:r>
              <a:rPr lang="en-US" altLang="zh-CN" sz="1200" b="1" dirty="0">
                <a:solidFill>
                  <a:srgbClr val="323232"/>
                </a:solidFill>
                <a:latin typeface="Arial"/>
                <a:ea typeface="Arial"/>
              </a:rPr>
              <a:t>"</a:t>
            </a:r>
            <a:r>
              <a:rPr lang="zh-CN" altLang="en-US" sz="1200" b="1" dirty="0">
                <a:solidFill>
                  <a:srgbClr val="323232"/>
                </a:solidFill>
                <a:latin typeface="宋体"/>
                <a:ea typeface="宋体"/>
              </a:rPr>
              <a:t>使用者</a:t>
            </a:r>
            <a:r>
              <a:rPr lang="en-US" altLang="zh-CN" sz="1200" b="1" spc="-10" dirty="0">
                <a:solidFill>
                  <a:srgbClr val="323232"/>
                </a:solidFill>
                <a:latin typeface="Arial"/>
                <a:ea typeface="Arial"/>
              </a:rPr>
              <a:t>"</a:t>
            </a:r>
            <a:r>
              <a:rPr lang="zh-CN" altLang="en-US" sz="1200" b="1" dirty="0">
                <a:solidFill>
                  <a:srgbClr val="323232"/>
                </a:solidFill>
                <a:latin typeface="宋体"/>
                <a:ea typeface="宋体"/>
              </a:rPr>
              <a:t>到</a:t>
            </a:r>
            <a:r>
              <a:rPr lang="en-US" altLang="zh-CN" sz="1200" b="1" dirty="0">
                <a:solidFill>
                  <a:srgbClr val="323232"/>
                </a:solidFill>
                <a:latin typeface="Arial"/>
                <a:ea typeface="Arial"/>
              </a:rPr>
              <a:t>"</a:t>
            </a:r>
            <a:r>
              <a:rPr lang="zh-CN" altLang="en-US" sz="1200" b="1" spc="-5" dirty="0">
                <a:solidFill>
                  <a:srgbClr val="323232"/>
                </a:solidFill>
                <a:latin typeface="宋体"/>
                <a:ea typeface="宋体"/>
              </a:rPr>
              <a:t>创新者</a:t>
            </a:r>
            <a:r>
              <a:rPr lang="en-US" altLang="zh-CN" sz="1200" b="1" spc="-5" dirty="0">
                <a:solidFill>
                  <a:srgbClr val="323232"/>
                </a:solidFill>
                <a:latin typeface="Arial"/>
                <a:ea typeface="Arial"/>
              </a:rPr>
              <a:t>"</a:t>
            </a:r>
            <a:r>
              <a:rPr lang="zh-CN" altLang="en-US" sz="1200" b="1" spc="-5" dirty="0">
                <a:solidFill>
                  <a:srgbClr val="323232"/>
                </a:solidFill>
                <a:latin typeface="宋体"/>
                <a:ea typeface="宋体"/>
              </a:rPr>
              <a:t>的</a:t>
            </a:r>
            <a:r>
              <a:rPr lang="zh-CN" altLang="en-US" sz="1200" b="1" dirty="0">
                <a:solidFill>
                  <a:srgbClr val="323232"/>
                </a:solidFill>
                <a:latin typeface="宋体"/>
                <a:ea typeface="宋体"/>
              </a:rPr>
              <a:t>进阶之路</a:t>
            </a:r>
          </a:p>
        </p:txBody>
      </p:sp>
      <p:sp>
        <p:nvSpPr>
          <p:cNvPr id="1263" name="TextBox 1263"/>
          <p:cNvSpPr txBox="1"/>
          <p:nvPr/>
        </p:nvSpPr>
        <p:spPr>
          <a:xfrm>
            <a:off x="7155180" y="1412938"/>
            <a:ext cx="3379624" cy="4892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41945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工作流程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的创新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1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设计人机协作流程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建立反馈优化循环</a:t>
            </a:r>
          </a:p>
          <a:p>
            <a:pPr marL="0">
              <a:lnSpc>
                <a:spcPct val="100833"/>
              </a:lnSpc>
              <a:spcBef>
                <a:spcPts val="359"/>
              </a:spcBef>
              <a:tabLst>
                <a:tab pos="342264" algn="l"/>
              </a:tabLst>
            </a:pP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创造领域专属方法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320675" indent="102234" hangingPunct="0">
              <a:lnSpc>
                <a:spcPct val="119583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流程决定上限，细节决定效果</a:t>
            </a:r>
            <a:r>
              <a:rPr lang="en-US" altLang="zh-CN" sz="1600" b="1" spc="-1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en-US" altLang="zh-CN" sz="16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创新工作流才能带来突破性进展</a:t>
            </a:r>
            <a:r>
              <a:rPr lang="en-US" altLang="zh-CN" sz="1600" b="1" spc="-2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50"/>
              </a:lnSpc>
            </a:pPr>
            <a:endParaRPr lang="en-US" dirty="0"/>
          </a:p>
          <a:p>
            <a:pPr marL="0" indent="107433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个人特色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的打造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19"/>
              </a:lnSpc>
            </a:pPr>
            <a:endParaRPr lang="en-US" dirty="0"/>
          </a:p>
          <a:p>
            <a:pPr marL="0" indent="32384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发展个人方法论</a:t>
            </a:r>
          </a:p>
          <a:p>
            <a:pPr marL="0" indent="32384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创造专属工具组合</a:t>
            </a:r>
          </a:p>
          <a:p>
            <a:pPr marL="0" indent="32384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形成难复制优势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659764" indent="-102234" hangingPunct="0">
              <a:lnSpc>
                <a:spcPct val="119583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与众不同才是真正的竞争力</a:t>
            </a:r>
            <a:r>
              <a:rPr lang="en-US" altLang="zh-CN" sz="1600" b="1" spc="-1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en-US" altLang="zh-CN" sz="16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打造个人特色是制胜关键</a:t>
            </a:r>
            <a:r>
              <a:rPr lang="en-US" altLang="zh-CN" sz="1600" b="1" spc="-30" dirty="0">
                <a:solidFill>
                  <a:srgbClr val="000000"/>
                </a:solidFill>
                <a:latin typeface="Arial"/>
                <a:ea typeface="Arial"/>
              </a:rPr>
              <a:t>"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Picture 12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516380"/>
            <a:ext cx="10942320" cy="1485900"/>
          </a:xfrm>
          <a:prstGeom prst="rect">
            <a:avLst/>
          </a:prstGeom>
        </p:spPr>
      </p:pic>
      <p:pic>
        <p:nvPicPr>
          <p:cNvPr id="1266" name="Picture 1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078480"/>
            <a:ext cx="4351020" cy="3429000"/>
          </a:xfrm>
          <a:prstGeom prst="rect">
            <a:avLst/>
          </a:prstGeom>
        </p:spPr>
      </p:pic>
      <p:pic>
        <p:nvPicPr>
          <p:cNvPr id="1267" name="Picture 12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980" y="3078480"/>
            <a:ext cx="4351020" cy="3429000"/>
          </a:xfrm>
          <a:prstGeom prst="rect">
            <a:avLst/>
          </a:prstGeom>
        </p:spPr>
      </p:pic>
      <p:pic>
        <p:nvPicPr>
          <p:cNvPr id="1268" name="Picture 12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3120" y="3055620"/>
            <a:ext cx="1859280" cy="3459479"/>
          </a:xfrm>
          <a:prstGeom prst="rect">
            <a:avLst/>
          </a:prstGeom>
        </p:spPr>
      </p:pic>
      <p:sp>
        <p:nvSpPr>
          <p:cNvPr id="2" name="TextBox 1268"/>
          <p:cNvSpPr txBox="1"/>
          <p:nvPr/>
        </p:nvSpPr>
        <p:spPr>
          <a:xfrm>
            <a:off x="376554" y="289633"/>
            <a:ext cx="947670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人机共生质量影响因素分析：人</a:t>
            </a:r>
            <a:r>
              <a:rPr lang="en-US" altLang="zh-CN" sz="4000" b="1" spc="170" dirty="0">
                <a:solidFill>
                  <a:srgbClr val="242424"/>
                </a:solidFill>
                <a:latin typeface="Arial"/>
                <a:ea typeface="Arial"/>
              </a:rPr>
              <a:t>vs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机器</a:t>
            </a:r>
          </a:p>
        </p:txBody>
      </p:sp>
      <p:sp>
        <p:nvSpPr>
          <p:cNvPr id="1269" name="TextBox 1269"/>
          <p:cNvSpPr txBox="1"/>
          <p:nvPr/>
        </p:nvSpPr>
        <p:spPr>
          <a:xfrm>
            <a:off x="894016" y="1136738"/>
            <a:ext cx="218946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生成质量的关键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影响</a:t>
            </a:r>
          </a:p>
        </p:txBody>
      </p:sp>
      <p:sp>
        <p:nvSpPr>
          <p:cNvPr id="1270" name="TextBox 1270"/>
          <p:cNvSpPr txBox="1"/>
          <p:nvPr/>
        </p:nvSpPr>
        <p:spPr>
          <a:xfrm>
            <a:off x="1485900" y="1720598"/>
            <a:ext cx="9736441" cy="2231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4583"/>
              </a:lnSpc>
              <a:tabLst>
                <a:tab pos="3719829" algn="l"/>
                <a:tab pos="7638415" algn="l"/>
              </a:tabLst>
            </a:pP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输入质量: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cs typeface="宋体"/>
              </a:rPr>
              <a:t> 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70%</a:t>
            </a:r>
            <a:r>
              <a:rPr lang="zh-CN" altLang="en-US" sz="1400" spc="114" dirty="0">
                <a:solidFill>
                  <a:srgbClr val="7F7F7F"/>
                </a:solidFill>
                <a:latin typeface="宋体"/>
                <a:cs typeface="宋体"/>
              </a:rPr>
              <a:t> 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人的影响	基础能力: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cs typeface="宋体"/>
              </a:rPr>
              <a:t> 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80%</a:t>
            </a:r>
            <a:r>
              <a:rPr lang="zh-CN" altLang="en-US" sz="1400" spc="114" dirty="0">
                <a:solidFill>
                  <a:srgbClr val="7F7F7F"/>
                </a:solidFill>
                <a:latin typeface="宋体"/>
                <a:cs typeface="宋体"/>
              </a:rPr>
              <a:t> 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机器的影响	迭代优化: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cs typeface="宋体"/>
              </a:rPr>
              <a:t> 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90%</a:t>
            </a:r>
            <a:r>
              <a:rPr lang="zh-CN" altLang="en-US" sz="1400" spc="75" dirty="0">
                <a:solidFill>
                  <a:srgbClr val="7F7F7F"/>
                </a:solidFill>
                <a:latin typeface="宋体"/>
                <a:cs typeface="宋体"/>
              </a:rPr>
              <a:t> </a:t>
            </a:r>
            <a:r>
              <a:rPr lang="zh-CN" altLang="en-US" sz="1400" dirty="0">
                <a:solidFill>
                  <a:srgbClr val="7F7F7F"/>
                </a:solidFill>
                <a:latin typeface="宋体"/>
                <a:ea typeface="宋体"/>
              </a:rPr>
              <a:t>人的影响</a:t>
            </a:r>
          </a:p>
        </p:txBody>
      </p:sp>
      <p:sp>
        <p:nvSpPr>
          <p:cNvPr id="1271" name="TextBox 1271"/>
          <p:cNvSpPr txBox="1"/>
          <p:nvPr/>
        </p:nvSpPr>
        <p:spPr>
          <a:xfrm>
            <a:off x="1176655" y="2180338"/>
            <a:ext cx="2254871" cy="5369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提示词的准确性和完整性</a:t>
            </a:r>
          </a:p>
          <a:p>
            <a:pPr>
              <a:lnSpc>
                <a:spcPts val="810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需求描述的清晰度</a:t>
            </a:r>
          </a:p>
        </p:txBody>
      </p:sp>
      <p:sp>
        <p:nvSpPr>
          <p:cNvPr id="1272" name="TextBox 1272"/>
          <p:cNvSpPr txBox="1"/>
          <p:nvPr/>
        </p:nvSpPr>
        <p:spPr>
          <a:xfrm>
            <a:off x="4886959" y="2180338"/>
            <a:ext cx="1711946" cy="5369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AI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模型的能力边界</a:t>
            </a:r>
          </a:p>
          <a:p>
            <a:pPr>
              <a:lnSpc>
                <a:spcPts val="810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10" dirty="0">
                <a:solidFill>
                  <a:srgbClr val="000000"/>
                </a:solidFill>
                <a:latin typeface="宋体"/>
                <a:ea typeface="宋体"/>
              </a:rPr>
              <a:t>训练数据的质量</a:t>
            </a:r>
          </a:p>
        </p:txBody>
      </p:sp>
      <p:sp>
        <p:nvSpPr>
          <p:cNvPr id="1273" name="TextBox 1273"/>
          <p:cNvSpPr txBox="1"/>
          <p:nvPr/>
        </p:nvSpPr>
        <p:spPr>
          <a:xfrm>
            <a:off x="8806180" y="2180338"/>
            <a:ext cx="1543671" cy="5369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10" dirty="0">
                <a:solidFill>
                  <a:srgbClr val="000000"/>
                </a:solidFill>
                <a:latin typeface="宋体"/>
                <a:ea typeface="宋体"/>
              </a:rPr>
              <a:t>反馈的精准度</a:t>
            </a:r>
          </a:p>
          <a:p>
            <a:pPr>
              <a:lnSpc>
                <a:spcPts val="810"/>
              </a:lnSpc>
            </a:pPr>
            <a:endParaRPr lang="en-US" dirty="0"/>
          </a:p>
          <a:p>
            <a:pPr marL="0">
              <a:lnSpc>
                <a:spcPct val="101666"/>
              </a:lnSpc>
              <a:tabLst>
                <a:tab pos="285750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	</a:t>
            </a:r>
            <a:r>
              <a:rPr lang="zh-CN" altLang="en-US" sz="1400" spc="-10" dirty="0">
                <a:solidFill>
                  <a:srgbClr val="000000"/>
                </a:solidFill>
                <a:latin typeface="宋体"/>
                <a:ea typeface="宋体"/>
              </a:rPr>
              <a:t>优化的方向把控</a:t>
            </a:r>
          </a:p>
        </p:txBody>
      </p:sp>
      <p:sp>
        <p:nvSpPr>
          <p:cNvPr id="1274" name="TextBox 1274"/>
          <p:cNvSpPr txBox="1"/>
          <p:nvPr/>
        </p:nvSpPr>
        <p:spPr>
          <a:xfrm>
            <a:off x="840739" y="3665603"/>
            <a:ext cx="171206" cy="2169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b="1" spc="-85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</a:p>
        </p:txBody>
      </p:sp>
      <p:sp>
        <p:nvSpPr>
          <p:cNvPr id="1275" name="TextBox 1275"/>
          <p:cNvSpPr txBox="1"/>
          <p:nvPr/>
        </p:nvSpPr>
        <p:spPr>
          <a:xfrm>
            <a:off x="1083310" y="3205568"/>
            <a:ext cx="2501819" cy="1444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55891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人的关键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影响路径</a:t>
            </a:r>
          </a:p>
          <a:p>
            <a:pPr>
              <a:lnSpc>
                <a:spcPts val="1435"/>
              </a:lnSpc>
            </a:pPr>
            <a:endParaRPr lang="en-US" dirty="0"/>
          </a:p>
          <a:p>
            <a:pPr marL="0" indent="33019">
              <a:lnSpc>
                <a:spcPct val="101666"/>
              </a:lnSpc>
            </a:pPr>
            <a:r>
              <a:rPr lang="zh-CN" altLang="en-US" sz="1400" b="1" spc="-5" dirty="0">
                <a:solidFill>
                  <a:srgbClr val="000000"/>
                </a:solidFill>
                <a:latin typeface="宋体"/>
                <a:ea typeface="宋体"/>
              </a:rPr>
              <a:t>提示工程</a:t>
            </a:r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宋体"/>
              </a:rPr>
              <a:t>（决定性）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清晰的目标定义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准确的约束条件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结构化的需求描述</a:t>
            </a:r>
          </a:p>
        </p:txBody>
      </p:sp>
      <p:sp>
        <p:nvSpPr>
          <p:cNvPr id="1276" name="TextBox 1276"/>
          <p:cNvSpPr txBox="1"/>
          <p:nvPr/>
        </p:nvSpPr>
        <p:spPr>
          <a:xfrm>
            <a:off x="5401309" y="3205568"/>
            <a:ext cx="2994577" cy="1444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19416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机器的关键影响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路径</a:t>
            </a:r>
          </a:p>
          <a:p>
            <a:pPr>
              <a:lnSpc>
                <a:spcPts val="143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b="1" spc="-10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400" b="1" spc="-24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b="1" spc="-25" dirty="0">
                <a:solidFill>
                  <a:srgbClr val="000000"/>
                </a:solidFill>
                <a:latin typeface="宋体"/>
                <a:ea typeface="宋体"/>
              </a:rPr>
              <a:t>基础生成能力</a:t>
            </a:r>
          </a:p>
          <a:p>
            <a:pPr marL="0" indent="24257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模型性能</a:t>
            </a:r>
          </a:p>
          <a:p>
            <a:pPr marL="0" indent="24257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训练质量</a:t>
            </a:r>
          </a:p>
          <a:p>
            <a:pPr marL="0" indent="24257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算法优化</a:t>
            </a:r>
          </a:p>
        </p:txBody>
      </p:sp>
      <p:sp>
        <p:nvSpPr>
          <p:cNvPr id="1277" name="TextBox 1277"/>
          <p:cNvSpPr txBox="1"/>
          <p:nvPr/>
        </p:nvSpPr>
        <p:spPr>
          <a:xfrm>
            <a:off x="9854565" y="3759583"/>
            <a:ext cx="1613521" cy="929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45000"/>
              </a:lnSpc>
            </a:pPr>
            <a:r>
              <a:rPr lang="zh-CN" altLang="en-US" sz="1400" spc="-10" dirty="0">
                <a:solidFill>
                  <a:srgbClr val="000000"/>
                </a:solidFill>
                <a:latin typeface="宋体"/>
                <a:ea typeface="宋体"/>
              </a:rPr>
              <a:t>结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论：对生成质量的</a:t>
            </a:r>
            <a:r>
              <a:rPr lang="zh-CN" altLang="en-US" sz="1400" spc="-10" dirty="0">
                <a:solidFill>
                  <a:srgbClr val="000000"/>
                </a:solidFill>
                <a:latin typeface="宋体"/>
                <a:ea typeface="宋体"/>
              </a:rPr>
              <a:t>影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响，人的主导作用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更大（约占</a:t>
            </a: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65%</a:t>
            </a:r>
            <a:r>
              <a:rPr lang="zh-CN" altLang="en-US" sz="1400" spc="-5" dirty="0">
                <a:solidFill>
                  <a:srgbClr val="000000"/>
                </a:solidFill>
                <a:latin typeface="宋体"/>
                <a:ea typeface="宋体"/>
              </a:rPr>
              <a:t>）</a:t>
            </a:r>
          </a:p>
        </p:txBody>
      </p:sp>
      <p:sp>
        <p:nvSpPr>
          <p:cNvPr id="1278" name="TextBox 1278"/>
          <p:cNvSpPr txBox="1"/>
          <p:nvPr/>
        </p:nvSpPr>
        <p:spPr>
          <a:xfrm>
            <a:off x="849630" y="4689223"/>
            <a:ext cx="171206" cy="1240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b="1" spc="-85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b="1" spc="-85" dirty="0">
                <a:solidFill>
                  <a:srgbClr val="000000"/>
                </a:solidFill>
                <a:latin typeface="宋体"/>
                <a:ea typeface="宋体"/>
              </a:rPr>
              <a:t>3.</a:t>
            </a:r>
          </a:p>
        </p:txBody>
      </p:sp>
      <p:sp>
        <p:nvSpPr>
          <p:cNvPr id="1279" name="TextBox 1279"/>
          <p:cNvSpPr txBox="1"/>
          <p:nvPr/>
        </p:nvSpPr>
        <p:spPr>
          <a:xfrm>
            <a:off x="1109344" y="4689223"/>
            <a:ext cx="874381" cy="1752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875">
              <a:lnSpc>
                <a:spcPct val="101666"/>
              </a:lnSpc>
            </a:pPr>
            <a:r>
              <a:rPr lang="zh-CN" altLang="en-US" sz="1400" b="1" spc="-10" dirty="0">
                <a:solidFill>
                  <a:srgbClr val="000000"/>
                </a:solidFill>
                <a:latin typeface="宋体"/>
                <a:ea typeface="宋体"/>
              </a:rPr>
              <a:t>质量</a:t>
            </a:r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宋体"/>
              </a:rPr>
              <a:t>控制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结果评估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方向调整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标准制定</a:t>
            </a:r>
          </a:p>
          <a:p>
            <a:pPr marL="0" indent="15875">
              <a:lnSpc>
                <a:spcPct val="101666"/>
              </a:lnSpc>
              <a:spcBef>
                <a:spcPts val="304"/>
              </a:spcBef>
            </a:pPr>
            <a:r>
              <a:rPr lang="zh-CN" altLang="en-US" sz="1400" b="1" spc="-10" dirty="0">
                <a:solidFill>
                  <a:srgbClr val="000000"/>
                </a:solidFill>
                <a:latin typeface="宋体"/>
                <a:ea typeface="宋体"/>
              </a:rPr>
              <a:t>创意</a:t>
            </a:r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宋体"/>
              </a:rPr>
              <a:t>引导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创意输入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风格定义</a:t>
            </a:r>
          </a:p>
        </p:txBody>
      </p:sp>
      <p:sp>
        <p:nvSpPr>
          <p:cNvPr id="1280" name="TextBox 1280"/>
          <p:cNvSpPr txBox="1"/>
          <p:nvPr/>
        </p:nvSpPr>
        <p:spPr>
          <a:xfrm>
            <a:off x="5410200" y="4689223"/>
            <a:ext cx="171205" cy="984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zh-CN" altLang="en-US" sz="1400" b="1" spc="-85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3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b="1" spc="-85" dirty="0">
                <a:solidFill>
                  <a:srgbClr val="000000"/>
                </a:solidFill>
                <a:latin typeface="宋体"/>
                <a:ea typeface="宋体"/>
              </a:rPr>
              <a:t>3.</a:t>
            </a:r>
          </a:p>
        </p:txBody>
      </p:sp>
      <p:sp>
        <p:nvSpPr>
          <p:cNvPr id="1281" name="TextBox 1281"/>
          <p:cNvSpPr txBox="1"/>
          <p:nvPr/>
        </p:nvSpPr>
        <p:spPr>
          <a:xfrm>
            <a:off x="5669915" y="4689223"/>
            <a:ext cx="1052181" cy="1496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875">
              <a:lnSpc>
                <a:spcPct val="101666"/>
              </a:lnSpc>
            </a:pPr>
            <a:r>
              <a:rPr lang="zh-CN" altLang="en-US" sz="1400" b="1" spc="-5" dirty="0">
                <a:solidFill>
                  <a:srgbClr val="000000"/>
                </a:solidFill>
                <a:latin typeface="宋体"/>
                <a:ea typeface="宋体"/>
              </a:rPr>
              <a:t>理解准</a:t>
            </a:r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宋体"/>
              </a:rPr>
              <a:t>确度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语义理解</a:t>
            </a:r>
          </a:p>
          <a:p>
            <a:pPr marL="15875" indent="-15875" hangingPunct="0">
              <a:lnSpc>
                <a:spcPct val="119583"/>
              </a:lnSpc>
              <a:spcBef>
                <a:spcPts val="30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3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spc="-10" dirty="0">
                <a:solidFill>
                  <a:srgbClr val="000000"/>
                </a:solidFill>
                <a:latin typeface="宋体"/>
                <a:ea typeface="宋体"/>
              </a:rPr>
              <a:t>上下文把握</a:t>
            </a:r>
            <a:r>
              <a:rPr lang="zh-CN" altLang="en-US" sz="1400" b="1" spc="-5" dirty="0">
                <a:solidFill>
                  <a:srgbClr val="000000"/>
                </a:solidFill>
                <a:latin typeface="宋体"/>
                <a:ea typeface="宋体"/>
              </a:rPr>
              <a:t>一致性</a:t>
            </a:r>
            <a:r>
              <a:rPr lang="zh-CN" altLang="en-US" sz="1400" b="1" dirty="0">
                <a:solidFill>
                  <a:srgbClr val="000000"/>
                </a:solidFill>
                <a:latin typeface="宋体"/>
                <a:ea typeface="宋体"/>
              </a:rPr>
              <a:t>保证</a:t>
            </a:r>
          </a:p>
          <a:p>
            <a:pPr marL="0">
              <a:lnSpc>
                <a:spcPct val="101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输出稳定性</a:t>
            </a:r>
          </a:p>
          <a:p>
            <a:pPr marL="0">
              <a:lnSpc>
                <a:spcPct val="101666"/>
              </a:lnSpc>
              <a:spcBef>
                <a:spcPts val="3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40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宋体"/>
                <a:ea typeface="宋体"/>
              </a:rPr>
              <a:t>质量基线</a:t>
            </a:r>
          </a:p>
        </p:txBody>
      </p:sp>
      <p:sp>
        <p:nvSpPr>
          <p:cNvPr id="1282" name="TextBox 1282"/>
          <p:cNvSpPr txBox="1"/>
          <p:nvPr/>
        </p:nvSpPr>
        <p:spPr>
          <a:xfrm>
            <a:off x="9854565" y="4719703"/>
            <a:ext cx="1613521" cy="1280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0000"/>
              </a:lnSpc>
            </a:pPr>
            <a:r>
              <a:rPr lang="zh-CN" altLang="en-US" sz="1400" spc="-10" dirty="0">
                <a:solidFill>
                  <a:srgbClr val="4261AB"/>
                </a:solidFill>
                <a:latin typeface="宋体"/>
                <a:ea typeface="宋体"/>
              </a:rPr>
              <a:t>原</a:t>
            </a:r>
            <a:r>
              <a:rPr lang="zh-CN" altLang="en-US" sz="1400" spc="-5" dirty="0">
                <a:solidFill>
                  <a:srgbClr val="4261AB"/>
                </a:solidFill>
                <a:latin typeface="宋体"/>
                <a:ea typeface="宋体"/>
              </a:rPr>
              <a:t>因：提示工程的质</a:t>
            </a:r>
            <a:r>
              <a:rPr lang="zh-CN" altLang="en-US" sz="1400" spc="-10" dirty="0">
                <a:solidFill>
                  <a:srgbClr val="4261AB"/>
                </a:solidFill>
                <a:latin typeface="宋体"/>
                <a:ea typeface="宋体"/>
              </a:rPr>
              <a:t>量</a:t>
            </a:r>
            <a:r>
              <a:rPr lang="zh-CN" altLang="en-US" sz="1400" spc="-5" dirty="0">
                <a:solidFill>
                  <a:srgbClr val="4261AB"/>
                </a:solidFill>
                <a:latin typeface="宋体"/>
                <a:ea typeface="宋体"/>
              </a:rPr>
              <a:t>和迭代优化的精准</a:t>
            </a:r>
            <a:r>
              <a:rPr lang="zh-CN" altLang="en-US" sz="1400" spc="-10" dirty="0">
                <a:solidFill>
                  <a:srgbClr val="4261AB"/>
                </a:solidFill>
                <a:latin typeface="宋体"/>
                <a:ea typeface="宋体"/>
              </a:rPr>
              <a:t>度</a:t>
            </a:r>
            <a:r>
              <a:rPr lang="zh-CN" altLang="en-US" sz="1400" spc="-5" dirty="0">
                <a:solidFill>
                  <a:srgbClr val="4261AB"/>
                </a:solidFill>
                <a:latin typeface="宋体"/>
                <a:ea typeface="宋体"/>
              </a:rPr>
              <a:t>是决定最终输出质量的</a:t>
            </a:r>
            <a:r>
              <a:rPr lang="zh-CN" altLang="en-US" sz="1400" dirty="0">
                <a:solidFill>
                  <a:srgbClr val="4261AB"/>
                </a:solidFill>
                <a:latin typeface="宋体"/>
                <a:ea typeface="宋体"/>
              </a:rPr>
              <a:t>关键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Freeform 1283"/>
          <p:cNvSpPr/>
          <p:nvPr/>
        </p:nvSpPr>
        <p:spPr>
          <a:xfrm>
            <a:off x="2165350" y="1797050"/>
            <a:ext cx="1797050" cy="1733550"/>
          </a:xfrm>
          <a:custGeom>
            <a:avLst/>
            <a:gdLst>
              <a:gd name="connsiteX0" fmla="*/ 1798307 w 1797050"/>
              <a:gd name="connsiteY0" fmla="*/ 876719 h 1733550"/>
              <a:gd name="connsiteX1" fmla="*/ 905243 w 1797050"/>
              <a:gd name="connsiteY1" fmla="*/ 1742541 h 1733550"/>
              <a:gd name="connsiteX2" fmla="*/ 12179 w 1797050"/>
              <a:gd name="connsiteY2" fmla="*/ 876719 h 1733550"/>
              <a:gd name="connsiteX3" fmla="*/ 905243 w 1797050"/>
              <a:gd name="connsiteY3" fmla="*/ 10896 h 1733550"/>
              <a:gd name="connsiteX4" fmla="*/ 1798307 w 1797050"/>
              <a:gd name="connsiteY4" fmla="*/ 876719 h 173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7050" h="1733550">
                <a:moveTo>
                  <a:pt x="1798307" y="876719"/>
                </a:moveTo>
                <a:cubicBezTo>
                  <a:pt x="1798307" y="1354899"/>
                  <a:pt x="1398473" y="1742541"/>
                  <a:pt x="905243" y="1742541"/>
                </a:cubicBezTo>
                <a:cubicBezTo>
                  <a:pt x="412013" y="1742541"/>
                  <a:pt x="12179" y="1354899"/>
                  <a:pt x="12179" y="876719"/>
                </a:cubicBezTo>
                <a:cubicBezTo>
                  <a:pt x="12179" y="398538"/>
                  <a:pt x="412013" y="10896"/>
                  <a:pt x="905243" y="10896"/>
                </a:cubicBezTo>
                <a:cubicBezTo>
                  <a:pt x="1398473" y="10896"/>
                  <a:pt x="1798307" y="398538"/>
                  <a:pt x="1798307" y="876719"/>
                </a:cubicBezTo>
                <a:close/>
              </a:path>
            </a:pathLst>
          </a:custGeom>
          <a:solidFill>
            <a:srgbClr val="5999E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4" name="Freeform 1284"/>
          <p:cNvSpPr/>
          <p:nvPr/>
        </p:nvSpPr>
        <p:spPr>
          <a:xfrm>
            <a:off x="3952665" y="2657265"/>
            <a:ext cx="1013034" cy="35134"/>
          </a:xfrm>
          <a:custGeom>
            <a:avLst/>
            <a:gdLst>
              <a:gd name="connsiteX0" fmla="*/ 10991 w 1013034"/>
              <a:gd name="connsiteY0" fmla="*/ 16497 h 35134"/>
              <a:gd name="connsiteX1" fmla="*/ 1015688 w 1013034"/>
              <a:gd name="connsiteY1" fmla="*/ 16497 h 3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3034" h="35134">
                <a:moveTo>
                  <a:pt x="10991" y="16497"/>
                </a:moveTo>
                <a:lnTo>
                  <a:pt x="1015688" y="16497"/>
                </a:lnTo>
              </a:path>
            </a:pathLst>
          </a:custGeom>
          <a:ln w="19469">
            <a:solidFill>
              <a:srgbClr val="323232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5" name="Freeform 1285"/>
          <p:cNvSpPr/>
          <p:nvPr/>
        </p:nvSpPr>
        <p:spPr>
          <a:xfrm>
            <a:off x="4955965" y="1793665"/>
            <a:ext cx="1800434" cy="1736934"/>
          </a:xfrm>
          <a:custGeom>
            <a:avLst/>
            <a:gdLst>
              <a:gd name="connsiteX0" fmla="*/ 1807699 w 1800434"/>
              <a:gd name="connsiteY0" fmla="*/ 880103 h 1736934"/>
              <a:gd name="connsiteX1" fmla="*/ 914635 w 1800434"/>
              <a:gd name="connsiteY1" fmla="*/ 1745926 h 1736934"/>
              <a:gd name="connsiteX2" fmla="*/ 21571 w 1800434"/>
              <a:gd name="connsiteY2" fmla="*/ 880103 h 1736934"/>
              <a:gd name="connsiteX3" fmla="*/ 914635 w 1800434"/>
              <a:gd name="connsiteY3" fmla="*/ 14281 h 1736934"/>
              <a:gd name="connsiteX4" fmla="*/ 1807699 w 1800434"/>
              <a:gd name="connsiteY4" fmla="*/ 880103 h 173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434" h="1736934">
                <a:moveTo>
                  <a:pt x="1807699" y="880103"/>
                </a:moveTo>
                <a:cubicBezTo>
                  <a:pt x="1807699" y="1358284"/>
                  <a:pt x="1407852" y="1745926"/>
                  <a:pt x="914635" y="1745926"/>
                </a:cubicBezTo>
                <a:cubicBezTo>
                  <a:pt x="421405" y="1745926"/>
                  <a:pt x="21571" y="1358284"/>
                  <a:pt x="21571" y="880103"/>
                </a:cubicBezTo>
                <a:cubicBezTo>
                  <a:pt x="21571" y="401923"/>
                  <a:pt x="421405" y="14281"/>
                  <a:pt x="914635" y="14281"/>
                </a:cubicBezTo>
                <a:cubicBezTo>
                  <a:pt x="1407852" y="14281"/>
                  <a:pt x="1807699" y="401923"/>
                  <a:pt x="1807699" y="880103"/>
                </a:cubicBezTo>
                <a:close/>
              </a:path>
            </a:pathLst>
          </a:custGeom>
          <a:solidFill>
            <a:srgbClr val="60BD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6" name="Freeform 1286"/>
          <p:cNvSpPr/>
          <p:nvPr/>
        </p:nvSpPr>
        <p:spPr>
          <a:xfrm>
            <a:off x="6759365" y="2657265"/>
            <a:ext cx="1013034" cy="35134"/>
          </a:xfrm>
          <a:custGeom>
            <a:avLst/>
            <a:gdLst>
              <a:gd name="connsiteX0" fmla="*/ 4298 w 1013034"/>
              <a:gd name="connsiteY0" fmla="*/ 16497 h 35134"/>
              <a:gd name="connsiteX1" fmla="*/ 1008995 w 1013034"/>
              <a:gd name="connsiteY1" fmla="*/ 16497 h 3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3034" h="35134">
                <a:moveTo>
                  <a:pt x="4298" y="16497"/>
                </a:moveTo>
                <a:lnTo>
                  <a:pt x="1008995" y="16497"/>
                </a:lnTo>
              </a:path>
            </a:pathLst>
          </a:custGeom>
          <a:ln w="19469">
            <a:solidFill>
              <a:srgbClr val="323232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" name="Freeform 1287"/>
          <p:cNvSpPr/>
          <p:nvPr/>
        </p:nvSpPr>
        <p:spPr>
          <a:xfrm>
            <a:off x="7762665" y="1793665"/>
            <a:ext cx="1787734" cy="1736934"/>
          </a:xfrm>
          <a:custGeom>
            <a:avLst/>
            <a:gdLst>
              <a:gd name="connsiteX0" fmla="*/ 1796674 w 1787734"/>
              <a:gd name="connsiteY0" fmla="*/ 880103 h 1736934"/>
              <a:gd name="connsiteX1" fmla="*/ 903547 w 1787734"/>
              <a:gd name="connsiteY1" fmla="*/ 1745926 h 1736934"/>
              <a:gd name="connsiteX2" fmla="*/ 10420 w 1787734"/>
              <a:gd name="connsiteY2" fmla="*/ 880103 h 1736934"/>
              <a:gd name="connsiteX3" fmla="*/ 903547 w 1787734"/>
              <a:gd name="connsiteY3" fmla="*/ 14281 h 1736934"/>
              <a:gd name="connsiteX4" fmla="*/ 1796674 w 1787734"/>
              <a:gd name="connsiteY4" fmla="*/ 880103 h 173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7734" h="1736934">
                <a:moveTo>
                  <a:pt x="1796674" y="880103"/>
                </a:moveTo>
                <a:cubicBezTo>
                  <a:pt x="1796674" y="1358284"/>
                  <a:pt x="1396815" y="1745926"/>
                  <a:pt x="903547" y="1745926"/>
                </a:cubicBezTo>
                <a:cubicBezTo>
                  <a:pt x="410292" y="1745926"/>
                  <a:pt x="10420" y="1358284"/>
                  <a:pt x="10420" y="880103"/>
                </a:cubicBezTo>
                <a:cubicBezTo>
                  <a:pt x="10420" y="401923"/>
                  <a:pt x="410292" y="14281"/>
                  <a:pt x="903547" y="14281"/>
                </a:cubicBezTo>
                <a:cubicBezTo>
                  <a:pt x="1396815" y="14281"/>
                  <a:pt x="1796674" y="401923"/>
                  <a:pt x="1796674" y="880103"/>
                </a:cubicBezTo>
                <a:close/>
              </a:path>
            </a:pathLst>
          </a:custGeom>
          <a:solidFill>
            <a:srgbClr val="90D37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8" name="TextBox 1288"/>
          <p:cNvSpPr txBox="1"/>
          <p:nvPr/>
        </p:nvSpPr>
        <p:spPr>
          <a:xfrm>
            <a:off x="376554" y="289633"/>
            <a:ext cx="285873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139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  <a:r>
              <a:rPr lang="zh-CN" altLang="en-US" sz="4000" b="1" spc="294" dirty="0">
                <a:solidFill>
                  <a:srgbClr val="242424"/>
                </a:solidFill>
                <a:latin typeface="宋体"/>
                <a:ea typeface="宋体"/>
              </a:rPr>
              <a:t>进阶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使用</a:t>
            </a:r>
          </a:p>
        </p:txBody>
      </p:sp>
      <p:sp>
        <p:nvSpPr>
          <p:cNvPr id="1289" name="TextBox 1289"/>
          <p:cNvSpPr txBox="1"/>
          <p:nvPr/>
        </p:nvSpPr>
        <p:spPr>
          <a:xfrm>
            <a:off x="2377439" y="2356002"/>
            <a:ext cx="1425559" cy="706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6195">
              <a:lnSpc>
                <a:spcPct val="101250"/>
              </a:lnSpc>
            </a:pPr>
            <a:r>
              <a:rPr lang="zh-CN" altLang="en-US" sz="1800" b="1" spc="-25" dirty="0">
                <a:solidFill>
                  <a:srgbClr val="FEFEFE"/>
                </a:solidFill>
                <a:latin typeface="宋体"/>
                <a:ea typeface="宋体"/>
              </a:rPr>
              <a:t>1.</a:t>
            </a:r>
            <a:r>
              <a:rPr lang="zh-CN" altLang="en-US" sz="1800" b="1" spc="-309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45" dirty="0">
                <a:solidFill>
                  <a:srgbClr val="FEFEFE"/>
                </a:solidFill>
                <a:latin typeface="宋体"/>
                <a:ea typeface="宋体"/>
              </a:rPr>
              <a:t>知识唤醒</a:t>
            </a:r>
          </a:p>
          <a:p>
            <a:pPr>
              <a:lnSpc>
                <a:spcPts val="143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FEFEFE"/>
                </a:solidFill>
                <a:latin typeface="宋体"/>
                <a:ea typeface="宋体"/>
              </a:rPr>
              <a:t>AI</a:t>
            </a:r>
            <a:r>
              <a:rPr lang="zh-CN" altLang="en-US" sz="1600" spc="-15" dirty="0">
                <a:solidFill>
                  <a:srgbClr val="FEFEFE"/>
                </a:solidFill>
                <a:latin typeface="宋体"/>
                <a:ea typeface="宋体"/>
              </a:rPr>
              <a:t>辅助头脑</a:t>
            </a:r>
            <a:r>
              <a:rPr lang="zh-CN" altLang="en-US" sz="1600" spc="-10" dirty="0">
                <a:solidFill>
                  <a:srgbClr val="FEFEFE"/>
                </a:solidFill>
                <a:latin typeface="宋体"/>
                <a:ea typeface="宋体"/>
              </a:rPr>
              <a:t>风暴</a:t>
            </a:r>
          </a:p>
        </p:txBody>
      </p:sp>
      <p:sp>
        <p:nvSpPr>
          <p:cNvPr id="1290" name="TextBox 1290"/>
          <p:cNvSpPr txBox="1"/>
          <p:nvPr/>
        </p:nvSpPr>
        <p:spPr>
          <a:xfrm>
            <a:off x="5193665" y="2356002"/>
            <a:ext cx="1425559" cy="712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3339">
              <a:lnSpc>
                <a:spcPct val="101250"/>
              </a:lnSpc>
            </a:pPr>
            <a:r>
              <a:rPr lang="zh-CN" altLang="en-US" sz="1800" b="1" spc="-25" dirty="0">
                <a:solidFill>
                  <a:srgbClr val="FEFEFE"/>
                </a:solidFill>
                <a:latin typeface="宋体"/>
                <a:ea typeface="宋体"/>
              </a:rPr>
              <a:t>2.</a:t>
            </a:r>
            <a:r>
              <a:rPr lang="zh-CN" altLang="en-US" sz="1800" b="1" spc="-309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45" dirty="0">
                <a:solidFill>
                  <a:srgbClr val="FEFEFE"/>
                </a:solidFill>
                <a:latin typeface="宋体"/>
                <a:ea typeface="宋体"/>
              </a:rPr>
              <a:t>知识整合</a:t>
            </a:r>
          </a:p>
          <a:p>
            <a:pPr>
              <a:lnSpc>
                <a:spcPts val="148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FEFEFE"/>
                </a:solidFill>
                <a:latin typeface="宋体"/>
                <a:ea typeface="宋体"/>
              </a:rPr>
              <a:t>AI</a:t>
            </a:r>
            <a:r>
              <a:rPr lang="zh-CN" altLang="en-US" sz="1600" spc="-15" dirty="0">
                <a:solidFill>
                  <a:srgbClr val="FEFEFE"/>
                </a:solidFill>
                <a:latin typeface="宋体"/>
                <a:ea typeface="宋体"/>
              </a:rPr>
              <a:t>辅助关联</a:t>
            </a:r>
            <a:r>
              <a:rPr lang="zh-CN" altLang="en-US" sz="1600" spc="-10" dirty="0">
                <a:solidFill>
                  <a:srgbClr val="FEFEFE"/>
                </a:solidFill>
                <a:latin typeface="宋体"/>
                <a:ea typeface="宋体"/>
              </a:rPr>
              <a:t>分析</a:t>
            </a:r>
          </a:p>
        </p:txBody>
      </p:sp>
      <p:sp>
        <p:nvSpPr>
          <p:cNvPr id="1291" name="TextBox 1291"/>
          <p:cNvSpPr txBox="1"/>
          <p:nvPr/>
        </p:nvSpPr>
        <p:spPr>
          <a:xfrm>
            <a:off x="7960359" y="2331872"/>
            <a:ext cx="1434449" cy="752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5250">
              <a:lnSpc>
                <a:spcPct val="101250"/>
              </a:lnSpc>
            </a:pPr>
            <a:r>
              <a:rPr lang="zh-CN" altLang="en-US" sz="1800" b="1" spc="-25" dirty="0">
                <a:solidFill>
                  <a:srgbClr val="FEFEFE"/>
                </a:solidFill>
                <a:latin typeface="宋体"/>
                <a:ea typeface="宋体"/>
              </a:rPr>
              <a:t>3.</a:t>
            </a:r>
            <a:r>
              <a:rPr lang="zh-CN" altLang="en-US" sz="1800" b="1" spc="-309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45" dirty="0">
                <a:solidFill>
                  <a:srgbClr val="FEFEFE"/>
                </a:solidFill>
                <a:latin typeface="宋体"/>
                <a:ea typeface="宋体"/>
              </a:rPr>
              <a:t>提示构建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FEFEFE"/>
                </a:solidFill>
                <a:latin typeface="宋体"/>
                <a:ea typeface="宋体"/>
              </a:rPr>
              <a:t>形成结构</a:t>
            </a:r>
            <a:r>
              <a:rPr lang="zh-CN" altLang="en-US" sz="1600" dirty="0">
                <a:solidFill>
                  <a:srgbClr val="FEFEFE"/>
                </a:solidFill>
                <a:latin typeface="宋体"/>
                <a:ea typeface="宋体"/>
              </a:rPr>
              <a:t>化提示</a:t>
            </a:r>
          </a:p>
        </p:txBody>
      </p:sp>
      <p:sp>
        <p:nvSpPr>
          <p:cNvPr id="1292" name="TextBox 1292"/>
          <p:cNvSpPr txBox="1"/>
          <p:nvPr/>
        </p:nvSpPr>
        <p:spPr>
          <a:xfrm>
            <a:off x="1962785" y="3921848"/>
            <a:ext cx="2318369" cy="14337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60311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知识唤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醒阶段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6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让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列出关键概念清单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提问激发思考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用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拓展思维维度</a:t>
            </a:r>
          </a:p>
        </p:txBody>
      </p:sp>
      <p:sp>
        <p:nvSpPr>
          <p:cNvPr id="1293" name="TextBox 1293"/>
          <p:cNvSpPr txBox="1"/>
          <p:nvPr/>
        </p:nvSpPr>
        <p:spPr>
          <a:xfrm>
            <a:off x="4888865" y="3921848"/>
            <a:ext cx="2115169" cy="1447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18071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知识整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合阶段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7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协助建立知识关联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发现知识应用场景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形成系统化观点</a:t>
            </a:r>
          </a:p>
        </p:txBody>
      </p:sp>
      <p:sp>
        <p:nvSpPr>
          <p:cNvPr id="1294" name="TextBox 1294"/>
          <p:cNvSpPr txBox="1"/>
          <p:nvPr/>
        </p:nvSpPr>
        <p:spPr>
          <a:xfrm>
            <a:off x="7784465" y="3921848"/>
            <a:ext cx="1923399" cy="1447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38061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提示构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建阶段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7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整合关键信息要素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构建清晰的结构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600" spc="11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设定具体的约束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Picture 1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59" y="1379220"/>
            <a:ext cx="10812780" cy="5074920"/>
          </a:xfrm>
          <a:prstGeom prst="rect">
            <a:avLst/>
          </a:prstGeom>
        </p:spPr>
      </p:pic>
      <p:sp>
        <p:nvSpPr>
          <p:cNvPr id="2" name="TextBox 1296"/>
          <p:cNvSpPr txBox="1"/>
          <p:nvPr/>
        </p:nvSpPr>
        <p:spPr>
          <a:xfrm>
            <a:off x="376554" y="289633"/>
            <a:ext cx="504567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139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  <a:r>
              <a:rPr lang="zh-CN" altLang="en-US" sz="4000" b="1" spc="294" dirty="0">
                <a:solidFill>
                  <a:srgbClr val="242424"/>
                </a:solidFill>
                <a:latin typeface="宋体"/>
                <a:ea typeface="宋体"/>
              </a:rPr>
              <a:t>辅助知识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生成进化</a:t>
            </a:r>
          </a:p>
        </p:txBody>
      </p:sp>
      <p:sp>
        <p:nvSpPr>
          <p:cNvPr id="1297" name="TextBox 1297"/>
          <p:cNvSpPr txBox="1"/>
          <p:nvPr/>
        </p:nvSpPr>
        <p:spPr>
          <a:xfrm>
            <a:off x="900569" y="1788452"/>
            <a:ext cx="1666222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b="1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35" dirty="0">
                <a:solidFill>
                  <a:srgbClr val="000000"/>
                </a:solidFill>
                <a:latin typeface="宋体"/>
                <a:ea typeface="宋体"/>
              </a:rPr>
              <a:t>知识获取增强</a:t>
            </a:r>
          </a:p>
        </p:txBody>
      </p:sp>
      <p:sp>
        <p:nvSpPr>
          <p:cNvPr id="1298" name="TextBox 1298"/>
          <p:cNvSpPr txBox="1"/>
          <p:nvPr/>
        </p:nvSpPr>
        <p:spPr>
          <a:xfrm>
            <a:off x="3381768" y="1540812"/>
            <a:ext cx="1849322" cy="861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概念图谱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构建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3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34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400" spc="64" dirty="0">
                <a:solidFill>
                  <a:srgbClr val="000000"/>
                </a:solidFill>
                <a:latin typeface="宋体"/>
                <a:ea typeface="宋体"/>
              </a:rPr>
              <a:t>辅助绘制知识地图</a:t>
            </a:r>
          </a:p>
          <a:p>
            <a:pPr>
              <a:lnSpc>
                <a:spcPts val="70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34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69" dirty="0">
                <a:solidFill>
                  <a:srgbClr val="000000"/>
                </a:solidFill>
                <a:latin typeface="宋体"/>
                <a:ea typeface="宋体"/>
              </a:rPr>
              <a:t>识别知识关联和缺口</a:t>
            </a:r>
          </a:p>
        </p:txBody>
      </p:sp>
      <p:sp>
        <p:nvSpPr>
          <p:cNvPr id="1299" name="TextBox 1299"/>
          <p:cNvSpPr txBox="1"/>
          <p:nvPr/>
        </p:nvSpPr>
        <p:spPr>
          <a:xfrm>
            <a:off x="6564172" y="1540812"/>
            <a:ext cx="1231249" cy="861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深度学习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对话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 indent="17322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主题式探讨</a:t>
            </a:r>
          </a:p>
          <a:p>
            <a:pPr>
              <a:lnSpc>
                <a:spcPts val="705"/>
              </a:lnSpc>
            </a:pPr>
            <a:endParaRPr lang="en-US" dirty="0"/>
          </a:p>
          <a:p>
            <a:pPr marL="0" indent="14744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多角度理解</a:t>
            </a:r>
          </a:p>
        </p:txBody>
      </p:sp>
      <p:sp>
        <p:nvSpPr>
          <p:cNvPr id="1300" name="TextBox 1300"/>
          <p:cNvSpPr txBox="1"/>
          <p:nvPr/>
        </p:nvSpPr>
        <p:spPr>
          <a:xfrm>
            <a:off x="9303981" y="1540812"/>
            <a:ext cx="1505025" cy="8445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知识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验证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44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2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89" dirty="0">
                <a:solidFill>
                  <a:srgbClr val="000000"/>
                </a:solidFill>
                <a:latin typeface="宋体"/>
                <a:ea typeface="宋体"/>
              </a:rPr>
              <a:t>概念准确性验证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indent="15278">
              <a:lnSpc>
                <a:spcPct val="101666"/>
              </a:lnSpc>
            </a:pPr>
            <a:r>
              <a:rPr lang="zh-CN" altLang="en-US" sz="1400" spc="5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04" dirty="0">
                <a:solidFill>
                  <a:srgbClr val="000000"/>
                </a:solidFill>
                <a:latin typeface="宋体"/>
                <a:ea typeface="宋体"/>
              </a:rPr>
              <a:t>理解深度测试</a:t>
            </a:r>
          </a:p>
        </p:txBody>
      </p:sp>
      <p:sp>
        <p:nvSpPr>
          <p:cNvPr id="1301" name="TextBox 1301"/>
          <p:cNvSpPr txBox="1"/>
          <p:nvPr/>
        </p:nvSpPr>
        <p:spPr>
          <a:xfrm>
            <a:off x="900569" y="3113061"/>
            <a:ext cx="1666222" cy="1584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b="1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35" dirty="0">
                <a:solidFill>
                  <a:srgbClr val="000000"/>
                </a:solidFill>
                <a:latin typeface="宋体"/>
                <a:ea typeface="宋体"/>
              </a:rPr>
              <a:t>知识整合升级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3.</a:t>
            </a:r>
            <a:r>
              <a:rPr lang="zh-CN" altLang="en-US" sz="1800" b="1" spc="-30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35" dirty="0">
                <a:solidFill>
                  <a:srgbClr val="000000"/>
                </a:solidFill>
                <a:latin typeface="宋体"/>
                <a:ea typeface="宋体"/>
              </a:rPr>
              <a:t>知识创新突破</a:t>
            </a:r>
          </a:p>
        </p:txBody>
      </p:sp>
      <p:sp>
        <p:nvSpPr>
          <p:cNvPr id="1302" name="TextBox 1302"/>
          <p:cNvSpPr txBox="1"/>
          <p:nvPr/>
        </p:nvSpPr>
        <p:spPr>
          <a:xfrm>
            <a:off x="3392563" y="2889183"/>
            <a:ext cx="1326589" cy="2134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跨领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域关联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5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04" dirty="0">
                <a:solidFill>
                  <a:srgbClr val="000000"/>
                </a:solidFill>
                <a:latin typeface="宋体"/>
                <a:ea typeface="宋体"/>
              </a:rPr>
              <a:t>建立知识连接</a:t>
            </a:r>
          </a:p>
          <a:p>
            <a:pPr>
              <a:lnSpc>
                <a:spcPts val="434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发现创新点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观点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生成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新观点构建</a:t>
            </a:r>
          </a:p>
          <a:p>
            <a:pPr>
              <a:lnSpc>
                <a:spcPts val="680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创新性验证</a:t>
            </a:r>
          </a:p>
        </p:txBody>
      </p:sp>
      <p:sp>
        <p:nvSpPr>
          <p:cNvPr id="1303" name="TextBox 1303"/>
          <p:cNvSpPr txBox="1"/>
          <p:nvPr/>
        </p:nvSpPr>
        <p:spPr>
          <a:xfrm>
            <a:off x="6548081" y="2889374"/>
            <a:ext cx="1350631" cy="2119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605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系统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化重构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5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04" dirty="0">
                <a:solidFill>
                  <a:srgbClr val="000000"/>
                </a:solidFill>
                <a:latin typeface="宋体"/>
                <a:ea typeface="宋体"/>
              </a:rPr>
              <a:t>构建知识体系</a:t>
            </a:r>
          </a:p>
          <a:p>
            <a:pPr>
              <a:lnSpc>
                <a:spcPts val="434"/>
              </a:lnSpc>
            </a:pPr>
            <a:endParaRPr lang="en-US" dirty="0"/>
          </a:p>
          <a:p>
            <a:pPr marL="0" indent="13334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形成新框架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39"/>
              </a:lnSpc>
            </a:pPr>
            <a:endParaRPr lang="en-US" dirty="0"/>
          </a:p>
          <a:p>
            <a:pPr marL="0" indent="33655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方法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创新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 indent="34925">
              <a:lnSpc>
                <a:spcPct val="101666"/>
              </a:lnSpc>
            </a:pPr>
            <a:r>
              <a:rPr lang="zh-CN" altLang="en-US" sz="1400" spc="5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04" dirty="0">
                <a:solidFill>
                  <a:srgbClr val="000000"/>
                </a:solidFill>
                <a:latin typeface="宋体"/>
                <a:ea typeface="宋体"/>
              </a:rPr>
              <a:t>解决方案设计</a:t>
            </a:r>
          </a:p>
          <a:p>
            <a:pPr>
              <a:lnSpc>
                <a:spcPts val="565"/>
              </a:lnSpc>
            </a:pPr>
            <a:endParaRPr lang="en-US" dirty="0"/>
          </a:p>
          <a:p>
            <a:pPr marL="0" indent="43815">
              <a:lnSpc>
                <a:spcPct val="101666"/>
              </a:lnSpc>
            </a:pPr>
            <a:r>
              <a:rPr lang="zh-CN" altLang="en-US" sz="14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25" dirty="0">
                <a:solidFill>
                  <a:srgbClr val="000000"/>
                </a:solidFill>
                <a:latin typeface="宋体"/>
                <a:ea typeface="宋体"/>
              </a:rPr>
              <a:t>方法论构建</a:t>
            </a:r>
          </a:p>
        </p:txBody>
      </p:sp>
      <p:sp>
        <p:nvSpPr>
          <p:cNvPr id="1304" name="TextBox 1304"/>
          <p:cNvSpPr txBox="1"/>
          <p:nvPr/>
        </p:nvSpPr>
        <p:spPr>
          <a:xfrm>
            <a:off x="9317735" y="2889095"/>
            <a:ext cx="1029320" cy="21495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情境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化应用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7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54" dirty="0">
                <a:solidFill>
                  <a:srgbClr val="000000"/>
                </a:solidFill>
                <a:latin typeface="宋体"/>
                <a:ea typeface="宋体"/>
              </a:rPr>
              <a:t>场景模拟</a:t>
            </a:r>
          </a:p>
          <a:p>
            <a:pPr>
              <a:lnSpc>
                <a:spcPts val="540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7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54" dirty="0">
                <a:solidFill>
                  <a:srgbClr val="000000"/>
                </a:solidFill>
                <a:latin typeface="宋体"/>
                <a:ea typeface="宋体"/>
              </a:rPr>
              <a:t>实践验证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价值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创造</a:t>
            </a:r>
          </a:p>
          <a:p>
            <a:pPr>
              <a:lnSpc>
                <a:spcPts val="810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7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54" dirty="0">
                <a:solidFill>
                  <a:srgbClr val="000000"/>
                </a:solidFill>
                <a:latin typeface="宋体"/>
                <a:ea typeface="宋体"/>
              </a:rPr>
              <a:t>实践应用</a:t>
            </a:r>
          </a:p>
          <a:p>
            <a:pPr>
              <a:lnSpc>
                <a:spcPts val="705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7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400" spc="-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400" spc="154" dirty="0">
                <a:solidFill>
                  <a:srgbClr val="000000"/>
                </a:solidFill>
                <a:latin typeface="宋体"/>
                <a:ea typeface="宋体"/>
              </a:rPr>
              <a:t>价值验证</a:t>
            </a:r>
          </a:p>
        </p:txBody>
      </p:sp>
      <p:sp>
        <p:nvSpPr>
          <p:cNvPr id="1305" name="TextBox 1305"/>
          <p:cNvSpPr txBox="1"/>
          <p:nvPr/>
        </p:nvSpPr>
        <p:spPr>
          <a:xfrm>
            <a:off x="766191" y="5560593"/>
            <a:ext cx="470517" cy="633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实践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FEFEFE"/>
                </a:solidFill>
                <a:latin typeface="宋体"/>
                <a:ea typeface="宋体"/>
              </a:rPr>
              <a:t>路径</a:t>
            </a:r>
          </a:p>
        </p:txBody>
      </p:sp>
      <p:sp>
        <p:nvSpPr>
          <p:cNvPr id="1306" name="TextBox 1306"/>
          <p:cNvSpPr txBox="1"/>
          <p:nvPr/>
        </p:nvSpPr>
        <p:spPr>
          <a:xfrm>
            <a:off x="1595755" y="5452615"/>
            <a:ext cx="3274679" cy="830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循环提升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策略：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每循环设定明确的知识提升目标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6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辅助，持续深化理解和应用</a:t>
            </a:r>
          </a:p>
        </p:txBody>
      </p:sp>
      <p:sp>
        <p:nvSpPr>
          <p:cNvPr id="1307" name="TextBox 1307"/>
          <p:cNvSpPr txBox="1"/>
          <p:nvPr/>
        </p:nvSpPr>
        <p:spPr>
          <a:xfrm>
            <a:off x="6644640" y="5744715"/>
            <a:ext cx="2879709" cy="537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定期进行知识整合和创新尝试</a:t>
            </a:r>
          </a:p>
          <a:p>
            <a:pPr marL="0" indent="22225">
              <a:lnSpc>
                <a:spcPct val="100833"/>
              </a:lnSpc>
              <a:spcBef>
                <a:spcPts val="35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建立个人知识管理系统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Picture 13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280" y="1744980"/>
            <a:ext cx="3474720" cy="3451860"/>
          </a:xfrm>
          <a:prstGeom prst="rect">
            <a:avLst/>
          </a:prstGeom>
        </p:spPr>
      </p:pic>
      <p:sp>
        <p:nvSpPr>
          <p:cNvPr id="2" name="Freeform 1309"/>
          <p:cNvSpPr/>
          <p:nvPr/>
        </p:nvSpPr>
        <p:spPr>
          <a:xfrm>
            <a:off x="7588250" y="1593850"/>
            <a:ext cx="3359150" cy="1149350"/>
          </a:xfrm>
          <a:custGeom>
            <a:avLst/>
            <a:gdLst>
              <a:gd name="connsiteX0" fmla="*/ 8890 w 3359150"/>
              <a:gd name="connsiteY0" fmla="*/ 205994 h 1149350"/>
              <a:gd name="connsiteX1" fmla="*/ 199390 w 3359150"/>
              <a:gd name="connsiteY1" fmla="*/ 17017 h 1149350"/>
              <a:gd name="connsiteX2" fmla="*/ 3169666 w 3359150"/>
              <a:gd name="connsiteY2" fmla="*/ 17017 h 1149350"/>
              <a:gd name="connsiteX3" fmla="*/ 3360166 w 3359150"/>
              <a:gd name="connsiteY3" fmla="*/ 205994 h 1149350"/>
              <a:gd name="connsiteX4" fmla="*/ 3360166 w 3359150"/>
              <a:gd name="connsiteY4" fmla="*/ 966470 h 1149350"/>
              <a:gd name="connsiteX5" fmla="*/ 3169666 w 3359150"/>
              <a:gd name="connsiteY5" fmla="*/ 1155445 h 1149350"/>
              <a:gd name="connsiteX6" fmla="*/ 199390 w 3359150"/>
              <a:gd name="connsiteY6" fmla="*/ 1155445 h 1149350"/>
              <a:gd name="connsiteX7" fmla="*/ 8890 w 3359150"/>
              <a:gd name="connsiteY7" fmla="*/ 966470 h 1149350"/>
              <a:gd name="connsiteX8" fmla="*/ 8890 w 3359150"/>
              <a:gd name="connsiteY8" fmla="*/ 205994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9150" h="1149350">
                <a:moveTo>
                  <a:pt x="8890" y="205994"/>
                </a:moveTo>
                <a:cubicBezTo>
                  <a:pt x="8890" y="101549"/>
                  <a:pt x="93929" y="16510"/>
                  <a:pt x="199390" y="17017"/>
                </a:cubicBezTo>
                <a:lnTo>
                  <a:pt x="3169666" y="17017"/>
                </a:lnTo>
                <a:cubicBezTo>
                  <a:pt x="3274745" y="16510"/>
                  <a:pt x="3359784" y="101549"/>
                  <a:pt x="3360166" y="205994"/>
                </a:cubicBezTo>
                <a:lnTo>
                  <a:pt x="3360166" y="966470"/>
                </a:lnTo>
                <a:cubicBezTo>
                  <a:pt x="3359784" y="1071041"/>
                  <a:pt x="3274745" y="1156080"/>
                  <a:pt x="3169666" y="1155445"/>
                </a:cubicBezTo>
                <a:lnTo>
                  <a:pt x="199390" y="1155445"/>
                </a:lnTo>
                <a:cubicBezTo>
                  <a:pt x="93929" y="1156080"/>
                  <a:pt x="8890" y="1071041"/>
                  <a:pt x="8890" y="966470"/>
                </a:cubicBezTo>
                <a:lnTo>
                  <a:pt x="8890" y="205994"/>
                </a:lnTo>
                <a:close/>
              </a:path>
            </a:pathLst>
          </a:custGeom>
          <a:solidFill>
            <a:srgbClr val="5999E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0" name="Freeform 1310"/>
          <p:cNvSpPr/>
          <p:nvPr/>
        </p:nvSpPr>
        <p:spPr>
          <a:xfrm>
            <a:off x="7588250" y="2927350"/>
            <a:ext cx="3359150" cy="1149350"/>
          </a:xfrm>
          <a:custGeom>
            <a:avLst/>
            <a:gdLst>
              <a:gd name="connsiteX0" fmla="*/ 8890 w 3359150"/>
              <a:gd name="connsiteY0" fmla="*/ 202945 h 1149350"/>
              <a:gd name="connsiteX1" fmla="*/ 199390 w 3359150"/>
              <a:gd name="connsiteY1" fmla="*/ 12445 h 1149350"/>
              <a:gd name="connsiteX2" fmla="*/ 3169666 w 3359150"/>
              <a:gd name="connsiteY2" fmla="*/ 12445 h 1149350"/>
              <a:gd name="connsiteX3" fmla="*/ 3360166 w 3359150"/>
              <a:gd name="connsiteY3" fmla="*/ 202945 h 1149350"/>
              <a:gd name="connsiteX4" fmla="*/ 3360166 w 3359150"/>
              <a:gd name="connsiteY4" fmla="*/ 961897 h 1149350"/>
              <a:gd name="connsiteX5" fmla="*/ 3169666 w 3359150"/>
              <a:gd name="connsiteY5" fmla="*/ 1152397 h 1149350"/>
              <a:gd name="connsiteX6" fmla="*/ 199390 w 3359150"/>
              <a:gd name="connsiteY6" fmla="*/ 1152397 h 1149350"/>
              <a:gd name="connsiteX7" fmla="*/ 8890 w 3359150"/>
              <a:gd name="connsiteY7" fmla="*/ 961897 h 1149350"/>
              <a:gd name="connsiteX8" fmla="*/ 8890 w 3359150"/>
              <a:gd name="connsiteY8" fmla="*/ 202945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9150" h="1149350">
                <a:moveTo>
                  <a:pt x="8890" y="202945"/>
                </a:moveTo>
                <a:cubicBezTo>
                  <a:pt x="8890" y="97548"/>
                  <a:pt x="93929" y="12509"/>
                  <a:pt x="199390" y="12445"/>
                </a:cubicBezTo>
                <a:lnTo>
                  <a:pt x="3169666" y="12445"/>
                </a:lnTo>
                <a:cubicBezTo>
                  <a:pt x="3274745" y="12509"/>
                  <a:pt x="3359784" y="97548"/>
                  <a:pt x="3360166" y="202945"/>
                </a:cubicBezTo>
                <a:lnTo>
                  <a:pt x="3360166" y="961897"/>
                </a:lnTo>
                <a:cubicBezTo>
                  <a:pt x="3359784" y="1067041"/>
                  <a:pt x="3274745" y="1152080"/>
                  <a:pt x="3169666" y="1152397"/>
                </a:cubicBezTo>
                <a:lnTo>
                  <a:pt x="199390" y="1152397"/>
                </a:lnTo>
                <a:cubicBezTo>
                  <a:pt x="93929" y="1152080"/>
                  <a:pt x="8890" y="1067041"/>
                  <a:pt x="8890" y="961897"/>
                </a:cubicBezTo>
                <a:lnTo>
                  <a:pt x="8890" y="202945"/>
                </a:lnTo>
                <a:close/>
              </a:path>
            </a:pathLst>
          </a:custGeom>
          <a:solidFill>
            <a:srgbClr val="60BD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" name="Freeform 1311"/>
          <p:cNvSpPr/>
          <p:nvPr/>
        </p:nvSpPr>
        <p:spPr>
          <a:xfrm>
            <a:off x="7588250" y="4260850"/>
            <a:ext cx="3359150" cy="1136650"/>
          </a:xfrm>
          <a:custGeom>
            <a:avLst/>
            <a:gdLst>
              <a:gd name="connsiteX0" fmla="*/ 8890 w 3359150"/>
              <a:gd name="connsiteY0" fmla="*/ 198373 h 1136650"/>
              <a:gd name="connsiteX1" fmla="*/ 199390 w 3359150"/>
              <a:gd name="connsiteY1" fmla="*/ 7873 h 1136650"/>
              <a:gd name="connsiteX2" fmla="*/ 3169666 w 3359150"/>
              <a:gd name="connsiteY2" fmla="*/ 7873 h 1136650"/>
              <a:gd name="connsiteX3" fmla="*/ 3360166 w 3359150"/>
              <a:gd name="connsiteY3" fmla="*/ 198373 h 1136650"/>
              <a:gd name="connsiteX4" fmla="*/ 3360166 w 3359150"/>
              <a:gd name="connsiteY4" fmla="*/ 958850 h 1136650"/>
              <a:gd name="connsiteX5" fmla="*/ 3169666 w 3359150"/>
              <a:gd name="connsiteY5" fmla="*/ 1147826 h 1136650"/>
              <a:gd name="connsiteX6" fmla="*/ 199390 w 3359150"/>
              <a:gd name="connsiteY6" fmla="*/ 1147826 h 1136650"/>
              <a:gd name="connsiteX7" fmla="*/ 8890 w 3359150"/>
              <a:gd name="connsiteY7" fmla="*/ 958850 h 1136650"/>
              <a:gd name="connsiteX8" fmla="*/ 8890 w 3359150"/>
              <a:gd name="connsiteY8" fmla="*/ 198373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9150" h="1136650">
                <a:moveTo>
                  <a:pt x="8890" y="198373"/>
                </a:moveTo>
                <a:cubicBezTo>
                  <a:pt x="8890" y="93548"/>
                  <a:pt x="93929" y="8509"/>
                  <a:pt x="199390" y="7873"/>
                </a:cubicBezTo>
                <a:lnTo>
                  <a:pt x="3169666" y="7873"/>
                </a:lnTo>
                <a:cubicBezTo>
                  <a:pt x="3274745" y="8509"/>
                  <a:pt x="3359784" y="93548"/>
                  <a:pt x="3360166" y="198373"/>
                </a:cubicBezTo>
                <a:lnTo>
                  <a:pt x="3360166" y="958850"/>
                </a:lnTo>
                <a:cubicBezTo>
                  <a:pt x="3359784" y="1063040"/>
                  <a:pt x="3274745" y="1148079"/>
                  <a:pt x="3169666" y="1147826"/>
                </a:cubicBezTo>
                <a:lnTo>
                  <a:pt x="199390" y="1147826"/>
                </a:lnTo>
                <a:cubicBezTo>
                  <a:pt x="93929" y="1148079"/>
                  <a:pt x="8890" y="1063040"/>
                  <a:pt x="8890" y="958850"/>
                </a:cubicBezTo>
                <a:lnTo>
                  <a:pt x="8890" y="198373"/>
                </a:lnTo>
                <a:close/>
              </a:path>
            </a:pathLst>
          </a:custGeom>
          <a:solidFill>
            <a:srgbClr val="90D37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3" name="Picture 13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5585460"/>
            <a:ext cx="9928860" cy="853440"/>
          </a:xfrm>
          <a:prstGeom prst="rect">
            <a:avLst/>
          </a:prstGeom>
        </p:spPr>
      </p:pic>
      <p:sp>
        <p:nvSpPr>
          <p:cNvPr id="3" name="TextBox 1313"/>
          <p:cNvSpPr txBox="1"/>
          <p:nvPr/>
        </p:nvSpPr>
        <p:spPr>
          <a:xfrm>
            <a:off x="376554" y="289633"/>
            <a:ext cx="7741880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关于“知识唤醒</a:t>
            </a:r>
            <a:r>
              <a:rPr lang="zh-CN" altLang="en-US" sz="4000" b="1" spc="270" dirty="0">
                <a:solidFill>
                  <a:srgbClr val="242424"/>
                </a:solidFill>
                <a:latin typeface="宋体"/>
                <a:ea typeface="宋体"/>
              </a:rPr>
              <a:t>”的第一</a:t>
            </a: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性问题</a:t>
            </a:r>
          </a:p>
        </p:txBody>
      </p:sp>
      <p:sp>
        <p:nvSpPr>
          <p:cNvPr id="1314" name="TextBox 1314"/>
          <p:cNvSpPr txBox="1"/>
          <p:nvPr/>
        </p:nvSpPr>
        <p:spPr>
          <a:xfrm>
            <a:off x="1136014" y="1785137"/>
            <a:ext cx="2813032" cy="3483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b="1" spc="-1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什么是知识？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已有的认知积累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过往的经验总结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潜在的思维模式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隐性的行为模式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1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b="1" spc="-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为什么需要“唤醒”？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知识存在但未被充分调用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经验存在但未被有效链接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洞察存在但未被清晰表达</a:t>
            </a:r>
          </a:p>
        </p:txBody>
      </p:sp>
      <p:sp>
        <p:nvSpPr>
          <p:cNvPr id="1315" name="TextBox 1315"/>
          <p:cNvSpPr txBox="1"/>
          <p:nvPr/>
        </p:nvSpPr>
        <p:spPr>
          <a:xfrm>
            <a:off x="6252298" y="1873912"/>
            <a:ext cx="882620" cy="1771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76580" hangingPunct="0">
              <a:lnSpc>
                <a:spcPct val="98750"/>
              </a:lnSpc>
            </a:pPr>
            <a:r>
              <a:rPr lang="zh-CN" altLang="en-US" sz="1400" b="1" spc="-5" dirty="0">
                <a:solidFill>
                  <a:srgbClr val="323232"/>
                </a:solidFill>
                <a:latin typeface="宋体"/>
                <a:ea typeface="宋体"/>
              </a:rPr>
              <a:t>AI</a:t>
            </a:r>
            <a:r>
              <a:rPr lang="zh-CN" altLang="en-US" sz="1400" b="1" spc="-15" dirty="0">
                <a:solidFill>
                  <a:srgbClr val="323232"/>
                </a:solidFill>
                <a:latin typeface="宋体"/>
                <a:ea typeface="宋体"/>
              </a:rPr>
              <a:t>辅助层</a:t>
            </a:r>
            <a:r>
              <a:rPr lang="zh-CN" altLang="en-US" sz="1200" spc="-34" dirty="0">
                <a:solidFill>
                  <a:srgbClr val="323232"/>
                </a:solidFill>
                <a:latin typeface="宋体"/>
                <a:ea typeface="宋体"/>
              </a:rPr>
              <a:t>(</a:t>
            </a:r>
            <a:r>
              <a:rPr lang="zh-CN" altLang="en-US" sz="1200" spc="-69" dirty="0">
                <a:solidFill>
                  <a:srgbClr val="323232"/>
                </a:solidFill>
                <a:latin typeface="宋体"/>
                <a:ea typeface="宋体"/>
              </a:rPr>
              <a:t>工具与触发</a:t>
            </a:r>
            <a:r>
              <a:rPr lang="zh-CN" altLang="en-US" sz="1200" spc="-40" dirty="0">
                <a:solidFill>
                  <a:srgbClr val="323232"/>
                </a:solidFill>
                <a:latin typeface="宋体"/>
                <a:ea typeface="宋体"/>
              </a:rPr>
              <a:t>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70"/>
              </a:lnSpc>
            </a:pPr>
            <a:endParaRPr lang="en-US" dirty="0"/>
          </a:p>
          <a:p>
            <a:pPr marL="0" indent="76580">
              <a:lnSpc>
                <a:spcPct val="100000"/>
              </a:lnSpc>
            </a:pPr>
            <a:r>
              <a:rPr lang="zh-CN" altLang="en-US" sz="1400" b="1" spc="-10" dirty="0">
                <a:solidFill>
                  <a:srgbClr val="323232"/>
                </a:solidFill>
                <a:latin typeface="宋体"/>
                <a:ea typeface="宋体"/>
              </a:rPr>
              <a:t>知识</a:t>
            </a:r>
            <a:r>
              <a:rPr lang="zh-CN" altLang="en-US" sz="1400" b="1" dirty="0">
                <a:solidFill>
                  <a:srgbClr val="323232"/>
                </a:solidFill>
                <a:latin typeface="宋体"/>
                <a:ea typeface="宋体"/>
              </a:rPr>
              <a:t>系统</a:t>
            </a:r>
          </a:p>
          <a:p>
            <a:pPr marL="0">
              <a:lnSpc>
                <a:spcPct val="101250"/>
              </a:lnSpc>
            </a:pPr>
            <a:r>
              <a:rPr lang="zh-CN" altLang="en-US" sz="1200" spc="-30" dirty="0">
                <a:solidFill>
                  <a:srgbClr val="323232"/>
                </a:solidFill>
                <a:latin typeface="宋体"/>
                <a:ea typeface="宋体"/>
              </a:rPr>
              <a:t>(</a:t>
            </a:r>
            <a:r>
              <a:rPr lang="zh-CN" altLang="en-US" sz="1200" spc="-60" dirty="0">
                <a:solidFill>
                  <a:srgbClr val="323232"/>
                </a:solidFill>
                <a:latin typeface="宋体"/>
                <a:ea typeface="宋体"/>
              </a:rPr>
              <a:t>结构化储备</a:t>
            </a:r>
            <a:r>
              <a:rPr lang="zh-CN" altLang="en-US" sz="1200" spc="-35" dirty="0">
                <a:solidFill>
                  <a:srgbClr val="323232"/>
                </a:solidFill>
                <a:latin typeface="宋体"/>
                <a:ea typeface="宋体"/>
              </a:rPr>
              <a:t>)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 indent="76580">
              <a:lnSpc>
                <a:spcPct val="100000"/>
              </a:lnSpc>
            </a:pPr>
            <a:r>
              <a:rPr lang="zh-CN" altLang="en-US" sz="1400" b="1" spc="-10" dirty="0">
                <a:solidFill>
                  <a:srgbClr val="323232"/>
                </a:solidFill>
                <a:latin typeface="宋体"/>
                <a:ea typeface="宋体"/>
              </a:rPr>
              <a:t>认知</a:t>
            </a:r>
            <a:r>
              <a:rPr lang="zh-CN" altLang="en-US" sz="1400" b="1" dirty="0">
                <a:solidFill>
                  <a:srgbClr val="323232"/>
                </a:solidFill>
                <a:latin typeface="宋体"/>
                <a:ea typeface="宋体"/>
              </a:rPr>
              <a:t>主体</a:t>
            </a:r>
          </a:p>
          <a:p>
            <a:pPr marL="0" indent="268033">
              <a:lnSpc>
                <a:spcPct val="100000"/>
              </a:lnSpc>
            </a:pPr>
            <a:r>
              <a:rPr lang="zh-CN" altLang="en-US" sz="1200" spc="-89" dirty="0">
                <a:solidFill>
                  <a:srgbClr val="323232"/>
                </a:solidFill>
                <a:latin typeface="宋体"/>
                <a:ea typeface="宋体"/>
              </a:rPr>
              <a:t>(</a:t>
            </a:r>
            <a:r>
              <a:rPr lang="zh-CN" altLang="en-US" sz="1200" spc="-179" dirty="0">
                <a:solidFill>
                  <a:srgbClr val="323232"/>
                </a:solidFill>
                <a:latin typeface="宋体"/>
                <a:ea typeface="宋体"/>
              </a:rPr>
              <a:t>人</a:t>
            </a:r>
            <a:r>
              <a:rPr lang="zh-CN" altLang="en-US" sz="1200" spc="-94" dirty="0">
                <a:solidFill>
                  <a:srgbClr val="323232"/>
                </a:solidFill>
                <a:latin typeface="宋体"/>
                <a:ea typeface="宋体"/>
              </a:rPr>
              <a:t>)</a:t>
            </a:r>
          </a:p>
        </p:txBody>
      </p:sp>
      <p:sp>
        <p:nvSpPr>
          <p:cNvPr id="1316" name="TextBox 1316"/>
          <p:cNvSpPr txBox="1"/>
          <p:nvPr/>
        </p:nvSpPr>
        <p:spPr>
          <a:xfrm>
            <a:off x="7767421" y="1718337"/>
            <a:ext cx="2178673" cy="36238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177607">
              <a:lnSpc>
                <a:spcPct val="101666"/>
              </a:lnSpc>
            </a:pPr>
            <a:r>
              <a:rPr lang="zh-CN" altLang="en-US" sz="1400" b="1" spc="-10" dirty="0">
                <a:solidFill>
                  <a:srgbClr val="FEFEFE"/>
                </a:solidFill>
                <a:latin typeface="宋体"/>
                <a:ea typeface="宋体"/>
              </a:rPr>
              <a:t>基本</a:t>
            </a:r>
            <a:r>
              <a:rPr lang="zh-CN" altLang="en-US" sz="1400" b="1" dirty="0">
                <a:solidFill>
                  <a:srgbClr val="FEFEFE"/>
                </a:solidFill>
                <a:latin typeface="宋体"/>
                <a:ea typeface="宋体"/>
              </a:rPr>
              <a:t>原理</a:t>
            </a:r>
          </a:p>
          <a:p>
            <a:pPr>
              <a:lnSpc>
                <a:spcPts val="69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1.</a:t>
            </a:r>
            <a:r>
              <a:rPr lang="zh-CN" altLang="en-US" sz="1200" spc="-220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知识源于认知主体的主动建构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2.</a:t>
            </a:r>
            <a:r>
              <a:rPr lang="zh-CN" altLang="en-US" sz="1200" spc="-214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FEFEFE"/>
                </a:solidFill>
                <a:latin typeface="宋体"/>
                <a:ea typeface="宋体"/>
              </a:rPr>
              <a:t>知识系统是有机整体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3.</a:t>
            </a:r>
            <a:r>
              <a:rPr lang="zh-CN" altLang="en-US" sz="1200" spc="-209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AI</a:t>
            </a:r>
            <a:r>
              <a:rPr lang="zh-CN" altLang="en-US" sz="1200" spc="-20" dirty="0">
                <a:solidFill>
                  <a:srgbClr val="FEFEFE"/>
                </a:solidFill>
                <a:latin typeface="宋体"/>
                <a:ea typeface="宋体"/>
              </a:rPr>
              <a:t>作为外部辅助系统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70"/>
              </a:lnSpc>
            </a:pPr>
            <a:endParaRPr lang="en-US" dirty="0"/>
          </a:p>
          <a:p>
            <a:pPr marL="0" indent="1177607">
              <a:lnSpc>
                <a:spcPct val="101666"/>
              </a:lnSpc>
            </a:pPr>
            <a:r>
              <a:rPr lang="zh-CN" altLang="en-US" sz="1400" b="1" spc="-10" dirty="0">
                <a:solidFill>
                  <a:srgbClr val="FEFEFE"/>
                </a:solidFill>
                <a:latin typeface="宋体"/>
                <a:ea typeface="宋体"/>
              </a:rPr>
              <a:t>作用</a:t>
            </a:r>
            <a:r>
              <a:rPr lang="zh-CN" altLang="en-US" sz="1400" b="1" dirty="0">
                <a:solidFill>
                  <a:srgbClr val="FEFEFE"/>
                </a:solidFill>
                <a:latin typeface="宋体"/>
                <a:ea typeface="宋体"/>
              </a:rPr>
              <a:t>机制</a:t>
            </a:r>
          </a:p>
          <a:p>
            <a:pPr>
              <a:lnSpc>
                <a:spcPts val="69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1.</a:t>
            </a:r>
            <a:r>
              <a:rPr lang="zh-CN" altLang="en-US" sz="1200" spc="-239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认知触发：创造认知失衡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2.</a:t>
            </a:r>
            <a:r>
              <a:rPr lang="zh-CN" altLang="en-US" sz="1200" spc="-239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系统激活：唤醒知识网络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3.</a:t>
            </a:r>
            <a:r>
              <a:rPr lang="zh-CN" altLang="en-US" sz="1200" spc="-220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0" dirty="0">
                <a:solidFill>
                  <a:srgbClr val="FEFEFE"/>
                </a:solidFill>
                <a:latin typeface="宋体"/>
                <a:ea typeface="宋体"/>
              </a:rPr>
              <a:t>整体重构：形成新的认知结构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70"/>
              </a:lnSpc>
            </a:pPr>
            <a:endParaRPr lang="en-US" dirty="0"/>
          </a:p>
          <a:p>
            <a:pPr marL="0" indent="1177607">
              <a:lnSpc>
                <a:spcPct val="101666"/>
              </a:lnSpc>
            </a:pPr>
            <a:r>
              <a:rPr lang="zh-CN" altLang="en-US" sz="1400" b="1" spc="-10" dirty="0">
                <a:solidFill>
                  <a:srgbClr val="FEFEFE"/>
                </a:solidFill>
                <a:latin typeface="宋体"/>
                <a:ea typeface="宋体"/>
              </a:rPr>
              <a:t>实践</a:t>
            </a:r>
            <a:r>
              <a:rPr lang="zh-CN" altLang="en-US" sz="1400" b="1" dirty="0">
                <a:solidFill>
                  <a:srgbClr val="FEFEFE"/>
                </a:solidFill>
                <a:latin typeface="宋体"/>
                <a:ea typeface="宋体"/>
              </a:rPr>
              <a:t>路径</a:t>
            </a:r>
          </a:p>
          <a:p>
            <a:pPr>
              <a:lnSpc>
                <a:spcPts val="69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1.</a:t>
            </a:r>
            <a:r>
              <a:rPr lang="zh-CN" altLang="en-US" sz="1200" spc="-214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FEFEFE"/>
                </a:solidFill>
                <a:latin typeface="宋体"/>
                <a:ea typeface="宋体"/>
              </a:rPr>
              <a:t>问题激发→知识唤醒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2.</a:t>
            </a:r>
            <a:r>
              <a:rPr lang="zh-CN" altLang="en-US" sz="1200" spc="-214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FEFEFE"/>
                </a:solidFill>
                <a:latin typeface="宋体"/>
                <a:ea typeface="宋体"/>
              </a:rPr>
              <a:t>关联建立→系统整合</a:t>
            </a:r>
          </a:p>
          <a:p>
            <a:pPr>
              <a:lnSpc>
                <a:spcPts val="40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200" spc="-5" dirty="0">
                <a:solidFill>
                  <a:srgbClr val="FEFEFE"/>
                </a:solidFill>
                <a:latin typeface="宋体"/>
                <a:ea typeface="宋体"/>
              </a:rPr>
              <a:t>3.</a:t>
            </a:r>
            <a:r>
              <a:rPr lang="zh-CN" altLang="en-US" sz="1200" spc="-214" dirty="0">
                <a:solidFill>
                  <a:srgbClr val="FEFEFE"/>
                </a:solidFill>
                <a:latin typeface="宋体"/>
                <a:cs typeface="宋体"/>
              </a:rPr>
              <a:t> </a:t>
            </a:r>
            <a:r>
              <a:rPr lang="zh-CN" altLang="en-US" sz="1200" spc="-15" dirty="0">
                <a:solidFill>
                  <a:srgbClr val="FEFEFE"/>
                </a:solidFill>
                <a:latin typeface="宋体"/>
                <a:ea typeface="宋体"/>
              </a:rPr>
              <a:t>提示构建→知识生成</a:t>
            </a:r>
          </a:p>
        </p:txBody>
      </p:sp>
      <p:sp>
        <p:nvSpPr>
          <p:cNvPr id="1317" name="TextBox 1317"/>
          <p:cNvSpPr txBox="1"/>
          <p:nvPr/>
        </p:nvSpPr>
        <p:spPr>
          <a:xfrm>
            <a:off x="2728595" y="5759320"/>
            <a:ext cx="6650339" cy="537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86459">
              <a:lnSpc>
                <a:spcPct val="10083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本质：知识唤醒是认知主体在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辅助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下的主动建构过程</a:t>
            </a:r>
          </a:p>
          <a:p>
            <a:pPr marL="0">
              <a:lnSpc>
                <a:spcPct val="100833"/>
              </a:lnSpc>
              <a:spcBef>
                <a:spcPts val="359"/>
              </a:spcBef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目标：通过认知触发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系统激活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整体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重构，实现知识的深度调动和创新生成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" name="Picture 13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982980"/>
            <a:ext cx="2202180" cy="3909060"/>
          </a:xfrm>
          <a:prstGeom prst="rect">
            <a:avLst/>
          </a:prstGeom>
        </p:spPr>
      </p:pic>
      <p:pic>
        <p:nvPicPr>
          <p:cNvPr id="1320" name="Picture 1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982980"/>
            <a:ext cx="2194560" cy="3909060"/>
          </a:xfrm>
          <a:prstGeom prst="rect">
            <a:avLst/>
          </a:prstGeom>
        </p:spPr>
      </p:pic>
      <p:pic>
        <p:nvPicPr>
          <p:cNvPr id="1321" name="Picture 13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220" y="982980"/>
            <a:ext cx="2202180" cy="3909060"/>
          </a:xfrm>
          <a:prstGeom prst="rect">
            <a:avLst/>
          </a:prstGeom>
        </p:spPr>
      </p:pic>
      <p:pic>
        <p:nvPicPr>
          <p:cNvPr id="1322" name="Picture 13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479" y="5212080"/>
            <a:ext cx="6979920" cy="975360"/>
          </a:xfrm>
          <a:prstGeom prst="rect">
            <a:avLst/>
          </a:prstGeom>
        </p:spPr>
      </p:pic>
      <p:sp>
        <p:nvSpPr>
          <p:cNvPr id="2" name="TextBox 1322"/>
          <p:cNvSpPr txBox="1"/>
          <p:nvPr/>
        </p:nvSpPr>
        <p:spPr>
          <a:xfrm>
            <a:off x="776884" y="836714"/>
            <a:ext cx="2084687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b="1" spc="27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-30" dirty="0">
                <a:solidFill>
                  <a:srgbClr val="000000"/>
                </a:solidFill>
                <a:latin typeface="宋体"/>
                <a:ea typeface="宋体"/>
              </a:rPr>
              <a:t>知识的基本属性</a:t>
            </a:r>
          </a:p>
        </p:txBody>
      </p:sp>
      <p:sp>
        <p:nvSpPr>
          <p:cNvPr id="1323" name="TextBox 1323"/>
          <p:cNvSpPr txBox="1"/>
          <p:nvPr/>
        </p:nvSpPr>
        <p:spPr>
          <a:xfrm>
            <a:off x="776884" y="1192949"/>
            <a:ext cx="3270232" cy="1346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沉淀性：知识是经验的累积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关联性：知识是网络化的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情境性：知识嵌入具体场景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涌现性：新知识从连接中产生</a:t>
            </a:r>
          </a:p>
        </p:txBody>
      </p:sp>
      <p:sp>
        <p:nvSpPr>
          <p:cNvPr id="1324" name="TextBox 1324"/>
          <p:cNvSpPr txBox="1"/>
          <p:nvPr/>
        </p:nvSpPr>
        <p:spPr>
          <a:xfrm>
            <a:off x="4751451" y="1285786"/>
            <a:ext cx="1661142" cy="1520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20585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情感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唤醒</a:t>
            </a:r>
          </a:p>
          <a:p>
            <a:pPr>
              <a:lnSpc>
                <a:spcPts val="167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spc="-3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基础情态激发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 indent="129222">
              <a:lnSpc>
                <a:spcPct val="100833"/>
              </a:lnSpc>
            </a:pPr>
            <a:r>
              <a:rPr lang="zh-CN" altLang="en-US" sz="1600" spc="11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220" dirty="0">
                <a:solidFill>
                  <a:srgbClr val="000000"/>
                </a:solidFill>
                <a:latin typeface="宋体"/>
                <a:ea typeface="宋体"/>
              </a:rPr>
              <a:t>惊异感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indent="124866">
              <a:lnSpc>
                <a:spcPct val="100833"/>
              </a:lnSpc>
            </a:pPr>
            <a:r>
              <a:rPr lang="zh-CN" altLang="en-US" sz="1600" spc="11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220" dirty="0">
                <a:solidFill>
                  <a:srgbClr val="000000"/>
                </a:solidFill>
                <a:latin typeface="宋体"/>
                <a:ea typeface="宋体"/>
              </a:rPr>
              <a:t>好奇心</a:t>
            </a:r>
          </a:p>
        </p:txBody>
      </p:sp>
      <p:sp>
        <p:nvSpPr>
          <p:cNvPr id="1325" name="TextBox 1325"/>
          <p:cNvSpPr txBox="1"/>
          <p:nvPr/>
        </p:nvSpPr>
        <p:spPr>
          <a:xfrm>
            <a:off x="7176148" y="1277556"/>
            <a:ext cx="1355833" cy="1527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28751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经验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唤醒</a:t>
            </a:r>
          </a:p>
          <a:p>
            <a:pPr>
              <a:lnSpc>
                <a:spcPts val="1854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spc="-3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45" dirty="0">
                <a:solidFill>
                  <a:srgbClr val="000000"/>
                </a:solidFill>
                <a:latin typeface="宋体"/>
                <a:ea typeface="宋体"/>
              </a:rPr>
              <a:t>情境构建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indent="64363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场景还原</a:t>
            </a:r>
          </a:p>
          <a:p>
            <a:pPr>
              <a:lnSpc>
                <a:spcPts val="955"/>
              </a:lnSpc>
            </a:pPr>
            <a:endParaRPr lang="en-US" dirty="0"/>
          </a:p>
          <a:p>
            <a:pPr marL="0" indent="59918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多维模拟</a:t>
            </a:r>
          </a:p>
        </p:txBody>
      </p:sp>
      <p:sp>
        <p:nvSpPr>
          <p:cNvPr id="1326" name="TextBox 1326"/>
          <p:cNvSpPr txBox="1"/>
          <p:nvPr/>
        </p:nvSpPr>
        <p:spPr>
          <a:xfrm>
            <a:off x="9569932" y="1269961"/>
            <a:ext cx="1369803" cy="15252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2721">
              <a:lnSpc>
                <a:spcPct val="101250"/>
              </a:lnSpc>
            </a:pPr>
            <a:r>
              <a:rPr lang="zh-CN" altLang="en-US" sz="1800" spc="-10" dirty="0">
                <a:solidFill>
                  <a:srgbClr val="000000"/>
                </a:solidFill>
                <a:latin typeface="宋体"/>
                <a:ea typeface="宋体"/>
              </a:rPr>
              <a:t>关联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唤醒</a:t>
            </a:r>
          </a:p>
          <a:p>
            <a:pPr>
              <a:lnSpc>
                <a:spcPts val="1660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800" spc="-31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45" dirty="0">
                <a:solidFill>
                  <a:srgbClr val="000000"/>
                </a:solidFill>
                <a:latin typeface="宋体"/>
                <a:ea typeface="宋体"/>
              </a:rPr>
              <a:t>知识网络</a:t>
            </a:r>
          </a:p>
          <a:p>
            <a:pPr>
              <a:lnSpc>
                <a:spcPts val="1214"/>
              </a:lnSpc>
            </a:pPr>
            <a:endParaRPr lang="en-US" dirty="0"/>
          </a:p>
          <a:p>
            <a:pPr marL="0" indent="96125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跨域联系</a:t>
            </a:r>
          </a:p>
          <a:p>
            <a:pPr>
              <a:lnSpc>
                <a:spcPts val="880"/>
              </a:lnSpc>
            </a:pPr>
            <a:endParaRPr lang="en-US" dirty="0"/>
          </a:p>
          <a:p>
            <a:pPr marL="0" indent="107556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类比推理</a:t>
            </a:r>
          </a:p>
        </p:txBody>
      </p:sp>
      <p:sp>
        <p:nvSpPr>
          <p:cNvPr id="1327" name="TextBox 1327"/>
          <p:cNvSpPr txBox="1"/>
          <p:nvPr/>
        </p:nvSpPr>
        <p:spPr>
          <a:xfrm>
            <a:off x="776884" y="2907560"/>
            <a:ext cx="10106428" cy="3440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5416"/>
              </a:lnSpc>
              <a:tabLst>
                <a:tab pos="4097020" algn="l"/>
                <a:tab pos="6471856" algn="l"/>
                <a:tab pos="8898039" algn="l"/>
              </a:tabLst>
            </a:pPr>
            <a:r>
              <a:rPr lang="zh-CN" altLang="en-US" sz="1800" b="1" spc="34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b="1" spc="4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b="1" spc="75" dirty="0">
                <a:solidFill>
                  <a:srgbClr val="000000"/>
                </a:solidFill>
                <a:latin typeface="宋体"/>
                <a:ea typeface="宋体"/>
              </a:rPr>
              <a:t>唤醒的核心机制	</a:t>
            </a:r>
            <a:r>
              <a:rPr lang="zh-CN" altLang="en-US" sz="1600" spc="6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6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9" dirty="0">
                <a:solidFill>
                  <a:srgbClr val="000000"/>
                </a:solidFill>
                <a:latin typeface="宋体"/>
                <a:ea typeface="宋体"/>
              </a:rPr>
              <a:t>探索欲	</a:t>
            </a:r>
            <a:r>
              <a:rPr lang="zh-CN" altLang="en-US" sz="1600" spc="5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6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00" dirty="0">
                <a:solidFill>
                  <a:srgbClr val="000000"/>
                </a:solidFill>
                <a:latin typeface="宋体"/>
                <a:ea typeface="宋体"/>
              </a:rPr>
              <a:t>经验链接	</a:t>
            </a:r>
            <a:r>
              <a:rPr lang="zh-CN" altLang="en-US" sz="1600" spc="44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4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94" dirty="0">
                <a:solidFill>
                  <a:srgbClr val="000000"/>
                </a:solidFill>
                <a:latin typeface="宋体"/>
                <a:ea typeface="宋体"/>
              </a:rPr>
              <a:t>整体观照</a:t>
            </a:r>
          </a:p>
        </p:txBody>
      </p:sp>
      <p:sp>
        <p:nvSpPr>
          <p:cNvPr id="1328" name="TextBox 1328"/>
          <p:cNvSpPr txBox="1"/>
          <p:nvPr/>
        </p:nvSpPr>
        <p:spPr>
          <a:xfrm>
            <a:off x="776884" y="3330359"/>
            <a:ext cx="3498832" cy="20589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认知激活：打破固有思维模式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经验映射：连接具体实践场景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创造性重组：产生新的知识连接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1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3.</a:t>
            </a:r>
            <a:r>
              <a:rPr lang="zh-CN" altLang="en-US" sz="1800" b="1" spc="-179" dirty="0">
                <a:solidFill>
                  <a:srgbClr val="000000"/>
                </a:solidFill>
                <a:latin typeface="宋体"/>
                <a:cs typeface="宋体"/>
              </a:rPr>
              <a:t> 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AI辅助的三重角色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认知催化剂：提供新视角</a:t>
            </a:r>
          </a:p>
        </p:txBody>
      </p:sp>
      <p:sp>
        <p:nvSpPr>
          <p:cNvPr id="1329" name="TextBox 1329"/>
          <p:cNvSpPr txBox="1"/>
          <p:nvPr/>
        </p:nvSpPr>
        <p:spPr>
          <a:xfrm>
            <a:off x="4773104" y="3303498"/>
            <a:ext cx="1602343" cy="1395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25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spc="-32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25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800" spc="-44" dirty="0">
                <a:solidFill>
                  <a:srgbClr val="000000"/>
                </a:solidFill>
                <a:latin typeface="宋体"/>
                <a:ea typeface="宋体"/>
              </a:rPr>
              <a:t>辅助角色</a:t>
            </a:r>
          </a:p>
          <a:p>
            <a:pPr>
              <a:lnSpc>
                <a:spcPts val="1585"/>
              </a:lnSpc>
            </a:pPr>
            <a:endParaRPr lang="en-US" dirty="0"/>
          </a:p>
          <a:p>
            <a:pPr marL="0" indent="101841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发现认知盲点</a:t>
            </a:r>
          </a:p>
          <a:p>
            <a:pPr>
              <a:lnSpc>
                <a:spcPts val="630"/>
              </a:lnSpc>
            </a:pPr>
            <a:endParaRPr lang="en-US" dirty="0"/>
          </a:p>
          <a:p>
            <a:pPr marL="0" indent="83426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提供反常视角</a:t>
            </a:r>
          </a:p>
          <a:p>
            <a:pPr>
              <a:lnSpc>
                <a:spcPts val="765"/>
              </a:lnSpc>
            </a:pPr>
            <a:endParaRPr lang="en-US" dirty="0"/>
          </a:p>
          <a:p>
            <a:pPr marL="0" indent="92113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创造思维碰撞</a:t>
            </a:r>
          </a:p>
        </p:txBody>
      </p:sp>
      <p:sp>
        <p:nvSpPr>
          <p:cNvPr id="1330" name="TextBox 1330"/>
          <p:cNvSpPr txBox="1"/>
          <p:nvPr/>
        </p:nvSpPr>
        <p:spPr>
          <a:xfrm>
            <a:off x="7177011" y="3319335"/>
            <a:ext cx="1661142" cy="1377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15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spc="-3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30" dirty="0">
                <a:solidFill>
                  <a:srgbClr val="000000"/>
                </a:solidFill>
                <a:latin typeface="宋体"/>
                <a:ea typeface="宋体"/>
              </a:rPr>
              <a:t>默会知识激活</a:t>
            </a:r>
          </a:p>
          <a:p>
            <a:pPr>
              <a:lnSpc>
                <a:spcPts val="1464"/>
              </a:lnSpc>
            </a:pPr>
            <a:endParaRPr lang="en-US" dirty="0"/>
          </a:p>
          <a:p>
            <a:pPr marL="0" indent="59054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实践回溯</a:t>
            </a:r>
          </a:p>
          <a:p>
            <a:pPr>
              <a:lnSpc>
                <a:spcPts val="644"/>
              </a:lnSpc>
            </a:pPr>
            <a:endParaRPr lang="en-US" dirty="0"/>
          </a:p>
          <a:p>
            <a:pPr marL="0" indent="59054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技能映射</a:t>
            </a:r>
          </a:p>
          <a:p>
            <a:pPr>
              <a:lnSpc>
                <a:spcPts val="734"/>
              </a:lnSpc>
            </a:pPr>
            <a:endParaRPr lang="en-US" dirty="0"/>
          </a:p>
          <a:p>
            <a:pPr marL="0" indent="43154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隐性知识显现</a:t>
            </a:r>
          </a:p>
        </p:txBody>
      </p:sp>
      <p:sp>
        <p:nvSpPr>
          <p:cNvPr id="1331" name="TextBox 1331"/>
          <p:cNvSpPr txBox="1"/>
          <p:nvPr/>
        </p:nvSpPr>
        <p:spPr>
          <a:xfrm>
            <a:off x="9580727" y="3329571"/>
            <a:ext cx="1578302" cy="13832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spc="-20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800" spc="-32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800" spc="-35" dirty="0">
                <a:solidFill>
                  <a:srgbClr val="000000"/>
                </a:solidFill>
                <a:latin typeface="宋体"/>
                <a:ea typeface="宋体"/>
              </a:rPr>
              <a:t>创造性连接</a:t>
            </a:r>
          </a:p>
          <a:p>
            <a:pPr>
              <a:lnSpc>
                <a:spcPts val="1389"/>
              </a:lnSpc>
            </a:pPr>
            <a:endParaRPr lang="en-US" dirty="0"/>
          </a:p>
          <a:p>
            <a:pPr marL="0" indent="77813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新旧知识融合</a:t>
            </a:r>
          </a:p>
          <a:p>
            <a:pPr>
              <a:lnSpc>
                <a:spcPts val="790"/>
              </a:lnSpc>
            </a:pPr>
            <a:endParaRPr lang="en-US" dirty="0"/>
          </a:p>
          <a:p>
            <a:pPr marL="0" indent="77711">
              <a:lnSpc>
                <a:spcPct val="100833"/>
              </a:lnSpc>
            </a:pP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39" dirty="0">
                <a:solidFill>
                  <a:srgbClr val="000000"/>
                </a:solidFill>
                <a:latin typeface="宋体"/>
                <a:ea typeface="宋体"/>
              </a:rPr>
              <a:t>跨学科整合</a:t>
            </a:r>
          </a:p>
          <a:p>
            <a:pPr>
              <a:lnSpc>
                <a:spcPts val="709"/>
              </a:lnSpc>
            </a:pPr>
            <a:endParaRPr lang="en-US" dirty="0"/>
          </a:p>
          <a:p>
            <a:pPr marL="0" indent="72605">
              <a:lnSpc>
                <a:spcPct val="100833"/>
              </a:lnSpc>
            </a:pP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39" dirty="0">
                <a:solidFill>
                  <a:srgbClr val="000000"/>
                </a:solidFill>
                <a:latin typeface="宋体"/>
                <a:ea typeface="宋体"/>
              </a:rPr>
              <a:t>突破性联想</a:t>
            </a:r>
          </a:p>
        </p:txBody>
      </p:sp>
      <p:sp>
        <p:nvSpPr>
          <p:cNvPr id="1332" name="TextBox 1332"/>
          <p:cNvSpPr txBox="1"/>
          <p:nvPr/>
        </p:nvSpPr>
        <p:spPr>
          <a:xfrm>
            <a:off x="776884" y="5467768"/>
            <a:ext cx="3041632" cy="633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知识连接器：建立关联网络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3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创新助推器：促进知识重组</a:t>
            </a:r>
          </a:p>
        </p:txBody>
      </p:sp>
      <p:sp>
        <p:nvSpPr>
          <p:cNvPr id="1333" name="TextBox 1333"/>
          <p:cNvSpPr txBox="1"/>
          <p:nvPr/>
        </p:nvSpPr>
        <p:spPr>
          <a:xfrm>
            <a:off x="4730750" y="5453250"/>
            <a:ext cx="6650339" cy="535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知识唤醒的核心：通过情感</a:t>
            </a:r>
            <a:r>
              <a:rPr lang="en-US" altLang="zh-CN" sz="1600" spc="-20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经验</a:t>
            </a:r>
            <a:r>
              <a:rPr lang="en-US" altLang="zh-CN" sz="1600" spc="-5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关联的螺旋式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上升，实现知识的深度调动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与创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新生成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Picture 13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0" y="2331720"/>
            <a:ext cx="6423660" cy="3131820"/>
          </a:xfrm>
          <a:prstGeom prst="rect">
            <a:avLst/>
          </a:prstGeom>
        </p:spPr>
      </p:pic>
      <p:pic>
        <p:nvPicPr>
          <p:cNvPr id="1336" name="Picture 13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" y="4594860"/>
            <a:ext cx="251460" cy="1043940"/>
          </a:xfrm>
          <a:prstGeom prst="rect">
            <a:avLst/>
          </a:prstGeom>
        </p:spPr>
      </p:pic>
      <p:sp>
        <p:nvSpPr>
          <p:cNvPr id="2" name="TextBox 1336"/>
          <p:cNvSpPr txBox="1"/>
          <p:nvPr/>
        </p:nvSpPr>
        <p:spPr>
          <a:xfrm>
            <a:off x="376554" y="289633"/>
            <a:ext cx="5478105" cy="5392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139" dirty="0">
                <a:solidFill>
                  <a:srgbClr val="242424"/>
                </a:solidFill>
                <a:latin typeface="Arial"/>
                <a:ea typeface="Arial"/>
              </a:rPr>
              <a:t>AI</a:t>
            </a:r>
            <a:r>
              <a:rPr lang="zh-CN" altLang="en-US" sz="4000" b="1" spc="294" dirty="0">
                <a:solidFill>
                  <a:srgbClr val="242424"/>
                </a:solidFill>
                <a:latin typeface="宋体"/>
                <a:ea typeface="宋体"/>
              </a:rPr>
              <a:t>使用层次</a:t>
            </a:r>
            <a:r>
              <a:rPr lang="zh-CN" altLang="en-US" sz="4000" b="1" spc="284" dirty="0">
                <a:solidFill>
                  <a:srgbClr val="242424"/>
                </a:solidFill>
                <a:latin typeface="宋体"/>
                <a:ea typeface="宋体"/>
              </a:rPr>
              <a:t>与突破路径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79"/>
              </a:lnSpc>
            </a:pPr>
            <a:endParaRPr lang="en-US" dirty="0"/>
          </a:p>
          <a:p>
            <a:pPr marL="0" indent="759459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突</a:t>
            </a: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破路径：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75945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1.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建立提示词体系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75945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2.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设计协作流程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75945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3.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发展创新方法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759459">
              <a:lnSpc>
                <a:spcPct val="10125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Arial"/>
                <a:ea typeface="Arial"/>
              </a:rPr>
              <a:t>4.</a:t>
            </a:r>
            <a:r>
              <a:rPr lang="en-US" altLang="zh-CN" sz="18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打造个人特色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39"/>
              </a:lnSpc>
            </a:pPr>
            <a:endParaRPr lang="en-US" dirty="0"/>
          </a:p>
          <a:p>
            <a:pPr marL="0" indent="1174750">
              <a:lnSpc>
                <a:spcPct val="101250"/>
              </a:lnSpc>
            </a:pPr>
            <a:r>
              <a:rPr lang="zh-CN" altLang="en-US" sz="1800" spc="-5" dirty="0">
                <a:solidFill>
                  <a:srgbClr val="000000"/>
                </a:solidFill>
                <a:latin typeface="宋体"/>
                <a:ea typeface="宋体"/>
              </a:rPr>
              <a:t>独特工</a:t>
            </a:r>
            <a:r>
              <a:rPr lang="zh-CN" altLang="en-US" sz="1800" dirty="0">
                <a:solidFill>
                  <a:srgbClr val="000000"/>
                </a:solidFill>
                <a:latin typeface="宋体"/>
                <a:ea typeface="宋体"/>
              </a:rPr>
              <a:t>作流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 indent="1174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323232"/>
                </a:solidFill>
                <a:latin typeface="宋体"/>
                <a:ea typeface="宋体"/>
              </a:rPr>
              <a:t>方法</a:t>
            </a:r>
            <a:r>
              <a:rPr lang="zh-CN" altLang="en-US" sz="1800" dirty="0">
                <a:solidFill>
                  <a:srgbClr val="323232"/>
                </a:solidFill>
                <a:latin typeface="宋体"/>
                <a:ea typeface="宋体"/>
              </a:rPr>
              <a:t>创新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 indent="1174750">
              <a:lnSpc>
                <a:spcPct val="101250"/>
              </a:lnSpc>
            </a:pPr>
            <a:r>
              <a:rPr lang="zh-CN" altLang="en-US" sz="1800" spc="-10" dirty="0">
                <a:solidFill>
                  <a:srgbClr val="323232"/>
                </a:solidFill>
                <a:latin typeface="宋体"/>
                <a:ea typeface="宋体"/>
              </a:rPr>
              <a:t>领域</a:t>
            </a:r>
            <a:r>
              <a:rPr lang="zh-CN" altLang="en-US" sz="1800" dirty="0">
                <a:solidFill>
                  <a:srgbClr val="323232"/>
                </a:solidFill>
                <a:latin typeface="宋体"/>
                <a:ea typeface="宋体"/>
              </a:rPr>
              <a:t>整合</a:t>
            </a:r>
          </a:p>
        </p:txBody>
      </p:sp>
      <p:sp>
        <p:nvSpPr>
          <p:cNvPr id="1337" name="TextBox 1337"/>
          <p:cNvSpPr txBox="1"/>
          <p:nvPr/>
        </p:nvSpPr>
        <p:spPr>
          <a:xfrm>
            <a:off x="6850646" y="2749445"/>
            <a:ext cx="3028301" cy="24987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08684">
              <a:lnSpc>
                <a:spcPct val="100833"/>
              </a:lnSpc>
            </a:pPr>
            <a:r>
              <a:rPr lang="zh-CN" altLang="en-US" sz="1600" spc="-10" dirty="0">
                <a:solidFill>
                  <a:srgbClr val="323232"/>
                </a:solidFill>
                <a:latin typeface="宋体"/>
                <a:ea typeface="宋体"/>
              </a:rPr>
              <a:t>创新</a:t>
            </a:r>
            <a:r>
              <a:rPr lang="zh-CN" altLang="en-US" sz="1600" dirty="0">
                <a:solidFill>
                  <a:srgbClr val="323232"/>
                </a:solidFill>
                <a:latin typeface="宋体"/>
                <a:ea typeface="宋体"/>
              </a:rPr>
              <a:t>使用层</a:t>
            </a:r>
          </a:p>
          <a:p>
            <a:pPr>
              <a:lnSpc>
                <a:spcPts val="730"/>
              </a:lnSpc>
            </a:pPr>
            <a:endParaRPr lang="en-US" dirty="0"/>
          </a:p>
          <a:p>
            <a:pPr marL="0" indent="157479">
              <a:lnSpc>
                <a:spcPct val="101666"/>
              </a:lnSpc>
            </a:pPr>
            <a:r>
              <a:rPr lang="zh-CN" altLang="en-US" sz="1400" spc="-75" dirty="0">
                <a:solidFill>
                  <a:srgbClr val="656565"/>
                </a:solidFill>
                <a:latin typeface="宋体"/>
                <a:ea typeface="宋体"/>
              </a:rPr>
              <a:t>流程再造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44" dirty="0">
                <a:solidFill>
                  <a:srgbClr val="656565"/>
                </a:solidFill>
                <a:latin typeface="宋体"/>
                <a:ea typeface="宋体"/>
              </a:rPr>
              <a:t>/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75" dirty="0">
                <a:solidFill>
                  <a:srgbClr val="656565"/>
                </a:solidFill>
                <a:latin typeface="宋体"/>
                <a:ea typeface="宋体"/>
              </a:rPr>
              <a:t>提示词艺术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50" dirty="0">
                <a:solidFill>
                  <a:srgbClr val="656565"/>
                </a:solidFill>
                <a:latin typeface="宋体"/>
                <a:ea typeface="宋体"/>
              </a:rPr>
              <a:t>/</a:t>
            </a:r>
            <a:r>
              <a:rPr lang="zh-CN" altLang="en-US" sz="1400" spc="-45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75" dirty="0">
                <a:solidFill>
                  <a:srgbClr val="656565"/>
                </a:solidFill>
                <a:latin typeface="宋体"/>
                <a:ea typeface="宋体"/>
              </a:rPr>
              <a:t>创造性应用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89"/>
              </a:lnSpc>
            </a:pPr>
            <a:endParaRPr lang="en-US" dirty="0"/>
          </a:p>
          <a:p>
            <a:pPr marL="0" indent="908684">
              <a:lnSpc>
                <a:spcPct val="100833"/>
              </a:lnSpc>
            </a:pPr>
            <a:r>
              <a:rPr lang="zh-CN" altLang="en-US" sz="1600" spc="-10" dirty="0">
                <a:solidFill>
                  <a:srgbClr val="323232"/>
                </a:solidFill>
                <a:latin typeface="宋体"/>
                <a:ea typeface="宋体"/>
              </a:rPr>
              <a:t>进阶</a:t>
            </a:r>
            <a:r>
              <a:rPr lang="zh-CN" altLang="en-US" sz="1600" dirty="0">
                <a:solidFill>
                  <a:srgbClr val="323232"/>
                </a:solidFill>
                <a:latin typeface="宋体"/>
                <a:ea typeface="宋体"/>
              </a:rPr>
              <a:t>使用层</a:t>
            </a:r>
          </a:p>
          <a:p>
            <a:pPr>
              <a:lnSpc>
                <a:spcPts val="864"/>
              </a:lnSpc>
            </a:pPr>
            <a:endParaRPr lang="en-US" dirty="0"/>
          </a:p>
          <a:p>
            <a:pPr marL="0">
              <a:lnSpc>
                <a:spcPct val="101666"/>
              </a:lnSpc>
            </a:pPr>
            <a:r>
              <a:rPr lang="zh-CN" altLang="en-US" sz="1400" spc="-75" dirty="0">
                <a:solidFill>
                  <a:srgbClr val="656565"/>
                </a:solidFill>
                <a:latin typeface="宋体"/>
                <a:ea typeface="宋体"/>
              </a:rPr>
              <a:t>任务组合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44" dirty="0">
                <a:solidFill>
                  <a:srgbClr val="656565"/>
                </a:solidFill>
                <a:latin typeface="宋体"/>
                <a:ea typeface="宋体"/>
              </a:rPr>
              <a:t>/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75" dirty="0">
                <a:solidFill>
                  <a:srgbClr val="656565"/>
                </a:solidFill>
                <a:latin typeface="宋体"/>
                <a:ea typeface="宋体"/>
              </a:rPr>
              <a:t>结构化提示词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50" dirty="0">
                <a:solidFill>
                  <a:srgbClr val="656565"/>
                </a:solidFill>
                <a:latin typeface="宋体"/>
                <a:ea typeface="宋体"/>
              </a:rPr>
              <a:t>/</a:t>
            </a:r>
            <a:r>
              <a:rPr lang="zh-CN" altLang="en-US" sz="1400" spc="-45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75" dirty="0">
                <a:solidFill>
                  <a:srgbClr val="656565"/>
                </a:solidFill>
                <a:latin typeface="宋体"/>
                <a:ea typeface="宋体"/>
              </a:rPr>
              <a:t>主动优化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9"/>
              </a:lnSpc>
            </a:pPr>
            <a:endParaRPr lang="en-US" dirty="0"/>
          </a:p>
          <a:p>
            <a:pPr marL="0" indent="908684">
              <a:lnSpc>
                <a:spcPct val="100833"/>
              </a:lnSpc>
            </a:pPr>
            <a:r>
              <a:rPr lang="zh-CN" altLang="en-US" sz="1600" spc="-10" dirty="0">
                <a:solidFill>
                  <a:srgbClr val="323232"/>
                </a:solidFill>
                <a:latin typeface="宋体"/>
                <a:ea typeface="宋体"/>
              </a:rPr>
              <a:t>基础</a:t>
            </a:r>
            <a:r>
              <a:rPr lang="zh-CN" altLang="en-US" sz="1600" dirty="0">
                <a:solidFill>
                  <a:srgbClr val="323232"/>
                </a:solidFill>
                <a:latin typeface="宋体"/>
                <a:ea typeface="宋体"/>
              </a:rPr>
              <a:t>使用层</a:t>
            </a:r>
          </a:p>
          <a:p>
            <a:pPr>
              <a:lnSpc>
                <a:spcPts val="715"/>
              </a:lnSpc>
            </a:pPr>
            <a:endParaRPr lang="en-US" dirty="0"/>
          </a:p>
          <a:p>
            <a:pPr marL="0" indent="157479">
              <a:lnSpc>
                <a:spcPct val="101666"/>
              </a:lnSpc>
            </a:pPr>
            <a:r>
              <a:rPr lang="zh-CN" altLang="en-US" sz="1400" spc="-80" dirty="0">
                <a:solidFill>
                  <a:srgbClr val="656565"/>
                </a:solidFill>
                <a:latin typeface="宋体"/>
                <a:ea typeface="宋体"/>
              </a:rPr>
              <a:t>单一任务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44" dirty="0">
                <a:solidFill>
                  <a:srgbClr val="656565"/>
                </a:solidFill>
                <a:latin typeface="宋体"/>
                <a:ea typeface="宋体"/>
              </a:rPr>
              <a:t>/</a:t>
            </a:r>
            <a:r>
              <a:rPr lang="zh-CN" altLang="en-US" sz="1400" spc="-44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80" dirty="0">
                <a:solidFill>
                  <a:srgbClr val="656565"/>
                </a:solidFill>
                <a:latin typeface="宋体"/>
                <a:ea typeface="宋体"/>
              </a:rPr>
              <a:t>简单提示词</a:t>
            </a:r>
            <a:r>
              <a:rPr lang="zh-CN" altLang="en-US" sz="1400" spc="-4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50" dirty="0">
                <a:solidFill>
                  <a:srgbClr val="656565"/>
                </a:solidFill>
                <a:latin typeface="宋体"/>
                <a:ea typeface="宋体"/>
              </a:rPr>
              <a:t>/</a:t>
            </a:r>
            <a:r>
              <a:rPr lang="zh-CN" altLang="en-US" sz="1400" spc="-5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zh-CN" altLang="en-US" sz="1400" spc="-80" dirty="0">
                <a:solidFill>
                  <a:srgbClr val="656565"/>
                </a:solidFill>
                <a:latin typeface="宋体"/>
                <a:ea typeface="宋体"/>
              </a:rPr>
              <a:t>被动应用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Picture 13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287780"/>
            <a:ext cx="4861560" cy="2171700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80" y="1280160"/>
            <a:ext cx="5189220" cy="2186939"/>
          </a:xfrm>
          <a:prstGeom prst="rect">
            <a:avLst/>
          </a:prstGeom>
        </p:spPr>
      </p:pic>
      <p:sp>
        <p:nvSpPr>
          <p:cNvPr id="2" name="Freeform 1340"/>
          <p:cNvSpPr/>
          <p:nvPr/>
        </p:nvSpPr>
        <p:spPr>
          <a:xfrm>
            <a:off x="9461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1" name="Freeform 1341"/>
          <p:cNvSpPr/>
          <p:nvPr/>
        </p:nvSpPr>
        <p:spPr>
          <a:xfrm>
            <a:off x="9969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2" name="Freeform 1342"/>
          <p:cNvSpPr/>
          <p:nvPr/>
        </p:nvSpPr>
        <p:spPr>
          <a:xfrm>
            <a:off x="10477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3" name="Freeform 1343"/>
          <p:cNvSpPr/>
          <p:nvPr/>
        </p:nvSpPr>
        <p:spPr>
          <a:xfrm>
            <a:off x="10985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" name="Freeform 1344"/>
          <p:cNvSpPr/>
          <p:nvPr/>
        </p:nvSpPr>
        <p:spPr>
          <a:xfrm>
            <a:off x="11620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5" name="Freeform 1345"/>
          <p:cNvSpPr/>
          <p:nvPr/>
        </p:nvSpPr>
        <p:spPr>
          <a:xfrm>
            <a:off x="12128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6" name="Freeform 1346"/>
          <p:cNvSpPr/>
          <p:nvPr/>
        </p:nvSpPr>
        <p:spPr>
          <a:xfrm>
            <a:off x="12636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7" name="Freeform 1347"/>
          <p:cNvSpPr/>
          <p:nvPr/>
        </p:nvSpPr>
        <p:spPr>
          <a:xfrm>
            <a:off x="13144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8" name="Freeform 1348"/>
          <p:cNvSpPr/>
          <p:nvPr/>
        </p:nvSpPr>
        <p:spPr>
          <a:xfrm>
            <a:off x="13652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9" name="Freeform 1349"/>
          <p:cNvSpPr/>
          <p:nvPr/>
        </p:nvSpPr>
        <p:spPr>
          <a:xfrm>
            <a:off x="14287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0" name="Freeform 1350"/>
          <p:cNvSpPr/>
          <p:nvPr/>
        </p:nvSpPr>
        <p:spPr>
          <a:xfrm>
            <a:off x="14795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1" name="Freeform 1351"/>
          <p:cNvSpPr/>
          <p:nvPr/>
        </p:nvSpPr>
        <p:spPr>
          <a:xfrm>
            <a:off x="15303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2" name="Freeform 1352"/>
          <p:cNvSpPr/>
          <p:nvPr/>
        </p:nvSpPr>
        <p:spPr>
          <a:xfrm>
            <a:off x="15811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3" name="Freeform 1353"/>
          <p:cNvSpPr/>
          <p:nvPr/>
        </p:nvSpPr>
        <p:spPr>
          <a:xfrm>
            <a:off x="16319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4" name="Freeform 1354"/>
          <p:cNvSpPr/>
          <p:nvPr/>
        </p:nvSpPr>
        <p:spPr>
          <a:xfrm>
            <a:off x="16954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5" name="Freeform 1355"/>
          <p:cNvSpPr/>
          <p:nvPr/>
        </p:nvSpPr>
        <p:spPr>
          <a:xfrm>
            <a:off x="17462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6" name="Freeform 1356"/>
          <p:cNvSpPr/>
          <p:nvPr/>
        </p:nvSpPr>
        <p:spPr>
          <a:xfrm>
            <a:off x="17970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7" name="Freeform 1357"/>
          <p:cNvSpPr/>
          <p:nvPr/>
        </p:nvSpPr>
        <p:spPr>
          <a:xfrm>
            <a:off x="18478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" name="Freeform 1358"/>
          <p:cNvSpPr/>
          <p:nvPr/>
        </p:nvSpPr>
        <p:spPr>
          <a:xfrm>
            <a:off x="18986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" name="Freeform 1359"/>
          <p:cNvSpPr/>
          <p:nvPr/>
        </p:nvSpPr>
        <p:spPr>
          <a:xfrm>
            <a:off x="19621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" name="Freeform 1360"/>
          <p:cNvSpPr/>
          <p:nvPr/>
        </p:nvSpPr>
        <p:spPr>
          <a:xfrm>
            <a:off x="20129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" name="Freeform 1361"/>
          <p:cNvSpPr/>
          <p:nvPr/>
        </p:nvSpPr>
        <p:spPr>
          <a:xfrm>
            <a:off x="20637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" name="Freeform 1362"/>
          <p:cNvSpPr/>
          <p:nvPr/>
        </p:nvSpPr>
        <p:spPr>
          <a:xfrm>
            <a:off x="21145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" name="Freeform 1363"/>
          <p:cNvSpPr/>
          <p:nvPr/>
        </p:nvSpPr>
        <p:spPr>
          <a:xfrm>
            <a:off x="21653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" name="Freeform 1364"/>
          <p:cNvSpPr/>
          <p:nvPr/>
        </p:nvSpPr>
        <p:spPr>
          <a:xfrm>
            <a:off x="22288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5" name="Freeform 1365"/>
          <p:cNvSpPr/>
          <p:nvPr/>
        </p:nvSpPr>
        <p:spPr>
          <a:xfrm>
            <a:off x="22796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6" name="Freeform 1366"/>
          <p:cNvSpPr/>
          <p:nvPr/>
        </p:nvSpPr>
        <p:spPr>
          <a:xfrm>
            <a:off x="23304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7" name="Freeform 1367"/>
          <p:cNvSpPr/>
          <p:nvPr/>
        </p:nvSpPr>
        <p:spPr>
          <a:xfrm>
            <a:off x="23812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8" name="Freeform 1368"/>
          <p:cNvSpPr/>
          <p:nvPr/>
        </p:nvSpPr>
        <p:spPr>
          <a:xfrm>
            <a:off x="24320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9" name="Freeform 1369"/>
          <p:cNvSpPr/>
          <p:nvPr/>
        </p:nvSpPr>
        <p:spPr>
          <a:xfrm>
            <a:off x="24955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0" name="Freeform 1370"/>
          <p:cNvSpPr/>
          <p:nvPr/>
        </p:nvSpPr>
        <p:spPr>
          <a:xfrm>
            <a:off x="25463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1" name="Freeform 1371"/>
          <p:cNvSpPr/>
          <p:nvPr/>
        </p:nvSpPr>
        <p:spPr>
          <a:xfrm>
            <a:off x="25971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2" name="Freeform 1372"/>
          <p:cNvSpPr/>
          <p:nvPr/>
        </p:nvSpPr>
        <p:spPr>
          <a:xfrm>
            <a:off x="26479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3" name="Freeform 1373"/>
          <p:cNvSpPr/>
          <p:nvPr/>
        </p:nvSpPr>
        <p:spPr>
          <a:xfrm>
            <a:off x="26987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4" name="Freeform 1374"/>
          <p:cNvSpPr/>
          <p:nvPr/>
        </p:nvSpPr>
        <p:spPr>
          <a:xfrm>
            <a:off x="27622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" name="Freeform 1375"/>
          <p:cNvSpPr/>
          <p:nvPr/>
        </p:nvSpPr>
        <p:spPr>
          <a:xfrm>
            <a:off x="28130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6" name="Freeform 1376"/>
          <p:cNvSpPr/>
          <p:nvPr/>
        </p:nvSpPr>
        <p:spPr>
          <a:xfrm>
            <a:off x="28638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" name="Freeform 1377"/>
          <p:cNvSpPr/>
          <p:nvPr/>
        </p:nvSpPr>
        <p:spPr>
          <a:xfrm>
            <a:off x="29146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8" name="Freeform 1378"/>
          <p:cNvSpPr/>
          <p:nvPr/>
        </p:nvSpPr>
        <p:spPr>
          <a:xfrm>
            <a:off x="29654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9" name="Freeform 1379"/>
          <p:cNvSpPr/>
          <p:nvPr/>
        </p:nvSpPr>
        <p:spPr>
          <a:xfrm>
            <a:off x="30289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0" name="Freeform 1380"/>
          <p:cNvSpPr/>
          <p:nvPr/>
        </p:nvSpPr>
        <p:spPr>
          <a:xfrm>
            <a:off x="3079750" y="3651250"/>
            <a:ext cx="31750" cy="19050"/>
          </a:xfrm>
          <a:custGeom>
            <a:avLst/>
            <a:gdLst>
              <a:gd name="connsiteX0" fmla="*/ 6388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8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" name="Freeform 1381"/>
          <p:cNvSpPr/>
          <p:nvPr/>
        </p:nvSpPr>
        <p:spPr>
          <a:xfrm>
            <a:off x="31305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2" name="Freeform 1382"/>
          <p:cNvSpPr/>
          <p:nvPr/>
        </p:nvSpPr>
        <p:spPr>
          <a:xfrm>
            <a:off x="31813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" name="Freeform 1383"/>
          <p:cNvSpPr/>
          <p:nvPr/>
        </p:nvSpPr>
        <p:spPr>
          <a:xfrm>
            <a:off x="32321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4" name="Freeform 1384"/>
          <p:cNvSpPr/>
          <p:nvPr/>
        </p:nvSpPr>
        <p:spPr>
          <a:xfrm>
            <a:off x="32956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" name="Freeform 1385"/>
          <p:cNvSpPr/>
          <p:nvPr/>
        </p:nvSpPr>
        <p:spPr>
          <a:xfrm>
            <a:off x="33464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6" name="Freeform 1386"/>
          <p:cNvSpPr/>
          <p:nvPr/>
        </p:nvSpPr>
        <p:spPr>
          <a:xfrm>
            <a:off x="33972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7" name="Freeform 1387"/>
          <p:cNvSpPr/>
          <p:nvPr/>
        </p:nvSpPr>
        <p:spPr>
          <a:xfrm>
            <a:off x="34480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" name="Freeform 1388"/>
          <p:cNvSpPr/>
          <p:nvPr/>
        </p:nvSpPr>
        <p:spPr>
          <a:xfrm>
            <a:off x="34988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9" name="Freeform 1389"/>
          <p:cNvSpPr/>
          <p:nvPr/>
        </p:nvSpPr>
        <p:spPr>
          <a:xfrm>
            <a:off x="35623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" name="Freeform 1390"/>
          <p:cNvSpPr/>
          <p:nvPr/>
        </p:nvSpPr>
        <p:spPr>
          <a:xfrm>
            <a:off x="36131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1" name="Freeform 1391"/>
          <p:cNvSpPr/>
          <p:nvPr/>
        </p:nvSpPr>
        <p:spPr>
          <a:xfrm>
            <a:off x="36639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2" name="Freeform 1392"/>
          <p:cNvSpPr/>
          <p:nvPr/>
        </p:nvSpPr>
        <p:spPr>
          <a:xfrm>
            <a:off x="37147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" name="Freeform 1393"/>
          <p:cNvSpPr/>
          <p:nvPr/>
        </p:nvSpPr>
        <p:spPr>
          <a:xfrm>
            <a:off x="37655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4" name="Freeform 1394"/>
          <p:cNvSpPr/>
          <p:nvPr/>
        </p:nvSpPr>
        <p:spPr>
          <a:xfrm>
            <a:off x="38290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" name="Freeform 1395"/>
          <p:cNvSpPr/>
          <p:nvPr/>
        </p:nvSpPr>
        <p:spPr>
          <a:xfrm>
            <a:off x="38798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6" name="Freeform 1396"/>
          <p:cNvSpPr/>
          <p:nvPr/>
        </p:nvSpPr>
        <p:spPr>
          <a:xfrm>
            <a:off x="39306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7" name="Freeform 1397"/>
          <p:cNvSpPr/>
          <p:nvPr/>
        </p:nvSpPr>
        <p:spPr>
          <a:xfrm>
            <a:off x="39814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" name="Freeform 1398"/>
          <p:cNvSpPr/>
          <p:nvPr/>
        </p:nvSpPr>
        <p:spPr>
          <a:xfrm>
            <a:off x="40322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9" name="Freeform 1399"/>
          <p:cNvSpPr/>
          <p:nvPr/>
        </p:nvSpPr>
        <p:spPr>
          <a:xfrm>
            <a:off x="40957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0" name="Freeform 1400"/>
          <p:cNvSpPr/>
          <p:nvPr/>
        </p:nvSpPr>
        <p:spPr>
          <a:xfrm>
            <a:off x="41465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" name="Freeform 1401"/>
          <p:cNvSpPr/>
          <p:nvPr/>
        </p:nvSpPr>
        <p:spPr>
          <a:xfrm>
            <a:off x="41973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2" name="Freeform 1402"/>
          <p:cNvSpPr/>
          <p:nvPr/>
        </p:nvSpPr>
        <p:spPr>
          <a:xfrm>
            <a:off x="42481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3" name="Freeform 1403"/>
          <p:cNvSpPr/>
          <p:nvPr/>
        </p:nvSpPr>
        <p:spPr>
          <a:xfrm>
            <a:off x="42989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" name="Freeform 1404"/>
          <p:cNvSpPr/>
          <p:nvPr/>
        </p:nvSpPr>
        <p:spPr>
          <a:xfrm>
            <a:off x="43624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5" name="Freeform 1405"/>
          <p:cNvSpPr/>
          <p:nvPr/>
        </p:nvSpPr>
        <p:spPr>
          <a:xfrm>
            <a:off x="44132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6" name="Freeform 1406"/>
          <p:cNvSpPr/>
          <p:nvPr/>
        </p:nvSpPr>
        <p:spPr>
          <a:xfrm>
            <a:off x="44640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" name="Freeform 1407"/>
          <p:cNvSpPr/>
          <p:nvPr/>
        </p:nvSpPr>
        <p:spPr>
          <a:xfrm>
            <a:off x="45148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8" name="Freeform 1408"/>
          <p:cNvSpPr/>
          <p:nvPr/>
        </p:nvSpPr>
        <p:spPr>
          <a:xfrm>
            <a:off x="45656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9" name="Freeform 1409"/>
          <p:cNvSpPr/>
          <p:nvPr/>
        </p:nvSpPr>
        <p:spPr>
          <a:xfrm>
            <a:off x="46291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" name="Freeform 1410"/>
          <p:cNvSpPr/>
          <p:nvPr/>
        </p:nvSpPr>
        <p:spPr>
          <a:xfrm>
            <a:off x="46799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1" name="Freeform 1411"/>
          <p:cNvSpPr/>
          <p:nvPr/>
        </p:nvSpPr>
        <p:spPr>
          <a:xfrm>
            <a:off x="47307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2" name="Freeform 1412"/>
          <p:cNvSpPr/>
          <p:nvPr/>
        </p:nvSpPr>
        <p:spPr>
          <a:xfrm>
            <a:off x="47815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3" name="Freeform 1413"/>
          <p:cNvSpPr/>
          <p:nvPr/>
        </p:nvSpPr>
        <p:spPr>
          <a:xfrm>
            <a:off x="48323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" name="Freeform 1414"/>
          <p:cNvSpPr/>
          <p:nvPr/>
        </p:nvSpPr>
        <p:spPr>
          <a:xfrm>
            <a:off x="48958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5" name="Freeform 1415"/>
          <p:cNvSpPr/>
          <p:nvPr/>
        </p:nvSpPr>
        <p:spPr>
          <a:xfrm>
            <a:off x="49466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6" name="Freeform 1416"/>
          <p:cNvSpPr/>
          <p:nvPr/>
        </p:nvSpPr>
        <p:spPr>
          <a:xfrm>
            <a:off x="49974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" name="Freeform 1417"/>
          <p:cNvSpPr/>
          <p:nvPr/>
        </p:nvSpPr>
        <p:spPr>
          <a:xfrm>
            <a:off x="50482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8" name="Freeform 1418"/>
          <p:cNvSpPr/>
          <p:nvPr/>
        </p:nvSpPr>
        <p:spPr>
          <a:xfrm>
            <a:off x="50990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Freeform 1419"/>
          <p:cNvSpPr/>
          <p:nvPr/>
        </p:nvSpPr>
        <p:spPr>
          <a:xfrm>
            <a:off x="51625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0" name="Freeform 1420"/>
          <p:cNvSpPr/>
          <p:nvPr/>
        </p:nvSpPr>
        <p:spPr>
          <a:xfrm>
            <a:off x="52133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" name="Freeform 1421"/>
          <p:cNvSpPr/>
          <p:nvPr/>
        </p:nvSpPr>
        <p:spPr>
          <a:xfrm>
            <a:off x="52641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Freeform 1422"/>
          <p:cNvSpPr/>
          <p:nvPr/>
        </p:nvSpPr>
        <p:spPr>
          <a:xfrm>
            <a:off x="53149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" name="Freeform 1423"/>
          <p:cNvSpPr/>
          <p:nvPr/>
        </p:nvSpPr>
        <p:spPr>
          <a:xfrm>
            <a:off x="53657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" name="Freeform 1424"/>
          <p:cNvSpPr/>
          <p:nvPr/>
        </p:nvSpPr>
        <p:spPr>
          <a:xfrm>
            <a:off x="54292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5" name="Freeform 1425"/>
          <p:cNvSpPr/>
          <p:nvPr/>
        </p:nvSpPr>
        <p:spPr>
          <a:xfrm>
            <a:off x="54800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Freeform 1426"/>
          <p:cNvSpPr/>
          <p:nvPr/>
        </p:nvSpPr>
        <p:spPr>
          <a:xfrm>
            <a:off x="55308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7" name="Freeform 1427"/>
          <p:cNvSpPr/>
          <p:nvPr/>
        </p:nvSpPr>
        <p:spPr>
          <a:xfrm>
            <a:off x="55816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" name="Freeform 1428"/>
          <p:cNvSpPr/>
          <p:nvPr/>
        </p:nvSpPr>
        <p:spPr>
          <a:xfrm>
            <a:off x="56324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9" name="Freeform 1429"/>
          <p:cNvSpPr/>
          <p:nvPr/>
        </p:nvSpPr>
        <p:spPr>
          <a:xfrm>
            <a:off x="56959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0" name="Freeform 1430"/>
          <p:cNvSpPr/>
          <p:nvPr/>
        </p:nvSpPr>
        <p:spPr>
          <a:xfrm>
            <a:off x="57467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Freeform 1431"/>
          <p:cNvSpPr/>
          <p:nvPr/>
        </p:nvSpPr>
        <p:spPr>
          <a:xfrm>
            <a:off x="57975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" name="Freeform 1432"/>
          <p:cNvSpPr/>
          <p:nvPr/>
        </p:nvSpPr>
        <p:spPr>
          <a:xfrm>
            <a:off x="58483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" name="Freeform 1433"/>
          <p:cNvSpPr/>
          <p:nvPr/>
        </p:nvSpPr>
        <p:spPr>
          <a:xfrm>
            <a:off x="58991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" name="Freeform 1434"/>
          <p:cNvSpPr/>
          <p:nvPr/>
        </p:nvSpPr>
        <p:spPr>
          <a:xfrm>
            <a:off x="59626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5" name="Freeform 1435"/>
          <p:cNvSpPr/>
          <p:nvPr/>
        </p:nvSpPr>
        <p:spPr>
          <a:xfrm>
            <a:off x="60134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" name="Freeform 1436"/>
          <p:cNvSpPr/>
          <p:nvPr/>
        </p:nvSpPr>
        <p:spPr>
          <a:xfrm>
            <a:off x="60642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Freeform 1437"/>
          <p:cNvSpPr/>
          <p:nvPr/>
        </p:nvSpPr>
        <p:spPr>
          <a:xfrm>
            <a:off x="61150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8" name="Freeform 1438"/>
          <p:cNvSpPr/>
          <p:nvPr/>
        </p:nvSpPr>
        <p:spPr>
          <a:xfrm>
            <a:off x="61658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9" name="Freeform 1439"/>
          <p:cNvSpPr/>
          <p:nvPr/>
        </p:nvSpPr>
        <p:spPr>
          <a:xfrm>
            <a:off x="62293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" name="Freeform 1440"/>
          <p:cNvSpPr/>
          <p:nvPr/>
        </p:nvSpPr>
        <p:spPr>
          <a:xfrm>
            <a:off x="62801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1" name="Freeform 1441"/>
          <p:cNvSpPr/>
          <p:nvPr/>
        </p:nvSpPr>
        <p:spPr>
          <a:xfrm>
            <a:off x="63309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2" name="Freeform 1442"/>
          <p:cNvSpPr/>
          <p:nvPr/>
        </p:nvSpPr>
        <p:spPr>
          <a:xfrm>
            <a:off x="63817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8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3" name="Freeform 1443"/>
          <p:cNvSpPr/>
          <p:nvPr/>
        </p:nvSpPr>
        <p:spPr>
          <a:xfrm>
            <a:off x="64325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Freeform 1444"/>
          <p:cNvSpPr/>
          <p:nvPr/>
        </p:nvSpPr>
        <p:spPr>
          <a:xfrm>
            <a:off x="6496050" y="3651250"/>
            <a:ext cx="31750" cy="19050"/>
          </a:xfrm>
          <a:custGeom>
            <a:avLst/>
            <a:gdLst>
              <a:gd name="connsiteX0" fmla="*/ 3848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8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5" name="Freeform 1445"/>
          <p:cNvSpPr/>
          <p:nvPr/>
        </p:nvSpPr>
        <p:spPr>
          <a:xfrm>
            <a:off x="65468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6" name="Freeform 1446"/>
          <p:cNvSpPr/>
          <p:nvPr/>
        </p:nvSpPr>
        <p:spPr>
          <a:xfrm>
            <a:off x="65976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7" name="Freeform 1447"/>
          <p:cNvSpPr/>
          <p:nvPr/>
        </p:nvSpPr>
        <p:spPr>
          <a:xfrm>
            <a:off x="66484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8" name="Freeform 1448"/>
          <p:cNvSpPr/>
          <p:nvPr/>
        </p:nvSpPr>
        <p:spPr>
          <a:xfrm>
            <a:off x="66992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9" name="Freeform 1449"/>
          <p:cNvSpPr/>
          <p:nvPr/>
        </p:nvSpPr>
        <p:spPr>
          <a:xfrm>
            <a:off x="67627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0" name="Freeform 1450"/>
          <p:cNvSpPr/>
          <p:nvPr/>
        </p:nvSpPr>
        <p:spPr>
          <a:xfrm>
            <a:off x="68135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1" name="Freeform 1451"/>
          <p:cNvSpPr/>
          <p:nvPr/>
        </p:nvSpPr>
        <p:spPr>
          <a:xfrm>
            <a:off x="68643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Freeform 1452"/>
          <p:cNvSpPr/>
          <p:nvPr/>
        </p:nvSpPr>
        <p:spPr>
          <a:xfrm>
            <a:off x="69151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3" name="Freeform 1453"/>
          <p:cNvSpPr/>
          <p:nvPr/>
        </p:nvSpPr>
        <p:spPr>
          <a:xfrm>
            <a:off x="69659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4" name="Freeform 1454"/>
          <p:cNvSpPr/>
          <p:nvPr/>
        </p:nvSpPr>
        <p:spPr>
          <a:xfrm>
            <a:off x="70294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5" name="Freeform 1455"/>
          <p:cNvSpPr/>
          <p:nvPr/>
        </p:nvSpPr>
        <p:spPr>
          <a:xfrm>
            <a:off x="70802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6" name="Freeform 1456"/>
          <p:cNvSpPr/>
          <p:nvPr/>
        </p:nvSpPr>
        <p:spPr>
          <a:xfrm>
            <a:off x="71310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7" name="Freeform 1457"/>
          <p:cNvSpPr/>
          <p:nvPr/>
        </p:nvSpPr>
        <p:spPr>
          <a:xfrm>
            <a:off x="71818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8" name="Freeform 1458"/>
          <p:cNvSpPr/>
          <p:nvPr/>
        </p:nvSpPr>
        <p:spPr>
          <a:xfrm>
            <a:off x="72326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9" name="Freeform 1459"/>
          <p:cNvSpPr/>
          <p:nvPr/>
        </p:nvSpPr>
        <p:spPr>
          <a:xfrm>
            <a:off x="72961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0" name="Freeform 1460"/>
          <p:cNvSpPr/>
          <p:nvPr/>
        </p:nvSpPr>
        <p:spPr>
          <a:xfrm>
            <a:off x="73469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Freeform 1461"/>
          <p:cNvSpPr/>
          <p:nvPr/>
        </p:nvSpPr>
        <p:spPr>
          <a:xfrm>
            <a:off x="73977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2" name="Freeform 1462"/>
          <p:cNvSpPr/>
          <p:nvPr/>
        </p:nvSpPr>
        <p:spPr>
          <a:xfrm>
            <a:off x="74485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3" name="Freeform 1463"/>
          <p:cNvSpPr/>
          <p:nvPr/>
        </p:nvSpPr>
        <p:spPr>
          <a:xfrm>
            <a:off x="74993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4" name="Freeform 1464"/>
          <p:cNvSpPr/>
          <p:nvPr/>
        </p:nvSpPr>
        <p:spPr>
          <a:xfrm>
            <a:off x="75628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5" name="Freeform 1465"/>
          <p:cNvSpPr/>
          <p:nvPr/>
        </p:nvSpPr>
        <p:spPr>
          <a:xfrm>
            <a:off x="76136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6" name="Freeform 1466"/>
          <p:cNvSpPr/>
          <p:nvPr/>
        </p:nvSpPr>
        <p:spPr>
          <a:xfrm>
            <a:off x="76644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7" name="Freeform 1467"/>
          <p:cNvSpPr/>
          <p:nvPr/>
        </p:nvSpPr>
        <p:spPr>
          <a:xfrm>
            <a:off x="77152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8" name="Freeform 1468"/>
          <p:cNvSpPr/>
          <p:nvPr/>
        </p:nvSpPr>
        <p:spPr>
          <a:xfrm>
            <a:off x="77660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9" name="Freeform 1469"/>
          <p:cNvSpPr/>
          <p:nvPr/>
        </p:nvSpPr>
        <p:spPr>
          <a:xfrm>
            <a:off x="78295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0" name="Freeform 1470"/>
          <p:cNvSpPr/>
          <p:nvPr/>
        </p:nvSpPr>
        <p:spPr>
          <a:xfrm>
            <a:off x="78803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Freeform 1471"/>
          <p:cNvSpPr/>
          <p:nvPr/>
        </p:nvSpPr>
        <p:spPr>
          <a:xfrm>
            <a:off x="79311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2" name="Freeform 1472"/>
          <p:cNvSpPr/>
          <p:nvPr/>
        </p:nvSpPr>
        <p:spPr>
          <a:xfrm>
            <a:off x="79819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3" name="Freeform 1473"/>
          <p:cNvSpPr/>
          <p:nvPr/>
        </p:nvSpPr>
        <p:spPr>
          <a:xfrm>
            <a:off x="80327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4" name="Freeform 1474"/>
          <p:cNvSpPr/>
          <p:nvPr/>
        </p:nvSpPr>
        <p:spPr>
          <a:xfrm>
            <a:off x="80962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5" name="Freeform 1475"/>
          <p:cNvSpPr/>
          <p:nvPr/>
        </p:nvSpPr>
        <p:spPr>
          <a:xfrm>
            <a:off x="81470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6" name="Freeform 1476"/>
          <p:cNvSpPr/>
          <p:nvPr/>
        </p:nvSpPr>
        <p:spPr>
          <a:xfrm>
            <a:off x="81978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7" name="Freeform 1477"/>
          <p:cNvSpPr/>
          <p:nvPr/>
        </p:nvSpPr>
        <p:spPr>
          <a:xfrm>
            <a:off x="82486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8" name="Freeform 1478"/>
          <p:cNvSpPr/>
          <p:nvPr/>
        </p:nvSpPr>
        <p:spPr>
          <a:xfrm>
            <a:off x="82994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9" name="Freeform 1479"/>
          <p:cNvSpPr/>
          <p:nvPr/>
        </p:nvSpPr>
        <p:spPr>
          <a:xfrm>
            <a:off x="83629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0" name="Freeform 1480"/>
          <p:cNvSpPr/>
          <p:nvPr/>
        </p:nvSpPr>
        <p:spPr>
          <a:xfrm>
            <a:off x="84137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1" name="Freeform 1481"/>
          <p:cNvSpPr/>
          <p:nvPr/>
        </p:nvSpPr>
        <p:spPr>
          <a:xfrm>
            <a:off x="84645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Freeform 1482"/>
          <p:cNvSpPr/>
          <p:nvPr/>
        </p:nvSpPr>
        <p:spPr>
          <a:xfrm>
            <a:off x="85153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3" name="Freeform 1483"/>
          <p:cNvSpPr/>
          <p:nvPr/>
        </p:nvSpPr>
        <p:spPr>
          <a:xfrm>
            <a:off x="85661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4" name="Freeform 1484"/>
          <p:cNvSpPr/>
          <p:nvPr/>
        </p:nvSpPr>
        <p:spPr>
          <a:xfrm>
            <a:off x="86296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5" name="Freeform 1485"/>
          <p:cNvSpPr/>
          <p:nvPr/>
        </p:nvSpPr>
        <p:spPr>
          <a:xfrm>
            <a:off x="86804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Freeform 1486"/>
          <p:cNvSpPr/>
          <p:nvPr/>
        </p:nvSpPr>
        <p:spPr>
          <a:xfrm>
            <a:off x="87312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7" name="Freeform 1487"/>
          <p:cNvSpPr/>
          <p:nvPr/>
        </p:nvSpPr>
        <p:spPr>
          <a:xfrm>
            <a:off x="87820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8" name="Freeform 1488"/>
          <p:cNvSpPr/>
          <p:nvPr/>
        </p:nvSpPr>
        <p:spPr>
          <a:xfrm>
            <a:off x="88328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9" name="Freeform 1489"/>
          <p:cNvSpPr/>
          <p:nvPr/>
        </p:nvSpPr>
        <p:spPr>
          <a:xfrm>
            <a:off x="88963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0" name="Freeform 1490"/>
          <p:cNvSpPr/>
          <p:nvPr/>
        </p:nvSpPr>
        <p:spPr>
          <a:xfrm>
            <a:off x="89471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" name="Freeform 1491"/>
          <p:cNvSpPr/>
          <p:nvPr/>
        </p:nvSpPr>
        <p:spPr>
          <a:xfrm>
            <a:off x="89979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" name="Freeform 1492"/>
          <p:cNvSpPr/>
          <p:nvPr/>
        </p:nvSpPr>
        <p:spPr>
          <a:xfrm>
            <a:off x="90487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" name="Freeform 1493"/>
          <p:cNvSpPr/>
          <p:nvPr/>
        </p:nvSpPr>
        <p:spPr>
          <a:xfrm>
            <a:off x="90995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" name="Freeform 1494"/>
          <p:cNvSpPr/>
          <p:nvPr/>
        </p:nvSpPr>
        <p:spPr>
          <a:xfrm>
            <a:off x="91630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" name="Freeform 1495"/>
          <p:cNvSpPr/>
          <p:nvPr/>
        </p:nvSpPr>
        <p:spPr>
          <a:xfrm>
            <a:off x="92138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" name="Freeform 1496"/>
          <p:cNvSpPr/>
          <p:nvPr/>
        </p:nvSpPr>
        <p:spPr>
          <a:xfrm>
            <a:off x="92646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" name="Freeform 1497"/>
          <p:cNvSpPr/>
          <p:nvPr/>
        </p:nvSpPr>
        <p:spPr>
          <a:xfrm>
            <a:off x="93154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8" name="Freeform 1498"/>
          <p:cNvSpPr/>
          <p:nvPr/>
        </p:nvSpPr>
        <p:spPr>
          <a:xfrm>
            <a:off x="93662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9" name="Freeform 1499"/>
          <p:cNvSpPr/>
          <p:nvPr/>
        </p:nvSpPr>
        <p:spPr>
          <a:xfrm>
            <a:off x="94297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0" name="Freeform 1500"/>
          <p:cNvSpPr/>
          <p:nvPr/>
        </p:nvSpPr>
        <p:spPr>
          <a:xfrm>
            <a:off x="94805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1" name="Freeform 1501"/>
          <p:cNvSpPr/>
          <p:nvPr/>
        </p:nvSpPr>
        <p:spPr>
          <a:xfrm>
            <a:off x="95313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2" name="Freeform 1502"/>
          <p:cNvSpPr/>
          <p:nvPr/>
        </p:nvSpPr>
        <p:spPr>
          <a:xfrm>
            <a:off x="95821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3" name="Freeform 1503"/>
          <p:cNvSpPr/>
          <p:nvPr/>
        </p:nvSpPr>
        <p:spPr>
          <a:xfrm>
            <a:off x="96329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4" name="Freeform 1504"/>
          <p:cNvSpPr/>
          <p:nvPr/>
        </p:nvSpPr>
        <p:spPr>
          <a:xfrm>
            <a:off x="96964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5" name="Freeform 1505"/>
          <p:cNvSpPr/>
          <p:nvPr/>
        </p:nvSpPr>
        <p:spPr>
          <a:xfrm>
            <a:off x="97472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6" name="Freeform 1506"/>
          <p:cNvSpPr/>
          <p:nvPr/>
        </p:nvSpPr>
        <p:spPr>
          <a:xfrm>
            <a:off x="97980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" name="Freeform 1507"/>
          <p:cNvSpPr/>
          <p:nvPr/>
        </p:nvSpPr>
        <p:spPr>
          <a:xfrm>
            <a:off x="98488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8" name="Freeform 1508"/>
          <p:cNvSpPr/>
          <p:nvPr/>
        </p:nvSpPr>
        <p:spPr>
          <a:xfrm>
            <a:off x="98996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" name="Freeform 1509"/>
          <p:cNvSpPr/>
          <p:nvPr/>
        </p:nvSpPr>
        <p:spPr>
          <a:xfrm>
            <a:off x="99631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0" name="Freeform 1510"/>
          <p:cNvSpPr/>
          <p:nvPr/>
        </p:nvSpPr>
        <p:spPr>
          <a:xfrm>
            <a:off x="100139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1" name="Freeform 1511"/>
          <p:cNvSpPr/>
          <p:nvPr/>
        </p:nvSpPr>
        <p:spPr>
          <a:xfrm>
            <a:off x="100647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2" name="Freeform 1512"/>
          <p:cNvSpPr/>
          <p:nvPr/>
        </p:nvSpPr>
        <p:spPr>
          <a:xfrm>
            <a:off x="101155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3" name="Freeform 1513"/>
          <p:cNvSpPr/>
          <p:nvPr/>
        </p:nvSpPr>
        <p:spPr>
          <a:xfrm>
            <a:off x="101663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4" name="Freeform 1514"/>
          <p:cNvSpPr/>
          <p:nvPr/>
        </p:nvSpPr>
        <p:spPr>
          <a:xfrm>
            <a:off x="102298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5" name="Freeform 1515"/>
          <p:cNvSpPr/>
          <p:nvPr/>
        </p:nvSpPr>
        <p:spPr>
          <a:xfrm>
            <a:off x="102806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6" name="Freeform 1516"/>
          <p:cNvSpPr/>
          <p:nvPr/>
        </p:nvSpPr>
        <p:spPr>
          <a:xfrm>
            <a:off x="103314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7" name="Freeform 1517"/>
          <p:cNvSpPr/>
          <p:nvPr/>
        </p:nvSpPr>
        <p:spPr>
          <a:xfrm>
            <a:off x="103822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8" name="Freeform 1518"/>
          <p:cNvSpPr/>
          <p:nvPr/>
        </p:nvSpPr>
        <p:spPr>
          <a:xfrm>
            <a:off x="104330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9" name="Freeform 1519"/>
          <p:cNvSpPr/>
          <p:nvPr/>
        </p:nvSpPr>
        <p:spPr>
          <a:xfrm>
            <a:off x="104965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" name="Freeform 1520"/>
          <p:cNvSpPr/>
          <p:nvPr/>
        </p:nvSpPr>
        <p:spPr>
          <a:xfrm>
            <a:off x="105473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1" name="Freeform 1521"/>
          <p:cNvSpPr/>
          <p:nvPr/>
        </p:nvSpPr>
        <p:spPr>
          <a:xfrm>
            <a:off x="105981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2" name="Freeform 1522"/>
          <p:cNvSpPr/>
          <p:nvPr/>
        </p:nvSpPr>
        <p:spPr>
          <a:xfrm>
            <a:off x="106489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" name="Freeform 1523"/>
          <p:cNvSpPr/>
          <p:nvPr/>
        </p:nvSpPr>
        <p:spPr>
          <a:xfrm>
            <a:off x="106997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4" name="Freeform 1524"/>
          <p:cNvSpPr/>
          <p:nvPr/>
        </p:nvSpPr>
        <p:spPr>
          <a:xfrm>
            <a:off x="107632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5" name="Freeform 1525"/>
          <p:cNvSpPr/>
          <p:nvPr/>
        </p:nvSpPr>
        <p:spPr>
          <a:xfrm>
            <a:off x="108140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6" name="Freeform 1526"/>
          <p:cNvSpPr/>
          <p:nvPr/>
        </p:nvSpPr>
        <p:spPr>
          <a:xfrm>
            <a:off x="108648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7" name="Freeform 1527"/>
          <p:cNvSpPr/>
          <p:nvPr/>
        </p:nvSpPr>
        <p:spPr>
          <a:xfrm>
            <a:off x="109156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" name="Freeform 1528"/>
          <p:cNvSpPr/>
          <p:nvPr/>
        </p:nvSpPr>
        <p:spPr>
          <a:xfrm>
            <a:off x="109664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9" name="Freeform 1529"/>
          <p:cNvSpPr/>
          <p:nvPr/>
        </p:nvSpPr>
        <p:spPr>
          <a:xfrm>
            <a:off x="11029950" y="3651250"/>
            <a:ext cx="31750" cy="19050"/>
          </a:xfrm>
          <a:custGeom>
            <a:avLst/>
            <a:gdLst>
              <a:gd name="connsiteX0" fmla="*/ 3847 w 31750"/>
              <a:gd name="connsiteY0" fmla="*/ 18250 h 19050"/>
              <a:gd name="connsiteX1" fmla="*/ 3432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3847" y="18250"/>
                </a:moveTo>
                <a:lnTo>
                  <a:pt x="3432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0" name="Freeform 1530"/>
          <p:cNvSpPr/>
          <p:nvPr/>
        </p:nvSpPr>
        <p:spPr>
          <a:xfrm>
            <a:off x="11080750" y="3651250"/>
            <a:ext cx="31750" cy="19050"/>
          </a:xfrm>
          <a:custGeom>
            <a:avLst/>
            <a:gdLst>
              <a:gd name="connsiteX0" fmla="*/ 6387 w 31750"/>
              <a:gd name="connsiteY0" fmla="*/ 18250 h 19050"/>
              <a:gd name="connsiteX1" fmla="*/ 3686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6387" y="18250"/>
                </a:moveTo>
                <a:lnTo>
                  <a:pt x="3686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" name="Freeform 1531"/>
          <p:cNvSpPr/>
          <p:nvPr/>
        </p:nvSpPr>
        <p:spPr>
          <a:xfrm>
            <a:off x="11131550" y="3651250"/>
            <a:ext cx="31750" cy="19050"/>
          </a:xfrm>
          <a:custGeom>
            <a:avLst/>
            <a:gdLst>
              <a:gd name="connsiteX0" fmla="*/ 8928 w 31750"/>
              <a:gd name="connsiteY0" fmla="*/ 18250 h 19050"/>
              <a:gd name="connsiteX1" fmla="*/ 39408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8928" y="18250"/>
                </a:moveTo>
                <a:lnTo>
                  <a:pt x="39408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2" name="Freeform 1532"/>
          <p:cNvSpPr/>
          <p:nvPr/>
        </p:nvSpPr>
        <p:spPr>
          <a:xfrm>
            <a:off x="11182350" y="3651250"/>
            <a:ext cx="44450" cy="19050"/>
          </a:xfrm>
          <a:custGeom>
            <a:avLst/>
            <a:gdLst>
              <a:gd name="connsiteX0" fmla="*/ 11468 w 44450"/>
              <a:gd name="connsiteY0" fmla="*/ 18250 h 19050"/>
              <a:gd name="connsiteX1" fmla="*/ 4194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1468" y="18250"/>
                </a:moveTo>
                <a:lnTo>
                  <a:pt x="4194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3" name="Freeform 1533"/>
          <p:cNvSpPr/>
          <p:nvPr/>
        </p:nvSpPr>
        <p:spPr>
          <a:xfrm>
            <a:off x="11233150" y="3651250"/>
            <a:ext cx="44450" cy="19050"/>
          </a:xfrm>
          <a:custGeom>
            <a:avLst/>
            <a:gdLst>
              <a:gd name="connsiteX0" fmla="*/ 14008 w 44450"/>
              <a:gd name="connsiteY0" fmla="*/ 18250 h 19050"/>
              <a:gd name="connsiteX1" fmla="*/ 44487 w 444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450" h="19050">
                <a:moveTo>
                  <a:pt x="14008" y="18250"/>
                </a:moveTo>
                <a:lnTo>
                  <a:pt x="44487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4" name="Freeform 1534"/>
          <p:cNvSpPr/>
          <p:nvPr/>
        </p:nvSpPr>
        <p:spPr>
          <a:xfrm>
            <a:off x="819150" y="37274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5" name="Freeform 1535"/>
          <p:cNvSpPr/>
          <p:nvPr/>
        </p:nvSpPr>
        <p:spPr>
          <a:xfrm>
            <a:off x="819150" y="37782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" name="Freeform 1536"/>
          <p:cNvSpPr/>
          <p:nvPr/>
        </p:nvSpPr>
        <p:spPr>
          <a:xfrm>
            <a:off x="819150" y="38290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" name="Freeform 1537"/>
          <p:cNvSpPr/>
          <p:nvPr/>
        </p:nvSpPr>
        <p:spPr>
          <a:xfrm>
            <a:off x="819150" y="38798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" name="Freeform 1538"/>
          <p:cNvSpPr/>
          <p:nvPr/>
        </p:nvSpPr>
        <p:spPr>
          <a:xfrm>
            <a:off x="819150" y="39433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9" name="Freeform 1539"/>
          <p:cNvSpPr/>
          <p:nvPr/>
        </p:nvSpPr>
        <p:spPr>
          <a:xfrm>
            <a:off x="819150" y="39941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" name="Freeform 1540"/>
          <p:cNvSpPr/>
          <p:nvPr/>
        </p:nvSpPr>
        <p:spPr>
          <a:xfrm>
            <a:off x="819150" y="40449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1" name="Freeform 1541"/>
          <p:cNvSpPr/>
          <p:nvPr/>
        </p:nvSpPr>
        <p:spPr>
          <a:xfrm>
            <a:off x="819150" y="40957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2" name="Freeform 1542"/>
          <p:cNvSpPr/>
          <p:nvPr/>
        </p:nvSpPr>
        <p:spPr>
          <a:xfrm>
            <a:off x="819150" y="41465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3" name="Freeform 1543"/>
          <p:cNvSpPr/>
          <p:nvPr/>
        </p:nvSpPr>
        <p:spPr>
          <a:xfrm>
            <a:off x="819150" y="42100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4" name="Freeform 1544"/>
          <p:cNvSpPr/>
          <p:nvPr/>
        </p:nvSpPr>
        <p:spPr>
          <a:xfrm>
            <a:off x="819150" y="42608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5" name="Freeform 1545"/>
          <p:cNvSpPr/>
          <p:nvPr/>
        </p:nvSpPr>
        <p:spPr>
          <a:xfrm>
            <a:off x="819150" y="43116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6" name="Freeform 1546"/>
          <p:cNvSpPr/>
          <p:nvPr/>
        </p:nvSpPr>
        <p:spPr>
          <a:xfrm>
            <a:off x="819150" y="43624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7" name="Freeform 1547"/>
          <p:cNvSpPr/>
          <p:nvPr/>
        </p:nvSpPr>
        <p:spPr>
          <a:xfrm>
            <a:off x="819150" y="44132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8" name="Freeform 1548"/>
          <p:cNvSpPr/>
          <p:nvPr/>
        </p:nvSpPr>
        <p:spPr>
          <a:xfrm>
            <a:off x="819150" y="44767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9" name="Freeform 1549"/>
          <p:cNvSpPr/>
          <p:nvPr/>
        </p:nvSpPr>
        <p:spPr>
          <a:xfrm>
            <a:off x="819150" y="45275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0" name="Freeform 1550"/>
          <p:cNvSpPr/>
          <p:nvPr/>
        </p:nvSpPr>
        <p:spPr>
          <a:xfrm>
            <a:off x="819150" y="45783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1" name="Freeform 1551"/>
          <p:cNvSpPr/>
          <p:nvPr/>
        </p:nvSpPr>
        <p:spPr>
          <a:xfrm>
            <a:off x="819150" y="46291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2" name="Freeform 1552"/>
          <p:cNvSpPr/>
          <p:nvPr/>
        </p:nvSpPr>
        <p:spPr>
          <a:xfrm>
            <a:off x="819150" y="46799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3" name="Freeform 1553"/>
          <p:cNvSpPr/>
          <p:nvPr/>
        </p:nvSpPr>
        <p:spPr>
          <a:xfrm>
            <a:off x="819150" y="47434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4" name="Freeform 1554"/>
          <p:cNvSpPr/>
          <p:nvPr/>
        </p:nvSpPr>
        <p:spPr>
          <a:xfrm>
            <a:off x="819150" y="47942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5" name="Freeform 1555"/>
          <p:cNvSpPr/>
          <p:nvPr/>
        </p:nvSpPr>
        <p:spPr>
          <a:xfrm>
            <a:off x="819150" y="48450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6" name="Freeform 1556"/>
          <p:cNvSpPr/>
          <p:nvPr/>
        </p:nvSpPr>
        <p:spPr>
          <a:xfrm>
            <a:off x="819150" y="48958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7" name="Freeform 1557"/>
          <p:cNvSpPr/>
          <p:nvPr/>
        </p:nvSpPr>
        <p:spPr>
          <a:xfrm>
            <a:off x="819150" y="49466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8" name="Freeform 1558"/>
          <p:cNvSpPr/>
          <p:nvPr/>
        </p:nvSpPr>
        <p:spPr>
          <a:xfrm>
            <a:off x="819150" y="50101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9" name="Freeform 1559"/>
          <p:cNvSpPr/>
          <p:nvPr/>
        </p:nvSpPr>
        <p:spPr>
          <a:xfrm>
            <a:off x="819150" y="50609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0" name="Freeform 1560"/>
          <p:cNvSpPr/>
          <p:nvPr/>
        </p:nvSpPr>
        <p:spPr>
          <a:xfrm>
            <a:off x="819150" y="51117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" name="Freeform 1561"/>
          <p:cNvSpPr/>
          <p:nvPr/>
        </p:nvSpPr>
        <p:spPr>
          <a:xfrm>
            <a:off x="819150" y="51625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2" name="Freeform 1562"/>
          <p:cNvSpPr/>
          <p:nvPr/>
        </p:nvSpPr>
        <p:spPr>
          <a:xfrm>
            <a:off x="819150" y="52133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3" name="Freeform 1563"/>
          <p:cNvSpPr/>
          <p:nvPr/>
        </p:nvSpPr>
        <p:spPr>
          <a:xfrm>
            <a:off x="819150" y="52768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4" name="Freeform 1564"/>
          <p:cNvSpPr/>
          <p:nvPr/>
        </p:nvSpPr>
        <p:spPr>
          <a:xfrm>
            <a:off x="819150" y="53276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5" name="Freeform 1565"/>
          <p:cNvSpPr/>
          <p:nvPr/>
        </p:nvSpPr>
        <p:spPr>
          <a:xfrm>
            <a:off x="819150" y="53784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6" name="Freeform 1566"/>
          <p:cNvSpPr/>
          <p:nvPr/>
        </p:nvSpPr>
        <p:spPr>
          <a:xfrm>
            <a:off x="819150" y="54292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7" name="Freeform 1567"/>
          <p:cNvSpPr/>
          <p:nvPr/>
        </p:nvSpPr>
        <p:spPr>
          <a:xfrm>
            <a:off x="819150" y="54800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8" name="Freeform 1568"/>
          <p:cNvSpPr/>
          <p:nvPr/>
        </p:nvSpPr>
        <p:spPr>
          <a:xfrm>
            <a:off x="819150" y="55435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9" name="Freeform 1569"/>
          <p:cNvSpPr/>
          <p:nvPr/>
        </p:nvSpPr>
        <p:spPr>
          <a:xfrm>
            <a:off x="819150" y="55943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0" name="Freeform 1570"/>
          <p:cNvSpPr/>
          <p:nvPr/>
        </p:nvSpPr>
        <p:spPr>
          <a:xfrm>
            <a:off x="819150" y="56451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1" name="Freeform 1571"/>
          <p:cNvSpPr/>
          <p:nvPr/>
        </p:nvSpPr>
        <p:spPr>
          <a:xfrm>
            <a:off x="819150" y="56959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2" name="Freeform 1572"/>
          <p:cNvSpPr/>
          <p:nvPr/>
        </p:nvSpPr>
        <p:spPr>
          <a:xfrm>
            <a:off x="819150" y="57467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3" name="Freeform 1573"/>
          <p:cNvSpPr/>
          <p:nvPr/>
        </p:nvSpPr>
        <p:spPr>
          <a:xfrm>
            <a:off x="819150" y="58102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4" name="Freeform 1574"/>
          <p:cNvSpPr/>
          <p:nvPr/>
        </p:nvSpPr>
        <p:spPr>
          <a:xfrm>
            <a:off x="819150" y="58610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5" name="Freeform 1575"/>
          <p:cNvSpPr/>
          <p:nvPr/>
        </p:nvSpPr>
        <p:spPr>
          <a:xfrm>
            <a:off x="819150" y="59118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6" name="Freeform 1576"/>
          <p:cNvSpPr/>
          <p:nvPr/>
        </p:nvSpPr>
        <p:spPr>
          <a:xfrm>
            <a:off x="819150" y="59626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7" name="Freeform 1577"/>
          <p:cNvSpPr/>
          <p:nvPr/>
        </p:nvSpPr>
        <p:spPr>
          <a:xfrm>
            <a:off x="819150" y="6013450"/>
            <a:ext cx="19050" cy="44450"/>
          </a:xfrm>
          <a:custGeom>
            <a:avLst/>
            <a:gdLst>
              <a:gd name="connsiteX0" fmla="*/ 17221 w 19050"/>
              <a:gd name="connsiteY0" fmla="*/ 15075 h 44450"/>
              <a:gd name="connsiteX1" fmla="*/ 17221 w 19050"/>
              <a:gd name="connsiteY1" fmla="*/ 4555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5075"/>
                </a:moveTo>
                <a:lnTo>
                  <a:pt x="17221" y="4555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8" name="Freeform 1578"/>
          <p:cNvSpPr/>
          <p:nvPr/>
        </p:nvSpPr>
        <p:spPr>
          <a:xfrm>
            <a:off x="819150" y="60769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9" name="Freeform 1579"/>
          <p:cNvSpPr/>
          <p:nvPr/>
        </p:nvSpPr>
        <p:spPr>
          <a:xfrm>
            <a:off x="819150" y="6127750"/>
            <a:ext cx="19050" cy="31750"/>
          </a:xfrm>
          <a:custGeom>
            <a:avLst/>
            <a:gdLst>
              <a:gd name="connsiteX0" fmla="*/ 17221 w 19050"/>
              <a:gd name="connsiteY0" fmla="*/ 7454 h 31750"/>
              <a:gd name="connsiteX1" fmla="*/ 17221 w 19050"/>
              <a:gd name="connsiteY1" fmla="*/ 3793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7454"/>
                </a:moveTo>
                <a:lnTo>
                  <a:pt x="17221" y="3793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0" name="Freeform 1580"/>
          <p:cNvSpPr/>
          <p:nvPr/>
        </p:nvSpPr>
        <p:spPr>
          <a:xfrm>
            <a:off x="819150" y="6178550"/>
            <a:ext cx="19050" cy="31750"/>
          </a:xfrm>
          <a:custGeom>
            <a:avLst/>
            <a:gdLst>
              <a:gd name="connsiteX0" fmla="*/ 17221 w 19050"/>
              <a:gd name="connsiteY0" fmla="*/ 9994 h 31750"/>
              <a:gd name="connsiteX1" fmla="*/ 17221 w 19050"/>
              <a:gd name="connsiteY1" fmla="*/ 40475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9994"/>
                </a:moveTo>
                <a:lnTo>
                  <a:pt x="17221" y="40475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1" name="Freeform 1581"/>
          <p:cNvSpPr/>
          <p:nvPr/>
        </p:nvSpPr>
        <p:spPr>
          <a:xfrm>
            <a:off x="819150" y="6229350"/>
            <a:ext cx="19050" cy="44450"/>
          </a:xfrm>
          <a:custGeom>
            <a:avLst/>
            <a:gdLst>
              <a:gd name="connsiteX0" fmla="*/ 17221 w 19050"/>
              <a:gd name="connsiteY0" fmla="*/ 12534 h 44450"/>
              <a:gd name="connsiteX1" fmla="*/ 17221 w 19050"/>
              <a:gd name="connsiteY1" fmla="*/ 43014 h 4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44450">
                <a:moveTo>
                  <a:pt x="17221" y="12534"/>
                </a:moveTo>
                <a:lnTo>
                  <a:pt x="17221" y="4301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2" name="Freeform 1582"/>
          <p:cNvSpPr/>
          <p:nvPr/>
        </p:nvSpPr>
        <p:spPr>
          <a:xfrm>
            <a:off x="819150" y="3676650"/>
            <a:ext cx="19050" cy="31750"/>
          </a:xfrm>
          <a:custGeom>
            <a:avLst/>
            <a:gdLst>
              <a:gd name="connsiteX0" fmla="*/ 17221 w 19050"/>
              <a:gd name="connsiteY0" fmla="*/ 4914 h 31750"/>
              <a:gd name="connsiteX1" fmla="*/ 17221 w 19050"/>
              <a:gd name="connsiteY1" fmla="*/ 35394 h 3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" h="31750">
                <a:moveTo>
                  <a:pt x="17221" y="4914"/>
                </a:moveTo>
                <a:lnTo>
                  <a:pt x="17221" y="35394"/>
                </a:lnTo>
              </a:path>
            </a:pathLst>
          </a:custGeom>
          <a:ln w="7619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3" name="Freeform 1583"/>
          <p:cNvSpPr/>
          <p:nvPr/>
        </p:nvSpPr>
        <p:spPr>
          <a:xfrm>
            <a:off x="844550" y="3651250"/>
            <a:ext cx="31750" cy="19050"/>
          </a:xfrm>
          <a:custGeom>
            <a:avLst/>
            <a:gdLst>
              <a:gd name="connsiteX0" fmla="*/ 2616 w 31750"/>
              <a:gd name="connsiteY0" fmla="*/ 18250 h 19050"/>
              <a:gd name="connsiteX1" fmla="*/ 33096 w 31750"/>
              <a:gd name="connsiteY1" fmla="*/ 182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" h="19050">
                <a:moveTo>
                  <a:pt x="2616" y="18250"/>
                </a:moveTo>
                <a:lnTo>
                  <a:pt x="33096" y="18250"/>
                </a:lnTo>
              </a:path>
            </a:pathLst>
          </a:custGeom>
          <a:ln w="7620">
            <a:solidFill>
              <a:srgbClr val="5E94E5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85" name="Picture 15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49979"/>
            <a:ext cx="10469880" cy="2636520"/>
          </a:xfrm>
          <a:prstGeom prst="rect">
            <a:avLst/>
          </a:prstGeom>
        </p:spPr>
      </p:pic>
      <p:sp>
        <p:nvSpPr>
          <p:cNvPr id="3" name="TextBox 1585"/>
          <p:cNvSpPr txBox="1"/>
          <p:nvPr/>
        </p:nvSpPr>
        <p:spPr>
          <a:xfrm>
            <a:off x="376554" y="289633"/>
            <a:ext cx="5342851" cy="617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知识库</a:t>
            </a:r>
            <a:r>
              <a:rPr lang="en-US" altLang="zh-CN" sz="4000" b="1" spc="164" dirty="0">
                <a:solidFill>
                  <a:srgbClr val="242424"/>
                </a:solidFill>
                <a:latin typeface="Arial"/>
                <a:ea typeface="Arial"/>
              </a:rPr>
              <a:t>+</a:t>
            </a:r>
            <a:r>
              <a:rPr lang="zh-CN" altLang="en-US" sz="4000" b="1" spc="275" dirty="0">
                <a:solidFill>
                  <a:srgbClr val="242424"/>
                </a:solidFill>
                <a:latin typeface="宋体"/>
                <a:ea typeface="宋体"/>
              </a:rPr>
              <a:t>知识唤</a:t>
            </a:r>
            <a:r>
              <a:rPr lang="zh-CN" altLang="en-US" sz="4000" b="1" spc="265" dirty="0">
                <a:solidFill>
                  <a:srgbClr val="242424"/>
                </a:solidFill>
                <a:latin typeface="宋体"/>
                <a:ea typeface="宋体"/>
              </a:rPr>
              <a:t>醒框架</a:t>
            </a:r>
          </a:p>
        </p:txBody>
      </p:sp>
      <p:sp>
        <p:nvSpPr>
          <p:cNvPr id="1586" name="TextBox 1586"/>
          <p:cNvSpPr txBox="1"/>
          <p:nvPr/>
        </p:nvSpPr>
        <p:spPr>
          <a:xfrm>
            <a:off x="1386039" y="1955746"/>
            <a:ext cx="826754" cy="245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b="1" spc="-10" dirty="0">
                <a:solidFill>
                  <a:srgbClr val="000000"/>
                </a:solidFill>
                <a:latin typeface="宋体"/>
                <a:ea typeface="宋体"/>
              </a:rPr>
              <a:t>感知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层面</a:t>
            </a:r>
          </a:p>
        </p:txBody>
      </p:sp>
      <p:sp>
        <p:nvSpPr>
          <p:cNvPr id="1587" name="TextBox 1587"/>
          <p:cNvSpPr txBox="1"/>
          <p:nvPr/>
        </p:nvSpPr>
        <p:spPr>
          <a:xfrm>
            <a:off x="2504439" y="1465046"/>
            <a:ext cx="1968712" cy="736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人的具身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知识库</a:t>
            </a:r>
          </a:p>
          <a:p>
            <a:pPr>
              <a:lnSpc>
                <a:spcPts val="1670"/>
              </a:lnSpc>
            </a:pPr>
            <a:endParaRPr lang="en-US" dirty="0"/>
          </a:p>
          <a:p>
            <a:pPr marL="0" indent="1141958">
              <a:lnSpc>
                <a:spcPct val="100833"/>
              </a:lnSpc>
            </a:pPr>
            <a:r>
              <a:rPr lang="zh-CN" altLang="en-US" sz="1600" b="1" spc="-10" dirty="0">
                <a:solidFill>
                  <a:srgbClr val="000000"/>
                </a:solidFill>
                <a:latin typeface="宋体"/>
                <a:ea typeface="宋体"/>
              </a:rPr>
              <a:t>情境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层面</a:t>
            </a:r>
          </a:p>
        </p:txBody>
      </p:sp>
      <p:sp>
        <p:nvSpPr>
          <p:cNvPr id="1588" name="TextBox 1588"/>
          <p:cNvSpPr txBox="1"/>
          <p:nvPr/>
        </p:nvSpPr>
        <p:spPr>
          <a:xfrm>
            <a:off x="6762115" y="1954870"/>
            <a:ext cx="826754" cy="245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b="1" spc="-10" dirty="0">
                <a:solidFill>
                  <a:srgbClr val="000000"/>
                </a:solidFill>
                <a:latin typeface="宋体"/>
                <a:ea typeface="宋体"/>
              </a:rPr>
              <a:t>数据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层面</a:t>
            </a:r>
          </a:p>
        </p:txBody>
      </p:sp>
      <p:sp>
        <p:nvSpPr>
          <p:cNvPr id="1589" name="TextBox 1589"/>
          <p:cNvSpPr txBox="1"/>
          <p:nvPr/>
        </p:nvSpPr>
        <p:spPr>
          <a:xfrm>
            <a:off x="7994129" y="1466583"/>
            <a:ext cx="2082034" cy="734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5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800" b="1" spc="-20" dirty="0">
                <a:solidFill>
                  <a:srgbClr val="000000"/>
                </a:solidFill>
                <a:latin typeface="宋体"/>
                <a:ea typeface="宋体"/>
              </a:rPr>
              <a:t>的</a:t>
            </a:r>
            <a:r>
              <a:rPr lang="zh-CN" altLang="en-US" sz="1800" b="1" spc="-15" dirty="0">
                <a:solidFill>
                  <a:srgbClr val="000000"/>
                </a:solidFill>
                <a:latin typeface="宋体"/>
                <a:ea typeface="宋体"/>
              </a:rPr>
              <a:t>形式知识库</a:t>
            </a:r>
          </a:p>
          <a:p>
            <a:pPr>
              <a:lnSpc>
                <a:spcPts val="1654"/>
              </a:lnSpc>
            </a:pPr>
            <a:endParaRPr lang="en-US" dirty="0"/>
          </a:p>
          <a:p>
            <a:pPr marL="0" indent="1255280">
              <a:lnSpc>
                <a:spcPct val="100833"/>
              </a:lnSpc>
            </a:pPr>
            <a:r>
              <a:rPr lang="zh-CN" altLang="en-US" sz="1600" b="1" spc="-10" dirty="0">
                <a:solidFill>
                  <a:srgbClr val="000000"/>
                </a:solidFill>
                <a:latin typeface="宋体"/>
                <a:ea typeface="宋体"/>
              </a:rPr>
              <a:t>模式</a:t>
            </a: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层面</a:t>
            </a:r>
          </a:p>
        </p:txBody>
      </p:sp>
      <p:sp>
        <p:nvSpPr>
          <p:cNvPr id="1590" name="TextBox 1590"/>
          <p:cNvSpPr txBox="1"/>
          <p:nvPr/>
        </p:nvSpPr>
        <p:spPr>
          <a:xfrm>
            <a:off x="1361274" y="2312273"/>
            <a:ext cx="1508452" cy="9448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直接经验体验</a:t>
            </a:r>
          </a:p>
          <a:p>
            <a:pPr>
              <a:lnSpc>
                <a:spcPts val="86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20" dirty="0">
                <a:solidFill>
                  <a:srgbClr val="000000"/>
                </a:solidFill>
                <a:latin typeface="宋体"/>
                <a:ea typeface="宋体"/>
              </a:rPr>
              <a:t>现场感知记忆</a:t>
            </a:r>
          </a:p>
          <a:p>
            <a:pPr>
              <a:lnSpc>
                <a:spcPts val="759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39" dirty="0">
                <a:solidFill>
                  <a:srgbClr val="000000"/>
                </a:solidFill>
                <a:latin typeface="宋体"/>
                <a:ea typeface="宋体"/>
              </a:rPr>
              <a:t>身体化技能</a:t>
            </a:r>
          </a:p>
        </p:txBody>
      </p:sp>
      <p:sp>
        <p:nvSpPr>
          <p:cNvPr id="1591" name="TextBox 1591"/>
          <p:cNvSpPr txBox="1"/>
          <p:nvPr/>
        </p:nvSpPr>
        <p:spPr>
          <a:xfrm>
            <a:off x="3658311" y="2312134"/>
            <a:ext cx="1297289" cy="939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39" dirty="0">
                <a:solidFill>
                  <a:srgbClr val="000000"/>
                </a:solidFill>
                <a:latin typeface="宋体"/>
                <a:ea typeface="宋体"/>
              </a:rPr>
              <a:t>场景化记忆</a:t>
            </a:r>
          </a:p>
          <a:p>
            <a:pPr>
              <a:lnSpc>
                <a:spcPts val="73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实践经验</a:t>
            </a:r>
          </a:p>
          <a:p>
            <a:pPr>
              <a:lnSpc>
                <a:spcPts val="855"/>
              </a:lnSpc>
            </a:pPr>
            <a:endParaRPr lang="en-US" dirty="0"/>
          </a:p>
          <a:p>
            <a:pPr marL="0" indent="19684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情境智慧</a:t>
            </a:r>
          </a:p>
        </p:txBody>
      </p:sp>
      <p:sp>
        <p:nvSpPr>
          <p:cNvPr id="1592" name="TextBox 1592"/>
          <p:cNvSpPr txBox="1"/>
          <p:nvPr/>
        </p:nvSpPr>
        <p:spPr>
          <a:xfrm>
            <a:off x="6748424" y="2307765"/>
            <a:ext cx="1297302" cy="9480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文本信息</a:t>
            </a:r>
          </a:p>
          <a:p>
            <a:pPr>
              <a:lnSpc>
                <a:spcPts val="75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逻辑规则</a:t>
            </a:r>
          </a:p>
          <a:p>
            <a:pPr>
              <a:lnSpc>
                <a:spcPts val="89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69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39" dirty="0">
                <a:solidFill>
                  <a:srgbClr val="000000"/>
                </a:solidFill>
                <a:latin typeface="宋体"/>
                <a:ea typeface="宋体"/>
              </a:rPr>
              <a:t>形式化知识</a:t>
            </a:r>
          </a:p>
        </p:txBody>
      </p:sp>
      <p:sp>
        <p:nvSpPr>
          <p:cNvPr id="1593" name="TextBox 1593"/>
          <p:cNvSpPr txBox="1"/>
          <p:nvPr/>
        </p:nvSpPr>
        <p:spPr>
          <a:xfrm>
            <a:off x="9291218" y="2311842"/>
            <a:ext cx="1100566" cy="91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统计规律</a:t>
            </a:r>
          </a:p>
          <a:p>
            <a:pPr>
              <a:lnSpc>
                <a:spcPts val="680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关联模式</a:t>
            </a:r>
          </a:p>
          <a:p>
            <a:pPr>
              <a:lnSpc>
                <a:spcPts val="69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8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170" dirty="0">
                <a:solidFill>
                  <a:srgbClr val="000000"/>
                </a:solidFill>
                <a:latin typeface="宋体"/>
                <a:ea typeface="宋体"/>
              </a:rPr>
              <a:t>抽象概念</a:t>
            </a:r>
          </a:p>
        </p:txBody>
      </p:sp>
      <p:sp>
        <p:nvSpPr>
          <p:cNvPr id="1594" name="TextBox 1594"/>
          <p:cNvSpPr txBox="1"/>
          <p:nvPr/>
        </p:nvSpPr>
        <p:spPr>
          <a:xfrm>
            <a:off x="5089334" y="3840352"/>
            <a:ext cx="1960226" cy="27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1800" b="1" spc="-10" dirty="0">
                <a:solidFill>
                  <a:srgbClr val="000000"/>
                </a:solidFill>
                <a:latin typeface="宋体"/>
                <a:ea typeface="宋体"/>
              </a:rPr>
              <a:t>知识唤醒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桥接机制</a:t>
            </a:r>
          </a:p>
        </p:txBody>
      </p:sp>
      <p:sp>
        <p:nvSpPr>
          <p:cNvPr id="1595" name="TextBox 1595"/>
          <p:cNvSpPr txBox="1"/>
          <p:nvPr/>
        </p:nvSpPr>
        <p:spPr>
          <a:xfrm>
            <a:off x="1024483" y="4262651"/>
            <a:ext cx="3320399" cy="1352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0005">
              <a:lnSpc>
                <a:spcPct val="100833"/>
              </a:lnSpc>
            </a:pPr>
            <a:r>
              <a:rPr lang="zh-CN" altLang="en-US" sz="1600" b="1" spc="-15" dirty="0">
                <a:solidFill>
                  <a:srgbClr val="000000"/>
                </a:solidFill>
                <a:latin typeface="宋体"/>
                <a:ea typeface="宋体"/>
              </a:rPr>
              <a:t>1.</a:t>
            </a:r>
            <a:r>
              <a:rPr lang="zh-CN" altLang="en-US" sz="1600" b="1" spc="-27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b="1" spc="-30" dirty="0">
                <a:solidFill>
                  <a:srgbClr val="000000"/>
                </a:solidFill>
                <a:latin typeface="宋体"/>
                <a:ea typeface="宋体"/>
              </a:rPr>
              <a:t>具身经验激活</a:t>
            </a:r>
          </a:p>
          <a:p>
            <a:pPr>
              <a:lnSpc>
                <a:spcPts val="855"/>
              </a:lnSpc>
            </a:pPr>
            <a:endParaRPr lang="en-US" dirty="0"/>
          </a:p>
          <a:p>
            <a:pPr marL="0" hangingPunct="0">
              <a:lnSpc>
                <a:spcPct val="100000"/>
              </a:lnSpc>
            </a:pPr>
            <a:r>
              <a:rPr lang="zh-CN" altLang="en-US" sz="1600" spc="20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5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40" dirty="0">
                <a:solidFill>
                  <a:srgbClr val="000000"/>
                </a:solidFill>
                <a:latin typeface="宋体"/>
                <a:ea typeface="宋体"/>
              </a:rPr>
              <a:t>场景回溯：通过</a:t>
            </a:r>
            <a:r>
              <a:rPr lang="zh-CN" altLang="en-US" sz="1600" spc="3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600" spc="40" dirty="0">
                <a:solidFill>
                  <a:srgbClr val="000000"/>
                </a:solidFill>
                <a:latin typeface="宋体"/>
                <a:ea typeface="宋体"/>
              </a:rPr>
              <a:t>提问触发具体经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验回忆</a:t>
            </a:r>
          </a:p>
          <a:p>
            <a:pPr marL="0">
              <a:lnSpc>
                <a:spcPct val="100000"/>
              </a:lnSpc>
              <a:spcBef>
                <a:spcPts val="175"/>
              </a:spcBef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50" dirty="0">
                <a:solidFill>
                  <a:srgbClr val="000000"/>
                </a:solidFill>
                <a:latin typeface="宋体"/>
                <a:ea typeface="宋体"/>
              </a:rPr>
              <a:t>感知唤醒：引导关注身体感觉和</a:t>
            </a:r>
          </a:p>
          <a:p>
            <a:pPr marL="0">
              <a:lnSpc>
                <a:spcPct val="100000"/>
              </a:lnSpc>
            </a:pP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情境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感受</a:t>
            </a:r>
          </a:p>
        </p:txBody>
      </p:sp>
      <p:sp>
        <p:nvSpPr>
          <p:cNvPr id="1596" name="TextBox 1596"/>
          <p:cNvSpPr txBox="1"/>
          <p:nvPr/>
        </p:nvSpPr>
        <p:spPr>
          <a:xfrm>
            <a:off x="4840401" y="4284939"/>
            <a:ext cx="3138154" cy="1095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2065">
              <a:lnSpc>
                <a:spcPct val="100833"/>
              </a:lnSpc>
            </a:pPr>
            <a:r>
              <a:rPr lang="zh-CN" altLang="en-US" sz="1600" b="1" spc="-20" dirty="0">
                <a:solidFill>
                  <a:srgbClr val="000000"/>
                </a:solidFill>
                <a:latin typeface="宋体"/>
                <a:ea typeface="宋体"/>
              </a:rPr>
              <a:t>2.</a:t>
            </a:r>
            <a:r>
              <a:rPr lang="zh-CN" altLang="en-US" sz="1600" b="1" spc="-270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b="1" spc="-35" dirty="0">
                <a:solidFill>
                  <a:srgbClr val="000000"/>
                </a:solidFill>
                <a:latin typeface="宋体"/>
                <a:ea typeface="宋体"/>
              </a:rPr>
              <a:t>形式化转换</a:t>
            </a:r>
          </a:p>
          <a:p>
            <a:pPr>
              <a:lnSpc>
                <a:spcPts val="690"/>
              </a:lnSpc>
            </a:pPr>
            <a:endParaRPr lang="en-US" dirty="0"/>
          </a:p>
          <a:p>
            <a:pPr marL="0" hangingPunct="0">
              <a:lnSpc>
                <a:spcPct val="100000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64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50" dirty="0">
                <a:solidFill>
                  <a:srgbClr val="000000"/>
                </a:solidFill>
                <a:latin typeface="宋体"/>
                <a:ea typeface="宋体"/>
              </a:rPr>
              <a:t>经验描述：将具身体验转化为清</a:t>
            </a:r>
            <a:r>
              <a:rPr lang="zh-CN" altLang="en-US" sz="1600" spc="-10" dirty="0">
                <a:solidFill>
                  <a:srgbClr val="000000"/>
                </a:solidFill>
                <a:latin typeface="宋体"/>
                <a:ea typeface="宋体"/>
              </a:rPr>
              <a:t>晰表达</a:t>
            </a:r>
          </a:p>
          <a:p>
            <a:pPr marL="0" indent="12065">
              <a:lnSpc>
                <a:spcPct val="100833"/>
              </a:lnSpc>
              <a:spcBef>
                <a:spcPts val="220"/>
              </a:spcBef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25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50" dirty="0">
                <a:solidFill>
                  <a:srgbClr val="000000"/>
                </a:solidFill>
                <a:latin typeface="宋体"/>
                <a:ea typeface="宋体"/>
              </a:rPr>
              <a:t>结构化：建立经验与概念的连接</a:t>
            </a:r>
          </a:p>
        </p:txBody>
      </p:sp>
      <p:sp>
        <p:nvSpPr>
          <p:cNvPr id="1597" name="TextBox 1597"/>
          <p:cNvSpPr txBox="1"/>
          <p:nvPr/>
        </p:nvSpPr>
        <p:spPr>
          <a:xfrm>
            <a:off x="8305165" y="4236831"/>
            <a:ext cx="2929874" cy="11853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9215">
              <a:lnSpc>
                <a:spcPct val="100833"/>
              </a:lnSpc>
            </a:pPr>
            <a:r>
              <a:rPr lang="zh-CN" altLang="en-US" sz="1600" b="1" spc="-25" dirty="0">
                <a:solidFill>
                  <a:srgbClr val="000000"/>
                </a:solidFill>
                <a:latin typeface="宋体"/>
                <a:ea typeface="宋体"/>
              </a:rPr>
              <a:t>3.</a:t>
            </a:r>
            <a:r>
              <a:rPr lang="zh-CN" altLang="en-US" sz="1600" b="1" spc="-27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b="1" spc="-2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600" b="1" spc="-44" dirty="0">
                <a:solidFill>
                  <a:srgbClr val="000000"/>
                </a:solidFill>
                <a:latin typeface="宋体"/>
                <a:ea typeface="宋体"/>
              </a:rPr>
              <a:t>增强整合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知识扩充：补充相关形式知识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444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25" dirty="0">
                <a:solidFill>
                  <a:srgbClr val="000000"/>
                </a:solidFill>
                <a:latin typeface="宋体"/>
                <a:ea typeface="宋体"/>
              </a:rPr>
              <a:t>•</a:t>
            </a:r>
            <a:r>
              <a:rPr lang="zh-CN" altLang="en-US" sz="1600" spc="-239" dirty="0">
                <a:solidFill>
                  <a:srgbClr val="000000"/>
                </a:solidFill>
                <a:latin typeface="宋体"/>
                <a:cs typeface="宋体"/>
              </a:rPr>
              <a:t> </a:t>
            </a:r>
            <a:r>
              <a:rPr lang="zh-CN" altLang="en-US" sz="1600" spc="55" dirty="0">
                <a:solidFill>
                  <a:srgbClr val="000000"/>
                </a:solidFill>
                <a:latin typeface="宋体"/>
                <a:ea typeface="宋体"/>
              </a:rPr>
              <a:t>模式识别：发现更深层的联系</a:t>
            </a:r>
          </a:p>
        </p:txBody>
      </p:sp>
      <p:sp>
        <p:nvSpPr>
          <p:cNvPr id="1598" name="TextBox 1598"/>
          <p:cNvSpPr txBox="1"/>
          <p:nvPr/>
        </p:nvSpPr>
        <p:spPr>
          <a:xfrm>
            <a:off x="2504363" y="5614819"/>
            <a:ext cx="6505559" cy="581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027554">
              <a:lnSpc>
                <a:spcPct val="100833"/>
              </a:lnSpc>
            </a:pPr>
            <a:r>
              <a:rPr lang="zh-CN" altLang="en-US" sz="1600" b="1" spc="-5" dirty="0">
                <a:solidFill>
                  <a:srgbClr val="000000"/>
                </a:solidFill>
                <a:latin typeface="宋体"/>
                <a:ea typeface="宋体"/>
              </a:rPr>
              <a:t>最终输出：融合具身</a:t>
            </a:r>
            <a:r>
              <a:rPr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性的高质量内容</a:t>
            </a:r>
          </a:p>
          <a:p>
            <a:pPr>
              <a:lnSpc>
                <a:spcPts val="705"/>
              </a:lnSpc>
            </a:pPr>
            <a:endParaRPr lang="en-US" dirty="0"/>
          </a:p>
          <a:p>
            <a:pPr marL="0">
              <a:lnSpc>
                <a:spcPct val="100833"/>
              </a:lnSpc>
            </a:pP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将人的具身经验与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AI</a:t>
            </a:r>
            <a:r>
              <a:rPr lang="zh-CN" altLang="en-US" sz="1600" spc="-5" dirty="0">
                <a:solidFill>
                  <a:srgbClr val="000000"/>
                </a:solidFill>
                <a:latin typeface="宋体"/>
                <a:ea typeface="宋体"/>
              </a:rPr>
              <a:t>的形式知识有机结合，</a:t>
            </a: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</a:rPr>
              <a:t>产生既有深度又有温度的内容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Freeform 1599"/>
          <p:cNvSpPr/>
          <p:nvPr/>
        </p:nvSpPr>
        <p:spPr>
          <a:xfrm>
            <a:off x="1758950" y="323850"/>
            <a:ext cx="8502650" cy="6216650"/>
          </a:xfrm>
          <a:custGeom>
            <a:avLst/>
            <a:gdLst>
              <a:gd name="connsiteX0" fmla="*/ 15417 w 8502650"/>
              <a:gd name="connsiteY0" fmla="*/ 10883 h 6216650"/>
              <a:gd name="connsiteX1" fmla="*/ 8506269 w 8502650"/>
              <a:gd name="connsiteY1" fmla="*/ 10883 h 6216650"/>
              <a:gd name="connsiteX2" fmla="*/ 8506269 w 8502650"/>
              <a:gd name="connsiteY2" fmla="*/ 6221183 h 6216650"/>
              <a:gd name="connsiteX3" fmla="*/ 15417 w 8502650"/>
              <a:gd name="connsiteY3" fmla="*/ 6221183 h 6216650"/>
              <a:gd name="connsiteX4" fmla="*/ 15417 w 8502650"/>
              <a:gd name="connsiteY4" fmla="*/ 10883 h 621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2650" h="6216650">
                <a:moveTo>
                  <a:pt x="15417" y="10883"/>
                </a:moveTo>
                <a:lnTo>
                  <a:pt x="8506269" y="10883"/>
                </a:lnTo>
                <a:lnTo>
                  <a:pt x="8506269" y="6221183"/>
                </a:lnTo>
                <a:lnTo>
                  <a:pt x="15417" y="6221183"/>
                </a:lnTo>
                <a:lnTo>
                  <a:pt x="15417" y="10883"/>
                </a:lnTo>
                <a:close/>
              </a:path>
            </a:pathLst>
          </a:custGeom>
          <a:solidFill>
            <a:srgbClr val="F7F7F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0" name="Freeform 1600"/>
          <p:cNvSpPr/>
          <p:nvPr/>
        </p:nvSpPr>
        <p:spPr>
          <a:xfrm>
            <a:off x="2825750" y="4464050"/>
            <a:ext cx="6369050" cy="1035050"/>
          </a:xfrm>
          <a:custGeom>
            <a:avLst/>
            <a:gdLst>
              <a:gd name="connsiteX0" fmla="*/ 9982 w 6369050"/>
              <a:gd name="connsiteY0" fmla="*/ 1045933 h 1035050"/>
              <a:gd name="connsiteX1" fmla="*/ 6378117 w 6369050"/>
              <a:gd name="connsiteY1" fmla="*/ 1045933 h 1035050"/>
              <a:gd name="connsiteX2" fmla="*/ 5316766 w 6369050"/>
              <a:gd name="connsiteY2" fmla="*/ 10883 h 1035050"/>
              <a:gd name="connsiteX3" fmla="*/ 1071333 w 6369050"/>
              <a:gd name="connsiteY3" fmla="*/ 10883 h 1035050"/>
              <a:gd name="connsiteX4" fmla="*/ 9982 w 6369050"/>
              <a:gd name="connsiteY4" fmla="*/ 1045933 h 103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69050" h="1035050">
                <a:moveTo>
                  <a:pt x="9982" y="1045933"/>
                </a:moveTo>
                <a:lnTo>
                  <a:pt x="6378117" y="1045933"/>
                </a:lnTo>
                <a:lnTo>
                  <a:pt x="5316766" y="10883"/>
                </a:lnTo>
                <a:lnTo>
                  <a:pt x="1071333" y="10883"/>
                </a:lnTo>
                <a:lnTo>
                  <a:pt x="9982" y="1045933"/>
                </a:lnTo>
                <a:close/>
              </a:path>
            </a:pathLst>
          </a:custGeom>
          <a:solidFill>
            <a:srgbClr val="E5F6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1" name="Freeform 1601"/>
          <p:cNvSpPr/>
          <p:nvPr/>
        </p:nvSpPr>
        <p:spPr>
          <a:xfrm>
            <a:off x="3879850" y="3422650"/>
            <a:ext cx="4260850" cy="1047750"/>
          </a:xfrm>
          <a:custGeom>
            <a:avLst/>
            <a:gdLst>
              <a:gd name="connsiteX0" fmla="*/ 17233 w 4260850"/>
              <a:gd name="connsiteY0" fmla="*/ 1052283 h 1047750"/>
              <a:gd name="connsiteX1" fmla="*/ 4262666 w 4260850"/>
              <a:gd name="connsiteY1" fmla="*/ 1052283 h 1047750"/>
              <a:gd name="connsiteX2" fmla="*/ 3201301 w 4260850"/>
              <a:gd name="connsiteY2" fmla="*/ 17233 h 1047750"/>
              <a:gd name="connsiteX3" fmla="*/ 1078598 w 4260850"/>
              <a:gd name="connsiteY3" fmla="*/ 17233 h 1047750"/>
              <a:gd name="connsiteX4" fmla="*/ 17233 w 4260850"/>
              <a:gd name="connsiteY4" fmla="*/ 1052283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0850" h="1047750">
                <a:moveTo>
                  <a:pt x="17233" y="1052283"/>
                </a:moveTo>
                <a:lnTo>
                  <a:pt x="4262666" y="1052283"/>
                </a:lnTo>
                <a:lnTo>
                  <a:pt x="3201301" y="17233"/>
                </a:lnTo>
                <a:lnTo>
                  <a:pt x="1078598" y="17233"/>
                </a:lnTo>
                <a:lnTo>
                  <a:pt x="17233" y="1052283"/>
                </a:lnTo>
                <a:close/>
              </a:path>
            </a:pathLst>
          </a:custGeom>
          <a:solidFill>
            <a:srgbClr val="B8E6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2" name="Freeform 1602"/>
          <p:cNvSpPr/>
          <p:nvPr/>
        </p:nvSpPr>
        <p:spPr>
          <a:xfrm>
            <a:off x="4946650" y="2393950"/>
            <a:ext cx="2127250" cy="1035050"/>
          </a:xfrm>
          <a:custGeom>
            <a:avLst/>
            <a:gdLst>
              <a:gd name="connsiteX0" fmla="*/ 11798 w 2127250"/>
              <a:gd name="connsiteY0" fmla="*/ 1045933 h 1035050"/>
              <a:gd name="connsiteX1" fmla="*/ 2134501 w 2127250"/>
              <a:gd name="connsiteY1" fmla="*/ 1045933 h 1035050"/>
              <a:gd name="connsiteX2" fmla="*/ 1073150 w 2127250"/>
              <a:gd name="connsiteY2" fmla="*/ 10883 h 1035050"/>
              <a:gd name="connsiteX3" fmla="*/ 11798 w 2127250"/>
              <a:gd name="connsiteY3" fmla="*/ 1045933 h 103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250" h="1035050">
                <a:moveTo>
                  <a:pt x="11798" y="1045933"/>
                </a:moveTo>
                <a:lnTo>
                  <a:pt x="2134501" y="1045933"/>
                </a:lnTo>
                <a:lnTo>
                  <a:pt x="1073150" y="10883"/>
                </a:lnTo>
                <a:lnTo>
                  <a:pt x="11798" y="1045933"/>
                </a:lnTo>
                <a:close/>
              </a:path>
            </a:pathLst>
          </a:custGeom>
          <a:solidFill>
            <a:srgbClr val="90D3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3" name="Freeform 1603"/>
          <p:cNvSpPr/>
          <p:nvPr/>
        </p:nvSpPr>
        <p:spPr>
          <a:xfrm>
            <a:off x="8401050" y="2241550"/>
            <a:ext cx="107950" cy="107950"/>
          </a:xfrm>
          <a:custGeom>
            <a:avLst/>
            <a:gdLst>
              <a:gd name="connsiteX0" fmla="*/ 113563 w 107950"/>
              <a:gd name="connsiteY0" fmla="*/ 59956 h 107950"/>
              <a:gd name="connsiteX1" fmla="*/ 60490 w 107950"/>
              <a:gd name="connsiteY1" fmla="*/ 111709 h 107950"/>
              <a:gd name="connsiteX2" fmla="*/ 7429 w 107950"/>
              <a:gd name="connsiteY2" fmla="*/ 59956 h 107950"/>
              <a:gd name="connsiteX3" fmla="*/ 60490 w 107950"/>
              <a:gd name="connsiteY3" fmla="*/ 8204 h 107950"/>
              <a:gd name="connsiteX4" fmla="*/ 113563 w 107950"/>
              <a:gd name="connsiteY4" fmla="*/ 59956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50" h="107950">
                <a:moveTo>
                  <a:pt x="113563" y="59956"/>
                </a:moveTo>
                <a:cubicBezTo>
                  <a:pt x="113563" y="88544"/>
                  <a:pt x="89801" y="111709"/>
                  <a:pt x="60490" y="111709"/>
                </a:cubicBezTo>
                <a:cubicBezTo>
                  <a:pt x="31178" y="111709"/>
                  <a:pt x="7429" y="88544"/>
                  <a:pt x="7429" y="59956"/>
                </a:cubicBezTo>
                <a:cubicBezTo>
                  <a:pt x="7429" y="31381"/>
                  <a:pt x="31178" y="8204"/>
                  <a:pt x="60490" y="8204"/>
                </a:cubicBezTo>
                <a:cubicBezTo>
                  <a:pt x="89801" y="8204"/>
                  <a:pt x="113563" y="31381"/>
                  <a:pt x="113563" y="59956"/>
                </a:cubicBezTo>
                <a:close/>
              </a:path>
            </a:pathLst>
          </a:custGeom>
          <a:solidFill>
            <a:srgbClr val="90D3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4" name="Freeform 1604"/>
          <p:cNvSpPr/>
          <p:nvPr/>
        </p:nvSpPr>
        <p:spPr>
          <a:xfrm>
            <a:off x="8401050" y="2495550"/>
            <a:ext cx="107950" cy="107950"/>
          </a:xfrm>
          <a:custGeom>
            <a:avLst/>
            <a:gdLst>
              <a:gd name="connsiteX0" fmla="*/ 113563 w 107950"/>
              <a:gd name="connsiteY0" fmla="*/ 64719 h 107950"/>
              <a:gd name="connsiteX1" fmla="*/ 60490 w 107950"/>
              <a:gd name="connsiteY1" fmla="*/ 116471 h 107950"/>
              <a:gd name="connsiteX2" fmla="*/ 7429 w 107950"/>
              <a:gd name="connsiteY2" fmla="*/ 64719 h 107950"/>
              <a:gd name="connsiteX3" fmla="*/ 60490 w 107950"/>
              <a:gd name="connsiteY3" fmla="*/ 12966 h 107950"/>
              <a:gd name="connsiteX4" fmla="*/ 113563 w 107950"/>
              <a:gd name="connsiteY4" fmla="*/ 64719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50" h="107950">
                <a:moveTo>
                  <a:pt x="113563" y="64719"/>
                </a:moveTo>
                <a:cubicBezTo>
                  <a:pt x="113563" y="93306"/>
                  <a:pt x="89801" y="116471"/>
                  <a:pt x="60490" y="116471"/>
                </a:cubicBezTo>
                <a:cubicBezTo>
                  <a:pt x="31178" y="116471"/>
                  <a:pt x="7429" y="93306"/>
                  <a:pt x="7429" y="64719"/>
                </a:cubicBezTo>
                <a:cubicBezTo>
                  <a:pt x="7429" y="36144"/>
                  <a:pt x="31178" y="12966"/>
                  <a:pt x="60490" y="12966"/>
                </a:cubicBezTo>
                <a:cubicBezTo>
                  <a:pt x="89801" y="12966"/>
                  <a:pt x="113563" y="36144"/>
                  <a:pt x="113563" y="64719"/>
                </a:cubicBezTo>
                <a:close/>
              </a:path>
            </a:pathLst>
          </a:custGeom>
          <a:solidFill>
            <a:srgbClr val="90D3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5" name="Freeform 1605"/>
          <p:cNvSpPr/>
          <p:nvPr/>
        </p:nvSpPr>
        <p:spPr>
          <a:xfrm>
            <a:off x="8401050" y="2749550"/>
            <a:ext cx="107950" cy="120650"/>
          </a:xfrm>
          <a:custGeom>
            <a:avLst/>
            <a:gdLst>
              <a:gd name="connsiteX0" fmla="*/ 113563 w 107950"/>
              <a:gd name="connsiteY0" fmla="*/ 69481 h 120650"/>
              <a:gd name="connsiteX1" fmla="*/ 60490 w 107950"/>
              <a:gd name="connsiteY1" fmla="*/ 121234 h 120650"/>
              <a:gd name="connsiteX2" fmla="*/ 7429 w 107950"/>
              <a:gd name="connsiteY2" fmla="*/ 69481 h 120650"/>
              <a:gd name="connsiteX3" fmla="*/ 60490 w 107950"/>
              <a:gd name="connsiteY3" fmla="*/ 17729 h 120650"/>
              <a:gd name="connsiteX4" fmla="*/ 113563 w 107950"/>
              <a:gd name="connsiteY4" fmla="*/ 69481 h 12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50" h="120650">
                <a:moveTo>
                  <a:pt x="113563" y="69481"/>
                </a:moveTo>
                <a:cubicBezTo>
                  <a:pt x="113563" y="98069"/>
                  <a:pt x="89801" y="121234"/>
                  <a:pt x="60490" y="121234"/>
                </a:cubicBezTo>
                <a:cubicBezTo>
                  <a:pt x="31178" y="121234"/>
                  <a:pt x="7429" y="98069"/>
                  <a:pt x="7429" y="69481"/>
                </a:cubicBezTo>
                <a:cubicBezTo>
                  <a:pt x="7429" y="40906"/>
                  <a:pt x="31178" y="17729"/>
                  <a:pt x="60490" y="17729"/>
                </a:cubicBezTo>
                <a:cubicBezTo>
                  <a:pt x="89801" y="17729"/>
                  <a:pt x="113563" y="40906"/>
                  <a:pt x="113563" y="69481"/>
                </a:cubicBezTo>
                <a:close/>
              </a:path>
            </a:pathLst>
          </a:custGeom>
          <a:solidFill>
            <a:srgbClr val="90D3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TextBox 1606"/>
          <p:cNvSpPr txBox="1"/>
          <p:nvPr/>
        </p:nvSpPr>
        <p:spPr>
          <a:xfrm>
            <a:off x="197027" y="263281"/>
            <a:ext cx="5097105" cy="1937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4000" b="1" spc="-5" dirty="0">
                <a:solidFill>
                  <a:srgbClr val="323232"/>
                </a:solidFill>
                <a:latin typeface="Arial"/>
                <a:ea typeface="Arial"/>
              </a:rPr>
              <a:t>AI</a:t>
            </a:r>
            <a:r>
              <a:rPr lang="zh-CN" altLang="en-US" sz="4000" b="1" spc="-15" dirty="0">
                <a:solidFill>
                  <a:srgbClr val="323232"/>
                </a:solidFill>
                <a:latin typeface="宋体"/>
                <a:ea typeface="宋体"/>
              </a:rPr>
              <a:t>使用层次</a:t>
            </a:r>
            <a:r>
              <a:rPr lang="zh-CN" altLang="en-US" sz="4000" b="1" spc="-10" dirty="0">
                <a:solidFill>
                  <a:srgbClr val="323232"/>
                </a:solidFill>
                <a:latin typeface="宋体"/>
                <a:ea typeface="宋体"/>
              </a:rPr>
              <a:t>与突破路径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108022">
              <a:lnSpc>
                <a:spcPct val="101666"/>
              </a:lnSpc>
            </a:pPr>
            <a:r>
              <a:rPr lang="zh-CN" altLang="en-US" sz="1050" b="1" spc="-5" dirty="0">
                <a:solidFill>
                  <a:srgbClr val="323232"/>
                </a:solidFill>
                <a:latin typeface="宋体"/>
                <a:ea typeface="宋体"/>
              </a:rPr>
              <a:t>突破</a:t>
            </a:r>
            <a:r>
              <a:rPr lang="zh-CN" altLang="en-US" sz="1050" b="1" dirty="0">
                <a:solidFill>
                  <a:srgbClr val="323232"/>
                </a:solidFill>
                <a:latin typeface="宋体"/>
                <a:ea typeface="宋体"/>
              </a:rPr>
              <a:t>路径：</a:t>
            </a:r>
          </a:p>
        </p:txBody>
      </p:sp>
      <p:sp>
        <p:nvSpPr>
          <p:cNvPr id="1607" name="TextBox 1607"/>
          <p:cNvSpPr txBox="1"/>
          <p:nvPr/>
        </p:nvSpPr>
        <p:spPr>
          <a:xfrm>
            <a:off x="2305050" y="2370683"/>
            <a:ext cx="939791" cy="9151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en-US" altLang="zh-CN" sz="900" dirty="0">
                <a:solidFill>
                  <a:srgbClr val="656565"/>
                </a:solidFill>
                <a:latin typeface="Arial"/>
                <a:ea typeface="Arial"/>
              </a:rPr>
              <a:t>1.</a:t>
            </a:r>
            <a:r>
              <a:rPr lang="en-US" altLang="zh-CN" sz="900" spc="-15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900" dirty="0">
                <a:solidFill>
                  <a:srgbClr val="656565"/>
                </a:solidFill>
                <a:latin typeface="宋体"/>
                <a:ea typeface="宋体"/>
              </a:rPr>
              <a:t>建立提示词体系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900" dirty="0">
                <a:solidFill>
                  <a:srgbClr val="656565"/>
                </a:solidFill>
                <a:latin typeface="Arial"/>
                <a:ea typeface="Arial"/>
              </a:rPr>
              <a:t>2.</a:t>
            </a:r>
            <a:r>
              <a:rPr lang="en-US" altLang="zh-CN" sz="900" spc="-15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900" dirty="0">
                <a:solidFill>
                  <a:srgbClr val="656565"/>
                </a:solidFill>
                <a:latin typeface="宋体"/>
                <a:ea typeface="宋体"/>
              </a:rPr>
              <a:t>设计协作流程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900" dirty="0">
                <a:solidFill>
                  <a:srgbClr val="656565"/>
                </a:solidFill>
                <a:latin typeface="Arial"/>
                <a:ea typeface="Arial"/>
              </a:rPr>
              <a:t>3.</a:t>
            </a:r>
            <a:r>
              <a:rPr lang="en-US" altLang="zh-CN" sz="900" spc="-15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900" dirty="0">
                <a:solidFill>
                  <a:srgbClr val="656565"/>
                </a:solidFill>
                <a:latin typeface="宋体"/>
                <a:ea typeface="宋体"/>
              </a:rPr>
              <a:t>发展创新方法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en-US" altLang="zh-CN" sz="900" dirty="0">
                <a:solidFill>
                  <a:srgbClr val="656565"/>
                </a:solidFill>
                <a:latin typeface="Arial"/>
                <a:ea typeface="Arial"/>
              </a:rPr>
              <a:t>4.</a:t>
            </a:r>
            <a:r>
              <a:rPr lang="en-US" altLang="zh-CN" sz="900" spc="-15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900" dirty="0">
                <a:solidFill>
                  <a:srgbClr val="656565"/>
                </a:solidFill>
                <a:latin typeface="宋体"/>
                <a:ea typeface="宋体"/>
              </a:rPr>
              <a:t>打造个人特色</a:t>
            </a:r>
          </a:p>
        </p:txBody>
      </p:sp>
      <p:sp>
        <p:nvSpPr>
          <p:cNvPr id="1608" name="TextBox 1608"/>
          <p:cNvSpPr txBox="1"/>
          <p:nvPr/>
        </p:nvSpPr>
        <p:spPr>
          <a:xfrm>
            <a:off x="4852301" y="2845561"/>
            <a:ext cx="2101204" cy="3907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742950">
              <a:lnSpc>
                <a:spcPct val="101250"/>
              </a:lnSpc>
            </a:pPr>
            <a:r>
              <a:rPr lang="zh-CN" altLang="en-US" sz="1200" spc="-5" dirty="0">
                <a:solidFill>
                  <a:srgbClr val="323232"/>
                </a:solidFill>
                <a:latin typeface="宋体"/>
                <a:ea typeface="宋体"/>
              </a:rPr>
              <a:t>创新使</a:t>
            </a:r>
            <a:r>
              <a:rPr lang="zh-CN" altLang="en-US" sz="1200" dirty="0">
                <a:solidFill>
                  <a:srgbClr val="323232"/>
                </a:solidFill>
                <a:latin typeface="宋体"/>
                <a:ea typeface="宋体"/>
              </a:rPr>
              <a:t>用层</a:t>
            </a:r>
          </a:p>
          <a:p>
            <a:pPr marL="0">
              <a:lnSpc>
                <a:spcPct val="101666"/>
              </a:lnSpc>
              <a:spcBef>
                <a:spcPts val="334"/>
              </a:spcBef>
            </a:pP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流程再造</a:t>
            </a:r>
            <a:r>
              <a:rPr lang="zh-CN" altLang="en-US" sz="1050" spc="-15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en-US" altLang="zh-CN" sz="1050" dirty="0">
                <a:solidFill>
                  <a:srgbClr val="656565"/>
                </a:solidFill>
                <a:latin typeface="Arial"/>
                <a:ea typeface="Arial"/>
              </a:rPr>
              <a:t>/</a:t>
            </a:r>
            <a:r>
              <a:rPr lang="en-US" altLang="zh-CN" sz="1050" spc="-89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提示词艺术</a:t>
            </a:r>
            <a:r>
              <a:rPr lang="zh-CN" altLang="en-US" sz="1050" spc="-154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en-US" altLang="zh-CN" sz="1050" dirty="0">
                <a:solidFill>
                  <a:srgbClr val="656565"/>
                </a:solidFill>
                <a:latin typeface="Arial"/>
                <a:ea typeface="Arial"/>
              </a:rPr>
              <a:t>/</a:t>
            </a:r>
            <a:r>
              <a:rPr lang="en-US" altLang="zh-CN" sz="1050" spc="-90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创造性应用</a:t>
            </a:r>
          </a:p>
        </p:txBody>
      </p:sp>
      <p:sp>
        <p:nvSpPr>
          <p:cNvPr id="1609" name="TextBox 1609"/>
          <p:cNvSpPr txBox="1"/>
          <p:nvPr/>
        </p:nvSpPr>
        <p:spPr>
          <a:xfrm>
            <a:off x="8620125" y="2215426"/>
            <a:ext cx="584191" cy="656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900" spc="-5" dirty="0">
                <a:solidFill>
                  <a:srgbClr val="323232"/>
                </a:solidFill>
                <a:latin typeface="宋体"/>
                <a:ea typeface="宋体"/>
              </a:rPr>
              <a:t>独特工</a:t>
            </a:r>
            <a:r>
              <a:rPr lang="zh-CN" altLang="en-US" sz="900" dirty="0">
                <a:solidFill>
                  <a:srgbClr val="323232"/>
                </a:solidFill>
                <a:latin typeface="宋体"/>
                <a:ea typeface="宋体"/>
              </a:rPr>
              <a:t>作流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900" spc="-10" dirty="0">
                <a:solidFill>
                  <a:srgbClr val="323232"/>
                </a:solidFill>
                <a:latin typeface="宋体"/>
                <a:ea typeface="宋体"/>
              </a:rPr>
              <a:t>方法</a:t>
            </a:r>
            <a:r>
              <a:rPr lang="zh-CN" altLang="en-US" sz="900" dirty="0">
                <a:solidFill>
                  <a:srgbClr val="323232"/>
                </a:solidFill>
                <a:latin typeface="宋体"/>
                <a:ea typeface="宋体"/>
              </a:rPr>
              <a:t>创新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>
              <a:lnSpc>
                <a:spcPct val="101250"/>
              </a:lnSpc>
            </a:pPr>
            <a:r>
              <a:rPr lang="zh-CN" altLang="en-US" sz="900" spc="-10" dirty="0">
                <a:solidFill>
                  <a:srgbClr val="323232"/>
                </a:solidFill>
                <a:latin typeface="宋体"/>
                <a:ea typeface="宋体"/>
              </a:rPr>
              <a:t>领域</a:t>
            </a:r>
            <a:r>
              <a:rPr lang="zh-CN" altLang="en-US" sz="900" dirty="0">
                <a:solidFill>
                  <a:srgbClr val="323232"/>
                </a:solidFill>
                <a:latin typeface="宋体"/>
                <a:ea typeface="宋体"/>
              </a:rPr>
              <a:t>整合</a:t>
            </a:r>
          </a:p>
        </p:txBody>
      </p:sp>
      <p:sp>
        <p:nvSpPr>
          <p:cNvPr id="1610" name="TextBox 1610"/>
          <p:cNvSpPr txBox="1"/>
          <p:nvPr/>
        </p:nvSpPr>
        <p:spPr>
          <a:xfrm>
            <a:off x="4852301" y="3880611"/>
            <a:ext cx="2101204" cy="1425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742950">
              <a:lnSpc>
                <a:spcPct val="101250"/>
              </a:lnSpc>
            </a:pPr>
            <a:r>
              <a:rPr lang="zh-CN" altLang="en-US" sz="1200" spc="-5" dirty="0">
                <a:solidFill>
                  <a:srgbClr val="323232"/>
                </a:solidFill>
                <a:latin typeface="宋体"/>
                <a:ea typeface="宋体"/>
              </a:rPr>
              <a:t>进阶使</a:t>
            </a:r>
            <a:r>
              <a:rPr lang="zh-CN" altLang="en-US" sz="1200" dirty="0">
                <a:solidFill>
                  <a:srgbClr val="323232"/>
                </a:solidFill>
                <a:latin typeface="宋体"/>
                <a:ea typeface="宋体"/>
              </a:rPr>
              <a:t>用层</a:t>
            </a:r>
          </a:p>
          <a:p>
            <a:pPr marL="0">
              <a:lnSpc>
                <a:spcPct val="101666"/>
              </a:lnSpc>
              <a:spcBef>
                <a:spcPts val="334"/>
              </a:spcBef>
            </a:pP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任务组合</a:t>
            </a:r>
            <a:r>
              <a:rPr lang="zh-CN" altLang="en-US" sz="1050" spc="-15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en-US" altLang="zh-CN" sz="1050" dirty="0">
                <a:solidFill>
                  <a:srgbClr val="656565"/>
                </a:solidFill>
                <a:latin typeface="Arial"/>
                <a:ea typeface="Arial"/>
              </a:rPr>
              <a:t>/</a:t>
            </a:r>
            <a:r>
              <a:rPr lang="en-US" altLang="zh-CN" sz="1050" spc="-89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结构化提示词</a:t>
            </a:r>
            <a:r>
              <a:rPr lang="zh-CN" altLang="en-US" sz="1050" spc="-154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en-US" altLang="zh-CN" sz="1050" dirty="0">
                <a:solidFill>
                  <a:srgbClr val="656565"/>
                </a:solidFill>
                <a:latin typeface="Arial"/>
                <a:ea typeface="Arial"/>
              </a:rPr>
              <a:t>/</a:t>
            </a:r>
            <a:r>
              <a:rPr lang="en-US" altLang="zh-CN" sz="1050" spc="-90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主动优化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742950">
              <a:lnSpc>
                <a:spcPct val="101250"/>
              </a:lnSpc>
            </a:pPr>
            <a:r>
              <a:rPr lang="zh-CN" altLang="en-US" sz="1200" spc="-5" dirty="0">
                <a:solidFill>
                  <a:srgbClr val="323232"/>
                </a:solidFill>
                <a:latin typeface="宋体"/>
                <a:ea typeface="宋体"/>
              </a:rPr>
              <a:t>基础使</a:t>
            </a:r>
            <a:r>
              <a:rPr lang="zh-CN" altLang="en-US" sz="1200" dirty="0">
                <a:solidFill>
                  <a:srgbClr val="323232"/>
                </a:solidFill>
                <a:latin typeface="宋体"/>
                <a:ea typeface="宋体"/>
              </a:rPr>
              <a:t>用层</a:t>
            </a:r>
          </a:p>
          <a:p>
            <a:pPr marL="0" indent="74294">
              <a:lnSpc>
                <a:spcPct val="101666"/>
              </a:lnSpc>
              <a:spcBef>
                <a:spcPts val="334"/>
              </a:spcBef>
            </a:pP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单一任务</a:t>
            </a:r>
            <a:r>
              <a:rPr lang="zh-CN" altLang="en-US" sz="1050" spc="-150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en-US" altLang="zh-CN" sz="1050" dirty="0">
                <a:solidFill>
                  <a:srgbClr val="656565"/>
                </a:solidFill>
                <a:latin typeface="Arial"/>
                <a:ea typeface="Arial"/>
              </a:rPr>
              <a:t>/</a:t>
            </a:r>
            <a:r>
              <a:rPr lang="en-US" altLang="zh-CN" sz="1050" spc="-89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简单提示词</a:t>
            </a:r>
            <a:r>
              <a:rPr lang="zh-CN" altLang="en-US" sz="1050" spc="-154" dirty="0">
                <a:solidFill>
                  <a:srgbClr val="656565"/>
                </a:solidFill>
                <a:latin typeface="宋体"/>
                <a:cs typeface="宋体"/>
              </a:rPr>
              <a:t> </a:t>
            </a:r>
            <a:r>
              <a:rPr lang="en-US" altLang="zh-CN" sz="1050" dirty="0">
                <a:solidFill>
                  <a:srgbClr val="656565"/>
                </a:solidFill>
                <a:latin typeface="Arial"/>
                <a:ea typeface="Arial"/>
              </a:rPr>
              <a:t>/</a:t>
            </a:r>
            <a:r>
              <a:rPr lang="en-US" altLang="zh-CN" sz="1050" spc="-90" dirty="0">
                <a:solidFill>
                  <a:srgbClr val="656565"/>
                </a:solidFill>
                <a:latin typeface="Arial"/>
                <a:cs typeface="Arial"/>
              </a:rPr>
              <a:t> </a:t>
            </a:r>
            <a:r>
              <a:rPr lang="zh-CN" altLang="en-US" sz="1050" dirty="0">
                <a:solidFill>
                  <a:srgbClr val="656565"/>
                </a:solidFill>
                <a:latin typeface="宋体"/>
                <a:ea typeface="宋体"/>
              </a:rPr>
              <a:t>被动应用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TextBox 1611"/>
          <p:cNvSpPr txBox="1"/>
          <p:nvPr/>
        </p:nvSpPr>
        <p:spPr>
          <a:xfrm>
            <a:off x="91440" y="24587"/>
            <a:ext cx="3555947" cy="833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250"/>
              </a:lnSpc>
            </a:pPr>
            <a:r>
              <a:rPr lang="zh-CN" altLang="en-US" sz="5400" spc="-5" dirty="0">
                <a:solidFill>
                  <a:srgbClr val="000000"/>
                </a:solidFill>
                <a:latin typeface="宋体"/>
                <a:ea typeface="宋体"/>
              </a:rPr>
              <a:t>感谢聆</a:t>
            </a:r>
            <a:r>
              <a:rPr lang="zh-CN" altLang="en-US" sz="5400" dirty="0">
                <a:solidFill>
                  <a:srgbClr val="000000"/>
                </a:solidFill>
                <a:latin typeface="宋体"/>
                <a:ea typeface="宋体"/>
              </a:rPr>
              <a:t>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25987</Words>
  <Application>Microsoft Office PowerPoint</Application>
  <PresentationFormat>宽屏</PresentationFormat>
  <Paragraphs>4719</Paragraphs>
  <Slides>103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09" baseType="lpstr">
      <vt:lpstr>Arial Unicode MS</vt:lpstr>
      <vt:lpstr>宋体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国栋 李</cp:lastModifiedBy>
  <cp:revision>2</cp:revision>
  <dcterms:created xsi:type="dcterms:W3CDTF">2011-01-21T15:00:27Z</dcterms:created>
  <dcterms:modified xsi:type="dcterms:W3CDTF">2025-03-24T03:40:36Z</dcterms:modified>
</cp:coreProperties>
</file>
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82" r:id="rId3"/>
    <p:sldId id="256" r:id="rId4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1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086B197-2668-47A5-9FD7-9DF8F32259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AE8E1CD-287A-4CAA-B2B8-483F15D420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9.jpe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9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9.jpe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8.jpe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9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9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15" name="文本框 14"/>
          <p:cNvSpPr txBox="1"/>
          <p:nvPr/>
        </p:nvSpPr>
        <p:spPr>
          <a:xfrm>
            <a:off x="4251087" y="673293"/>
            <a:ext cx="43120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参赛项目信息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861310" y="2177415"/>
            <a:ext cx="777684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路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演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序号：</a:t>
            </a:r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lang="en-US" altLang="zh-CN" sz="36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项目名称：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“驭跃”双足轮式机器人</a:t>
            </a:r>
            <a:endParaRPr lang="zh-CN" altLang="en-US" sz="36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及其两轴运动平台的软硬件技术优化</a:t>
            </a:r>
            <a:endParaRPr lang="zh-CN" altLang="en-US" sz="36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14790" y="2027555"/>
            <a:ext cx="641350" cy="641350"/>
          </a:xfrm>
          <a:prstGeom prst="ellipse">
            <a:avLst/>
          </a:prstGeom>
          <a:solidFill>
            <a:srgbClr val="2E54A1"/>
          </a:solidFill>
        </p:spPr>
      </p:sp>
      <p:sp>
        <p:nvSpPr>
          <p:cNvPr id="3" name="Text 1"/>
          <p:cNvSpPr/>
          <p:nvPr/>
        </p:nvSpPr>
        <p:spPr>
          <a:xfrm>
            <a:off x="9114790" y="2027555"/>
            <a:ext cx="641350" cy="6413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158" y="2117441"/>
            <a:ext cx="6853912" cy="193802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1681480" y="2117725"/>
            <a:ext cx="9432925" cy="19380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en-US" sz="3200" b="1" dirty="0">
                <a:solidFill>
                  <a:srgbClr val="FEE5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“驭跃”双足轮式机器人</a:t>
            </a:r>
            <a:endParaRPr lang="en-US" sz="3200" b="1" dirty="0">
              <a:solidFill>
                <a:srgbClr val="FEE5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en-US" sz="3200" b="1" dirty="0">
                <a:solidFill>
                  <a:srgbClr val="FEE59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及其两轴运动平台的软硬件技术优化</a:t>
            </a:r>
            <a:endParaRPr lang="en-US" sz="3200" b="1" dirty="0">
              <a:solidFill>
                <a:srgbClr val="FEE59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80737" y="4055521"/>
            <a:ext cx="178755" cy="0"/>
          </a:xfrm>
          <a:prstGeom prst="line">
            <a:avLst/>
          </a:prstGeom>
          <a:noFill/>
          <a:ln w="38100">
            <a:solidFill>
              <a:srgbClr val="FFF3C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86080" y="345440"/>
            <a:ext cx="2684780" cy="4622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7555230" y="4145915"/>
            <a:ext cx="335915" cy="335915"/>
          </a:xfrm>
          <a:prstGeom prst="ellipse">
            <a:avLst/>
          </a:prstGeom>
          <a:solidFill>
            <a:srgbClr val="EE822F"/>
          </a:solidFill>
        </p:spPr>
      </p:sp>
      <p:sp>
        <p:nvSpPr>
          <p:cNvPr id="10" name="Text 8"/>
          <p:cNvSpPr/>
          <p:nvPr/>
        </p:nvSpPr>
        <p:spPr>
          <a:xfrm>
            <a:off x="7555230" y="4145915"/>
            <a:ext cx="335915" cy="3359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grpSp>
        <p:nvGrpSpPr>
          <p:cNvPr id="12" name="组合 11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9250" y="-71120"/>
            <a:ext cx="2594610" cy="149796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683760" y="-71120"/>
            <a:ext cx="2594610" cy="14979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7000" dirty="0">
                <a:solidFill>
                  <a:srgbClr val="822C1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pic>
        <p:nvPicPr>
          <p:cNvPr id="4" name="Image 0" descr="https://kimi-img.moonshot.cn/pub/slides/slides_tmpl/image/25-10-10-11:40:17-d3k8088s8jdo4os5e6s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1634490"/>
            <a:ext cx="2663825" cy="524510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10-10-11:40:17-d3k8088s8jdo4os5e6q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2465" y="526415"/>
            <a:ext cx="597535" cy="280670"/>
          </a:xfrm>
          <a:prstGeom prst="rect">
            <a:avLst/>
          </a:prstGeom>
        </p:spPr>
      </p:pic>
      <p:sp>
        <p:nvSpPr>
          <p:cNvPr id="6" name="Text 2"/>
          <p:cNvSpPr/>
          <p:nvPr>
            <p:custDataLst>
              <p:tags r:id="rId4"/>
            </p:custDataLst>
          </p:nvPr>
        </p:nvSpPr>
        <p:spPr>
          <a:xfrm>
            <a:off x="1122096" y="2480022"/>
            <a:ext cx="884017" cy="783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600" dirty="0">
                <a:solidFill>
                  <a:srgbClr val="FFF3C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3"/>
          <p:cNvSpPr/>
          <p:nvPr>
            <p:custDataLst>
              <p:tags r:id="rId5"/>
            </p:custDataLst>
          </p:nvPr>
        </p:nvSpPr>
        <p:spPr>
          <a:xfrm>
            <a:off x="2077416" y="2542436"/>
            <a:ext cx="4113090" cy="6576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项目痛点与摘要</a:t>
            </a:r>
            <a:endParaRPr lang="en-US" sz="1600" dirty="0"/>
          </a:p>
        </p:txBody>
      </p:sp>
      <p:sp>
        <p:nvSpPr>
          <p:cNvPr id="8" name="Text 4"/>
          <p:cNvSpPr/>
          <p:nvPr>
            <p:custDataLst>
              <p:tags r:id="rId6"/>
            </p:custDataLst>
          </p:nvPr>
        </p:nvSpPr>
        <p:spPr>
          <a:xfrm>
            <a:off x="6361708" y="2480022"/>
            <a:ext cx="884017" cy="783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600" dirty="0">
                <a:solidFill>
                  <a:srgbClr val="FFF3C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5"/>
          <p:cNvSpPr/>
          <p:nvPr>
            <p:custDataLst>
              <p:tags r:id="rId7"/>
            </p:custDataLst>
          </p:nvPr>
        </p:nvSpPr>
        <p:spPr>
          <a:xfrm>
            <a:off x="7317028" y="2542436"/>
            <a:ext cx="4113090" cy="6576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项目理解与方案</a:t>
            </a:r>
            <a:endParaRPr lang="en-US" sz="1600" dirty="0"/>
          </a:p>
        </p:txBody>
      </p:sp>
      <p:sp>
        <p:nvSpPr>
          <p:cNvPr id="10" name="Text 6"/>
          <p:cNvSpPr/>
          <p:nvPr>
            <p:custDataLst>
              <p:tags r:id="rId8"/>
            </p:custDataLst>
          </p:nvPr>
        </p:nvSpPr>
        <p:spPr>
          <a:xfrm>
            <a:off x="1122096" y="3584372"/>
            <a:ext cx="884017" cy="783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600" dirty="0">
                <a:solidFill>
                  <a:srgbClr val="FFF3C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7"/>
          <p:cNvSpPr/>
          <p:nvPr>
            <p:custDataLst>
              <p:tags r:id="rId9"/>
            </p:custDataLst>
          </p:nvPr>
        </p:nvSpPr>
        <p:spPr>
          <a:xfrm>
            <a:off x="2077416" y="3646786"/>
            <a:ext cx="4113090" cy="6576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背景与场景</a:t>
            </a:r>
            <a:endParaRPr lang="en-US" sz="1600" dirty="0"/>
          </a:p>
        </p:txBody>
      </p:sp>
      <p:sp>
        <p:nvSpPr>
          <p:cNvPr id="12" name="Text 8"/>
          <p:cNvSpPr/>
          <p:nvPr>
            <p:custDataLst>
              <p:tags r:id="rId10"/>
            </p:custDataLst>
          </p:nvPr>
        </p:nvSpPr>
        <p:spPr>
          <a:xfrm>
            <a:off x="6361708" y="3584372"/>
            <a:ext cx="884017" cy="783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600" dirty="0">
                <a:solidFill>
                  <a:srgbClr val="FFF3C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9"/>
          <p:cNvSpPr/>
          <p:nvPr>
            <p:custDataLst>
              <p:tags r:id="rId11"/>
            </p:custDataLst>
          </p:nvPr>
        </p:nvSpPr>
        <p:spPr>
          <a:xfrm>
            <a:off x="7317028" y="3646786"/>
            <a:ext cx="4113090" cy="6576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技术与创新</a:t>
            </a:r>
            <a:endParaRPr lang="en-US" sz="1600" dirty="0"/>
          </a:p>
        </p:txBody>
      </p:sp>
      <p:sp>
        <p:nvSpPr>
          <p:cNvPr id="14" name="Text 10"/>
          <p:cNvSpPr/>
          <p:nvPr>
            <p:custDataLst>
              <p:tags r:id="rId12"/>
            </p:custDataLst>
          </p:nvPr>
        </p:nvSpPr>
        <p:spPr>
          <a:xfrm>
            <a:off x="3728720" y="4688720"/>
            <a:ext cx="884017" cy="783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600" dirty="0">
                <a:solidFill>
                  <a:srgbClr val="FFF3C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15" name="Text 11"/>
          <p:cNvSpPr/>
          <p:nvPr>
            <p:custDataLst>
              <p:tags r:id="rId13"/>
            </p:custDataLst>
          </p:nvPr>
        </p:nvSpPr>
        <p:spPr>
          <a:xfrm>
            <a:off x="4684040" y="4751772"/>
            <a:ext cx="4113090" cy="6576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商业与推广</a:t>
            </a:r>
            <a:endParaRPr lang="en-US" sz="16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22875" y="1552575"/>
            <a:ext cx="1786255" cy="1786255"/>
          </a:xfrm>
          <a:prstGeom prst="ellipse">
            <a:avLst/>
          </a:prstGeom>
          <a:solidFill>
            <a:srgbClr val="FEE695"/>
          </a:solidFill>
        </p:spPr>
      </p:sp>
      <p:sp>
        <p:nvSpPr>
          <p:cNvPr id="3" name="Text 1"/>
          <p:cNvSpPr/>
          <p:nvPr/>
        </p:nvSpPr>
        <p:spPr>
          <a:xfrm>
            <a:off x="5222875" y="1552575"/>
            <a:ext cx="1786255" cy="17862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70980" y="1552575"/>
            <a:ext cx="527050" cy="527050"/>
          </a:xfrm>
          <a:prstGeom prst="ellipse">
            <a:avLst/>
          </a:prstGeom>
          <a:solidFill>
            <a:srgbClr val="4874CB"/>
          </a:solidFill>
        </p:spPr>
      </p:sp>
      <p:sp>
        <p:nvSpPr>
          <p:cNvPr id="5" name="Text 3"/>
          <p:cNvSpPr/>
          <p:nvPr/>
        </p:nvSpPr>
        <p:spPr>
          <a:xfrm>
            <a:off x="6570980" y="1552575"/>
            <a:ext cx="527050" cy="527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dirty="0">
                <a:solidFill>
                  <a:srgbClr val="FEE596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项目痛点与摘要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Image 0" descr="https://kimi-img.moonshot.cn/pub/slides/slides_tmpl/image/25-10-10-11:40:17-d3k8088s8jdo4os5e6q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045" y="345440"/>
            <a:ext cx="597535" cy="280670"/>
          </a:xfrm>
          <a:prstGeom prst="rect">
            <a:avLst/>
          </a:prstGeom>
        </p:spPr>
      </p:pic>
      <p:pic>
        <p:nvPicPr>
          <p:cNvPr id="11" name="Image 1" descr="https://kimi-img.moonshot.cn/pub/slides/slides_tmpl/image/25-10-10-11:40:17-d3k8088s8jdo4os5e6q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540" y="345440"/>
            <a:ext cx="597535" cy="280670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1:40:18-d3k808gs8jdo4os5e6t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726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2032000"/>
            <a:ext cx="11912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三大痛点制约双足轮式机器人落地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2641600"/>
            <a:ext cx="11798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CD853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行业普遍面临的技术瓶颈，阻碍其在高要求场景的规模化应用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3302000"/>
            <a:ext cx="0" cy="1524000"/>
          </a:xfrm>
          <a:prstGeom prst="line">
            <a:avLst/>
          </a:prstGeom>
          <a:noFill/>
          <a:ln w="50800">
            <a:solidFill>
              <a:srgbClr val="A0522D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254000" y="3302000"/>
            <a:ext cx="3670300" cy="1524000"/>
          </a:xfrm>
          <a:custGeom>
            <a:avLst/>
            <a:gdLst/>
            <a:ahLst/>
            <a:cxnLst/>
            <a:rect l="l" t="t" r="r" b="b"/>
            <a:pathLst>
              <a:path w="3670300" h="1524000">
                <a:moveTo>
                  <a:pt x="0" y="0"/>
                </a:moveTo>
                <a:lnTo>
                  <a:pt x="3568695" y="0"/>
                </a:lnTo>
                <a:cubicBezTo>
                  <a:pt x="3624810" y="0"/>
                  <a:pt x="3670300" y="45490"/>
                  <a:pt x="3670300" y="101605"/>
                </a:cubicBezTo>
                <a:lnTo>
                  <a:pt x="3670300" y="1422395"/>
                </a:lnTo>
                <a:cubicBezTo>
                  <a:pt x="3670300" y="1478510"/>
                  <a:pt x="3624810" y="1524000"/>
                  <a:pt x="3568695" y="1524000"/>
                </a:cubicBez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A0522D">
              <a:alpha val="10196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647700" y="36068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9050" y="0"/>
                </a:moveTo>
                <a:cubicBezTo>
                  <a:pt x="8513" y="0"/>
                  <a:pt x="0" y="8513"/>
                  <a:pt x="0" y="19050"/>
                </a:cubicBezTo>
                <a:cubicBezTo>
                  <a:pt x="0" y="29587"/>
                  <a:pt x="8513" y="38100"/>
                  <a:pt x="19050" y="38100"/>
                </a:cubicBezTo>
                <a:lnTo>
                  <a:pt x="19050" y="44648"/>
                </a:lnTo>
                <a:cubicBezTo>
                  <a:pt x="19050" y="69890"/>
                  <a:pt x="29111" y="94119"/>
                  <a:pt x="46970" y="111978"/>
                </a:cubicBezTo>
                <a:lnTo>
                  <a:pt x="87392" y="152400"/>
                </a:lnTo>
                <a:lnTo>
                  <a:pt x="46970" y="192822"/>
                </a:lnTo>
                <a:cubicBezTo>
                  <a:pt x="29111" y="210681"/>
                  <a:pt x="19050" y="234910"/>
                  <a:pt x="19050" y="260152"/>
                </a:cubicBezTo>
                <a:lnTo>
                  <a:pt x="19050" y="266700"/>
                </a:lnTo>
                <a:cubicBezTo>
                  <a:pt x="8513" y="266700"/>
                  <a:pt x="0" y="275213"/>
                  <a:pt x="0" y="285750"/>
                </a:cubicBezTo>
                <a:cubicBezTo>
                  <a:pt x="0" y="296287"/>
                  <a:pt x="8513" y="304800"/>
                  <a:pt x="19050" y="304800"/>
                </a:cubicBezTo>
                <a:lnTo>
                  <a:pt x="209550" y="304800"/>
                </a:lnTo>
                <a:cubicBezTo>
                  <a:pt x="220087" y="304800"/>
                  <a:pt x="228600" y="296287"/>
                  <a:pt x="228600" y="285750"/>
                </a:cubicBezTo>
                <a:cubicBezTo>
                  <a:pt x="228600" y="275213"/>
                  <a:pt x="220087" y="266700"/>
                  <a:pt x="209550" y="266700"/>
                </a:cubicBezTo>
                <a:lnTo>
                  <a:pt x="209550" y="260152"/>
                </a:lnTo>
                <a:cubicBezTo>
                  <a:pt x="209550" y="234910"/>
                  <a:pt x="199489" y="210681"/>
                  <a:pt x="181630" y="192822"/>
                </a:cubicBezTo>
                <a:lnTo>
                  <a:pt x="141208" y="152400"/>
                </a:lnTo>
                <a:lnTo>
                  <a:pt x="181630" y="111978"/>
                </a:lnTo>
                <a:cubicBezTo>
                  <a:pt x="199489" y="94119"/>
                  <a:pt x="209550" y="69890"/>
                  <a:pt x="209550" y="44648"/>
                </a:cubicBezTo>
                <a:lnTo>
                  <a:pt x="209550" y="38100"/>
                </a:lnTo>
                <a:cubicBezTo>
                  <a:pt x="220087" y="38100"/>
                  <a:pt x="228600" y="29587"/>
                  <a:pt x="228600" y="19050"/>
                </a:cubicBezTo>
                <a:cubicBezTo>
                  <a:pt x="228600" y="8513"/>
                  <a:pt x="220087" y="0"/>
                  <a:pt x="209550" y="0"/>
                </a:cubicBezTo>
                <a:lnTo>
                  <a:pt x="19050" y="0"/>
                </a:lnTo>
                <a:close/>
                <a:moveTo>
                  <a:pt x="57150" y="44648"/>
                </a:moveTo>
                <a:lnTo>
                  <a:pt x="57150" y="38100"/>
                </a:lnTo>
                <a:lnTo>
                  <a:pt x="171450" y="38100"/>
                </a:lnTo>
                <a:lnTo>
                  <a:pt x="171450" y="44648"/>
                </a:lnTo>
                <a:cubicBezTo>
                  <a:pt x="171450" y="55959"/>
                  <a:pt x="168116" y="66913"/>
                  <a:pt x="161925" y="76200"/>
                </a:cubicBezTo>
                <a:lnTo>
                  <a:pt x="66675" y="76200"/>
                </a:lnTo>
                <a:cubicBezTo>
                  <a:pt x="60543" y="66913"/>
                  <a:pt x="57150" y="55959"/>
                  <a:pt x="57150" y="44648"/>
                </a:cubicBezTo>
                <a:close/>
                <a:moveTo>
                  <a:pt x="66675" y="228600"/>
                </a:moveTo>
                <a:cubicBezTo>
                  <a:pt x="68759" y="225445"/>
                  <a:pt x="71199" y="222468"/>
                  <a:pt x="73878" y="219730"/>
                </a:cubicBezTo>
                <a:lnTo>
                  <a:pt x="114300" y="179308"/>
                </a:lnTo>
                <a:lnTo>
                  <a:pt x="154722" y="219730"/>
                </a:lnTo>
                <a:cubicBezTo>
                  <a:pt x="157460" y="222468"/>
                  <a:pt x="159841" y="225445"/>
                  <a:pt x="161985" y="228600"/>
                </a:cubicBezTo>
                <a:lnTo>
                  <a:pt x="66675" y="228600"/>
                </a:lnTo>
                <a:close/>
              </a:path>
            </a:pathLst>
          </a:custGeom>
          <a:solidFill>
            <a:srgbClr val="A0522D"/>
          </a:solidFill>
        </p:spPr>
      </p:sp>
      <p:sp>
        <p:nvSpPr>
          <p:cNvPr id="8" name="Text 5"/>
          <p:cNvSpPr/>
          <p:nvPr/>
        </p:nvSpPr>
        <p:spPr>
          <a:xfrm>
            <a:off x="1117600" y="3581400"/>
            <a:ext cx="1714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系统性累计延迟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8000" y="4114800"/>
            <a:ext cx="3352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延迟 </a:t>
            </a:r>
            <a:r>
              <a:rPr lang="en-US" sz="14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&gt;500ms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，导致实时响应差，操控体验不佳。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33267" y="3302000"/>
            <a:ext cx="0" cy="1524000"/>
          </a:xfrm>
          <a:prstGeom prst="line">
            <a:avLst/>
          </a:prstGeom>
          <a:noFill/>
          <a:ln w="50800">
            <a:solidFill>
              <a:srgbClr val="CD853F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4233267" y="3302000"/>
            <a:ext cx="3670300" cy="1524000"/>
          </a:xfrm>
          <a:custGeom>
            <a:avLst/>
            <a:gdLst/>
            <a:ahLst/>
            <a:cxnLst/>
            <a:rect l="l" t="t" r="r" b="b"/>
            <a:pathLst>
              <a:path w="3670300" h="1524000">
                <a:moveTo>
                  <a:pt x="0" y="0"/>
                </a:moveTo>
                <a:lnTo>
                  <a:pt x="3568695" y="0"/>
                </a:lnTo>
                <a:cubicBezTo>
                  <a:pt x="3624810" y="0"/>
                  <a:pt x="3670300" y="45490"/>
                  <a:pt x="3670300" y="101605"/>
                </a:cubicBezTo>
                <a:lnTo>
                  <a:pt x="3670300" y="1422395"/>
                </a:lnTo>
                <a:cubicBezTo>
                  <a:pt x="3670300" y="1478510"/>
                  <a:pt x="3624810" y="1524000"/>
                  <a:pt x="3568695" y="1524000"/>
                </a:cubicBez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CD853F">
              <a:alpha val="10196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4569817" y="3606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47638" y="52388"/>
                </a:moveTo>
                <a:lnTo>
                  <a:pt x="195263" y="52388"/>
                </a:lnTo>
                <a:lnTo>
                  <a:pt x="195263" y="80962"/>
                </a:lnTo>
                <a:lnTo>
                  <a:pt x="147638" y="80962"/>
                </a:lnTo>
                <a:lnTo>
                  <a:pt x="147638" y="52388"/>
                </a:lnTo>
                <a:close/>
                <a:moveTo>
                  <a:pt x="142875" y="19050"/>
                </a:moveTo>
                <a:cubicBezTo>
                  <a:pt x="127099" y="19050"/>
                  <a:pt x="114300" y="31849"/>
                  <a:pt x="114300" y="47625"/>
                </a:cubicBezTo>
                <a:lnTo>
                  <a:pt x="114300" y="85725"/>
                </a:lnTo>
                <a:cubicBezTo>
                  <a:pt x="114300" y="101501"/>
                  <a:pt x="127099" y="114300"/>
                  <a:pt x="142875" y="114300"/>
                </a:cubicBezTo>
                <a:lnTo>
                  <a:pt x="152400" y="114300"/>
                </a:lnTo>
                <a:lnTo>
                  <a:pt x="152400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76200" y="171450"/>
                </a:lnTo>
                <a:lnTo>
                  <a:pt x="76200" y="190500"/>
                </a:lnTo>
                <a:lnTo>
                  <a:pt x="66675" y="190500"/>
                </a:lnTo>
                <a:cubicBezTo>
                  <a:pt x="50899" y="190500"/>
                  <a:pt x="38100" y="203299"/>
                  <a:pt x="38100" y="219075"/>
                </a:cubicBezTo>
                <a:lnTo>
                  <a:pt x="38100" y="257175"/>
                </a:lnTo>
                <a:cubicBezTo>
                  <a:pt x="38100" y="272951"/>
                  <a:pt x="50899" y="285750"/>
                  <a:pt x="66675" y="285750"/>
                </a:cubicBezTo>
                <a:lnTo>
                  <a:pt x="123825" y="285750"/>
                </a:lnTo>
                <a:cubicBezTo>
                  <a:pt x="139601" y="285750"/>
                  <a:pt x="152400" y="272951"/>
                  <a:pt x="152400" y="257175"/>
                </a:cubicBezTo>
                <a:lnTo>
                  <a:pt x="152400" y="219075"/>
                </a:lnTo>
                <a:cubicBezTo>
                  <a:pt x="152400" y="203299"/>
                  <a:pt x="139601" y="190500"/>
                  <a:pt x="123825" y="190500"/>
                </a:cubicBezTo>
                <a:lnTo>
                  <a:pt x="114300" y="190500"/>
                </a:lnTo>
                <a:lnTo>
                  <a:pt x="114300" y="171450"/>
                </a:lnTo>
                <a:lnTo>
                  <a:pt x="228600" y="171450"/>
                </a:lnTo>
                <a:lnTo>
                  <a:pt x="228600" y="190500"/>
                </a:lnTo>
                <a:lnTo>
                  <a:pt x="219075" y="190500"/>
                </a:lnTo>
                <a:cubicBezTo>
                  <a:pt x="203299" y="190500"/>
                  <a:pt x="190500" y="203299"/>
                  <a:pt x="190500" y="219075"/>
                </a:cubicBezTo>
                <a:lnTo>
                  <a:pt x="190500" y="257175"/>
                </a:lnTo>
                <a:cubicBezTo>
                  <a:pt x="190500" y="272951"/>
                  <a:pt x="203299" y="285750"/>
                  <a:pt x="219075" y="285750"/>
                </a:cubicBezTo>
                <a:lnTo>
                  <a:pt x="276225" y="285750"/>
                </a:lnTo>
                <a:cubicBezTo>
                  <a:pt x="292001" y="285750"/>
                  <a:pt x="304800" y="272951"/>
                  <a:pt x="304800" y="257175"/>
                </a:cubicBezTo>
                <a:lnTo>
                  <a:pt x="304800" y="219075"/>
                </a:lnTo>
                <a:cubicBezTo>
                  <a:pt x="304800" y="203299"/>
                  <a:pt x="292001" y="190500"/>
                  <a:pt x="276225" y="190500"/>
                </a:cubicBezTo>
                <a:lnTo>
                  <a:pt x="266700" y="190500"/>
                </a:lnTo>
                <a:lnTo>
                  <a:pt x="266700" y="171450"/>
                </a:lnTo>
                <a:lnTo>
                  <a:pt x="323850" y="171450"/>
                </a:lnTo>
                <a:cubicBezTo>
                  <a:pt x="334387" y="171450"/>
                  <a:pt x="342900" y="162937"/>
                  <a:pt x="342900" y="152400"/>
                </a:cubicBezTo>
                <a:cubicBezTo>
                  <a:pt x="342900" y="141863"/>
                  <a:pt x="334387" y="133350"/>
                  <a:pt x="323850" y="133350"/>
                </a:cubicBezTo>
                <a:lnTo>
                  <a:pt x="190500" y="133350"/>
                </a:lnTo>
                <a:lnTo>
                  <a:pt x="190500" y="114300"/>
                </a:lnTo>
                <a:lnTo>
                  <a:pt x="200025" y="114300"/>
                </a:lnTo>
                <a:cubicBezTo>
                  <a:pt x="215801" y="114300"/>
                  <a:pt x="228600" y="101501"/>
                  <a:pt x="228600" y="85725"/>
                </a:cubicBezTo>
                <a:lnTo>
                  <a:pt x="228600" y="47625"/>
                </a:lnTo>
                <a:cubicBezTo>
                  <a:pt x="228600" y="31849"/>
                  <a:pt x="215801" y="19050"/>
                  <a:pt x="200025" y="19050"/>
                </a:cubicBezTo>
                <a:lnTo>
                  <a:pt x="142875" y="19050"/>
                </a:lnTo>
                <a:close/>
                <a:moveTo>
                  <a:pt x="266700" y="223838"/>
                </a:moveTo>
                <a:lnTo>
                  <a:pt x="271463" y="223838"/>
                </a:lnTo>
                <a:lnTo>
                  <a:pt x="271463" y="252413"/>
                </a:lnTo>
                <a:lnTo>
                  <a:pt x="223838" y="252413"/>
                </a:lnTo>
                <a:lnTo>
                  <a:pt x="223838" y="223838"/>
                </a:lnTo>
                <a:lnTo>
                  <a:pt x="266700" y="223838"/>
                </a:lnTo>
                <a:close/>
                <a:moveTo>
                  <a:pt x="114300" y="223838"/>
                </a:moveTo>
                <a:lnTo>
                  <a:pt x="119062" y="223838"/>
                </a:lnTo>
                <a:lnTo>
                  <a:pt x="119062" y="252413"/>
                </a:lnTo>
                <a:lnTo>
                  <a:pt x="71438" y="252413"/>
                </a:lnTo>
                <a:lnTo>
                  <a:pt x="71438" y="223838"/>
                </a:lnTo>
                <a:lnTo>
                  <a:pt x="114300" y="223838"/>
                </a:lnTo>
                <a:close/>
              </a:path>
            </a:pathLst>
          </a:custGeom>
          <a:solidFill>
            <a:srgbClr val="CD853F"/>
          </a:solidFill>
        </p:spPr>
      </p:sp>
      <p:sp>
        <p:nvSpPr>
          <p:cNvPr id="13" name="Text 10"/>
          <p:cNvSpPr/>
          <p:nvPr/>
        </p:nvSpPr>
        <p:spPr>
          <a:xfrm>
            <a:off x="5096867" y="3581400"/>
            <a:ext cx="1485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通信效率低下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487267" y="4114800"/>
            <a:ext cx="3352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控制与图传信道分离，通信效率低下，难以满足实时交互需求。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12534" y="3302000"/>
            <a:ext cx="0" cy="1524000"/>
          </a:xfrm>
          <a:prstGeom prst="line">
            <a:avLst/>
          </a:prstGeom>
          <a:noFill/>
          <a:ln w="50800">
            <a:solidFill>
              <a:srgbClr val="4682B4"/>
            </a:solidFill>
            <a:prstDash val="solid"/>
            <a:headEnd type="none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8212534" y="3302000"/>
            <a:ext cx="3670300" cy="1524000"/>
          </a:xfrm>
          <a:custGeom>
            <a:avLst/>
            <a:gdLst/>
            <a:ahLst/>
            <a:cxnLst/>
            <a:rect l="l" t="t" r="r" b="b"/>
            <a:pathLst>
              <a:path w="3670300" h="1524000">
                <a:moveTo>
                  <a:pt x="0" y="0"/>
                </a:moveTo>
                <a:lnTo>
                  <a:pt x="3568695" y="0"/>
                </a:lnTo>
                <a:cubicBezTo>
                  <a:pt x="3624810" y="0"/>
                  <a:pt x="3670300" y="45490"/>
                  <a:pt x="3670300" y="101605"/>
                </a:cubicBezTo>
                <a:lnTo>
                  <a:pt x="3670300" y="1422395"/>
                </a:lnTo>
                <a:cubicBezTo>
                  <a:pt x="3670300" y="1478510"/>
                  <a:pt x="3624810" y="1524000"/>
                  <a:pt x="3568695" y="1524000"/>
                </a:cubicBez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4682B4">
              <a:alpha val="10196"/>
            </a:srgbClr>
          </a:solidFill>
        </p:spPr>
      </p:sp>
      <p:sp>
        <p:nvSpPr>
          <p:cNvPr id="17" name="Shape 14"/>
          <p:cNvSpPr/>
          <p:nvPr/>
        </p:nvSpPr>
        <p:spPr>
          <a:xfrm>
            <a:off x="8606234" y="36068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76200" y="57150"/>
                </a:moveTo>
                <a:lnTo>
                  <a:pt x="76200" y="95250"/>
                </a:lnTo>
                <a:lnTo>
                  <a:pt x="152400" y="95250"/>
                </a:lnTo>
                <a:lnTo>
                  <a:pt x="152400" y="57150"/>
                </a:lnTo>
                <a:cubicBezTo>
                  <a:pt x="152400" y="36135"/>
                  <a:pt x="135315" y="19050"/>
                  <a:pt x="114300" y="19050"/>
                </a:cubicBezTo>
                <a:cubicBezTo>
                  <a:pt x="93285" y="19050"/>
                  <a:pt x="76200" y="36135"/>
                  <a:pt x="76200" y="57150"/>
                </a:cubicBezTo>
                <a:close/>
                <a:moveTo>
                  <a:pt x="38100" y="95250"/>
                </a:moveTo>
                <a:lnTo>
                  <a:pt x="38100" y="57150"/>
                </a:lnTo>
                <a:cubicBezTo>
                  <a:pt x="38100" y="15061"/>
                  <a:pt x="72211" y="-19050"/>
                  <a:pt x="114300" y="-19050"/>
                </a:cubicBezTo>
                <a:cubicBezTo>
                  <a:pt x="156389" y="-19050"/>
                  <a:pt x="190500" y="15061"/>
                  <a:pt x="190500" y="57150"/>
                </a:cubicBezTo>
                <a:lnTo>
                  <a:pt x="190500" y="95250"/>
                </a:lnTo>
                <a:cubicBezTo>
                  <a:pt x="211515" y="95250"/>
                  <a:pt x="228600" y="112335"/>
                  <a:pt x="228600" y="13335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133350"/>
                </a:lnTo>
                <a:cubicBezTo>
                  <a:pt x="0" y="112335"/>
                  <a:pt x="17085" y="95250"/>
                  <a:pt x="38100" y="95250"/>
                </a:cubicBezTo>
                <a:close/>
              </a:path>
            </a:pathLst>
          </a:custGeom>
          <a:solidFill>
            <a:srgbClr val="4682B4"/>
          </a:solidFill>
        </p:spPr>
      </p:sp>
      <p:sp>
        <p:nvSpPr>
          <p:cNvPr id="18" name="Text 15"/>
          <p:cNvSpPr/>
          <p:nvPr/>
        </p:nvSpPr>
        <p:spPr>
          <a:xfrm>
            <a:off x="9076134" y="3581400"/>
            <a:ext cx="1485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运动死锁频发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466534" y="4114800"/>
            <a:ext cx="3352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运动死锁频发，任务连续性低，可靠性无法保证。</a:t>
            </a:r>
            <a:endParaRPr lang="en-US" sz="1600" dirty="0"/>
          </a:p>
        </p:txBody>
      </p:sp>
      <p:grpSp>
        <p:nvGrpSpPr>
          <p:cNvPr id="20" name="组合 19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23" name="标题 1"/>
          <p:cNvSpPr>
            <a:spLocks noGrp="1"/>
          </p:cNvSpPr>
          <p:nvPr/>
        </p:nvSpPr>
        <p:spPr>
          <a:xfrm>
            <a:off x="3324809" y="46310"/>
            <a:ext cx="10515600" cy="7789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项目摘要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1:40:18-d3k808gs8jdo4os5e6t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726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549400"/>
            <a:ext cx="49022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项目目标与硬指标摘要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2260600"/>
            <a:ext cx="4787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CD853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三位一体方案，仿真验证突破性成果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2921000"/>
            <a:ext cx="4673600" cy="660400"/>
          </a:xfrm>
          <a:custGeom>
            <a:avLst/>
            <a:gdLst/>
            <a:ahLst/>
            <a:cxnLst/>
            <a:rect l="l" t="t" r="r" b="b"/>
            <a:pathLst>
              <a:path w="4673600" h="660400">
                <a:moveTo>
                  <a:pt x="101603" y="0"/>
                </a:moveTo>
                <a:lnTo>
                  <a:pt x="4571997" y="0"/>
                </a:lnTo>
                <a:cubicBezTo>
                  <a:pt x="4628111" y="0"/>
                  <a:pt x="4673600" y="45489"/>
                  <a:pt x="4673600" y="101603"/>
                </a:cubicBezTo>
                <a:lnTo>
                  <a:pt x="4673600" y="558797"/>
                </a:lnTo>
                <a:cubicBezTo>
                  <a:pt x="4673600" y="614911"/>
                  <a:pt x="4628111" y="660400"/>
                  <a:pt x="45719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A0522D">
              <a:alpha val="10196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406400" y="3073400"/>
            <a:ext cx="4457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单台机器人可替代 </a:t>
            </a:r>
            <a:r>
              <a:rPr lang="en-US" sz="20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名安保人员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4000" y="3784600"/>
            <a:ext cx="4673600" cy="660400"/>
          </a:xfrm>
          <a:custGeom>
            <a:avLst/>
            <a:gdLst/>
            <a:ahLst/>
            <a:cxnLst/>
            <a:rect l="l" t="t" r="r" b="b"/>
            <a:pathLst>
              <a:path w="4673600" h="660400">
                <a:moveTo>
                  <a:pt x="101603" y="0"/>
                </a:moveTo>
                <a:lnTo>
                  <a:pt x="4571997" y="0"/>
                </a:lnTo>
                <a:cubicBezTo>
                  <a:pt x="4628111" y="0"/>
                  <a:pt x="4673600" y="45489"/>
                  <a:pt x="4673600" y="101603"/>
                </a:cubicBezTo>
                <a:lnTo>
                  <a:pt x="4673600" y="558797"/>
                </a:lnTo>
                <a:cubicBezTo>
                  <a:pt x="4673600" y="614911"/>
                  <a:pt x="4628111" y="660400"/>
                  <a:pt x="45719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CD853F">
              <a:alpha val="10196"/>
            </a:srgbClr>
          </a:solidFill>
        </p:spPr>
      </p:sp>
      <p:sp>
        <p:nvSpPr>
          <p:cNvPr id="8" name="Text 5"/>
          <p:cNvSpPr/>
          <p:nvPr/>
        </p:nvSpPr>
        <p:spPr>
          <a:xfrm>
            <a:off x="406400" y="3937000"/>
            <a:ext cx="4457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人力成本降低约 </a:t>
            </a:r>
            <a:r>
              <a:rPr lang="en-US" sz="2000" b="1" dirty="0">
                <a:solidFill>
                  <a:srgbClr val="CD853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50%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54000" y="4648200"/>
            <a:ext cx="4673600" cy="660400"/>
          </a:xfrm>
          <a:custGeom>
            <a:avLst/>
            <a:gdLst/>
            <a:ahLst/>
            <a:cxnLst/>
            <a:rect l="l" t="t" r="r" b="b"/>
            <a:pathLst>
              <a:path w="4673600" h="660400">
                <a:moveTo>
                  <a:pt x="101603" y="0"/>
                </a:moveTo>
                <a:lnTo>
                  <a:pt x="4571997" y="0"/>
                </a:lnTo>
                <a:cubicBezTo>
                  <a:pt x="4628111" y="0"/>
                  <a:pt x="4673600" y="45489"/>
                  <a:pt x="4673600" y="101603"/>
                </a:cubicBezTo>
                <a:lnTo>
                  <a:pt x="4673600" y="558797"/>
                </a:lnTo>
                <a:cubicBezTo>
                  <a:pt x="4673600" y="614911"/>
                  <a:pt x="4628111" y="660400"/>
                  <a:pt x="45719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682B4">
              <a:alpha val="10196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406400" y="4800600"/>
            <a:ext cx="4457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响应速度提升 </a:t>
            </a:r>
            <a:r>
              <a:rPr lang="en-US" sz="2000" b="1" dirty="0">
                <a:solidFill>
                  <a:srgbClr val="4682B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倍以上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334000" y="1473200"/>
            <a:ext cx="6604000" cy="1168400"/>
          </a:xfrm>
          <a:custGeom>
            <a:avLst/>
            <a:gdLst/>
            <a:ahLst/>
            <a:cxnLst/>
            <a:rect l="l" t="t" r="r" b="b"/>
            <a:pathLst>
              <a:path w="6604000" h="1168400">
                <a:moveTo>
                  <a:pt x="152394" y="0"/>
                </a:moveTo>
                <a:lnTo>
                  <a:pt x="6451606" y="0"/>
                </a:lnTo>
                <a:cubicBezTo>
                  <a:pt x="6535771" y="0"/>
                  <a:pt x="6604000" y="68229"/>
                  <a:pt x="6604000" y="152394"/>
                </a:cubicBezTo>
                <a:lnTo>
                  <a:pt x="6604000" y="1016006"/>
                </a:lnTo>
                <a:cubicBezTo>
                  <a:pt x="6604000" y="1100171"/>
                  <a:pt x="6535771" y="1168400"/>
                  <a:pt x="6451606" y="1168400"/>
                </a:cubicBezTo>
                <a:lnTo>
                  <a:pt x="152394" y="1168400"/>
                </a:lnTo>
                <a:cubicBezTo>
                  <a:pt x="68286" y="1168400"/>
                  <a:pt x="0" y="1100114"/>
                  <a:pt x="0" y="1016006"/>
                </a:cubicBezTo>
                <a:lnTo>
                  <a:pt x="0" y="152394"/>
                </a:lnTo>
                <a:cubicBezTo>
                  <a:pt x="0" y="68286"/>
                  <a:pt x="68286" y="0"/>
                  <a:pt x="152394" y="0"/>
                </a:cubicBezTo>
                <a:close/>
              </a:path>
            </a:pathLst>
          </a:custGeom>
          <a:solidFill>
            <a:srgbClr val="A0522D">
              <a:alpha val="80000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15000" y="1828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228600" y="371475"/>
                </a:moveTo>
                <a:cubicBezTo>
                  <a:pt x="260122" y="371475"/>
                  <a:pt x="285750" y="345847"/>
                  <a:pt x="285750" y="314325"/>
                </a:cubicBezTo>
                <a:cubicBezTo>
                  <a:pt x="285750" y="299859"/>
                  <a:pt x="280392" y="286554"/>
                  <a:pt x="271463" y="276552"/>
                </a:cubicBezTo>
                <a:lnTo>
                  <a:pt x="333524" y="152519"/>
                </a:lnTo>
                <a:cubicBezTo>
                  <a:pt x="338792" y="141893"/>
                  <a:pt x="334506" y="129034"/>
                  <a:pt x="323969" y="123765"/>
                </a:cubicBezTo>
                <a:cubicBezTo>
                  <a:pt x="313432" y="118497"/>
                  <a:pt x="300484" y="122783"/>
                  <a:pt x="295215" y="133320"/>
                </a:cubicBezTo>
                <a:lnTo>
                  <a:pt x="233154" y="257354"/>
                </a:lnTo>
                <a:cubicBezTo>
                  <a:pt x="231636" y="257264"/>
                  <a:pt x="230118" y="257175"/>
                  <a:pt x="228600" y="257175"/>
                </a:cubicBezTo>
                <a:cubicBezTo>
                  <a:pt x="197078" y="257175"/>
                  <a:pt x="171450" y="282803"/>
                  <a:pt x="171450" y="314325"/>
                </a:cubicBezTo>
                <a:cubicBezTo>
                  <a:pt x="171450" y="345847"/>
                  <a:pt x="197078" y="371475"/>
                  <a:pt x="228600" y="371475"/>
                </a:cubicBezTo>
                <a:close/>
                <a:moveTo>
                  <a:pt x="157163" y="128588"/>
                </a:moveTo>
                <a:cubicBezTo>
                  <a:pt x="157163" y="112817"/>
                  <a:pt x="144358" y="100013"/>
                  <a:pt x="128588" y="100013"/>
                </a:cubicBezTo>
                <a:cubicBezTo>
                  <a:pt x="112817" y="100013"/>
                  <a:pt x="100013" y="112817"/>
                  <a:pt x="100013" y="128588"/>
                </a:cubicBezTo>
                <a:cubicBezTo>
                  <a:pt x="100013" y="144358"/>
                  <a:pt x="112817" y="157163"/>
                  <a:pt x="128588" y="157163"/>
                </a:cubicBezTo>
                <a:cubicBezTo>
                  <a:pt x="144358" y="157163"/>
                  <a:pt x="157163" y="144358"/>
                  <a:pt x="157163" y="128588"/>
                </a:cubicBezTo>
                <a:close/>
                <a:moveTo>
                  <a:pt x="85725" y="257175"/>
                </a:moveTo>
                <a:cubicBezTo>
                  <a:pt x="101496" y="257175"/>
                  <a:pt x="114300" y="244371"/>
                  <a:pt x="114300" y="228600"/>
                </a:cubicBez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lose/>
                <a:moveTo>
                  <a:pt x="400050" y="228600"/>
                </a:moveTo>
                <a:cubicBezTo>
                  <a:pt x="400050" y="212829"/>
                  <a:pt x="387246" y="200025"/>
                  <a:pt x="371475" y="200025"/>
                </a:cubicBezTo>
                <a:cubicBezTo>
                  <a:pt x="355704" y="200025"/>
                  <a:pt x="342900" y="212829"/>
                  <a:pt x="342900" y="228600"/>
                </a:cubicBezTo>
                <a:cubicBezTo>
                  <a:pt x="342900" y="244371"/>
                  <a:pt x="355704" y="257175"/>
                  <a:pt x="371475" y="257175"/>
                </a:cubicBezTo>
                <a:cubicBezTo>
                  <a:pt x="387246" y="257175"/>
                  <a:pt x="400050" y="244371"/>
                  <a:pt x="400050" y="22860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Text 10"/>
          <p:cNvSpPr/>
          <p:nvPr/>
        </p:nvSpPr>
        <p:spPr>
          <a:xfrm>
            <a:off x="6553200" y="1676400"/>
            <a:ext cx="3035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运动控制延迟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53200" y="2032000"/>
            <a:ext cx="30607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D7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&lt;200ms</a:t>
            </a: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(降幅&gt;60%)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334000" y="2844800"/>
            <a:ext cx="6604000" cy="1168400"/>
          </a:xfrm>
          <a:custGeom>
            <a:avLst/>
            <a:gdLst/>
            <a:ahLst/>
            <a:cxnLst/>
            <a:rect l="l" t="t" r="r" b="b"/>
            <a:pathLst>
              <a:path w="6604000" h="1168400">
                <a:moveTo>
                  <a:pt x="152394" y="0"/>
                </a:moveTo>
                <a:lnTo>
                  <a:pt x="6451606" y="0"/>
                </a:lnTo>
                <a:cubicBezTo>
                  <a:pt x="6535771" y="0"/>
                  <a:pt x="6604000" y="68229"/>
                  <a:pt x="6604000" y="152394"/>
                </a:cubicBezTo>
                <a:lnTo>
                  <a:pt x="6604000" y="1016006"/>
                </a:lnTo>
                <a:cubicBezTo>
                  <a:pt x="6604000" y="1100171"/>
                  <a:pt x="6535771" y="1168400"/>
                  <a:pt x="6451606" y="1168400"/>
                </a:cubicBezTo>
                <a:lnTo>
                  <a:pt x="152394" y="1168400"/>
                </a:lnTo>
                <a:cubicBezTo>
                  <a:pt x="68286" y="1168400"/>
                  <a:pt x="0" y="1100114"/>
                  <a:pt x="0" y="1016006"/>
                </a:cubicBezTo>
                <a:lnTo>
                  <a:pt x="0" y="152394"/>
                </a:lnTo>
                <a:cubicBezTo>
                  <a:pt x="0" y="68286"/>
                  <a:pt x="68286" y="0"/>
                  <a:pt x="152394" y="0"/>
                </a:cubicBezTo>
                <a:close/>
              </a:path>
            </a:pathLst>
          </a:custGeom>
          <a:solidFill>
            <a:srgbClr val="CD853F">
              <a:alpha val="80000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15000" y="3200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35769" y="50006"/>
                </a:moveTo>
                <a:cubicBezTo>
                  <a:pt x="435769" y="38130"/>
                  <a:pt x="426214" y="28575"/>
                  <a:pt x="414338" y="28575"/>
                </a:cubicBezTo>
                <a:cubicBezTo>
                  <a:pt x="402461" y="28575"/>
                  <a:pt x="392906" y="38130"/>
                  <a:pt x="392906" y="50006"/>
                </a:cubicBezTo>
                <a:lnTo>
                  <a:pt x="392906" y="407194"/>
                </a:lnTo>
                <a:cubicBezTo>
                  <a:pt x="392906" y="419070"/>
                  <a:pt x="402461" y="428625"/>
                  <a:pt x="414338" y="428625"/>
                </a:cubicBezTo>
                <a:cubicBezTo>
                  <a:pt x="426214" y="428625"/>
                  <a:pt x="435769" y="419070"/>
                  <a:pt x="435769" y="407194"/>
                </a:cubicBezTo>
                <a:lnTo>
                  <a:pt x="435769" y="50006"/>
                </a:lnTo>
                <a:close/>
                <a:moveTo>
                  <a:pt x="321469" y="114300"/>
                </a:moveTo>
                <a:cubicBezTo>
                  <a:pt x="309592" y="114300"/>
                  <a:pt x="300038" y="123855"/>
                  <a:pt x="300038" y="135731"/>
                </a:cubicBezTo>
                <a:lnTo>
                  <a:pt x="300038" y="407194"/>
                </a:lnTo>
                <a:cubicBezTo>
                  <a:pt x="300038" y="419070"/>
                  <a:pt x="309592" y="428625"/>
                  <a:pt x="321469" y="428625"/>
                </a:cubicBezTo>
                <a:cubicBezTo>
                  <a:pt x="333345" y="428625"/>
                  <a:pt x="342900" y="419070"/>
                  <a:pt x="342900" y="407194"/>
                </a:cubicBezTo>
                <a:lnTo>
                  <a:pt x="342900" y="135731"/>
                </a:lnTo>
                <a:cubicBezTo>
                  <a:pt x="342900" y="123855"/>
                  <a:pt x="333345" y="114300"/>
                  <a:pt x="321469" y="114300"/>
                </a:cubicBezTo>
                <a:close/>
                <a:moveTo>
                  <a:pt x="250031" y="221456"/>
                </a:moveTo>
                <a:cubicBezTo>
                  <a:pt x="250031" y="209580"/>
                  <a:pt x="240476" y="200025"/>
                  <a:pt x="228600" y="200025"/>
                </a:cubicBezTo>
                <a:cubicBezTo>
                  <a:pt x="216724" y="200025"/>
                  <a:pt x="207169" y="209580"/>
                  <a:pt x="207169" y="221456"/>
                </a:cubicBezTo>
                <a:lnTo>
                  <a:pt x="207169" y="407194"/>
                </a:lnTo>
                <a:cubicBezTo>
                  <a:pt x="207169" y="419070"/>
                  <a:pt x="216724" y="428625"/>
                  <a:pt x="228600" y="428625"/>
                </a:cubicBezTo>
                <a:cubicBezTo>
                  <a:pt x="240476" y="428625"/>
                  <a:pt x="250031" y="419070"/>
                  <a:pt x="250031" y="407194"/>
                </a:cubicBezTo>
                <a:lnTo>
                  <a:pt x="250031" y="221456"/>
                </a:lnTo>
                <a:close/>
                <a:moveTo>
                  <a:pt x="135731" y="285750"/>
                </a:moveTo>
                <a:cubicBezTo>
                  <a:pt x="123855" y="285750"/>
                  <a:pt x="114300" y="295305"/>
                  <a:pt x="114300" y="307181"/>
                </a:cubicBezTo>
                <a:lnTo>
                  <a:pt x="114300" y="407194"/>
                </a:lnTo>
                <a:cubicBezTo>
                  <a:pt x="114300" y="419070"/>
                  <a:pt x="123855" y="428625"/>
                  <a:pt x="135731" y="428625"/>
                </a:cubicBezTo>
                <a:cubicBezTo>
                  <a:pt x="147608" y="428625"/>
                  <a:pt x="157163" y="419070"/>
                  <a:pt x="157163" y="407194"/>
                </a:cubicBezTo>
                <a:lnTo>
                  <a:pt x="157163" y="307181"/>
                </a:lnTo>
                <a:cubicBezTo>
                  <a:pt x="157163" y="295305"/>
                  <a:pt x="147608" y="285750"/>
                  <a:pt x="135731" y="285750"/>
                </a:cubicBezTo>
                <a:close/>
                <a:moveTo>
                  <a:pt x="42863" y="342900"/>
                </a:moveTo>
                <a:cubicBezTo>
                  <a:pt x="30986" y="342900"/>
                  <a:pt x="21431" y="352455"/>
                  <a:pt x="21431" y="364331"/>
                </a:cubicBezTo>
                <a:lnTo>
                  <a:pt x="21431" y="407194"/>
                </a:lnTo>
                <a:cubicBezTo>
                  <a:pt x="21431" y="419070"/>
                  <a:pt x="30986" y="428625"/>
                  <a:pt x="42863" y="428625"/>
                </a:cubicBezTo>
                <a:cubicBezTo>
                  <a:pt x="54739" y="428625"/>
                  <a:pt x="64294" y="419070"/>
                  <a:pt x="64294" y="407194"/>
                </a:cubicBezTo>
                <a:lnTo>
                  <a:pt x="64294" y="364331"/>
                </a:lnTo>
                <a:cubicBezTo>
                  <a:pt x="64294" y="352455"/>
                  <a:pt x="54739" y="342900"/>
                  <a:pt x="42863" y="34290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Text 14"/>
          <p:cNvSpPr/>
          <p:nvPr/>
        </p:nvSpPr>
        <p:spPr>
          <a:xfrm>
            <a:off x="6553200" y="3048000"/>
            <a:ext cx="1905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端到端通信延迟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53200" y="3378200"/>
            <a:ext cx="1415256" cy="44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D7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降低40%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334000" y="4216400"/>
            <a:ext cx="6604000" cy="1168400"/>
          </a:xfrm>
          <a:custGeom>
            <a:avLst/>
            <a:gdLst/>
            <a:ahLst/>
            <a:cxnLst/>
            <a:rect l="l" t="t" r="r" b="b"/>
            <a:pathLst>
              <a:path w="6604000" h="1168400">
                <a:moveTo>
                  <a:pt x="152394" y="0"/>
                </a:moveTo>
                <a:lnTo>
                  <a:pt x="6451606" y="0"/>
                </a:lnTo>
                <a:cubicBezTo>
                  <a:pt x="6535771" y="0"/>
                  <a:pt x="6604000" y="68229"/>
                  <a:pt x="6604000" y="152394"/>
                </a:cubicBezTo>
                <a:lnTo>
                  <a:pt x="6604000" y="1016006"/>
                </a:lnTo>
                <a:cubicBezTo>
                  <a:pt x="6604000" y="1100171"/>
                  <a:pt x="6535771" y="1168400"/>
                  <a:pt x="6451606" y="1168400"/>
                </a:cubicBezTo>
                <a:lnTo>
                  <a:pt x="152394" y="1168400"/>
                </a:lnTo>
                <a:cubicBezTo>
                  <a:pt x="68286" y="1168400"/>
                  <a:pt x="0" y="1100114"/>
                  <a:pt x="0" y="1016006"/>
                </a:cubicBezTo>
                <a:lnTo>
                  <a:pt x="0" y="152394"/>
                </a:lnTo>
                <a:cubicBezTo>
                  <a:pt x="0" y="68286"/>
                  <a:pt x="68286" y="0"/>
                  <a:pt x="152394" y="0"/>
                </a:cubicBezTo>
                <a:close/>
              </a:path>
            </a:pathLst>
          </a:custGeom>
          <a:solidFill>
            <a:srgbClr val="4682B4">
              <a:alpha val="80000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715000" y="457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Text 18"/>
          <p:cNvSpPr/>
          <p:nvPr/>
        </p:nvSpPr>
        <p:spPr>
          <a:xfrm>
            <a:off x="6553200" y="4419600"/>
            <a:ext cx="241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系统连续运行稳定性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553200" y="4749800"/>
            <a:ext cx="1084659" cy="44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D7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99.2%</a:t>
            </a:r>
            <a:endParaRPr lang="en-US" sz="1600" dirty="0"/>
          </a:p>
        </p:txBody>
      </p:sp>
      <p:grpSp>
        <p:nvGrpSpPr>
          <p:cNvPr id="23" name="组合 22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26" name="标题 1"/>
          <p:cNvSpPr>
            <a:spLocks noGrp="1"/>
          </p:cNvSpPr>
          <p:nvPr/>
        </p:nvSpPr>
        <p:spPr>
          <a:xfrm>
            <a:off x="3324809" y="46310"/>
            <a:ext cx="10515600" cy="7789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简介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22875" y="1552575"/>
            <a:ext cx="1786255" cy="1786255"/>
          </a:xfrm>
          <a:prstGeom prst="ellipse">
            <a:avLst/>
          </a:prstGeom>
          <a:solidFill>
            <a:srgbClr val="FEE695"/>
          </a:solidFill>
        </p:spPr>
      </p:sp>
      <p:sp>
        <p:nvSpPr>
          <p:cNvPr id="3" name="Text 1"/>
          <p:cNvSpPr/>
          <p:nvPr/>
        </p:nvSpPr>
        <p:spPr>
          <a:xfrm>
            <a:off x="5222875" y="1552575"/>
            <a:ext cx="1786255" cy="17862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70980" y="1552575"/>
            <a:ext cx="527050" cy="527050"/>
          </a:xfrm>
          <a:prstGeom prst="ellipse">
            <a:avLst/>
          </a:prstGeom>
          <a:solidFill>
            <a:srgbClr val="4874CB"/>
          </a:solidFill>
        </p:spPr>
      </p:sp>
      <p:sp>
        <p:nvSpPr>
          <p:cNvPr id="5" name="Text 3"/>
          <p:cNvSpPr/>
          <p:nvPr/>
        </p:nvSpPr>
        <p:spPr>
          <a:xfrm>
            <a:off x="6570980" y="1552575"/>
            <a:ext cx="527050" cy="527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dirty="0">
                <a:solidFill>
                  <a:srgbClr val="FEE5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项目理解与方案</a:t>
            </a:r>
            <a:endParaRPr lang="en-US" sz="1600" dirty="0"/>
          </a:p>
        </p:txBody>
      </p:sp>
      <p:pic>
        <p:nvPicPr>
          <p:cNvPr id="10" name="Image 0" descr="https://kimi-img.moonshot.cn/pub/slides/slides_tmpl/image/25-10-10-11:40:17-d3k8088s8jdo4os5e6q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045" y="345440"/>
            <a:ext cx="597535" cy="280670"/>
          </a:xfrm>
          <a:prstGeom prst="rect">
            <a:avLst/>
          </a:prstGeom>
        </p:spPr>
      </p:pic>
      <p:pic>
        <p:nvPicPr>
          <p:cNvPr id="11" name="Image 1" descr="https://kimi-img.moonshot.cn/pub/slides/slides_tmpl/image/25-10-10-11:40:17-d3k8088s8jdo4os5e6q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540" y="345440"/>
            <a:ext cx="597535" cy="280670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1:40:18-d3k808gs8jdo4os5e6t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726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1447800"/>
            <a:ext cx="11912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需求本质与差异化切入点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96850" y="2057400"/>
            <a:ext cx="11798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CD853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聚焦“低延迟、高可靠”，突破技术边界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082800" y="3022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A0522D">
              <a:alpha val="10196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2305050" y="33020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71386" y="187970"/>
                </a:moveTo>
                <a:cubicBezTo>
                  <a:pt x="382280" y="185023"/>
                  <a:pt x="393710" y="190202"/>
                  <a:pt x="398621" y="200293"/>
                </a:cubicBezTo>
                <a:lnTo>
                  <a:pt x="415230" y="233869"/>
                </a:lnTo>
                <a:cubicBezTo>
                  <a:pt x="424428" y="235119"/>
                  <a:pt x="433447" y="237619"/>
                  <a:pt x="441930" y="241102"/>
                </a:cubicBezTo>
                <a:lnTo>
                  <a:pt x="473184" y="220295"/>
                </a:lnTo>
                <a:cubicBezTo>
                  <a:pt x="482560" y="214045"/>
                  <a:pt x="494973" y="215295"/>
                  <a:pt x="502920" y="223242"/>
                </a:cubicBezTo>
                <a:lnTo>
                  <a:pt x="520065" y="240387"/>
                </a:lnTo>
                <a:cubicBezTo>
                  <a:pt x="528012" y="248335"/>
                  <a:pt x="529263" y="260836"/>
                  <a:pt x="523012" y="270123"/>
                </a:cubicBezTo>
                <a:lnTo>
                  <a:pt x="502206" y="301288"/>
                </a:lnTo>
                <a:cubicBezTo>
                  <a:pt x="503902" y="305485"/>
                  <a:pt x="505420" y="309860"/>
                  <a:pt x="506670" y="314414"/>
                </a:cubicBezTo>
                <a:cubicBezTo>
                  <a:pt x="507921" y="318968"/>
                  <a:pt x="508724" y="323433"/>
                  <a:pt x="509349" y="327987"/>
                </a:cubicBezTo>
                <a:lnTo>
                  <a:pt x="543014" y="344597"/>
                </a:lnTo>
                <a:cubicBezTo>
                  <a:pt x="553105" y="349597"/>
                  <a:pt x="558284" y="361027"/>
                  <a:pt x="555337" y="371832"/>
                </a:cubicBezTo>
                <a:lnTo>
                  <a:pt x="549086" y="395228"/>
                </a:lnTo>
                <a:cubicBezTo>
                  <a:pt x="546140" y="406033"/>
                  <a:pt x="536049" y="413355"/>
                  <a:pt x="524798" y="412641"/>
                </a:cubicBezTo>
                <a:lnTo>
                  <a:pt x="487293" y="410230"/>
                </a:lnTo>
                <a:cubicBezTo>
                  <a:pt x="481667" y="417463"/>
                  <a:pt x="475149" y="424160"/>
                  <a:pt x="467737" y="429875"/>
                </a:cubicBezTo>
                <a:lnTo>
                  <a:pt x="470148" y="467291"/>
                </a:lnTo>
                <a:cubicBezTo>
                  <a:pt x="470862" y="478542"/>
                  <a:pt x="463540" y="488722"/>
                  <a:pt x="452735" y="491579"/>
                </a:cubicBezTo>
                <a:lnTo>
                  <a:pt x="429339" y="497830"/>
                </a:lnTo>
                <a:cubicBezTo>
                  <a:pt x="418445" y="500777"/>
                  <a:pt x="407104" y="495598"/>
                  <a:pt x="402104" y="485507"/>
                </a:cubicBezTo>
                <a:lnTo>
                  <a:pt x="385495" y="451931"/>
                </a:lnTo>
                <a:cubicBezTo>
                  <a:pt x="376297" y="450681"/>
                  <a:pt x="367278" y="448181"/>
                  <a:pt x="358795" y="444698"/>
                </a:cubicBezTo>
                <a:lnTo>
                  <a:pt x="327541" y="465505"/>
                </a:lnTo>
                <a:cubicBezTo>
                  <a:pt x="318165" y="471755"/>
                  <a:pt x="305753" y="470505"/>
                  <a:pt x="297805" y="462558"/>
                </a:cubicBezTo>
                <a:lnTo>
                  <a:pt x="280660" y="445413"/>
                </a:lnTo>
                <a:cubicBezTo>
                  <a:pt x="272713" y="437465"/>
                  <a:pt x="271463" y="425053"/>
                  <a:pt x="277713" y="415677"/>
                </a:cubicBezTo>
                <a:lnTo>
                  <a:pt x="298519" y="384423"/>
                </a:lnTo>
                <a:cubicBezTo>
                  <a:pt x="296823" y="380226"/>
                  <a:pt x="295305" y="375851"/>
                  <a:pt x="294055" y="371296"/>
                </a:cubicBezTo>
                <a:cubicBezTo>
                  <a:pt x="292804" y="366742"/>
                  <a:pt x="292001" y="362188"/>
                  <a:pt x="291376" y="357723"/>
                </a:cubicBezTo>
                <a:lnTo>
                  <a:pt x="257711" y="341114"/>
                </a:lnTo>
                <a:cubicBezTo>
                  <a:pt x="247620" y="336113"/>
                  <a:pt x="242530" y="324683"/>
                  <a:pt x="245388" y="313879"/>
                </a:cubicBezTo>
                <a:lnTo>
                  <a:pt x="251639" y="290483"/>
                </a:lnTo>
                <a:cubicBezTo>
                  <a:pt x="254585" y="279678"/>
                  <a:pt x="264676" y="272355"/>
                  <a:pt x="275927" y="273070"/>
                </a:cubicBezTo>
                <a:lnTo>
                  <a:pt x="313343" y="275481"/>
                </a:lnTo>
                <a:cubicBezTo>
                  <a:pt x="318968" y="268248"/>
                  <a:pt x="325487" y="261551"/>
                  <a:pt x="332899" y="255836"/>
                </a:cubicBezTo>
                <a:lnTo>
                  <a:pt x="330488" y="218509"/>
                </a:lnTo>
                <a:cubicBezTo>
                  <a:pt x="329773" y="207258"/>
                  <a:pt x="337096" y="197078"/>
                  <a:pt x="347901" y="194221"/>
                </a:cubicBezTo>
                <a:lnTo>
                  <a:pt x="371296" y="187970"/>
                </a:lnTo>
                <a:close/>
                <a:moveTo>
                  <a:pt x="400407" y="303609"/>
                </a:moveTo>
                <a:cubicBezTo>
                  <a:pt x="378722" y="303634"/>
                  <a:pt x="361137" y="321260"/>
                  <a:pt x="361161" y="342945"/>
                </a:cubicBezTo>
                <a:cubicBezTo>
                  <a:pt x="361186" y="364630"/>
                  <a:pt x="378811" y="382215"/>
                  <a:pt x="400496" y="382191"/>
                </a:cubicBezTo>
                <a:cubicBezTo>
                  <a:pt x="422182" y="382166"/>
                  <a:pt x="439767" y="364540"/>
                  <a:pt x="439742" y="342855"/>
                </a:cubicBezTo>
                <a:cubicBezTo>
                  <a:pt x="439718" y="321170"/>
                  <a:pt x="422092" y="303585"/>
                  <a:pt x="400407" y="303609"/>
                </a:cubicBezTo>
                <a:close/>
                <a:moveTo>
                  <a:pt x="200829" y="-40630"/>
                </a:moveTo>
                <a:lnTo>
                  <a:pt x="224224" y="-34379"/>
                </a:lnTo>
                <a:cubicBezTo>
                  <a:pt x="235029" y="-31433"/>
                  <a:pt x="242352" y="-21253"/>
                  <a:pt x="241637" y="-10091"/>
                </a:cubicBezTo>
                <a:lnTo>
                  <a:pt x="239226" y="27236"/>
                </a:lnTo>
                <a:cubicBezTo>
                  <a:pt x="246638" y="32951"/>
                  <a:pt x="253157" y="39559"/>
                  <a:pt x="258782" y="46881"/>
                </a:cubicBezTo>
                <a:lnTo>
                  <a:pt x="296287" y="44470"/>
                </a:lnTo>
                <a:cubicBezTo>
                  <a:pt x="307449" y="43755"/>
                  <a:pt x="317629" y="51078"/>
                  <a:pt x="320576" y="61883"/>
                </a:cubicBezTo>
                <a:lnTo>
                  <a:pt x="326827" y="85279"/>
                </a:lnTo>
                <a:cubicBezTo>
                  <a:pt x="329684" y="96083"/>
                  <a:pt x="324594" y="107513"/>
                  <a:pt x="314504" y="112514"/>
                </a:cubicBezTo>
                <a:lnTo>
                  <a:pt x="280839" y="129123"/>
                </a:lnTo>
                <a:cubicBezTo>
                  <a:pt x="280214" y="133677"/>
                  <a:pt x="279321" y="138232"/>
                  <a:pt x="278160" y="142696"/>
                </a:cubicBezTo>
                <a:cubicBezTo>
                  <a:pt x="276999" y="147161"/>
                  <a:pt x="275392" y="151626"/>
                  <a:pt x="273695" y="155823"/>
                </a:cubicBezTo>
                <a:lnTo>
                  <a:pt x="294501" y="187077"/>
                </a:lnTo>
                <a:cubicBezTo>
                  <a:pt x="300752" y="196453"/>
                  <a:pt x="299502" y="208865"/>
                  <a:pt x="291554" y="216813"/>
                </a:cubicBezTo>
                <a:lnTo>
                  <a:pt x="274409" y="233958"/>
                </a:lnTo>
                <a:cubicBezTo>
                  <a:pt x="266462" y="241905"/>
                  <a:pt x="254050" y="243155"/>
                  <a:pt x="244673" y="236905"/>
                </a:cubicBezTo>
                <a:lnTo>
                  <a:pt x="213420" y="216098"/>
                </a:lnTo>
                <a:cubicBezTo>
                  <a:pt x="204936" y="219581"/>
                  <a:pt x="195917" y="222081"/>
                  <a:pt x="186720" y="223331"/>
                </a:cubicBezTo>
                <a:lnTo>
                  <a:pt x="170111" y="256907"/>
                </a:lnTo>
                <a:cubicBezTo>
                  <a:pt x="165110" y="266998"/>
                  <a:pt x="153680" y="272088"/>
                  <a:pt x="142875" y="269230"/>
                </a:cubicBezTo>
                <a:lnTo>
                  <a:pt x="119479" y="262979"/>
                </a:lnTo>
                <a:cubicBezTo>
                  <a:pt x="108585" y="260033"/>
                  <a:pt x="101352" y="249853"/>
                  <a:pt x="102066" y="238691"/>
                </a:cubicBezTo>
                <a:lnTo>
                  <a:pt x="104477" y="201275"/>
                </a:lnTo>
                <a:cubicBezTo>
                  <a:pt x="97066" y="195560"/>
                  <a:pt x="90547" y="188952"/>
                  <a:pt x="84921" y="181630"/>
                </a:cubicBezTo>
                <a:lnTo>
                  <a:pt x="47417" y="184041"/>
                </a:lnTo>
                <a:cubicBezTo>
                  <a:pt x="36255" y="184755"/>
                  <a:pt x="26075" y="177433"/>
                  <a:pt x="23128" y="166628"/>
                </a:cubicBezTo>
                <a:lnTo>
                  <a:pt x="16877" y="143232"/>
                </a:lnTo>
                <a:cubicBezTo>
                  <a:pt x="14020" y="132427"/>
                  <a:pt x="19110" y="120997"/>
                  <a:pt x="29200" y="115997"/>
                </a:cubicBezTo>
                <a:lnTo>
                  <a:pt x="62865" y="99387"/>
                </a:lnTo>
                <a:cubicBezTo>
                  <a:pt x="63490" y="94833"/>
                  <a:pt x="64383" y="90368"/>
                  <a:pt x="65544" y="85814"/>
                </a:cubicBezTo>
                <a:cubicBezTo>
                  <a:pt x="66794" y="81260"/>
                  <a:pt x="68223" y="76885"/>
                  <a:pt x="70009" y="72688"/>
                </a:cubicBezTo>
                <a:lnTo>
                  <a:pt x="49203" y="41523"/>
                </a:lnTo>
                <a:cubicBezTo>
                  <a:pt x="42952" y="32147"/>
                  <a:pt x="44202" y="19735"/>
                  <a:pt x="52149" y="11787"/>
                </a:cubicBezTo>
                <a:lnTo>
                  <a:pt x="69294" y="-5358"/>
                </a:lnTo>
                <a:cubicBezTo>
                  <a:pt x="77242" y="-13305"/>
                  <a:pt x="89654" y="-14555"/>
                  <a:pt x="99030" y="-8305"/>
                </a:cubicBezTo>
                <a:lnTo>
                  <a:pt x="130284" y="12502"/>
                </a:lnTo>
                <a:cubicBezTo>
                  <a:pt x="138767" y="9019"/>
                  <a:pt x="147786" y="6519"/>
                  <a:pt x="156984" y="5269"/>
                </a:cubicBezTo>
                <a:lnTo>
                  <a:pt x="173593" y="-28307"/>
                </a:lnTo>
                <a:cubicBezTo>
                  <a:pt x="178594" y="-38398"/>
                  <a:pt x="189934" y="-43488"/>
                  <a:pt x="200829" y="-40630"/>
                </a:cubicBezTo>
                <a:close/>
                <a:moveTo>
                  <a:pt x="171807" y="75009"/>
                </a:moveTo>
                <a:cubicBezTo>
                  <a:pt x="150122" y="75009"/>
                  <a:pt x="132517" y="92615"/>
                  <a:pt x="132517" y="114300"/>
                </a:cubicBezTo>
                <a:cubicBezTo>
                  <a:pt x="132517" y="135985"/>
                  <a:pt x="150122" y="153591"/>
                  <a:pt x="171807" y="153591"/>
                </a:cubicBezTo>
                <a:cubicBezTo>
                  <a:pt x="193492" y="153591"/>
                  <a:pt x="211098" y="135985"/>
                  <a:pt x="211098" y="114300"/>
                </a:cubicBezTo>
                <a:cubicBezTo>
                  <a:pt x="211098" y="92615"/>
                  <a:pt x="193492" y="75009"/>
                  <a:pt x="171807" y="75009"/>
                </a:cubicBezTo>
                <a:close/>
              </a:path>
            </a:pathLst>
          </a:custGeom>
          <a:solidFill>
            <a:srgbClr val="A0522D"/>
          </a:solidFill>
        </p:spPr>
      </p:sp>
      <p:sp>
        <p:nvSpPr>
          <p:cNvPr id="7" name="Text 4"/>
          <p:cNvSpPr/>
          <p:nvPr/>
        </p:nvSpPr>
        <p:spPr>
          <a:xfrm>
            <a:off x="783233" y="4241800"/>
            <a:ext cx="3619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传统方案局限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2283" y="4699000"/>
            <a:ext cx="35814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移动慢、能耗高、地形适应性弱、通信架构分离。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779367" y="3810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674608" y="277892"/>
                </a:moveTo>
                <a:cubicBezTo>
                  <a:pt x="689491" y="292775"/>
                  <a:pt x="689491" y="316944"/>
                  <a:pt x="674608" y="331827"/>
                </a:cubicBezTo>
                <a:lnTo>
                  <a:pt x="522208" y="484227"/>
                </a:lnTo>
                <a:cubicBezTo>
                  <a:pt x="511254" y="495181"/>
                  <a:pt x="494943" y="498396"/>
                  <a:pt x="480655" y="492442"/>
                </a:cubicBezTo>
                <a:cubicBezTo>
                  <a:pt x="466368" y="486489"/>
                  <a:pt x="457200" y="472559"/>
                  <a:pt x="457200" y="457200"/>
                </a:cubicBezTo>
                <a:lnTo>
                  <a:pt x="457200" y="381000"/>
                </a:lnTo>
                <a:lnTo>
                  <a:pt x="57150" y="381000"/>
                </a:lnTo>
                <a:cubicBezTo>
                  <a:pt x="25598" y="381000"/>
                  <a:pt x="0" y="355402"/>
                  <a:pt x="0" y="323850"/>
                </a:cubicBezTo>
                <a:lnTo>
                  <a:pt x="0" y="285750"/>
                </a:lnTo>
                <a:cubicBezTo>
                  <a:pt x="0" y="254198"/>
                  <a:pt x="25598" y="228600"/>
                  <a:pt x="57150" y="228600"/>
                </a:cubicBezTo>
                <a:lnTo>
                  <a:pt x="457200" y="228600"/>
                </a:lnTo>
                <a:lnTo>
                  <a:pt x="457200" y="152400"/>
                </a:lnTo>
                <a:cubicBezTo>
                  <a:pt x="457200" y="137041"/>
                  <a:pt x="466487" y="123111"/>
                  <a:pt x="480774" y="117157"/>
                </a:cubicBezTo>
                <a:cubicBezTo>
                  <a:pt x="495062" y="111204"/>
                  <a:pt x="511373" y="114538"/>
                  <a:pt x="522327" y="125373"/>
                </a:cubicBezTo>
                <a:lnTo>
                  <a:pt x="674727" y="277773"/>
                </a:lnTo>
                <a:close/>
              </a:path>
            </a:pathLst>
          </a:custGeom>
          <a:solidFill>
            <a:srgbClr val="FFD700"/>
          </a:solidFill>
        </p:spPr>
      </p:sp>
      <p:sp>
        <p:nvSpPr>
          <p:cNvPr id="10" name="Shape 7"/>
          <p:cNvSpPr/>
          <p:nvPr/>
        </p:nvSpPr>
        <p:spPr>
          <a:xfrm>
            <a:off x="5706467" y="2997200"/>
            <a:ext cx="5842000" cy="2235200"/>
          </a:xfrm>
          <a:custGeom>
            <a:avLst/>
            <a:gdLst/>
            <a:ahLst/>
            <a:cxnLst/>
            <a:rect l="l" t="t" r="r" b="b"/>
            <a:pathLst>
              <a:path w="5842000" h="2235200">
                <a:moveTo>
                  <a:pt x="152396" y="0"/>
                </a:moveTo>
                <a:lnTo>
                  <a:pt x="5689604" y="0"/>
                </a:lnTo>
                <a:cubicBezTo>
                  <a:pt x="5773770" y="0"/>
                  <a:pt x="5842000" y="68230"/>
                  <a:pt x="5842000" y="152396"/>
                </a:cubicBezTo>
                <a:lnTo>
                  <a:pt x="5842000" y="2082804"/>
                </a:lnTo>
                <a:cubicBezTo>
                  <a:pt x="5842000" y="2166970"/>
                  <a:pt x="5773770" y="2235200"/>
                  <a:pt x="5689604" y="2235200"/>
                </a:cubicBezTo>
                <a:lnTo>
                  <a:pt x="152396" y="2235200"/>
                </a:lnTo>
                <a:cubicBezTo>
                  <a:pt x="68230" y="2235200"/>
                  <a:pt x="0" y="2166970"/>
                  <a:pt x="0" y="2082804"/>
                </a:cubicBezTo>
                <a:lnTo>
                  <a:pt x="0" y="152396"/>
                </a:lnTo>
                <a:cubicBezTo>
                  <a:pt x="0" y="68286"/>
                  <a:pt x="68286" y="0"/>
                  <a:pt x="152396" y="0"/>
                </a:cubicBezTo>
                <a:close/>
              </a:path>
            </a:pathLst>
          </a:custGeom>
          <a:solidFill>
            <a:srgbClr val="CD853F">
              <a:alpha val="10196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11267" y="3302000"/>
            <a:ext cx="5359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我们的切入点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062067" y="3860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CD853F"/>
          </a:solidFill>
        </p:spPr>
      </p:sp>
      <p:sp>
        <p:nvSpPr>
          <p:cNvPr id="13" name="Text 10"/>
          <p:cNvSpPr/>
          <p:nvPr/>
        </p:nvSpPr>
        <p:spPr>
          <a:xfrm>
            <a:off x="6417667" y="3810000"/>
            <a:ext cx="3873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统一信道:</a:t>
            </a: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控制与图传融合，满足实时交互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062067" y="4267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CD853F"/>
          </a:solidFill>
        </p:spPr>
      </p:sp>
      <p:sp>
        <p:nvSpPr>
          <p:cNvPr id="15" name="Text 12"/>
          <p:cNvSpPr/>
          <p:nvPr/>
        </p:nvSpPr>
        <p:spPr>
          <a:xfrm>
            <a:off x="6417667" y="4216400"/>
            <a:ext cx="3467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实时系统:</a:t>
            </a: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保障调度确定性，降低延迟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062067" y="4673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CD853F"/>
          </a:solidFill>
        </p:spPr>
      </p:sp>
      <p:sp>
        <p:nvSpPr>
          <p:cNvPr id="17" name="Text 14"/>
          <p:cNvSpPr/>
          <p:nvPr/>
        </p:nvSpPr>
        <p:spPr>
          <a:xfrm>
            <a:off x="6417667" y="4622800"/>
            <a:ext cx="3670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死锁自愈:</a:t>
            </a: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状态机动态恢复，提升可靠性</a:t>
            </a:r>
            <a:endParaRPr lang="en-US" sz="1600" dirty="0"/>
          </a:p>
        </p:txBody>
      </p:sp>
      <p:grpSp>
        <p:nvGrpSpPr>
          <p:cNvPr id="18" name="组合 17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21" name="标题 1"/>
          <p:cNvSpPr>
            <a:spLocks noGrp="1"/>
          </p:cNvSpPr>
          <p:nvPr/>
        </p:nvSpPr>
        <p:spPr>
          <a:xfrm>
            <a:off x="3185057" y="64758"/>
            <a:ext cx="10515600" cy="7789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揭榜项目</a:t>
            </a:r>
            <a:r>
              <a:rPr lang="zh-CN" altLang="en-US" sz="3200" b="1" dirty="0" smtClean="0">
                <a:latin typeface="微软雅黑" panose="020B0503020204020204" charset="-122"/>
                <a:ea typeface="微软雅黑" panose="020B0503020204020204" charset="-122"/>
              </a:rPr>
              <a:t>理解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1:40:18-d3k808gs8jdo4os5e6t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726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0" y="1041400"/>
            <a:ext cx="4800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三位一体解决方案概览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495800" y="1651000"/>
            <a:ext cx="3314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CD853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软硬协同、信道融合、智能防锁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2413000"/>
            <a:ext cx="3695700" cy="2336800"/>
          </a:xfrm>
          <a:custGeom>
            <a:avLst/>
            <a:gdLst/>
            <a:ahLst/>
            <a:cxnLst/>
            <a:rect l="l" t="t" r="r" b="b"/>
            <a:pathLst>
              <a:path w="3695700" h="2336800">
                <a:moveTo>
                  <a:pt x="101604" y="0"/>
                </a:moveTo>
                <a:lnTo>
                  <a:pt x="3594096" y="0"/>
                </a:lnTo>
                <a:cubicBezTo>
                  <a:pt x="3650210" y="0"/>
                  <a:pt x="3695700" y="45490"/>
                  <a:pt x="3695700" y="101604"/>
                </a:cubicBezTo>
                <a:lnTo>
                  <a:pt x="3695700" y="2235196"/>
                </a:lnTo>
                <a:cubicBezTo>
                  <a:pt x="3695700" y="2291310"/>
                  <a:pt x="3650210" y="2336800"/>
                  <a:pt x="35940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A0522D">
              <a:alpha val="10196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871067" y="279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21431"/>
                </a:moveTo>
                <a:cubicBezTo>
                  <a:pt x="157163" y="9555"/>
                  <a:pt x="147608" y="0"/>
                  <a:pt x="135731" y="0"/>
                </a:cubicBezTo>
                <a:cubicBezTo>
                  <a:pt x="123855" y="0"/>
                  <a:pt x="114300" y="9555"/>
                  <a:pt x="114300" y="21431"/>
                </a:cubicBezTo>
                <a:lnTo>
                  <a:pt x="114300" y="57150"/>
                </a:lnTo>
                <a:cubicBezTo>
                  <a:pt x="82778" y="57150"/>
                  <a:pt x="57150" y="82778"/>
                  <a:pt x="57150" y="114300"/>
                </a:cubicBezTo>
                <a:lnTo>
                  <a:pt x="21431" y="114300"/>
                </a:lnTo>
                <a:cubicBezTo>
                  <a:pt x="9555" y="114300"/>
                  <a:pt x="0" y="123855"/>
                  <a:pt x="0" y="135731"/>
                </a:cubicBezTo>
                <a:cubicBezTo>
                  <a:pt x="0" y="147608"/>
                  <a:pt x="9555" y="157163"/>
                  <a:pt x="21431" y="157163"/>
                </a:cubicBezTo>
                <a:lnTo>
                  <a:pt x="57150" y="157163"/>
                </a:lnTo>
                <a:lnTo>
                  <a:pt x="57150" y="207169"/>
                </a:lnTo>
                <a:lnTo>
                  <a:pt x="21431" y="207169"/>
                </a:lnTo>
                <a:cubicBezTo>
                  <a:pt x="9555" y="207169"/>
                  <a:pt x="0" y="216724"/>
                  <a:pt x="0" y="228600"/>
                </a:cubicBezTo>
                <a:cubicBezTo>
                  <a:pt x="0" y="240476"/>
                  <a:pt x="9555" y="250031"/>
                  <a:pt x="21431" y="250031"/>
                </a:cubicBezTo>
                <a:lnTo>
                  <a:pt x="57150" y="250031"/>
                </a:ln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309592"/>
                  <a:pt x="0" y="321469"/>
                </a:cubicBezTo>
                <a:cubicBezTo>
                  <a:pt x="0" y="333345"/>
                  <a:pt x="9555" y="342900"/>
                  <a:pt x="21431" y="342900"/>
                </a:cubicBezTo>
                <a:lnTo>
                  <a:pt x="57150" y="342900"/>
                </a:lnTo>
                <a:cubicBezTo>
                  <a:pt x="57150" y="374422"/>
                  <a:pt x="82778" y="400050"/>
                  <a:pt x="114300" y="400050"/>
                </a:cubicBezTo>
                <a:lnTo>
                  <a:pt x="114300" y="435769"/>
                </a:lnTo>
                <a:cubicBezTo>
                  <a:pt x="114300" y="447645"/>
                  <a:pt x="123855" y="457200"/>
                  <a:pt x="135731" y="457200"/>
                </a:cubicBezTo>
                <a:cubicBezTo>
                  <a:pt x="147608" y="457200"/>
                  <a:pt x="157163" y="447645"/>
                  <a:pt x="157163" y="435769"/>
                </a:cubicBezTo>
                <a:lnTo>
                  <a:pt x="157163" y="400050"/>
                </a:lnTo>
                <a:lnTo>
                  <a:pt x="207169" y="400050"/>
                </a:lnTo>
                <a:lnTo>
                  <a:pt x="207169" y="435769"/>
                </a:lnTo>
                <a:cubicBezTo>
                  <a:pt x="207169" y="447645"/>
                  <a:pt x="216724" y="457200"/>
                  <a:pt x="228600" y="457200"/>
                </a:cubicBezTo>
                <a:cubicBezTo>
                  <a:pt x="240476" y="457200"/>
                  <a:pt x="250031" y="447645"/>
                  <a:pt x="250031" y="435769"/>
                </a:cubicBezTo>
                <a:lnTo>
                  <a:pt x="250031" y="400050"/>
                </a:lnTo>
                <a:lnTo>
                  <a:pt x="300038" y="400050"/>
                </a:lnTo>
                <a:lnTo>
                  <a:pt x="300038" y="435769"/>
                </a:lnTo>
                <a:cubicBezTo>
                  <a:pt x="300038" y="447645"/>
                  <a:pt x="309592" y="457200"/>
                  <a:pt x="321469" y="457200"/>
                </a:cubicBezTo>
                <a:cubicBezTo>
                  <a:pt x="333345" y="457200"/>
                  <a:pt x="342900" y="447645"/>
                  <a:pt x="342900" y="435769"/>
                </a:cubicBezTo>
                <a:lnTo>
                  <a:pt x="342900" y="400050"/>
                </a:lnTo>
                <a:cubicBezTo>
                  <a:pt x="374422" y="400050"/>
                  <a:pt x="400050" y="374422"/>
                  <a:pt x="400050" y="342900"/>
                </a:cubicBezTo>
                <a:lnTo>
                  <a:pt x="435769" y="342900"/>
                </a:lnTo>
                <a:cubicBezTo>
                  <a:pt x="447645" y="342900"/>
                  <a:pt x="457200" y="333345"/>
                  <a:pt x="457200" y="321469"/>
                </a:cubicBezTo>
                <a:cubicBezTo>
                  <a:pt x="457200" y="309592"/>
                  <a:pt x="447645" y="300038"/>
                  <a:pt x="435769" y="300038"/>
                </a:cubicBezTo>
                <a:lnTo>
                  <a:pt x="400050" y="300038"/>
                </a:lnTo>
                <a:lnTo>
                  <a:pt x="400050" y="250031"/>
                </a:lnTo>
                <a:lnTo>
                  <a:pt x="435769" y="250031"/>
                </a:lnTo>
                <a:cubicBezTo>
                  <a:pt x="447645" y="250031"/>
                  <a:pt x="457200" y="240476"/>
                  <a:pt x="457200" y="228600"/>
                </a:cubicBezTo>
                <a:cubicBezTo>
                  <a:pt x="457200" y="216724"/>
                  <a:pt x="447645" y="207169"/>
                  <a:pt x="435769" y="207169"/>
                </a:cubicBezTo>
                <a:lnTo>
                  <a:pt x="400050" y="207169"/>
                </a:lnTo>
                <a:lnTo>
                  <a:pt x="400050" y="157163"/>
                </a:lnTo>
                <a:lnTo>
                  <a:pt x="435769" y="157163"/>
                </a:lnTo>
                <a:cubicBezTo>
                  <a:pt x="447645" y="157163"/>
                  <a:pt x="457200" y="147608"/>
                  <a:pt x="457200" y="135731"/>
                </a:cubicBezTo>
                <a:cubicBezTo>
                  <a:pt x="457200" y="123855"/>
                  <a:pt x="447645" y="114300"/>
                  <a:pt x="435769" y="114300"/>
                </a:cubicBezTo>
                <a:lnTo>
                  <a:pt x="400050" y="114300"/>
                </a:lnTo>
                <a:cubicBezTo>
                  <a:pt x="400050" y="82778"/>
                  <a:pt x="374422" y="57150"/>
                  <a:pt x="342900" y="57150"/>
                </a:cubicBezTo>
                <a:lnTo>
                  <a:pt x="342900" y="21431"/>
                </a:lnTo>
                <a:cubicBezTo>
                  <a:pt x="342900" y="9555"/>
                  <a:pt x="333345" y="0"/>
                  <a:pt x="321469" y="0"/>
                </a:cubicBezTo>
                <a:cubicBezTo>
                  <a:pt x="309592" y="0"/>
                  <a:pt x="300038" y="9555"/>
                  <a:pt x="300038" y="21431"/>
                </a:cubicBezTo>
                <a:lnTo>
                  <a:pt x="300038" y="57150"/>
                </a:lnTo>
                <a:lnTo>
                  <a:pt x="250031" y="57150"/>
                </a:lnTo>
                <a:lnTo>
                  <a:pt x="250031" y="21431"/>
                </a:lnTo>
                <a:cubicBezTo>
                  <a:pt x="250031" y="9555"/>
                  <a:pt x="240476" y="0"/>
                  <a:pt x="228600" y="0"/>
                </a:cubicBezTo>
                <a:cubicBezTo>
                  <a:pt x="216724" y="0"/>
                  <a:pt x="207169" y="9555"/>
                  <a:pt x="207169" y="21431"/>
                </a:cubicBezTo>
                <a:lnTo>
                  <a:pt x="207169" y="57150"/>
                </a:lnTo>
                <a:lnTo>
                  <a:pt x="157163" y="57150"/>
                </a:lnTo>
                <a:lnTo>
                  <a:pt x="157163" y="21431"/>
                </a:lnTo>
                <a:close/>
                <a:moveTo>
                  <a:pt x="142875" y="114300"/>
                </a:moveTo>
                <a:lnTo>
                  <a:pt x="314325" y="114300"/>
                </a:lnTo>
                <a:cubicBezTo>
                  <a:pt x="330131" y="114300"/>
                  <a:pt x="342900" y="127069"/>
                  <a:pt x="342900" y="142875"/>
                </a:cubicBezTo>
                <a:lnTo>
                  <a:pt x="342900" y="314325"/>
                </a:lnTo>
                <a:cubicBezTo>
                  <a:pt x="342900" y="330131"/>
                  <a:pt x="330131" y="342900"/>
                  <a:pt x="314325" y="342900"/>
                </a:cubicBezTo>
                <a:lnTo>
                  <a:pt x="142875" y="342900"/>
                </a:lnTo>
                <a:cubicBezTo>
                  <a:pt x="127069" y="342900"/>
                  <a:pt x="114300" y="330131"/>
                  <a:pt x="114300" y="314325"/>
                </a:cubicBezTo>
                <a:lnTo>
                  <a:pt x="114300" y="142875"/>
                </a:lnTo>
                <a:cubicBezTo>
                  <a:pt x="114300" y="127069"/>
                  <a:pt x="127069" y="114300"/>
                  <a:pt x="142875" y="114300"/>
                </a:cubicBezTo>
                <a:close/>
                <a:moveTo>
                  <a:pt x="157163" y="157163"/>
                </a:moveTo>
                <a:lnTo>
                  <a:pt x="157163" y="300038"/>
                </a:lnTo>
                <a:lnTo>
                  <a:pt x="300038" y="300038"/>
                </a:lnTo>
                <a:lnTo>
                  <a:pt x="300038" y="157163"/>
                </a:lnTo>
                <a:lnTo>
                  <a:pt x="157163" y="157163"/>
                </a:lnTo>
                <a:close/>
              </a:path>
            </a:pathLst>
          </a:custGeom>
          <a:solidFill>
            <a:srgbClr val="A0522D"/>
          </a:solidFill>
        </p:spPr>
      </p:sp>
      <p:sp>
        <p:nvSpPr>
          <p:cNvPr id="7" name="Text 4"/>
          <p:cNvSpPr/>
          <p:nvPr/>
        </p:nvSpPr>
        <p:spPr>
          <a:xfrm>
            <a:off x="899517" y="3581400"/>
            <a:ext cx="2400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硬件层：实时操作系统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2750" y="4038600"/>
            <a:ext cx="33782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引入实时操作系统，保障调度确定性，为低延迟奠定坚实基础。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50333" y="2616200"/>
            <a:ext cx="3695700" cy="2336800"/>
          </a:xfrm>
          <a:custGeom>
            <a:avLst/>
            <a:gdLst/>
            <a:ahLst/>
            <a:cxnLst/>
            <a:rect l="l" t="t" r="r" b="b"/>
            <a:pathLst>
              <a:path w="3695700" h="2336800">
                <a:moveTo>
                  <a:pt x="101604" y="0"/>
                </a:moveTo>
                <a:lnTo>
                  <a:pt x="3594096" y="0"/>
                </a:lnTo>
                <a:cubicBezTo>
                  <a:pt x="3650210" y="0"/>
                  <a:pt x="3695700" y="45490"/>
                  <a:pt x="3695700" y="101604"/>
                </a:cubicBezTo>
                <a:lnTo>
                  <a:pt x="3695700" y="2235196"/>
                </a:lnTo>
                <a:cubicBezTo>
                  <a:pt x="3695700" y="2291310"/>
                  <a:pt x="3650210" y="2336800"/>
                  <a:pt x="35940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CD853F">
              <a:alpha val="10196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38825" y="29972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85725"/>
                </a:moveTo>
                <a:cubicBezTo>
                  <a:pt x="176004" y="85725"/>
                  <a:pt x="102513" y="117872"/>
                  <a:pt x="48488" y="170200"/>
                </a:cubicBezTo>
                <a:cubicBezTo>
                  <a:pt x="37148" y="181183"/>
                  <a:pt x="19020" y="180915"/>
                  <a:pt x="8126" y="169575"/>
                </a:cubicBezTo>
                <a:cubicBezTo>
                  <a:pt x="-2768" y="158234"/>
                  <a:pt x="-2590" y="140107"/>
                  <a:pt x="8751" y="129213"/>
                </a:cubicBezTo>
                <a:cubicBezTo>
                  <a:pt x="72956" y="66883"/>
                  <a:pt x="160645" y="28575"/>
                  <a:pt x="257175" y="28575"/>
                </a:cubicBezTo>
                <a:cubicBezTo>
                  <a:pt x="353705" y="28575"/>
                  <a:pt x="441394" y="66883"/>
                  <a:pt x="505688" y="129213"/>
                </a:cubicBezTo>
                <a:cubicBezTo>
                  <a:pt x="517029" y="140196"/>
                  <a:pt x="517297" y="158323"/>
                  <a:pt x="506313" y="169575"/>
                </a:cubicBezTo>
                <a:cubicBezTo>
                  <a:pt x="495330" y="180826"/>
                  <a:pt x="477203" y="181183"/>
                  <a:pt x="465951" y="170200"/>
                </a:cubicBezTo>
                <a:cubicBezTo>
                  <a:pt x="411837" y="117872"/>
                  <a:pt x="338346" y="85725"/>
                  <a:pt x="257175" y="85725"/>
                </a:cubicBezTo>
                <a:close/>
                <a:moveTo>
                  <a:pt x="214313" y="385763"/>
                </a:moveTo>
                <a:cubicBezTo>
                  <a:pt x="214313" y="362106"/>
                  <a:pt x="233519" y="342900"/>
                  <a:pt x="257175" y="342900"/>
                </a:cubicBezTo>
                <a:cubicBezTo>
                  <a:pt x="280831" y="342900"/>
                  <a:pt x="300038" y="362106"/>
                  <a:pt x="300038" y="385763"/>
                </a:cubicBezTo>
                <a:cubicBezTo>
                  <a:pt x="300038" y="409419"/>
                  <a:pt x="280831" y="428625"/>
                  <a:pt x="257175" y="428625"/>
                </a:cubicBezTo>
                <a:cubicBezTo>
                  <a:pt x="233519" y="428625"/>
                  <a:pt x="214313" y="409419"/>
                  <a:pt x="214313" y="385763"/>
                </a:cubicBezTo>
                <a:close/>
                <a:moveTo>
                  <a:pt x="150019" y="291286"/>
                </a:moveTo>
                <a:cubicBezTo>
                  <a:pt x="139571" y="303163"/>
                  <a:pt x="121533" y="304234"/>
                  <a:pt x="109657" y="293787"/>
                </a:cubicBezTo>
                <a:cubicBezTo>
                  <a:pt x="97780" y="283339"/>
                  <a:pt x="96709" y="265301"/>
                  <a:pt x="107156" y="253425"/>
                </a:cubicBezTo>
                <a:cubicBezTo>
                  <a:pt x="143768" y="211991"/>
                  <a:pt x="197435" y="185738"/>
                  <a:pt x="257175" y="185738"/>
                </a:cubicBezTo>
                <a:cubicBezTo>
                  <a:pt x="316915" y="185738"/>
                  <a:pt x="370582" y="211991"/>
                  <a:pt x="407194" y="253425"/>
                </a:cubicBezTo>
                <a:cubicBezTo>
                  <a:pt x="417641" y="265301"/>
                  <a:pt x="416481" y="283339"/>
                  <a:pt x="404693" y="293787"/>
                </a:cubicBezTo>
                <a:cubicBezTo>
                  <a:pt x="392906" y="304234"/>
                  <a:pt x="374779" y="303074"/>
                  <a:pt x="364331" y="291286"/>
                </a:cubicBezTo>
                <a:cubicBezTo>
                  <a:pt x="338078" y="261551"/>
                  <a:pt x="299859" y="242888"/>
                  <a:pt x="257175" y="242888"/>
                </a:cubicBezTo>
                <a:cubicBezTo>
                  <a:pt x="214491" y="242888"/>
                  <a:pt x="176272" y="261551"/>
                  <a:pt x="150019" y="291286"/>
                </a:cubicBezTo>
                <a:close/>
              </a:path>
            </a:pathLst>
          </a:custGeom>
          <a:solidFill>
            <a:srgbClr val="CD853F"/>
          </a:solidFill>
        </p:spPr>
      </p:sp>
      <p:sp>
        <p:nvSpPr>
          <p:cNvPr id="11" name="Text 8"/>
          <p:cNvSpPr/>
          <p:nvPr/>
        </p:nvSpPr>
        <p:spPr>
          <a:xfrm>
            <a:off x="4853583" y="3784600"/>
            <a:ext cx="2489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通信层：控制-图传复用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409083" y="4241800"/>
            <a:ext cx="33782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设计轻量级融合协议，减少编解码与链路开销，提升通信效率。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246666" y="2413000"/>
            <a:ext cx="3695700" cy="2336800"/>
          </a:xfrm>
          <a:custGeom>
            <a:avLst/>
            <a:gdLst/>
            <a:ahLst/>
            <a:cxnLst/>
            <a:rect l="l" t="t" r="r" b="b"/>
            <a:pathLst>
              <a:path w="3695700" h="2336800">
                <a:moveTo>
                  <a:pt x="101604" y="0"/>
                </a:moveTo>
                <a:lnTo>
                  <a:pt x="3594096" y="0"/>
                </a:lnTo>
                <a:cubicBezTo>
                  <a:pt x="3650210" y="0"/>
                  <a:pt x="3695700" y="45490"/>
                  <a:pt x="3695700" y="101604"/>
                </a:cubicBezTo>
                <a:lnTo>
                  <a:pt x="3695700" y="2235196"/>
                </a:lnTo>
                <a:cubicBezTo>
                  <a:pt x="3695700" y="2291310"/>
                  <a:pt x="3650210" y="2336800"/>
                  <a:pt x="35940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4682B4">
              <a:alpha val="10196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863733" y="279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4682B4"/>
          </a:solidFill>
        </p:spPr>
      </p:sp>
      <p:sp>
        <p:nvSpPr>
          <p:cNvPr id="15" name="Text 12"/>
          <p:cNvSpPr/>
          <p:nvPr/>
        </p:nvSpPr>
        <p:spPr>
          <a:xfrm>
            <a:off x="9006483" y="3581400"/>
            <a:ext cx="2171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算法层：智能防死锁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405416" y="4038600"/>
            <a:ext cx="33782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构建状态机死锁恢复机制，实现毫秒级自愈，确保任务连续性。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54000" y="5257800"/>
            <a:ext cx="11684000" cy="50800"/>
          </a:xfrm>
          <a:custGeom>
            <a:avLst/>
            <a:gdLst/>
            <a:ahLst/>
            <a:cxnLst/>
            <a:rect l="l" t="t" r="r" b="b"/>
            <a:pathLst>
              <a:path w="11684000" h="50800">
                <a:moveTo>
                  <a:pt x="25400" y="0"/>
                </a:moveTo>
                <a:lnTo>
                  <a:pt x="11658600" y="0"/>
                </a:lnTo>
                <a:cubicBezTo>
                  <a:pt x="11672619" y="0"/>
                  <a:pt x="11684000" y="11381"/>
                  <a:pt x="11684000" y="25400"/>
                </a:cubicBezTo>
                <a:lnTo>
                  <a:pt x="11684000" y="25400"/>
                </a:lnTo>
                <a:cubicBezTo>
                  <a:pt x="11684000" y="39419"/>
                  <a:pt x="11672619" y="50800"/>
                  <a:pt x="11658600" y="50800"/>
                </a:cubicBezTo>
                <a:lnTo>
                  <a:pt x="25400" y="50800"/>
                </a:lnTo>
                <a:cubicBezTo>
                  <a:pt x="11381" y="50800"/>
                  <a:pt x="0" y="39419"/>
                  <a:pt x="0" y="25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0522D"/>
              </a:gs>
              <a:gs pos="50000">
                <a:srgbClr val="CD853F"/>
              </a:gs>
              <a:gs pos="100000">
                <a:srgbClr val="4682B4"/>
              </a:gs>
            </a:gsLst>
            <a:lin ang="0" scaled="1"/>
          </a:gradFill>
        </p:spPr>
      </p:sp>
      <p:sp>
        <p:nvSpPr>
          <p:cNvPr id="18" name="Text 15"/>
          <p:cNvSpPr/>
          <p:nvPr/>
        </p:nvSpPr>
        <p:spPr>
          <a:xfrm>
            <a:off x="3708400" y="5511800"/>
            <a:ext cx="4775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三域协同，一次性解决延迟、效率、可靠性三大痛点</a:t>
            </a:r>
            <a:endParaRPr lang="en-US" sz="1600" dirty="0"/>
          </a:p>
        </p:txBody>
      </p:sp>
      <p:grpSp>
        <p:nvGrpSpPr>
          <p:cNvPr id="19" name="组合 18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22" name="标题 1"/>
          <p:cNvSpPr>
            <a:spLocks noGrp="1"/>
          </p:cNvSpPr>
          <p:nvPr/>
        </p:nvSpPr>
        <p:spPr>
          <a:xfrm>
            <a:off x="3271264" y="20173"/>
            <a:ext cx="10515600" cy="7789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解决方案</a:t>
            </a:r>
            <a:r>
              <a:rPr lang="zh-CN" altLang="en-US" sz="3200" b="1" dirty="0" smtClean="0">
                <a:latin typeface="微软雅黑" panose="020B0503020204020204" charset="-122"/>
                <a:ea typeface="微软雅黑" panose="020B0503020204020204" charset="-122"/>
              </a:rPr>
              <a:t>概要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22875" y="1552575"/>
            <a:ext cx="1786255" cy="1786255"/>
          </a:xfrm>
          <a:prstGeom prst="ellipse">
            <a:avLst/>
          </a:prstGeom>
          <a:solidFill>
            <a:srgbClr val="FEE695"/>
          </a:solidFill>
        </p:spPr>
      </p:sp>
      <p:sp>
        <p:nvSpPr>
          <p:cNvPr id="3" name="Text 1"/>
          <p:cNvSpPr/>
          <p:nvPr/>
        </p:nvSpPr>
        <p:spPr>
          <a:xfrm>
            <a:off x="5222875" y="1552575"/>
            <a:ext cx="1786255" cy="17862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70980" y="1552575"/>
            <a:ext cx="527050" cy="527050"/>
          </a:xfrm>
          <a:prstGeom prst="ellipse">
            <a:avLst/>
          </a:prstGeom>
          <a:solidFill>
            <a:srgbClr val="4874CB"/>
          </a:solidFill>
        </p:spPr>
      </p:sp>
      <p:sp>
        <p:nvSpPr>
          <p:cNvPr id="5" name="Text 3"/>
          <p:cNvSpPr/>
          <p:nvPr/>
        </p:nvSpPr>
        <p:spPr>
          <a:xfrm>
            <a:off x="6570980" y="1552575"/>
            <a:ext cx="527050" cy="527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dirty="0">
                <a:solidFill>
                  <a:srgbClr val="FEE5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背景与场景</a:t>
            </a:r>
            <a:endParaRPr lang="en-US" sz="1600" dirty="0"/>
          </a:p>
        </p:txBody>
      </p:sp>
      <p:pic>
        <p:nvPicPr>
          <p:cNvPr id="10" name="Image 0" descr="https://kimi-img.moonshot.cn/pub/slides/slides_tmpl/image/25-10-10-11:40:17-d3k8088s8jdo4os5e6q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045" y="345440"/>
            <a:ext cx="597535" cy="280670"/>
          </a:xfrm>
          <a:prstGeom prst="rect">
            <a:avLst/>
          </a:prstGeom>
        </p:spPr>
      </p:pic>
      <p:pic>
        <p:nvPicPr>
          <p:cNvPr id="11" name="Image 1" descr="https://kimi-img.moonshot.cn/pub/slides/slides_tmpl/image/25-10-10-11:40:17-d3k8088s8jdo4os5e6q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540" y="345440"/>
            <a:ext cx="597535" cy="280670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1:40:18-d3k808gs8jdo4os5e6t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726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778000"/>
            <a:ext cx="56642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产业趋势与市场规模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2489200"/>
            <a:ext cx="5549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CD853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政策与需求双轮驱动，机器换人空间广阔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30200" y="3200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805" y="141288"/>
                </a:moveTo>
                <a:cubicBezTo>
                  <a:pt x="26888" y="142329"/>
                  <a:pt x="29270" y="142875"/>
                  <a:pt x="31750" y="142875"/>
                </a:cubicBezTo>
                <a:lnTo>
                  <a:pt x="56902" y="142875"/>
                </a:lnTo>
                <a:cubicBezTo>
                  <a:pt x="61119" y="142875"/>
                  <a:pt x="65137" y="144562"/>
                  <a:pt x="68114" y="147538"/>
                </a:cubicBezTo>
                <a:lnTo>
                  <a:pt x="74712" y="154136"/>
                </a:lnTo>
                <a:cubicBezTo>
                  <a:pt x="77688" y="157113"/>
                  <a:pt x="81707" y="158800"/>
                  <a:pt x="85923" y="158800"/>
                </a:cubicBezTo>
                <a:lnTo>
                  <a:pt x="95200" y="158800"/>
                </a:lnTo>
                <a:cubicBezTo>
                  <a:pt x="103981" y="158800"/>
                  <a:pt x="111075" y="151705"/>
                  <a:pt x="111075" y="142925"/>
                </a:cubicBezTo>
                <a:lnTo>
                  <a:pt x="111075" y="123081"/>
                </a:lnTo>
                <a:cubicBezTo>
                  <a:pt x="111075" y="116483"/>
                  <a:pt x="116384" y="111175"/>
                  <a:pt x="122982" y="111175"/>
                </a:cubicBezTo>
                <a:cubicBezTo>
                  <a:pt x="129580" y="111175"/>
                  <a:pt x="134888" y="105866"/>
                  <a:pt x="134888" y="99268"/>
                </a:cubicBezTo>
                <a:lnTo>
                  <a:pt x="134888" y="78085"/>
                </a:lnTo>
                <a:cubicBezTo>
                  <a:pt x="134888" y="73868"/>
                  <a:pt x="136575" y="69850"/>
                  <a:pt x="139551" y="66873"/>
                </a:cubicBezTo>
                <a:lnTo>
                  <a:pt x="146149" y="60275"/>
                </a:lnTo>
                <a:cubicBezTo>
                  <a:pt x="149126" y="57299"/>
                  <a:pt x="150812" y="53280"/>
                  <a:pt x="150812" y="49064"/>
                </a:cubicBezTo>
                <a:lnTo>
                  <a:pt x="150813" y="28277"/>
                </a:lnTo>
                <a:cubicBezTo>
                  <a:pt x="150813" y="27682"/>
                  <a:pt x="150763" y="27136"/>
                  <a:pt x="150713" y="26541"/>
                </a:cubicBezTo>
                <a:cubicBezTo>
                  <a:pt x="143073" y="24755"/>
                  <a:pt x="135136" y="23812"/>
                  <a:pt x="127000" y="23812"/>
                </a:cubicBezTo>
                <a:cubicBezTo>
                  <a:pt x="69999" y="23812"/>
                  <a:pt x="23812" y="69999"/>
                  <a:pt x="23812" y="127000"/>
                </a:cubicBezTo>
                <a:cubicBezTo>
                  <a:pt x="23812" y="131862"/>
                  <a:pt x="24160" y="136624"/>
                  <a:pt x="24805" y="141288"/>
                </a:cubicBezTo>
                <a:close/>
                <a:moveTo>
                  <a:pt x="224879" y="159792"/>
                </a:moveTo>
                <a:cubicBezTo>
                  <a:pt x="223292" y="159097"/>
                  <a:pt x="221555" y="158750"/>
                  <a:pt x="219670" y="158750"/>
                </a:cubicBezTo>
                <a:lnTo>
                  <a:pt x="214313" y="158750"/>
                </a:lnTo>
                <a:cubicBezTo>
                  <a:pt x="209947" y="158750"/>
                  <a:pt x="206375" y="155178"/>
                  <a:pt x="206375" y="150813"/>
                </a:cubicBezTo>
                <a:cubicBezTo>
                  <a:pt x="206375" y="146447"/>
                  <a:pt x="202803" y="142875"/>
                  <a:pt x="198438" y="142875"/>
                </a:cubicBezTo>
                <a:lnTo>
                  <a:pt x="181223" y="142875"/>
                </a:lnTo>
                <a:cubicBezTo>
                  <a:pt x="177006" y="142875"/>
                  <a:pt x="172988" y="144562"/>
                  <a:pt x="170011" y="147538"/>
                </a:cubicBezTo>
                <a:lnTo>
                  <a:pt x="147538" y="170011"/>
                </a:lnTo>
                <a:cubicBezTo>
                  <a:pt x="144562" y="172988"/>
                  <a:pt x="142875" y="177006"/>
                  <a:pt x="142875" y="181223"/>
                </a:cubicBezTo>
                <a:lnTo>
                  <a:pt x="142875" y="190500"/>
                </a:lnTo>
                <a:cubicBezTo>
                  <a:pt x="142875" y="199281"/>
                  <a:pt x="149969" y="206375"/>
                  <a:pt x="158750" y="206375"/>
                </a:cubicBezTo>
                <a:lnTo>
                  <a:pt x="168027" y="206375"/>
                </a:lnTo>
                <a:cubicBezTo>
                  <a:pt x="172244" y="206375"/>
                  <a:pt x="176262" y="208062"/>
                  <a:pt x="179239" y="211038"/>
                </a:cubicBezTo>
                <a:cubicBezTo>
                  <a:pt x="180330" y="212130"/>
                  <a:pt x="181570" y="213072"/>
                  <a:pt x="182860" y="213767"/>
                </a:cubicBezTo>
                <a:cubicBezTo>
                  <a:pt x="202357" y="201166"/>
                  <a:pt x="217339" y="182215"/>
                  <a:pt x="224830" y="159792"/>
                </a:cubicBezTo>
                <a:close/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63500" y="182563"/>
                </a:moveTo>
                <a:cubicBezTo>
                  <a:pt x="63500" y="186928"/>
                  <a:pt x="67072" y="190500"/>
                  <a:pt x="71438" y="190500"/>
                </a:cubicBezTo>
                <a:lnTo>
                  <a:pt x="87313" y="190500"/>
                </a:lnTo>
                <a:cubicBezTo>
                  <a:pt x="91678" y="190500"/>
                  <a:pt x="95250" y="186928"/>
                  <a:pt x="95250" y="182563"/>
                </a:cubicBezTo>
                <a:cubicBezTo>
                  <a:pt x="95250" y="178197"/>
                  <a:pt x="91678" y="174625"/>
                  <a:pt x="87313" y="174625"/>
                </a:cubicBezTo>
                <a:lnTo>
                  <a:pt x="71438" y="174625"/>
                </a:lnTo>
                <a:cubicBezTo>
                  <a:pt x="67072" y="174625"/>
                  <a:pt x="63500" y="178197"/>
                  <a:pt x="63500" y="182563"/>
                </a:cubicBezTo>
                <a:close/>
                <a:moveTo>
                  <a:pt x="134938" y="127000"/>
                </a:moveTo>
                <a:cubicBezTo>
                  <a:pt x="130572" y="127000"/>
                  <a:pt x="127000" y="130572"/>
                  <a:pt x="127000" y="134938"/>
                </a:cubicBezTo>
                <a:lnTo>
                  <a:pt x="127000" y="150813"/>
                </a:lnTo>
                <a:cubicBezTo>
                  <a:pt x="127000" y="155178"/>
                  <a:pt x="130572" y="158750"/>
                  <a:pt x="134938" y="158750"/>
                </a:cubicBezTo>
                <a:cubicBezTo>
                  <a:pt x="139303" y="158750"/>
                  <a:pt x="142875" y="155178"/>
                  <a:pt x="142875" y="150813"/>
                </a:cubicBezTo>
                <a:lnTo>
                  <a:pt x="142875" y="134938"/>
                </a:lnTo>
                <a:cubicBezTo>
                  <a:pt x="142875" y="130572"/>
                  <a:pt x="139303" y="127000"/>
                  <a:pt x="134938" y="127000"/>
                </a:cubicBezTo>
                <a:close/>
                <a:moveTo>
                  <a:pt x="158750" y="71438"/>
                </a:moveTo>
                <a:lnTo>
                  <a:pt x="158750" y="87313"/>
                </a:lnTo>
                <a:cubicBezTo>
                  <a:pt x="158750" y="91678"/>
                  <a:pt x="162322" y="95250"/>
                  <a:pt x="166688" y="95250"/>
                </a:cubicBezTo>
                <a:cubicBezTo>
                  <a:pt x="171053" y="95250"/>
                  <a:pt x="174625" y="91678"/>
                  <a:pt x="174625" y="87313"/>
                </a:cubicBezTo>
                <a:lnTo>
                  <a:pt x="174625" y="71438"/>
                </a:lnTo>
                <a:cubicBezTo>
                  <a:pt x="174625" y="67072"/>
                  <a:pt x="171053" y="63500"/>
                  <a:pt x="166688" y="63500"/>
                </a:cubicBezTo>
                <a:cubicBezTo>
                  <a:pt x="162322" y="63500"/>
                  <a:pt x="158750" y="67072"/>
                  <a:pt x="158750" y="71438"/>
                </a:cubicBezTo>
                <a:close/>
              </a:path>
            </a:pathLst>
          </a:custGeom>
          <a:solidFill>
            <a:srgbClr val="A0522D"/>
          </a:solidFill>
        </p:spPr>
      </p:sp>
      <p:sp>
        <p:nvSpPr>
          <p:cNvPr id="6" name="Text 3"/>
          <p:cNvSpPr/>
          <p:nvPr/>
        </p:nvSpPr>
        <p:spPr>
          <a:xfrm>
            <a:off x="812800" y="3149600"/>
            <a:ext cx="4673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全球市场：</a:t>
            </a:r>
            <a:r>
              <a:rPr lang="en-US" sz="16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2030年预计达4.7亿美元</a:t>
            </a: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，CAGR 13.4%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5955" y="37084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1750" y="15875"/>
                </a:moveTo>
                <a:cubicBezTo>
                  <a:pt x="31750" y="7094"/>
                  <a:pt x="24656" y="0"/>
                  <a:pt x="15875" y="0"/>
                </a:cubicBezTo>
                <a:cubicBezTo>
                  <a:pt x="7094" y="0"/>
                  <a:pt x="0" y="7094"/>
                  <a:pt x="0" y="15875"/>
                </a:cubicBezTo>
                <a:lnTo>
                  <a:pt x="0" y="238125"/>
                </a:lnTo>
                <a:cubicBezTo>
                  <a:pt x="0" y="246906"/>
                  <a:pt x="7094" y="254000"/>
                  <a:pt x="15875" y="254000"/>
                </a:cubicBezTo>
                <a:cubicBezTo>
                  <a:pt x="24656" y="254000"/>
                  <a:pt x="31750" y="246906"/>
                  <a:pt x="31750" y="238125"/>
                </a:cubicBezTo>
                <a:lnTo>
                  <a:pt x="31750" y="177800"/>
                </a:lnTo>
                <a:lnTo>
                  <a:pt x="62855" y="168473"/>
                </a:lnTo>
                <a:cubicBezTo>
                  <a:pt x="83641" y="162223"/>
                  <a:pt x="106065" y="164157"/>
                  <a:pt x="125462" y="173881"/>
                </a:cubicBezTo>
                <a:cubicBezTo>
                  <a:pt x="146645" y="184497"/>
                  <a:pt x="171351" y="185787"/>
                  <a:pt x="193526" y="177453"/>
                </a:cubicBezTo>
                <a:lnTo>
                  <a:pt x="211931" y="170557"/>
                </a:lnTo>
                <a:cubicBezTo>
                  <a:pt x="218132" y="168225"/>
                  <a:pt x="222250" y="162322"/>
                  <a:pt x="222250" y="155674"/>
                </a:cubicBezTo>
                <a:lnTo>
                  <a:pt x="222250" y="32792"/>
                </a:lnTo>
                <a:cubicBezTo>
                  <a:pt x="222250" y="21382"/>
                  <a:pt x="210245" y="13940"/>
                  <a:pt x="200025" y="19050"/>
                </a:cubicBezTo>
                <a:lnTo>
                  <a:pt x="194171" y="21977"/>
                </a:lnTo>
                <a:cubicBezTo>
                  <a:pt x="171896" y="33139"/>
                  <a:pt x="145653" y="33139"/>
                  <a:pt x="123329" y="21977"/>
                </a:cubicBezTo>
                <a:cubicBezTo>
                  <a:pt x="105271" y="12948"/>
                  <a:pt x="84485" y="11162"/>
                  <a:pt x="65187" y="16966"/>
                </a:cubicBezTo>
                <a:lnTo>
                  <a:pt x="31750" y="26988"/>
                </a:lnTo>
                <a:lnTo>
                  <a:pt x="31750" y="15875"/>
                </a:lnTo>
                <a:close/>
              </a:path>
            </a:pathLst>
          </a:custGeom>
          <a:solidFill>
            <a:srgbClr val="CD853F"/>
          </a:solidFill>
        </p:spPr>
      </p:sp>
      <p:sp>
        <p:nvSpPr>
          <p:cNvPr id="8" name="Text 5"/>
          <p:cNvSpPr/>
          <p:nvPr/>
        </p:nvSpPr>
        <p:spPr>
          <a:xfrm>
            <a:off x="792559" y="3657600"/>
            <a:ext cx="5003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政策驱动：契合“</a:t>
            </a:r>
            <a:r>
              <a:rPr lang="en-US" sz="1600" b="1" dirty="0">
                <a:solidFill>
                  <a:srgbClr val="CD853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智能制造2025</a:t>
            </a: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”与“</a:t>
            </a:r>
            <a:r>
              <a:rPr lang="en-US" sz="1600" b="1" dirty="0">
                <a:solidFill>
                  <a:srgbClr val="CD853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新质生产力</a:t>
            </a: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”战略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55389" y="45212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58750" y="7938"/>
                </a:moveTo>
                <a:cubicBezTo>
                  <a:pt x="187225" y="7938"/>
                  <a:pt x="210344" y="31056"/>
                  <a:pt x="210344" y="59531"/>
                </a:cubicBezTo>
                <a:cubicBezTo>
                  <a:pt x="210344" y="88007"/>
                  <a:pt x="187225" y="111125"/>
                  <a:pt x="158750" y="111125"/>
                </a:cubicBezTo>
                <a:cubicBezTo>
                  <a:pt x="130275" y="111125"/>
                  <a:pt x="107156" y="88007"/>
                  <a:pt x="107156" y="59531"/>
                </a:cubicBezTo>
                <a:cubicBezTo>
                  <a:pt x="107156" y="31056"/>
                  <a:pt x="130275" y="7938"/>
                  <a:pt x="158750" y="7938"/>
                </a:cubicBezTo>
                <a:close/>
                <a:moveTo>
                  <a:pt x="47625" y="43656"/>
                </a:moveTo>
                <a:cubicBezTo>
                  <a:pt x="67339" y="43656"/>
                  <a:pt x="83344" y="59661"/>
                  <a:pt x="83344" y="79375"/>
                </a:cubicBezTo>
                <a:cubicBezTo>
                  <a:pt x="83344" y="99089"/>
                  <a:pt x="67339" y="115094"/>
                  <a:pt x="47625" y="115094"/>
                </a:cubicBezTo>
                <a:cubicBezTo>
                  <a:pt x="27911" y="115094"/>
                  <a:pt x="11906" y="99089"/>
                  <a:pt x="11906" y="79375"/>
                </a:cubicBezTo>
                <a:cubicBezTo>
                  <a:pt x="11906" y="59661"/>
                  <a:pt x="27911" y="43656"/>
                  <a:pt x="47625" y="43656"/>
                </a:cubicBezTo>
                <a:close/>
                <a:moveTo>
                  <a:pt x="0" y="206375"/>
                </a:moveTo>
                <a:cubicBezTo>
                  <a:pt x="0" y="171301"/>
                  <a:pt x="28426" y="142875"/>
                  <a:pt x="63500" y="142875"/>
                </a:cubicBezTo>
                <a:cubicBezTo>
                  <a:pt x="69850" y="142875"/>
                  <a:pt x="76002" y="143818"/>
                  <a:pt x="81806" y="145554"/>
                </a:cubicBezTo>
                <a:cubicBezTo>
                  <a:pt x="65484" y="163810"/>
                  <a:pt x="55563" y="187920"/>
                  <a:pt x="55563" y="214313"/>
                </a:cubicBezTo>
                <a:lnTo>
                  <a:pt x="55563" y="222250"/>
                </a:lnTo>
                <a:cubicBezTo>
                  <a:pt x="55563" y="227905"/>
                  <a:pt x="56753" y="233263"/>
                  <a:pt x="58886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206375"/>
                </a:lnTo>
                <a:close/>
                <a:moveTo>
                  <a:pt x="258614" y="238125"/>
                </a:moveTo>
                <a:cubicBezTo>
                  <a:pt x="260747" y="233263"/>
                  <a:pt x="261937" y="227905"/>
                  <a:pt x="261937" y="222250"/>
                </a:cubicBezTo>
                <a:lnTo>
                  <a:pt x="261937" y="214313"/>
                </a:lnTo>
                <a:cubicBezTo>
                  <a:pt x="261937" y="187920"/>
                  <a:pt x="252016" y="163810"/>
                  <a:pt x="235694" y="145554"/>
                </a:cubicBezTo>
                <a:cubicBezTo>
                  <a:pt x="241498" y="143818"/>
                  <a:pt x="247650" y="142875"/>
                  <a:pt x="254000" y="142875"/>
                </a:cubicBezTo>
                <a:cubicBezTo>
                  <a:pt x="289074" y="142875"/>
                  <a:pt x="317500" y="171301"/>
                  <a:pt x="317500" y="206375"/>
                </a:cubicBezTo>
                <a:lnTo>
                  <a:pt x="317500" y="222250"/>
                </a:lnTo>
                <a:cubicBezTo>
                  <a:pt x="317500" y="231031"/>
                  <a:pt x="310406" y="238125"/>
                  <a:pt x="301625" y="238125"/>
                </a:cubicBezTo>
                <a:lnTo>
                  <a:pt x="258614" y="238125"/>
                </a:lnTo>
                <a:close/>
                <a:moveTo>
                  <a:pt x="234156" y="79375"/>
                </a:moveTo>
                <a:cubicBezTo>
                  <a:pt x="234156" y="59661"/>
                  <a:pt x="250161" y="43656"/>
                  <a:pt x="269875" y="43656"/>
                </a:cubicBezTo>
                <a:cubicBezTo>
                  <a:pt x="289589" y="43656"/>
                  <a:pt x="305594" y="59661"/>
                  <a:pt x="305594" y="79375"/>
                </a:cubicBezTo>
                <a:cubicBezTo>
                  <a:pt x="305594" y="99089"/>
                  <a:pt x="289589" y="115094"/>
                  <a:pt x="269875" y="115094"/>
                </a:cubicBezTo>
                <a:cubicBezTo>
                  <a:pt x="250161" y="115094"/>
                  <a:pt x="234156" y="99089"/>
                  <a:pt x="234156" y="79375"/>
                </a:cubicBezTo>
                <a:close/>
                <a:moveTo>
                  <a:pt x="79375" y="214313"/>
                </a:moveTo>
                <a:cubicBezTo>
                  <a:pt x="79375" y="170458"/>
                  <a:pt x="114895" y="134938"/>
                  <a:pt x="158750" y="134938"/>
                </a:cubicBezTo>
                <a:cubicBezTo>
                  <a:pt x="202605" y="134938"/>
                  <a:pt x="238125" y="170458"/>
                  <a:pt x="238125" y="214313"/>
                </a:cubicBezTo>
                <a:lnTo>
                  <a:pt x="238125" y="222250"/>
                </a:lnTo>
                <a:cubicBezTo>
                  <a:pt x="238125" y="231031"/>
                  <a:pt x="231031" y="238125"/>
                  <a:pt x="222250" y="238125"/>
                </a:cubicBezTo>
                <a:lnTo>
                  <a:pt x="95250" y="238125"/>
                </a:lnTo>
                <a:cubicBezTo>
                  <a:pt x="86469" y="238125"/>
                  <a:pt x="79375" y="231031"/>
                  <a:pt x="79375" y="222250"/>
                </a:cubicBezTo>
                <a:lnTo>
                  <a:pt x="79375" y="214313"/>
                </a:lnTo>
                <a:close/>
              </a:path>
            </a:pathLst>
          </a:custGeom>
          <a:solidFill>
            <a:srgbClr val="4682B4"/>
          </a:solidFill>
        </p:spPr>
      </p:sp>
      <p:sp>
        <p:nvSpPr>
          <p:cNvPr id="10" name="Text 7"/>
          <p:cNvSpPr/>
          <p:nvPr/>
        </p:nvSpPr>
        <p:spPr>
          <a:xfrm>
            <a:off x="726678" y="4470400"/>
            <a:ext cx="50673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市场需求：国内安防、消防年投入超千亿，</a:t>
            </a:r>
            <a:r>
              <a:rPr lang="en-US" sz="1600" b="1" dirty="0">
                <a:solidFill>
                  <a:srgbClr val="4682B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高危任务机器换人</a:t>
            </a: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需求迫切</a:t>
            </a:r>
            <a:endParaRPr lang="en-US" sz="1600" dirty="0"/>
          </a:p>
        </p:txBody>
      </p:sp>
      <p:pic>
        <p:nvPicPr>
          <p:cNvPr id="11" name="Image 1" descr="https://kimi-web-img.moonshot.cn/img/public.fxbaogao.com/e31cfdfec906210660a52206d8c70a2b42605c0d.png"/>
          <p:cNvPicPr>
            <a:picLocks noChangeAspect="1"/>
          </p:cNvPicPr>
          <p:nvPr/>
        </p:nvPicPr>
        <p:blipFill>
          <a:blip r:embed="rId2"/>
          <a:srcRect t="11595" b="11595"/>
          <a:stretch>
            <a:fillRect/>
          </a:stretch>
        </p:blipFill>
        <p:spPr>
          <a:xfrm>
            <a:off x="6096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  <p:grpSp>
        <p:nvGrpSpPr>
          <p:cNvPr id="12" name="组合 11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15" name="标题 1"/>
          <p:cNvSpPr>
            <a:spLocks noGrp="1"/>
          </p:cNvSpPr>
          <p:nvPr/>
        </p:nvSpPr>
        <p:spPr>
          <a:xfrm>
            <a:off x="3326352" y="-2531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项目研发背景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1:40:18-d3k808gs8jdo4os5e6t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726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1092200"/>
            <a:ext cx="11912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典型场景与效益测算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96850" y="1701800"/>
            <a:ext cx="11798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CD853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面向政府安保、消防应急及大型商业设施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349177" y="2463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0522D">
              <a:alpha val="10196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1615877" y="27686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609600" y="114300"/>
                </a:moveTo>
                <a:lnTo>
                  <a:pt x="76200" y="114300"/>
                </a:lnTo>
                <a:cubicBezTo>
                  <a:pt x="34171" y="114300"/>
                  <a:pt x="0" y="148471"/>
                  <a:pt x="0" y="190500"/>
                </a:cubicBezTo>
                <a:lnTo>
                  <a:pt x="0" y="419100"/>
                </a:lnTo>
                <a:cubicBezTo>
                  <a:pt x="0" y="461129"/>
                  <a:pt x="34171" y="495300"/>
                  <a:pt x="76200" y="495300"/>
                </a:cubicBezTo>
                <a:lnTo>
                  <a:pt x="216098" y="495300"/>
                </a:lnTo>
                <a:cubicBezTo>
                  <a:pt x="236339" y="495300"/>
                  <a:pt x="255746" y="487323"/>
                  <a:pt x="270034" y="473035"/>
                </a:cubicBezTo>
                <a:lnTo>
                  <a:pt x="310396" y="432673"/>
                </a:lnTo>
                <a:cubicBezTo>
                  <a:pt x="318968" y="424101"/>
                  <a:pt x="330756" y="419219"/>
                  <a:pt x="342900" y="419219"/>
                </a:cubicBezTo>
                <a:cubicBezTo>
                  <a:pt x="355044" y="419219"/>
                  <a:pt x="366832" y="424101"/>
                  <a:pt x="375404" y="432673"/>
                </a:cubicBezTo>
                <a:lnTo>
                  <a:pt x="415766" y="473035"/>
                </a:lnTo>
                <a:cubicBezTo>
                  <a:pt x="430054" y="487323"/>
                  <a:pt x="449461" y="495300"/>
                  <a:pt x="469702" y="495300"/>
                </a:cubicBezTo>
                <a:lnTo>
                  <a:pt x="609600" y="495300"/>
                </a:lnTo>
                <a:cubicBezTo>
                  <a:pt x="651629" y="495300"/>
                  <a:pt x="685800" y="461129"/>
                  <a:pt x="685800" y="419100"/>
                </a:cubicBezTo>
                <a:lnTo>
                  <a:pt x="685800" y="190500"/>
                </a:lnTo>
                <a:cubicBezTo>
                  <a:pt x="685800" y="148471"/>
                  <a:pt x="651629" y="114300"/>
                  <a:pt x="609600" y="114300"/>
                </a:cubicBezTo>
                <a:close/>
                <a:moveTo>
                  <a:pt x="95250" y="285750"/>
                </a:moveTo>
                <a:cubicBezTo>
                  <a:pt x="95250" y="243694"/>
                  <a:pt x="129394" y="209550"/>
                  <a:pt x="171450" y="209550"/>
                </a:cubicBezTo>
                <a:cubicBezTo>
                  <a:pt x="213506" y="209550"/>
                  <a:pt x="247650" y="243694"/>
                  <a:pt x="247650" y="285750"/>
                </a:cubicBezTo>
                <a:cubicBezTo>
                  <a:pt x="247650" y="327806"/>
                  <a:pt x="213506" y="361950"/>
                  <a:pt x="171450" y="361950"/>
                </a:cubicBezTo>
                <a:cubicBezTo>
                  <a:pt x="129394" y="361950"/>
                  <a:pt x="95250" y="327806"/>
                  <a:pt x="95250" y="285750"/>
                </a:cubicBezTo>
                <a:close/>
                <a:moveTo>
                  <a:pt x="514350" y="209550"/>
                </a:moveTo>
                <a:cubicBezTo>
                  <a:pt x="556406" y="209550"/>
                  <a:pt x="590550" y="243694"/>
                  <a:pt x="590550" y="285750"/>
                </a:cubicBezTo>
                <a:cubicBezTo>
                  <a:pt x="590550" y="327806"/>
                  <a:pt x="556406" y="361950"/>
                  <a:pt x="514350" y="361950"/>
                </a:cubicBezTo>
                <a:cubicBezTo>
                  <a:pt x="472294" y="361950"/>
                  <a:pt x="438150" y="327806"/>
                  <a:pt x="438150" y="285750"/>
                </a:cubicBezTo>
                <a:cubicBezTo>
                  <a:pt x="438150" y="243694"/>
                  <a:pt x="472294" y="209550"/>
                  <a:pt x="514350" y="209550"/>
                </a:cubicBezTo>
                <a:close/>
              </a:path>
            </a:pathLst>
          </a:custGeom>
          <a:solidFill>
            <a:srgbClr val="A0522D"/>
          </a:solidFill>
        </p:spPr>
      </p:sp>
      <p:sp>
        <p:nvSpPr>
          <p:cNvPr id="7" name="Text 4"/>
          <p:cNvSpPr/>
          <p:nvPr/>
        </p:nvSpPr>
        <p:spPr>
          <a:xfrm>
            <a:off x="1369219" y="3835400"/>
            <a:ext cx="1181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VR远程操控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6475" y="41402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操作员佩戴VR设备指挥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908028" y="3175000"/>
            <a:ext cx="4699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FFD7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&gt;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003" y="2463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CD853F">
              <a:alpha val="10196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5752703" y="27686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342900" y="38100"/>
                </a:moveTo>
                <a:cubicBezTo>
                  <a:pt x="246698" y="38100"/>
                  <a:pt x="169664" y="81915"/>
                  <a:pt x="113586" y="134064"/>
                </a:cubicBezTo>
                <a:cubicBezTo>
                  <a:pt x="57864" y="185857"/>
                  <a:pt x="20598" y="247650"/>
                  <a:pt x="2858" y="290155"/>
                </a:cubicBezTo>
                <a:cubicBezTo>
                  <a:pt x="-1072" y="299561"/>
                  <a:pt x="-1072" y="310039"/>
                  <a:pt x="2858" y="319445"/>
                </a:cubicBezTo>
                <a:cubicBezTo>
                  <a:pt x="20598" y="361950"/>
                  <a:pt x="57864" y="423863"/>
                  <a:pt x="113586" y="475536"/>
                </a:cubicBezTo>
                <a:cubicBezTo>
                  <a:pt x="169664" y="527566"/>
                  <a:pt x="246698" y="571500"/>
                  <a:pt x="342900" y="571500"/>
                </a:cubicBezTo>
                <a:cubicBezTo>
                  <a:pt x="439103" y="571500"/>
                  <a:pt x="516136" y="527685"/>
                  <a:pt x="572214" y="475536"/>
                </a:cubicBezTo>
                <a:cubicBezTo>
                  <a:pt x="627936" y="423743"/>
                  <a:pt x="665202" y="361950"/>
                  <a:pt x="682943" y="319445"/>
                </a:cubicBezTo>
                <a:cubicBezTo>
                  <a:pt x="686872" y="310039"/>
                  <a:pt x="686872" y="299561"/>
                  <a:pt x="682943" y="290155"/>
                </a:cubicBezTo>
                <a:cubicBezTo>
                  <a:pt x="665202" y="247650"/>
                  <a:pt x="627936" y="185737"/>
                  <a:pt x="572214" y="134064"/>
                </a:cubicBezTo>
                <a:cubicBezTo>
                  <a:pt x="516136" y="82034"/>
                  <a:pt x="439103" y="38100"/>
                  <a:pt x="342900" y="38100"/>
                </a:cubicBezTo>
                <a:close/>
                <a:moveTo>
                  <a:pt x="171450" y="304800"/>
                </a:moveTo>
                <a:cubicBezTo>
                  <a:pt x="171450" y="210174"/>
                  <a:pt x="248274" y="133350"/>
                  <a:pt x="342900" y="133350"/>
                </a:cubicBezTo>
                <a:cubicBezTo>
                  <a:pt x="437526" y="133350"/>
                  <a:pt x="514350" y="210174"/>
                  <a:pt x="514350" y="304800"/>
                </a:cubicBezTo>
                <a:cubicBezTo>
                  <a:pt x="514350" y="399426"/>
                  <a:pt x="437526" y="476250"/>
                  <a:pt x="342900" y="476250"/>
                </a:cubicBezTo>
                <a:cubicBezTo>
                  <a:pt x="248274" y="476250"/>
                  <a:pt x="171450" y="399426"/>
                  <a:pt x="171450" y="304800"/>
                </a:cubicBezTo>
                <a:close/>
                <a:moveTo>
                  <a:pt x="342900" y="228600"/>
                </a:moveTo>
                <a:cubicBezTo>
                  <a:pt x="342900" y="270629"/>
                  <a:pt x="308729" y="304800"/>
                  <a:pt x="266700" y="304800"/>
                </a:cubicBezTo>
                <a:cubicBezTo>
                  <a:pt x="253008" y="304800"/>
                  <a:pt x="240149" y="301228"/>
                  <a:pt x="228957" y="294799"/>
                </a:cubicBezTo>
                <a:cubicBezTo>
                  <a:pt x="227767" y="307777"/>
                  <a:pt x="228838" y="321112"/>
                  <a:pt x="232410" y="334328"/>
                </a:cubicBezTo>
                <a:cubicBezTo>
                  <a:pt x="248722" y="395287"/>
                  <a:pt x="311468" y="431483"/>
                  <a:pt x="372428" y="415171"/>
                </a:cubicBezTo>
                <a:cubicBezTo>
                  <a:pt x="433388" y="398859"/>
                  <a:pt x="469583" y="336113"/>
                  <a:pt x="453271" y="275153"/>
                </a:cubicBezTo>
                <a:cubicBezTo>
                  <a:pt x="438745" y="220742"/>
                  <a:pt x="387191" y="186095"/>
                  <a:pt x="332899" y="190857"/>
                </a:cubicBezTo>
                <a:cubicBezTo>
                  <a:pt x="339209" y="201930"/>
                  <a:pt x="342900" y="214789"/>
                  <a:pt x="342900" y="228600"/>
                </a:cubicBezTo>
                <a:close/>
              </a:path>
            </a:pathLst>
          </a:custGeom>
          <a:solidFill>
            <a:srgbClr val="CD853F"/>
          </a:solidFill>
        </p:spPr>
      </p:sp>
      <p:sp>
        <p:nvSpPr>
          <p:cNvPr id="12" name="Text 9"/>
          <p:cNvSpPr/>
          <p:nvPr/>
        </p:nvSpPr>
        <p:spPr>
          <a:xfrm>
            <a:off x="5539581" y="3835400"/>
            <a:ext cx="1117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AI视觉识别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51053" y="4140200"/>
            <a:ext cx="1689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实时识别火源、入侵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44855" y="3175000"/>
            <a:ext cx="4699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FFD7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&gt;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622830" y="2463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4682B4">
              <a:alpha val="10196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9927630" y="2768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600" y="38100"/>
                </a:moveTo>
                <a:cubicBezTo>
                  <a:pt x="609600" y="26670"/>
                  <a:pt x="604480" y="15835"/>
                  <a:pt x="595670" y="8692"/>
                </a:cubicBezTo>
                <a:cubicBezTo>
                  <a:pt x="586859" y="1548"/>
                  <a:pt x="575191" y="-1548"/>
                  <a:pt x="563999" y="714"/>
                </a:cubicBezTo>
                <a:lnTo>
                  <a:pt x="373499" y="38814"/>
                </a:lnTo>
                <a:cubicBezTo>
                  <a:pt x="358973" y="41791"/>
                  <a:pt x="347663" y="52745"/>
                  <a:pt x="344091" y="66675"/>
                </a:cubicBezTo>
                <a:lnTo>
                  <a:pt x="266700" y="66675"/>
                </a:lnTo>
                <a:lnTo>
                  <a:pt x="266700" y="38100"/>
                </a:lnTo>
                <a:cubicBezTo>
                  <a:pt x="266700" y="17026"/>
                  <a:pt x="249674" y="0"/>
                  <a:pt x="228600" y="0"/>
                </a:cubicBezTo>
                <a:lnTo>
                  <a:pt x="190500" y="0"/>
                </a:lnTo>
                <a:cubicBezTo>
                  <a:pt x="169426" y="0"/>
                  <a:pt x="152400" y="17026"/>
                  <a:pt x="152400" y="38100"/>
                </a:cubicBezTo>
                <a:lnTo>
                  <a:pt x="152400" y="71914"/>
                </a:lnTo>
                <a:cubicBezTo>
                  <a:pt x="86558" y="86558"/>
                  <a:pt x="31790" y="130850"/>
                  <a:pt x="2977" y="189905"/>
                </a:cubicBezTo>
                <a:cubicBezTo>
                  <a:pt x="-3929" y="204073"/>
                  <a:pt x="1905" y="221218"/>
                  <a:pt x="16193" y="228124"/>
                </a:cubicBezTo>
                <a:cubicBezTo>
                  <a:pt x="30480" y="235029"/>
                  <a:pt x="47506" y="229195"/>
                  <a:pt x="54412" y="214908"/>
                </a:cubicBezTo>
                <a:cubicBezTo>
                  <a:pt x="73819" y="174903"/>
                  <a:pt x="109299" y="144185"/>
                  <a:pt x="152400" y="130969"/>
                </a:cubicBezTo>
                <a:lnTo>
                  <a:pt x="152400" y="165259"/>
                </a:lnTo>
                <a:cubicBezTo>
                  <a:pt x="107394" y="186690"/>
                  <a:pt x="76200" y="232529"/>
                  <a:pt x="76200" y="285750"/>
                </a:cubicBezTo>
                <a:lnTo>
                  <a:pt x="76200" y="438150"/>
                </a:lnTo>
                <a:lnTo>
                  <a:pt x="342900" y="438150"/>
                </a:lnTo>
                <a:lnTo>
                  <a:pt x="342900" y="285750"/>
                </a:lnTo>
                <a:cubicBezTo>
                  <a:pt x="342900" y="232529"/>
                  <a:pt x="311706" y="186690"/>
                  <a:pt x="266700" y="165259"/>
                </a:cubicBezTo>
                <a:lnTo>
                  <a:pt x="266700" y="123825"/>
                </a:lnTo>
                <a:lnTo>
                  <a:pt x="344091" y="123825"/>
                </a:lnTo>
                <a:cubicBezTo>
                  <a:pt x="347663" y="137755"/>
                  <a:pt x="358973" y="148709"/>
                  <a:pt x="373499" y="151686"/>
                </a:cubicBezTo>
                <a:lnTo>
                  <a:pt x="563999" y="189786"/>
                </a:lnTo>
                <a:cubicBezTo>
                  <a:pt x="575191" y="192048"/>
                  <a:pt x="586740" y="189071"/>
                  <a:pt x="595670" y="181928"/>
                </a:cubicBezTo>
                <a:cubicBezTo>
                  <a:pt x="604599" y="174784"/>
                  <a:pt x="609600" y="163830"/>
                  <a:pt x="609600" y="152400"/>
                </a:cubicBezTo>
                <a:lnTo>
                  <a:pt x="609600" y="38100"/>
                </a:lnTo>
                <a:close/>
                <a:moveTo>
                  <a:pt x="342900" y="533400"/>
                </a:moveTo>
                <a:lnTo>
                  <a:pt x="342900" y="495300"/>
                </a:lnTo>
                <a:lnTo>
                  <a:pt x="76200" y="495300"/>
                </a:lnTo>
                <a:lnTo>
                  <a:pt x="76200" y="533400"/>
                </a:lnTo>
                <a:cubicBezTo>
                  <a:pt x="76200" y="575429"/>
                  <a:pt x="110371" y="609600"/>
                  <a:pt x="152400" y="609600"/>
                </a:cubicBezTo>
                <a:lnTo>
                  <a:pt x="266700" y="609600"/>
                </a:lnTo>
                <a:cubicBezTo>
                  <a:pt x="308729" y="609600"/>
                  <a:pt x="342900" y="575429"/>
                  <a:pt x="342900" y="533400"/>
                </a:cubicBezTo>
                <a:close/>
              </a:path>
            </a:pathLst>
          </a:custGeom>
          <a:solidFill>
            <a:srgbClr val="4682B4"/>
          </a:solidFill>
        </p:spPr>
      </p:sp>
      <p:sp>
        <p:nvSpPr>
          <p:cNvPr id="17" name="Text 14"/>
          <p:cNvSpPr/>
          <p:nvPr/>
        </p:nvSpPr>
        <p:spPr>
          <a:xfrm>
            <a:off x="9673630" y="3835400"/>
            <a:ext cx="1117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低延迟处置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387880" y="4140200"/>
            <a:ext cx="1689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回传画面并执行灭火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54000" y="4800600"/>
            <a:ext cx="3759200" cy="965200"/>
          </a:xfrm>
          <a:custGeom>
            <a:avLst/>
            <a:gdLst/>
            <a:ahLst/>
            <a:cxnLst/>
            <a:rect l="l" t="t" r="r" b="b"/>
            <a:pathLst>
              <a:path w="3759200" h="965200">
                <a:moveTo>
                  <a:pt x="101597" y="0"/>
                </a:moveTo>
                <a:lnTo>
                  <a:pt x="3657603" y="0"/>
                </a:lnTo>
                <a:cubicBezTo>
                  <a:pt x="3713713" y="0"/>
                  <a:pt x="3759200" y="45487"/>
                  <a:pt x="3759200" y="101597"/>
                </a:cubicBezTo>
                <a:lnTo>
                  <a:pt x="3759200" y="863603"/>
                </a:lnTo>
                <a:cubicBezTo>
                  <a:pt x="3759200" y="919713"/>
                  <a:pt x="3713713" y="965200"/>
                  <a:pt x="36576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A0522D">
              <a:alpha val="8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61950" y="4953000"/>
            <a:ext cx="3543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替代人力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30200" y="5207000"/>
            <a:ext cx="3606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3名安保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216400" y="4800600"/>
            <a:ext cx="3759200" cy="965200"/>
          </a:xfrm>
          <a:custGeom>
            <a:avLst/>
            <a:gdLst/>
            <a:ahLst/>
            <a:cxnLst/>
            <a:rect l="l" t="t" r="r" b="b"/>
            <a:pathLst>
              <a:path w="3759200" h="965200">
                <a:moveTo>
                  <a:pt x="101597" y="0"/>
                </a:moveTo>
                <a:lnTo>
                  <a:pt x="3657603" y="0"/>
                </a:lnTo>
                <a:cubicBezTo>
                  <a:pt x="3713713" y="0"/>
                  <a:pt x="3759200" y="45487"/>
                  <a:pt x="3759200" y="101597"/>
                </a:cubicBezTo>
                <a:lnTo>
                  <a:pt x="3759200" y="863603"/>
                </a:lnTo>
                <a:cubicBezTo>
                  <a:pt x="3759200" y="919713"/>
                  <a:pt x="3713713" y="965200"/>
                  <a:pt x="36576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CD853F">
              <a:alpha val="8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324350" y="4953000"/>
            <a:ext cx="3543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人力成本降低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292600" y="5207000"/>
            <a:ext cx="3606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约50%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178800" y="4800600"/>
            <a:ext cx="3759200" cy="965200"/>
          </a:xfrm>
          <a:custGeom>
            <a:avLst/>
            <a:gdLst/>
            <a:ahLst/>
            <a:cxnLst/>
            <a:rect l="l" t="t" r="r" b="b"/>
            <a:pathLst>
              <a:path w="3759200" h="965200">
                <a:moveTo>
                  <a:pt x="101597" y="0"/>
                </a:moveTo>
                <a:lnTo>
                  <a:pt x="3657603" y="0"/>
                </a:lnTo>
                <a:cubicBezTo>
                  <a:pt x="3713713" y="0"/>
                  <a:pt x="3759200" y="45487"/>
                  <a:pt x="3759200" y="101597"/>
                </a:cubicBezTo>
                <a:lnTo>
                  <a:pt x="3759200" y="863603"/>
                </a:lnTo>
                <a:cubicBezTo>
                  <a:pt x="3759200" y="919713"/>
                  <a:pt x="3713713" y="965200"/>
                  <a:pt x="36576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4682B4">
              <a:alpha val="8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286750" y="4953000"/>
            <a:ext cx="3543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灭火效率提升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255000" y="5207000"/>
            <a:ext cx="3606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30%</a:t>
            </a:r>
            <a:endParaRPr lang="en-US" sz="16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31" name="标题 1"/>
          <p:cNvSpPr>
            <a:spLocks noGrp="1"/>
          </p:cNvSpPr>
          <p:nvPr/>
        </p:nvSpPr>
        <p:spPr>
          <a:xfrm>
            <a:off x="3185057" y="-15368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项目应用场景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22875" y="1552575"/>
            <a:ext cx="1786255" cy="1786255"/>
          </a:xfrm>
          <a:prstGeom prst="ellipse">
            <a:avLst/>
          </a:prstGeom>
          <a:solidFill>
            <a:srgbClr val="FEE695"/>
          </a:solidFill>
        </p:spPr>
      </p:sp>
      <p:sp>
        <p:nvSpPr>
          <p:cNvPr id="3" name="Text 1"/>
          <p:cNvSpPr/>
          <p:nvPr/>
        </p:nvSpPr>
        <p:spPr>
          <a:xfrm>
            <a:off x="5222875" y="1552575"/>
            <a:ext cx="1786255" cy="17862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70980" y="1552575"/>
            <a:ext cx="527050" cy="527050"/>
          </a:xfrm>
          <a:prstGeom prst="ellipse">
            <a:avLst/>
          </a:prstGeom>
          <a:solidFill>
            <a:srgbClr val="4874CB"/>
          </a:solidFill>
        </p:spPr>
      </p:sp>
      <p:sp>
        <p:nvSpPr>
          <p:cNvPr id="5" name="Text 3"/>
          <p:cNvSpPr/>
          <p:nvPr/>
        </p:nvSpPr>
        <p:spPr>
          <a:xfrm>
            <a:off x="6570980" y="1552575"/>
            <a:ext cx="527050" cy="527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dirty="0">
                <a:solidFill>
                  <a:srgbClr val="FEE5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技术与创新</a:t>
            </a:r>
            <a:endParaRPr lang="en-US" sz="1600" dirty="0"/>
          </a:p>
        </p:txBody>
      </p:sp>
      <p:pic>
        <p:nvPicPr>
          <p:cNvPr id="10" name="Image 0" descr="https://kimi-img.moonshot.cn/pub/slides/slides_tmpl/image/25-10-10-11:40:17-d3k8088s8jdo4os5e6q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045" y="345440"/>
            <a:ext cx="597535" cy="280670"/>
          </a:xfrm>
          <a:prstGeom prst="rect">
            <a:avLst/>
          </a:prstGeom>
        </p:spPr>
      </p:pic>
      <p:pic>
        <p:nvPicPr>
          <p:cNvPr id="11" name="Image 1" descr="https://kimi-img.moonshot.cn/pub/slides/slides_tmpl/image/25-10-10-11:40:17-d3k8088s8jdo4os5e6q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540" y="345440"/>
            <a:ext cx="597535" cy="280670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1:40:18-d3k808gs8jdo4os5e6t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726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1397000"/>
            <a:ext cx="11912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分阶段技术路线与里程碑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96850" y="2006600"/>
            <a:ext cx="11798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CD853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遵循“仿真验证-原型集成-场景优化”总体路线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530600"/>
            <a:ext cx="10668000" cy="50800"/>
          </a:xfrm>
          <a:custGeom>
            <a:avLst/>
            <a:gdLst/>
            <a:ahLst/>
            <a:cxnLst/>
            <a:rect l="l" t="t" r="r" b="b"/>
            <a:pathLst>
              <a:path w="10668000" h="50800">
                <a:moveTo>
                  <a:pt x="0" y="0"/>
                </a:moveTo>
                <a:lnTo>
                  <a:pt x="10668000" y="0"/>
                </a:lnTo>
                <a:lnTo>
                  <a:pt x="10668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CD853F">
              <a:alpha val="50196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2235002" y="2768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A0522D"/>
          </a:solidFill>
        </p:spPr>
      </p:sp>
      <p:sp>
        <p:nvSpPr>
          <p:cNvPr id="7" name="Text 4"/>
          <p:cNvSpPr/>
          <p:nvPr/>
        </p:nvSpPr>
        <p:spPr>
          <a:xfrm>
            <a:off x="2171502" y="2768600"/>
            <a:ext cx="736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04850" y="3479800"/>
            <a:ext cx="3670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算法仿真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7550" y="3835400"/>
            <a:ext cx="3644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≤250ms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3900" y="4140200"/>
            <a:ext cx="36322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构建模型、开发协议、设计算法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791002" y="2768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D853F"/>
          </a:solidFill>
        </p:spPr>
      </p:sp>
      <p:sp>
        <p:nvSpPr>
          <p:cNvPr id="12" name="Text 9"/>
          <p:cNvSpPr/>
          <p:nvPr/>
        </p:nvSpPr>
        <p:spPr>
          <a:xfrm>
            <a:off x="5727502" y="2768600"/>
            <a:ext cx="736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260850" y="3479800"/>
            <a:ext cx="3670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硬件原型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273550" y="3835400"/>
            <a:ext cx="3644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CD853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完成功能联调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279900" y="4140200"/>
            <a:ext cx="36322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部署系统、数据融合、信道复用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347002" y="2768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682B4"/>
          </a:solidFill>
        </p:spPr>
      </p:sp>
      <p:sp>
        <p:nvSpPr>
          <p:cNvPr id="17" name="Text 14"/>
          <p:cNvSpPr/>
          <p:nvPr/>
        </p:nvSpPr>
        <p:spPr>
          <a:xfrm>
            <a:off x="9283502" y="2768600"/>
            <a:ext cx="736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816850" y="3479800"/>
            <a:ext cx="3670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场景测试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829550" y="3835400"/>
            <a:ext cx="3644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4682B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通过率≥95%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835900" y="4140200"/>
            <a:ext cx="36322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实地测试、稳定性验证、性能优化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254000" y="4749800"/>
            <a:ext cx="11684000" cy="711200"/>
          </a:xfrm>
          <a:custGeom>
            <a:avLst/>
            <a:gdLst/>
            <a:ahLst/>
            <a:cxnLst/>
            <a:rect l="l" t="t" r="r" b="b"/>
            <a:pathLst>
              <a:path w="11684000" h="711200">
                <a:moveTo>
                  <a:pt x="101602" y="0"/>
                </a:moveTo>
                <a:lnTo>
                  <a:pt x="11582398" y="0"/>
                </a:lnTo>
                <a:cubicBezTo>
                  <a:pt x="11638511" y="0"/>
                  <a:pt x="11684000" y="45489"/>
                  <a:pt x="11684000" y="101602"/>
                </a:cubicBezTo>
                <a:lnTo>
                  <a:pt x="11684000" y="609598"/>
                </a:lnTo>
                <a:cubicBezTo>
                  <a:pt x="11684000" y="665711"/>
                  <a:pt x="11638511" y="711200"/>
                  <a:pt x="115823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0522D">
              <a:alpha val="10196"/>
            </a:srgbClr>
          </a:solidFill>
        </p:spPr>
      </p:sp>
      <p:sp>
        <p:nvSpPr>
          <p:cNvPr id="22" name="Text 19"/>
          <p:cNvSpPr/>
          <p:nvPr/>
        </p:nvSpPr>
        <p:spPr>
          <a:xfrm>
            <a:off x="406400" y="4953000"/>
            <a:ext cx="11379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质量与风险控制：建立阶段“质量门禁”，采用模块化设计，预先评估硬件性能并准备备选方案，确保按期交付。</a:t>
            </a:r>
            <a:endParaRPr lang="en-US" sz="1600" dirty="0"/>
          </a:p>
        </p:txBody>
      </p:sp>
      <p:grpSp>
        <p:nvGrpSpPr>
          <p:cNvPr id="23" name="组合 22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27" name="标题 1"/>
          <p:cNvSpPr>
            <a:spLocks noGrp="1"/>
          </p:cNvSpPr>
          <p:nvPr/>
        </p:nvSpPr>
        <p:spPr>
          <a:xfrm>
            <a:off x="3233928" y="-1825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项目技术路线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1:40:18-d3k808gs8jdo4os5e6t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726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1625600"/>
            <a:ext cx="11912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核心创新点与量化验证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2540000"/>
            <a:ext cx="5715000" cy="1219200"/>
          </a:xfrm>
          <a:custGeom>
            <a:avLst/>
            <a:gdLst/>
            <a:ahLst/>
            <a:cxnLst/>
            <a:rect l="l" t="t" r="r" b="b"/>
            <a:pathLst>
              <a:path w="5715000" h="1219200">
                <a:moveTo>
                  <a:pt x="101596" y="0"/>
                </a:moveTo>
                <a:lnTo>
                  <a:pt x="5613404" y="0"/>
                </a:lnTo>
                <a:cubicBezTo>
                  <a:pt x="5669514" y="0"/>
                  <a:pt x="5715000" y="45486"/>
                  <a:pt x="5715000" y="101596"/>
                </a:cubicBezTo>
                <a:lnTo>
                  <a:pt x="5715000" y="1117604"/>
                </a:lnTo>
                <a:cubicBezTo>
                  <a:pt x="5715000" y="1173714"/>
                  <a:pt x="5669514" y="1219200"/>
                  <a:pt x="56134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A0522D">
              <a:alpha val="10196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635000" y="292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8806" y="134481"/>
                </a:moveTo>
                <a:lnTo>
                  <a:pt x="363081" y="220206"/>
                </a:lnTo>
                <a:cubicBezTo>
                  <a:pt x="354866" y="228421"/>
                  <a:pt x="342632" y="230832"/>
                  <a:pt x="331916" y="226368"/>
                </a:cubicBezTo>
                <a:cubicBezTo>
                  <a:pt x="321201" y="221903"/>
                  <a:pt x="314325" y="211544"/>
                  <a:pt x="314325" y="200025"/>
                </a:cubicBezTo>
                <a:lnTo>
                  <a:pt x="314325" y="142875"/>
                </a:ln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314325" y="85725"/>
                </a:lnTo>
                <a:lnTo>
                  <a:pt x="314325" y="28575"/>
                </a:lnTo>
                <a:cubicBezTo>
                  <a:pt x="314325" y="17056"/>
                  <a:pt x="321290" y="6608"/>
                  <a:pt x="332006" y="2143"/>
                </a:cubicBezTo>
                <a:cubicBezTo>
                  <a:pt x="342721" y="-2322"/>
                  <a:pt x="354955" y="179"/>
                  <a:pt x="363170" y="8305"/>
                </a:cubicBezTo>
                <a:lnTo>
                  <a:pt x="448895" y="94030"/>
                </a:lnTo>
                <a:cubicBezTo>
                  <a:pt x="460058" y="105192"/>
                  <a:pt x="460058" y="123319"/>
                  <a:pt x="448895" y="134481"/>
                </a:cubicBezTo>
                <a:close/>
                <a:moveTo>
                  <a:pt x="94030" y="448806"/>
                </a:moveTo>
                <a:lnTo>
                  <a:pt x="8305" y="363081"/>
                </a:lnTo>
                <a:cubicBezTo>
                  <a:pt x="-2857" y="351919"/>
                  <a:pt x="-2857" y="333792"/>
                  <a:pt x="8305" y="322630"/>
                </a:cubicBezTo>
                <a:lnTo>
                  <a:pt x="94030" y="236905"/>
                </a:lnTo>
                <a:cubicBezTo>
                  <a:pt x="102245" y="228689"/>
                  <a:pt x="114479" y="226278"/>
                  <a:pt x="125194" y="230743"/>
                </a:cubicBezTo>
                <a:cubicBezTo>
                  <a:pt x="135910" y="235208"/>
                  <a:pt x="142875" y="245656"/>
                  <a:pt x="142875" y="257175"/>
                </a:cubicBezTo>
                <a:lnTo>
                  <a:pt x="142875" y="314325"/>
                </a:lnTo>
                <a:lnTo>
                  <a:pt x="428625" y="314325"/>
                </a:lnTo>
                <a:cubicBezTo>
                  <a:pt x="444431" y="314325"/>
                  <a:pt x="457200" y="327094"/>
                  <a:pt x="457200" y="342900"/>
                </a:cubicBezTo>
                <a:cubicBezTo>
                  <a:pt x="457200" y="358706"/>
                  <a:pt x="444431" y="371475"/>
                  <a:pt x="428625" y="371475"/>
                </a:cubicBezTo>
                <a:lnTo>
                  <a:pt x="142875" y="371475"/>
                </a:lnTo>
                <a:lnTo>
                  <a:pt x="142875" y="428625"/>
                </a:lnTo>
                <a:cubicBezTo>
                  <a:pt x="142875" y="440144"/>
                  <a:pt x="135910" y="450592"/>
                  <a:pt x="125194" y="455057"/>
                </a:cubicBezTo>
                <a:cubicBezTo>
                  <a:pt x="114479" y="459522"/>
                  <a:pt x="102245" y="457021"/>
                  <a:pt x="94030" y="448895"/>
                </a:cubicBezTo>
                <a:close/>
              </a:path>
            </a:pathLst>
          </a:custGeom>
          <a:solidFill>
            <a:srgbClr val="A0522D"/>
          </a:solidFill>
        </p:spPr>
      </p:sp>
      <p:sp>
        <p:nvSpPr>
          <p:cNvPr id="6" name="Text 3"/>
          <p:cNvSpPr/>
          <p:nvPr/>
        </p:nvSpPr>
        <p:spPr>
          <a:xfrm>
            <a:off x="1473200" y="2844800"/>
            <a:ext cx="2616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信道复用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73200" y="3200400"/>
            <a:ext cx="2590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通信延迟从500ms降至 </a:t>
            </a:r>
            <a:r>
              <a:rPr lang="en-US" sz="14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&lt;200ms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23000" y="2540000"/>
            <a:ext cx="5715000" cy="1219200"/>
          </a:xfrm>
          <a:custGeom>
            <a:avLst/>
            <a:gdLst/>
            <a:ahLst/>
            <a:cxnLst/>
            <a:rect l="l" t="t" r="r" b="b"/>
            <a:pathLst>
              <a:path w="5715000" h="1219200">
                <a:moveTo>
                  <a:pt x="101596" y="0"/>
                </a:moveTo>
                <a:lnTo>
                  <a:pt x="5613404" y="0"/>
                </a:lnTo>
                <a:cubicBezTo>
                  <a:pt x="5669514" y="0"/>
                  <a:pt x="5715000" y="45486"/>
                  <a:pt x="5715000" y="101596"/>
                </a:cubicBezTo>
                <a:lnTo>
                  <a:pt x="5715000" y="1117604"/>
                </a:lnTo>
                <a:cubicBezTo>
                  <a:pt x="5715000" y="1173714"/>
                  <a:pt x="5669514" y="1219200"/>
                  <a:pt x="56134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CD853F">
              <a:alpha val="10196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6604000" y="292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CD853F"/>
          </a:solidFill>
        </p:spPr>
      </p:sp>
      <p:sp>
        <p:nvSpPr>
          <p:cNvPr id="10" name="Text 7"/>
          <p:cNvSpPr/>
          <p:nvPr/>
        </p:nvSpPr>
        <p:spPr>
          <a:xfrm>
            <a:off x="7442200" y="2844800"/>
            <a:ext cx="2120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死锁自愈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42200" y="3200400"/>
            <a:ext cx="2095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系统稳定性提升至 </a:t>
            </a:r>
            <a:r>
              <a:rPr lang="en-US" sz="1400" b="1" dirty="0">
                <a:solidFill>
                  <a:srgbClr val="CD853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99.2%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4000" y="4013200"/>
            <a:ext cx="5715000" cy="1219200"/>
          </a:xfrm>
          <a:custGeom>
            <a:avLst/>
            <a:gdLst/>
            <a:ahLst/>
            <a:cxnLst/>
            <a:rect l="l" t="t" r="r" b="b"/>
            <a:pathLst>
              <a:path w="5715000" h="1219200">
                <a:moveTo>
                  <a:pt x="101596" y="0"/>
                </a:moveTo>
                <a:lnTo>
                  <a:pt x="5613404" y="0"/>
                </a:lnTo>
                <a:cubicBezTo>
                  <a:pt x="5669514" y="0"/>
                  <a:pt x="5715000" y="45486"/>
                  <a:pt x="5715000" y="101596"/>
                </a:cubicBezTo>
                <a:lnTo>
                  <a:pt x="5715000" y="1117604"/>
                </a:lnTo>
                <a:cubicBezTo>
                  <a:pt x="5715000" y="1173714"/>
                  <a:pt x="5669514" y="1219200"/>
                  <a:pt x="56134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4682B4">
              <a:alpha val="10196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635000" y="4394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228600" y="371475"/>
                </a:moveTo>
                <a:cubicBezTo>
                  <a:pt x="260122" y="371475"/>
                  <a:pt x="285750" y="345847"/>
                  <a:pt x="285750" y="314325"/>
                </a:cubicBezTo>
                <a:cubicBezTo>
                  <a:pt x="285750" y="299859"/>
                  <a:pt x="280392" y="286554"/>
                  <a:pt x="271463" y="276552"/>
                </a:cubicBezTo>
                <a:lnTo>
                  <a:pt x="333524" y="152519"/>
                </a:lnTo>
                <a:cubicBezTo>
                  <a:pt x="338792" y="141893"/>
                  <a:pt x="334506" y="129034"/>
                  <a:pt x="323969" y="123765"/>
                </a:cubicBezTo>
                <a:cubicBezTo>
                  <a:pt x="313432" y="118497"/>
                  <a:pt x="300484" y="122783"/>
                  <a:pt x="295215" y="133320"/>
                </a:cubicBezTo>
                <a:lnTo>
                  <a:pt x="233154" y="257354"/>
                </a:lnTo>
                <a:cubicBezTo>
                  <a:pt x="231636" y="257264"/>
                  <a:pt x="230118" y="257175"/>
                  <a:pt x="228600" y="257175"/>
                </a:cubicBezTo>
                <a:cubicBezTo>
                  <a:pt x="197078" y="257175"/>
                  <a:pt x="171450" y="282803"/>
                  <a:pt x="171450" y="314325"/>
                </a:cubicBezTo>
                <a:cubicBezTo>
                  <a:pt x="171450" y="345847"/>
                  <a:pt x="197078" y="371475"/>
                  <a:pt x="228600" y="371475"/>
                </a:cubicBezTo>
                <a:close/>
                <a:moveTo>
                  <a:pt x="157163" y="128588"/>
                </a:moveTo>
                <a:cubicBezTo>
                  <a:pt x="157163" y="112817"/>
                  <a:pt x="144358" y="100013"/>
                  <a:pt x="128588" y="100013"/>
                </a:cubicBezTo>
                <a:cubicBezTo>
                  <a:pt x="112817" y="100013"/>
                  <a:pt x="100013" y="112817"/>
                  <a:pt x="100013" y="128588"/>
                </a:cubicBezTo>
                <a:cubicBezTo>
                  <a:pt x="100013" y="144358"/>
                  <a:pt x="112817" y="157163"/>
                  <a:pt x="128588" y="157163"/>
                </a:cubicBezTo>
                <a:cubicBezTo>
                  <a:pt x="144358" y="157163"/>
                  <a:pt x="157163" y="144358"/>
                  <a:pt x="157163" y="128588"/>
                </a:cubicBezTo>
                <a:close/>
                <a:moveTo>
                  <a:pt x="85725" y="257175"/>
                </a:moveTo>
                <a:cubicBezTo>
                  <a:pt x="101496" y="257175"/>
                  <a:pt x="114300" y="244371"/>
                  <a:pt x="114300" y="228600"/>
                </a:cubicBez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lose/>
                <a:moveTo>
                  <a:pt x="400050" y="228600"/>
                </a:moveTo>
                <a:cubicBezTo>
                  <a:pt x="400050" y="212829"/>
                  <a:pt x="387246" y="200025"/>
                  <a:pt x="371475" y="200025"/>
                </a:cubicBezTo>
                <a:cubicBezTo>
                  <a:pt x="355704" y="200025"/>
                  <a:pt x="342900" y="212829"/>
                  <a:pt x="342900" y="228600"/>
                </a:cubicBezTo>
                <a:cubicBezTo>
                  <a:pt x="342900" y="244371"/>
                  <a:pt x="355704" y="257175"/>
                  <a:pt x="371475" y="257175"/>
                </a:cubicBezTo>
                <a:cubicBezTo>
                  <a:pt x="387246" y="257175"/>
                  <a:pt x="400050" y="244371"/>
                  <a:pt x="400050" y="228600"/>
                </a:cubicBezTo>
                <a:close/>
              </a:path>
            </a:pathLst>
          </a:custGeom>
          <a:solidFill>
            <a:srgbClr val="4682B4"/>
          </a:solidFill>
        </p:spPr>
      </p:sp>
      <p:sp>
        <p:nvSpPr>
          <p:cNvPr id="14" name="Text 11"/>
          <p:cNvSpPr/>
          <p:nvPr/>
        </p:nvSpPr>
        <p:spPr>
          <a:xfrm>
            <a:off x="1473200" y="4318000"/>
            <a:ext cx="241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高频响应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73200" y="4673600"/>
            <a:ext cx="2387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分层强化学习实现 </a:t>
            </a:r>
            <a:r>
              <a:rPr lang="en-US" sz="1400" b="1" dirty="0">
                <a:solidFill>
                  <a:srgbClr val="4682B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50Hz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响应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23000" y="4013200"/>
            <a:ext cx="5715000" cy="1219200"/>
          </a:xfrm>
          <a:custGeom>
            <a:avLst/>
            <a:gdLst/>
            <a:ahLst/>
            <a:cxnLst/>
            <a:rect l="l" t="t" r="r" b="b"/>
            <a:pathLst>
              <a:path w="5715000" h="1219200">
                <a:moveTo>
                  <a:pt x="101596" y="0"/>
                </a:moveTo>
                <a:lnTo>
                  <a:pt x="5613404" y="0"/>
                </a:lnTo>
                <a:cubicBezTo>
                  <a:pt x="5669514" y="0"/>
                  <a:pt x="5715000" y="45486"/>
                  <a:pt x="5715000" y="101596"/>
                </a:cubicBezTo>
                <a:lnTo>
                  <a:pt x="5715000" y="1117604"/>
                </a:lnTo>
                <a:cubicBezTo>
                  <a:pt x="5715000" y="1173714"/>
                  <a:pt x="5669514" y="1219200"/>
                  <a:pt x="56134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FFD700">
              <a:alpha val="20000"/>
            </a:srgbClr>
          </a:solidFill>
        </p:spPr>
      </p:sp>
      <p:sp>
        <p:nvSpPr>
          <p:cNvPr id="17" name="Shape 14"/>
          <p:cNvSpPr/>
          <p:nvPr/>
        </p:nvSpPr>
        <p:spPr>
          <a:xfrm>
            <a:off x="6689725" y="4394200"/>
            <a:ext cx="285750" cy="457200"/>
          </a:xfrm>
          <a:custGeom>
            <a:avLst/>
            <a:gdLst/>
            <a:ahLst/>
            <a:cxnLst/>
            <a:rect l="l" t="t" r="r" b="b"/>
            <a:pathLst>
              <a:path w="285750" h="457200">
                <a:moveTo>
                  <a:pt x="121444" y="21431"/>
                </a:moveTo>
                <a:cubicBezTo>
                  <a:pt x="121444" y="9555"/>
                  <a:pt x="130999" y="0"/>
                  <a:pt x="142875" y="0"/>
                </a:cubicBezTo>
                <a:cubicBezTo>
                  <a:pt x="154751" y="0"/>
                  <a:pt x="164306" y="9555"/>
                  <a:pt x="164306" y="21431"/>
                </a:cubicBezTo>
                <a:lnTo>
                  <a:pt x="164306" y="57150"/>
                </a:lnTo>
                <a:lnTo>
                  <a:pt x="214313" y="57150"/>
                </a:lnTo>
                <a:cubicBezTo>
                  <a:pt x="230118" y="57150"/>
                  <a:pt x="242888" y="69919"/>
                  <a:pt x="242888" y="85725"/>
                </a:cubicBezTo>
                <a:cubicBezTo>
                  <a:pt x="242888" y="101531"/>
                  <a:pt x="230118" y="114300"/>
                  <a:pt x="214313" y="114300"/>
                </a:cubicBezTo>
                <a:lnTo>
                  <a:pt x="111710" y="114300"/>
                </a:lnTo>
                <a:cubicBezTo>
                  <a:pt x="89475" y="114300"/>
                  <a:pt x="71438" y="132338"/>
                  <a:pt x="71438" y="154573"/>
                </a:cubicBezTo>
                <a:cubicBezTo>
                  <a:pt x="71438" y="174665"/>
                  <a:pt x="86171" y="191631"/>
                  <a:pt x="105995" y="194489"/>
                </a:cubicBezTo>
                <a:lnTo>
                  <a:pt x="187791" y="206186"/>
                </a:lnTo>
                <a:cubicBezTo>
                  <a:pt x="235833" y="213062"/>
                  <a:pt x="271463" y="254139"/>
                  <a:pt x="271463" y="302627"/>
                </a:cubicBezTo>
                <a:cubicBezTo>
                  <a:pt x="271463" y="356473"/>
                  <a:pt x="227796" y="400050"/>
                  <a:pt x="174040" y="400050"/>
                </a:cubicBezTo>
                <a:lnTo>
                  <a:pt x="164306" y="400050"/>
                </a:lnTo>
                <a:lnTo>
                  <a:pt x="164306" y="435769"/>
                </a:lnTo>
                <a:cubicBezTo>
                  <a:pt x="164306" y="447645"/>
                  <a:pt x="154751" y="457200"/>
                  <a:pt x="142875" y="457200"/>
                </a:cubicBezTo>
                <a:cubicBezTo>
                  <a:pt x="130999" y="457200"/>
                  <a:pt x="121444" y="447645"/>
                  <a:pt x="121444" y="435769"/>
                </a:cubicBezTo>
                <a:lnTo>
                  <a:pt x="121444" y="400050"/>
                </a:lnTo>
                <a:lnTo>
                  <a:pt x="57150" y="400050"/>
                </a:lnTo>
                <a:cubicBezTo>
                  <a:pt x="41344" y="400050"/>
                  <a:pt x="28575" y="387281"/>
                  <a:pt x="28575" y="371475"/>
                </a:cubicBezTo>
                <a:cubicBezTo>
                  <a:pt x="28575" y="355669"/>
                  <a:pt x="41344" y="342900"/>
                  <a:pt x="57150" y="342900"/>
                </a:cubicBezTo>
                <a:lnTo>
                  <a:pt x="174040" y="342900"/>
                </a:lnTo>
                <a:cubicBezTo>
                  <a:pt x="196275" y="342900"/>
                  <a:pt x="214313" y="324862"/>
                  <a:pt x="214313" y="302627"/>
                </a:cubicBezTo>
                <a:cubicBezTo>
                  <a:pt x="214313" y="282535"/>
                  <a:pt x="199579" y="265569"/>
                  <a:pt x="179755" y="262711"/>
                </a:cubicBezTo>
                <a:lnTo>
                  <a:pt x="97959" y="251014"/>
                </a:lnTo>
                <a:cubicBezTo>
                  <a:pt x="49917" y="244227"/>
                  <a:pt x="14288" y="203061"/>
                  <a:pt x="14288" y="154573"/>
                </a:cubicBezTo>
                <a:cubicBezTo>
                  <a:pt x="14288" y="100816"/>
                  <a:pt x="57954" y="57150"/>
                  <a:pt x="111710" y="57150"/>
                </a:cubicBezTo>
                <a:lnTo>
                  <a:pt x="121444" y="57150"/>
                </a:lnTo>
                <a:lnTo>
                  <a:pt x="121444" y="21431"/>
                </a:lnTo>
                <a:close/>
              </a:path>
            </a:pathLst>
          </a:custGeom>
          <a:solidFill>
            <a:srgbClr val="A0522D"/>
          </a:solidFill>
        </p:spPr>
      </p:sp>
      <p:sp>
        <p:nvSpPr>
          <p:cNvPr id="18" name="Text 15"/>
          <p:cNvSpPr/>
          <p:nvPr/>
        </p:nvSpPr>
        <p:spPr>
          <a:xfrm>
            <a:off x="7442200" y="4318000"/>
            <a:ext cx="2768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成本优化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442200" y="4673600"/>
            <a:ext cx="2743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单机成本降低 </a:t>
            </a:r>
            <a:r>
              <a:rPr lang="en-US" sz="14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30%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，续航≥5小时</a:t>
            </a:r>
            <a:endParaRPr lang="en-US" sz="1600" dirty="0"/>
          </a:p>
        </p:txBody>
      </p:sp>
      <p:grpSp>
        <p:nvGrpSpPr>
          <p:cNvPr id="20" name="组合 19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23" name="标题 1"/>
          <p:cNvSpPr>
            <a:spLocks noGrp="1"/>
          </p:cNvSpPr>
          <p:nvPr/>
        </p:nvSpPr>
        <p:spPr>
          <a:xfrm>
            <a:off x="3266125" y="-2531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项目创新点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22875" y="1552575"/>
            <a:ext cx="1786255" cy="1786255"/>
          </a:xfrm>
          <a:prstGeom prst="ellipse">
            <a:avLst/>
          </a:prstGeom>
          <a:solidFill>
            <a:srgbClr val="FEE695"/>
          </a:solidFill>
        </p:spPr>
      </p:sp>
      <p:sp>
        <p:nvSpPr>
          <p:cNvPr id="3" name="Text 1"/>
          <p:cNvSpPr/>
          <p:nvPr/>
        </p:nvSpPr>
        <p:spPr>
          <a:xfrm>
            <a:off x="5222875" y="1552575"/>
            <a:ext cx="1786255" cy="17862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70980" y="1552575"/>
            <a:ext cx="527050" cy="527050"/>
          </a:xfrm>
          <a:prstGeom prst="ellipse">
            <a:avLst/>
          </a:prstGeom>
          <a:solidFill>
            <a:srgbClr val="4874CB"/>
          </a:solidFill>
        </p:spPr>
      </p:sp>
      <p:sp>
        <p:nvSpPr>
          <p:cNvPr id="5" name="Text 3"/>
          <p:cNvSpPr/>
          <p:nvPr/>
        </p:nvSpPr>
        <p:spPr>
          <a:xfrm>
            <a:off x="6570980" y="1552575"/>
            <a:ext cx="527050" cy="527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dirty="0">
                <a:solidFill>
                  <a:srgbClr val="FEE5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商业与推广</a:t>
            </a:r>
            <a:endParaRPr lang="en-US" sz="1600" dirty="0"/>
          </a:p>
        </p:txBody>
      </p:sp>
      <p:pic>
        <p:nvPicPr>
          <p:cNvPr id="10" name="Image 0" descr="https://kimi-img.moonshot.cn/pub/slides/slides_tmpl/image/25-10-10-11:40:17-d3k8088s8jdo4os5e6q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045" y="345440"/>
            <a:ext cx="597535" cy="280670"/>
          </a:xfrm>
          <a:prstGeom prst="rect">
            <a:avLst/>
          </a:prstGeom>
        </p:spPr>
      </p:pic>
      <p:pic>
        <p:nvPicPr>
          <p:cNvPr id="11" name="Image 1" descr="https://kimi-img.moonshot.cn/pub/slides/slides_tmpl/image/25-10-10-11:40:17-d3k8088s8jdo4os5e6q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540" y="345440"/>
            <a:ext cx="597535" cy="280670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1:40:18-d3k808gs8jdo4os5e6t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726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320800"/>
            <a:ext cx="56642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盈利模式与定价策略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2032000"/>
            <a:ext cx="5549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CD853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“硬件销售+订阅服务”双轮驱动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2692400"/>
            <a:ext cx="5435600" cy="1320800"/>
          </a:xfrm>
          <a:custGeom>
            <a:avLst/>
            <a:gdLst/>
            <a:ahLst/>
            <a:cxnLst/>
            <a:rect l="l" t="t" r="r" b="b"/>
            <a:pathLst>
              <a:path w="5435600" h="1320800">
                <a:moveTo>
                  <a:pt x="101596" y="0"/>
                </a:moveTo>
                <a:lnTo>
                  <a:pt x="5334004" y="0"/>
                </a:lnTo>
                <a:cubicBezTo>
                  <a:pt x="5390114" y="0"/>
                  <a:pt x="5435600" y="45486"/>
                  <a:pt x="5435600" y="101596"/>
                </a:cubicBezTo>
                <a:lnTo>
                  <a:pt x="5435600" y="1219204"/>
                </a:lnTo>
                <a:cubicBezTo>
                  <a:pt x="5435600" y="1275314"/>
                  <a:pt x="5390114" y="1320800"/>
                  <a:pt x="53340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A0522D">
              <a:alpha val="10196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457200" y="2895600"/>
            <a:ext cx="5143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硬件销售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251200"/>
            <a:ext cx="5118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标准版 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98万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/ 专业版 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128万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606800"/>
            <a:ext cx="51054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价格较国际同类低30%-40%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54000" y="4216400"/>
            <a:ext cx="5435600" cy="1320800"/>
          </a:xfrm>
          <a:custGeom>
            <a:avLst/>
            <a:gdLst/>
            <a:ahLst/>
            <a:cxnLst/>
            <a:rect l="l" t="t" r="r" b="b"/>
            <a:pathLst>
              <a:path w="5435600" h="1320800">
                <a:moveTo>
                  <a:pt x="101596" y="0"/>
                </a:moveTo>
                <a:lnTo>
                  <a:pt x="5334004" y="0"/>
                </a:lnTo>
                <a:cubicBezTo>
                  <a:pt x="5390114" y="0"/>
                  <a:pt x="5435600" y="45486"/>
                  <a:pt x="5435600" y="101596"/>
                </a:cubicBezTo>
                <a:lnTo>
                  <a:pt x="5435600" y="1219204"/>
                </a:lnTo>
                <a:cubicBezTo>
                  <a:pt x="5435600" y="1275314"/>
                  <a:pt x="5390114" y="1320800"/>
                  <a:pt x="53340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CD853F">
              <a:alpha val="10196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457200" y="4419600"/>
            <a:ext cx="5143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D853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订阅服务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4775200"/>
            <a:ext cx="5118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软件年费为硬件售价 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15%-20%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5130800"/>
            <a:ext cx="51054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6A728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创造持续现金流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096000" y="254000"/>
            <a:ext cx="5842000" cy="6350000"/>
          </a:xfrm>
          <a:custGeom>
            <a:avLst/>
            <a:gdLst/>
            <a:ahLst/>
            <a:cxnLst/>
            <a:rect l="l" t="t" r="r" b="b"/>
            <a:pathLst>
              <a:path w="5842000" h="6350000">
                <a:moveTo>
                  <a:pt x="101592" y="0"/>
                </a:moveTo>
                <a:lnTo>
                  <a:pt x="5740408" y="0"/>
                </a:lnTo>
                <a:cubicBezTo>
                  <a:pt x="5796516" y="0"/>
                  <a:pt x="5842000" y="45484"/>
                  <a:pt x="5842000" y="101592"/>
                </a:cubicBezTo>
                <a:lnTo>
                  <a:pt x="5842000" y="6248408"/>
                </a:lnTo>
                <a:cubicBezTo>
                  <a:pt x="5842000" y="6304516"/>
                  <a:pt x="5796516" y="6350000"/>
                  <a:pt x="5740408" y="6350000"/>
                </a:cubicBezTo>
                <a:lnTo>
                  <a:pt x="101592" y="6350000"/>
                </a:lnTo>
                <a:cubicBezTo>
                  <a:pt x="45484" y="6350000"/>
                  <a:pt x="0" y="6304516"/>
                  <a:pt x="0" y="62484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4682B4">
              <a:alpha val="10196"/>
            </a:srgbClr>
          </a:solidFill>
        </p:spPr>
      </p:sp>
      <p:sp>
        <p:nvSpPr>
          <p:cNvPr id="14" name="Shape 11"/>
          <p:cNvSpPr/>
          <p:nvPr/>
        </p:nvSpPr>
        <p:spPr>
          <a:xfrm>
            <a:off x="8588375" y="2336800"/>
            <a:ext cx="857250" cy="762000"/>
          </a:xfrm>
          <a:custGeom>
            <a:avLst/>
            <a:gdLst/>
            <a:ahLst/>
            <a:cxnLst/>
            <a:rect l="l" t="t" r="r" b="b"/>
            <a:pathLst>
              <a:path w="857250" h="762000">
                <a:moveTo>
                  <a:pt x="762595" y="357188"/>
                </a:moveTo>
                <a:lnTo>
                  <a:pt x="500658" y="357188"/>
                </a:lnTo>
                <a:cubicBezTo>
                  <a:pt x="474315" y="357188"/>
                  <a:pt x="453033" y="335905"/>
                  <a:pt x="453033" y="309563"/>
                </a:cubicBezTo>
                <a:lnTo>
                  <a:pt x="453033" y="47625"/>
                </a:lnTo>
                <a:cubicBezTo>
                  <a:pt x="453033" y="21282"/>
                  <a:pt x="474464" y="-298"/>
                  <a:pt x="500509" y="3125"/>
                </a:cubicBezTo>
                <a:cubicBezTo>
                  <a:pt x="659755" y="24259"/>
                  <a:pt x="785961" y="150465"/>
                  <a:pt x="807095" y="309711"/>
                </a:cubicBezTo>
                <a:cubicBezTo>
                  <a:pt x="810518" y="335756"/>
                  <a:pt x="788938" y="357188"/>
                  <a:pt x="762595" y="357188"/>
                </a:cubicBezTo>
                <a:close/>
                <a:moveTo>
                  <a:pt x="331291" y="55364"/>
                </a:moveTo>
                <a:cubicBezTo>
                  <a:pt x="358229" y="49709"/>
                  <a:pt x="381595" y="71735"/>
                  <a:pt x="381595" y="99268"/>
                </a:cubicBezTo>
                <a:lnTo>
                  <a:pt x="381595" y="392906"/>
                </a:lnTo>
                <a:cubicBezTo>
                  <a:pt x="381595" y="401241"/>
                  <a:pt x="384572" y="409277"/>
                  <a:pt x="389781" y="415677"/>
                </a:cubicBezTo>
                <a:lnTo>
                  <a:pt x="586383" y="652909"/>
                </a:lnTo>
                <a:cubicBezTo>
                  <a:pt x="603796" y="673894"/>
                  <a:pt x="600075" y="705594"/>
                  <a:pt x="576114" y="718542"/>
                </a:cubicBezTo>
                <a:cubicBezTo>
                  <a:pt x="525363" y="746224"/>
                  <a:pt x="467171" y="762000"/>
                  <a:pt x="405408" y="762000"/>
                </a:cubicBezTo>
                <a:cubicBezTo>
                  <a:pt x="208211" y="762000"/>
                  <a:pt x="48220" y="602010"/>
                  <a:pt x="48220" y="404813"/>
                </a:cubicBezTo>
                <a:cubicBezTo>
                  <a:pt x="48220" y="232916"/>
                  <a:pt x="169515" y="89446"/>
                  <a:pt x="331291" y="55364"/>
                </a:cubicBezTo>
                <a:close/>
                <a:moveTo>
                  <a:pt x="711101" y="428625"/>
                </a:moveTo>
                <a:lnTo>
                  <a:pt x="806351" y="428625"/>
                </a:lnTo>
                <a:cubicBezTo>
                  <a:pt x="833884" y="428625"/>
                  <a:pt x="855911" y="451991"/>
                  <a:pt x="850255" y="478929"/>
                </a:cubicBezTo>
                <a:cubicBezTo>
                  <a:pt x="835075" y="550962"/>
                  <a:pt x="798165" y="614958"/>
                  <a:pt x="746671" y="663773"/>
                </a:cubicBezTo>
                <a:cubicBezTo>
                  <a:pt x="728365" y="681186"/>
                  <a:pt x="699641" y="677466"/>
                  <a:pt x="683568" y="657969"/>
                </a:cubicBezTo>
                <a:lnTo>
                  <a:pt x="557957" y="506611"/>
                </a:lnTo>
                <a:cubicBezTo>
                  <a:pt x="532209" y="475506"/>
                  <a:pt x="554385" y="428625"/>
                  <a:pt x="594568" y="428625"/>
                </a:cubicBezTo>
                <a:lnTo>
                  <a:pt x="710952" y="428625"/>
                </a:lnTo>
                <a:close/>
              </a:path>
            </a:pathLst>
          </a:custGeom>
          <a:solidFill>
            <a:srgbClr val="4682B4"/>
          </a:solidFill>
        </p:spPr>
      </p:sp>
      <p:sp>
        <p:nvSpPr>
          <p:cNvPr id="15" name="Text 12"/>
          <p:cNvSpPr/>
          <p:nvPr/>
        </p:nvSpPr>
        <p:spPr>
          <a:xfrm>
            <a:off x="8445500" y="3530600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财务预测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886105" y="3987800"/>
            <a:ext cx="2260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预计 </a:t>
            </a:r>
            <a:r>
              <a:rPr lang="en-US" sz="1600" b="1" dirty="0">
                <a:solidFill>
                  <a:srgbClr val="4682B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18个月</a:t>
            </a: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内盈亏平衡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70813" y="4343400"/>
            <a:ext cx="2489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累计营收超 </a:t>
            </a:r>
            <a:r>
              <a:rPr lang="en-US" sz="2400" b="1" dirty="0">
                <a:solidFill>
                  <a:srgbClr val="4682B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3000万元</a:t>
            </a:r>
            <a:endParaRPr lang="en-US" sz="1600" dirty="0"/>
          </a:p>
        </p:txBody>
      </p:sp>
      <p:grpSp>
        <p:nvGrpSpPr>
          <p:cNvPr id="18" name="组合 17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21" name="标题 1"/>
          <p:cNvSpPr>
            <a:spLocks noGrp="1"/>
          </p:cNvSpPr>
          <p:nvPr/>
        </p:nvSpPr>
        <p:spPr>
          <a:xfrm>
            <a:off x="3185057" y="-2531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商业模式与市场推广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1:40:18-d3k808gs8jdo4os5e6t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726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1676400"/>
            <a:ext cx="11912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十八个月市场推进路线图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08000" y="3098800"/>
            <a:ext cx="11176000" cy="50800"/>
          </a:xfrm>
          <a:custGeom>
            <a:avLst/>
            <a:gdLst/>
            <a:ahLst/>
            <a:cxnLst/>
            <a:rect l="l" t="t" r="r" b="b"/>
            <a:pathLst>
              <a:path w="11176000" h="50800">
                <a:moveTo>
                  <a:pt x="0" y="0"/>
                </a:moveTo>
                <a:lnTo>
                  <a:pt x="11176000" y="0"/>
                </a:lnTo>
                <a:lnTo>
                  <a:pt x="1117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A0522D"/>
              </a:gs>
              <a:gs pos="50000">
                <a:srgbClr val="CD853F"/>
              </a:gs>
              <a:gs pos="100000">
                <a:srgbClr val="4682B4"/>
              </a:gs>
            </a:gsLst>
            <a:lin ang="0" scaled="1"/>
          </a:gradFill>
        </p:spPr>
      </p:sp>
      <p:sp>
        <p:nvSpPr>
          <p:cNvPr id="5" name="Shape 2"/>
          <p:cNvSpPr/>
          <p:nvPr/>
        </p:nvSpPr>
        <p:spPr>
          <a:xfrm>
            <a:off x="1964134" y="2692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A0522D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37184" y="2946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71450" y="0"/>
                </a:moveTo>
                <a:lnTo>
                  <a:pt x="76200" y="0"/>
                </a:lnTo>
                <a:cubicBezTo>
                  <a:pt x="65663" y="0"/>
                  <a:pt x="57150" y="8513"/>
                  <a:pt x="57150" y="19050"/>
                </a:cubicBezTo>
                <a:cubicBezTo>
                  <a:pt x="57150" y="29587"/>
                  <a:pt x="65663" y="38100"/>
                  <a:pt x="76200" y="38100"/>
                </a:cubicBezTo>
                <a:lnTo>
                  <a:pt x="76200" y="128290"/>
                </a:lnTo>
                <a:lnTo>
                  <a:pt x="4465" y="253782"/>
                </a:lnTo>
                <a:cubicBezTo>
                  <a:pt x="1548" y="258961"/>
                  <a:pt x="0" y="264735"/>
                  <a:pt x="0" y="270689"/>
                </a:cubicBezTo>
                <a:cubicBezTo>
                  <a:pt x="0" y="289560"/>
                  <a:pt x="15240" y="304800"/>
                  <a:pt x="34111" y="304800"/>
                </a:cubicBezTo>
                <a:lnTo>
                  <a:pt x="232589" y="304800"/>
                </a:lnTo>
                <a:cubicBezTo>
                  <a:pt x="251400" y="304800"/>
                  <a:pt x="266700" y="289560"/>
                  <a:pt x="266700" y="270689"/>
                </a:cubicBezTo>
                <a:cubicBezTo>
                  <a:pt x="266700" y="264735"/>
                  <a:pt x="265152" y="258901"/>
                  <a:pt x="262235" y="253782"/>
                </a:cubicBezTo>
                <a:lnTo>
                  <a:pt x="190500" y="128290"/>
                </a:lnTo>
                <a:lnTo>
                  <a:pt x="190500" y="38100"/>
                </a:lnTo>
                <a:cubicBezTo>
                  <a:pt x="201037" y="38100"/>
                  <a:pt x="209550" y="29587"/>
                  <a:pt x="209550" y="19050"/>
                </a:cubicBezTo>
                <a:cubicBezTo>
                  <a:pt x="209550" y="8513"/>
                  <a:pt x="201037" y="0"/>
                  <a:pt x="190500" y="0"/>
                </a:cubicBezTo>
                <a:lnTo>
                  <a:pt x="171450" y="0"/>
                </a:lnTo>
                <a:close/>
                <a:moveTo>
                  <a:pt x="114300" y="128290"/>
                </a:moveTo>
                <a:lnTo>
                  <a:pt x="114300" y="38100"/>
                </a:lnTo>
                <a:lnTo>
                  <a:pt x="152400" y="38100"/>
                </a:lnTo>
                <a:lnTo>
                  <a:pt x="152400" y="128290"/>
                </a:lnTo>
                <a:cubicBezTo>
                  <a:pt x="152400" y="134898"/>
                  <a:pt x="154126" y="141446"/>
                  <a:pt x="157401" y="147221"/>
                </a:cubicBezTo>
                <a:lnTo>
                  <a:pt x="182166" y="190500"/>
                </a:lnTo>
                <a:lnTo>
                  <a:pt x="84534" y="190500"/>
                </a:lnTo>
                <a:lnTo>
                  <a:pt x="109299" y="147221"/>
                </a:lnTo>
                <a:cubicBezTo>
                  <a:pt x="112574" y="141446"/>
                  <a:pt x="114300" y="134957"/>
                  <a:pt x="114300" y="12829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4"/>
          <p:cNvSpPr/>
          <p:nvPr/>
        </p:nvSpPr>
        <p:spPr>
          <a:xfrm>
            <a:off x="457200" y="3606800"/>
            <a:ext cx="3822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1-6月：试点验证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9900" y="3962400"/>
            <a:ext cx="37973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深圳2园区试点，签约3家标杆客户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689402" y="2692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CD853F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62452" y="2946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00013" y="19050"/>
                </a:moveTo>
                <a:lnTo>
                  <a:pt x="14288" y="19050"/>
                </a:lnTo>
                <a:cubicBezTo>
                  <a:pt x="6370" y="19050"/>
                  <a:pt x="0" y="25420"/>
                  <a:pt x="0" y="33338"/>
                </a:cubicBezTo>
                <a:lnTo>
                  <a:pt x="0" y="119062"/>
                </a:lnTo>
                <a:cubicBezTo>
                  <a:pt x="0" y="124837"/>
                  <a:pt x="3453" y="130076"/>
                  <a:pt x="8811" y="132278"/>
                </a:cubicBezTo>
                <a:cubicBezTo>
                  <a:pt x="14168" y="134481"/>
                  <a:pt x="20300" y="133231"/>
                  <a:pt x="24408" y="129183"/>
                </a:cubicBezTo>
                <a:lnTo>
                  <a:pt x="48220" y="105370"/>
                </a:lnTo>
                <a:lnTo>
                  <a:pt x="95250" y="152400"/>
                </a:lnTo>
                <a:lnTo>
                  <a:pt x="48220" y="199430"/>
                </a:lnTo>
                <a:lnTo>
                  <a:pt x="24408" y="175617"/>
                </a:lnTo>
                <a:cubicBezTo>
                  <a:pt x="20300" y="171510"/>
                  <a:pt x="14168" y="170319"/>
                  <a:pt x="8811" y="172522"/>
                </a:cubicBezTo>
                <a:cubicBezTo>
                  <a:pt x="3453" y="174724"/>
                  <a:pt x="0" y="179963"/>
                  <a:pt x="0" y="185738"/>
                </a:cubicBezTo>
                <a:lnTo>
                  <a:pt x="0" y="271463"/>
                </a:lnTo>
                <a:cubicBezTo>
                  <a:pt x="0" y="279380"/>
                  <a:pt x="6370" y="285750"/>
                  <a:pt x="14288" y="285750"/>
                </a:cubicBezTo>
                <a:lnTo>
                  <a:pt x="100013" y="285750"/>
                </a:lnTo>
                <a:cubicBezTo>
                  <a:pt x="105787" y="285750"/>
                  <a:pt x="111026" y="282297"/>
                  <a:pt x="113228" y="276939"/>
                </a:cubicBezTo>
                <a:cubicBezTo>
                  <a:pt x="115431" y="271582"/>
                  <a:pt x="114240" y="265450"/>
                  <a:pt x="110133" y="261342"/>
                </a:cubicBezTo>
                <a:lnTo>
                  <a:pt x="86320" y="237530"/>
                </a:lnTo>
                <a:lnTo>
                  <a:pt x="133350" y="190500"/>
                </a:lnTo>
                <a:lnTo>
                  <a:pt x="180380" y="237530"/>
                </a:lnTo>
                <a:lnTo>
                  <a:pt x="156567" y="261342"/>
                </a:lnTo>
                <a:cubicBezTo>
                  <a:pt x="152460" y="265450"/>
                  <a:pt x="151269" y="271582"/>
                  <a:pt x="153472" y="276939"/>
                </a:cubicBezTo>
                <a:cubicBezTo>
                  <a:pt x="155674" y="282297"/>
                  <a:pt x="160913" y="285750"/>
                  <a:pt x="166688" y="285750"/>
                </a:cubicBezTo>
                <a:lnTo>
                  <a:pt x="252413" y="285750"/>
                </a:lnTo>
                <a:cubicBezTo>
                  <a:pt x="260330" y="285750"/>
                  <a:pt x="266700" y="279380"/>
                  <a:pt x="266700" y="271463"/>
                </a:cubicBezTo>
                <a:lnTo>
                  <a:pt x="266700" y="185738"/>
                </a:lnTo>
                <a:cubicBezTo>
                  <a:pt x="266700" y="179963"/>
                  <a:pt x="263247" y="174724"/>
                  <a:pt x="257889" y="172522"/>
                </a:cubicBezTo>
                <a:cubicBezTo>
                  <a:pt x="252532" y="170319"/>
                  <a:pt x="246400" y="171510"/>
                  <a:pt x="242292" y="175617"/>
                </a:cubicBezTo>
                <a:lnTo>
                  <a:pt x="218480" y="199430"/>
                </a:lnTo>
                <a:lnTo>
                  <a:pt x="171450" y="152400"/>
                </a:lnTo>
                <a:lnTo>
                  <a:pt x="218480" y="105370"/>
                </a:lnTo>
                <a:lnTo>
                  <a:pt x="242292" y="129183"/>
                </a:lnTo>
                <a:cubicBezTo>
                  <a:pt x="246400" y="133290"/>
                  <a:pt x="252532" y="134481"/>
                  <a:pt x="257889" y="132278"/>
                </a:cubicBezTo>
                <a:cubicBezTo>
                  <a:pt x="263247" y="130076"/>
                  <a:pt x="266700" y="124837"/>
                  <a:pt x="266700" y="119062"/>
                </a:cubicBezTo>
                <a:lnTo>
                  <a:pt x="266700" y="33338"/>
                </a:lnTo>
                <a:cubicBezTo>
                  <a:pt x="266700" y="25420"/>
                  <a:pt x="260330" y="19050"/>
                  <a:pt x="252413" y="19050"/>
                </a:cubicBezTo>
                <a:lnTo>
                  <a:pt x="166688" y="19050"/>
                </a:lnTo>
                <a:cubicBezTo>
                  <a:pt x="160913" y="19050"/>
                  <a:pt x="155674" y="22503"/>
                  <a:pt x="153472" y="27861"/>
                </a:cubicBezTo>
                <a:cubicBezTo>
                  <a:pt x="151269" y="33218"/>
                  <a:pt x="152519" y="39350"/>
                  <a:pt x="156567" y="43458"/>
                </a:cubicBezTo>
                <a:lnTo>
                  <a:pt x="180380" y="67270"/>
                </a:lnTo>
                <a:lnTo>
                  <a:pt x="133350" y="114300"/>
                </a:lnTo>
                <a:lnTo>
                  <a:pt x="86320" y="67270"/>
                </a:lnTo>
                <a:lnTo>
                  <a:pt x="110133" y="43458"/>
                </a:lnTo>
                <a:cubicBezTo>
                  <a:pt x="114240" y="39350"/>
                  <a:pt x="115431" y="33218"/>
                  <a:pt x="113228" y="27861"/>
                </a:cubicBezTo>
                <a:cubicBezTo>
                  <a:pt x="111026" y="22503"/>
                  <a:pt x="105787" y="19050"/>
                  <a:pt x="100013" y="190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1" name="Text 8"/>
          <p:cNvSpPr/>
          <p:nvPr/>
        </p:nvSpPr>
        <p:spPr>
          <a:xfrm>
            <a:off x="4182467" y="3606800"/>
            <a:ext cx="3822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7-12月：区域拓展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195167" y="3962400"/>
            <a:ext cx="37973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拓展大湾区5城，目标销售15台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414669" y="2692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4682B4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630569" y="2946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Text 12"/>
          <p:cNvSpPr/>
          <p:nvPr/>
        </p:nvSpPr>
        <p:spPr>
          <a:xfrm>
            <a:off x="7907734" y="3606800"/>
            <a:ext cx="3822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13-18月：生态构建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920434" y="3962400"/>
            <a:ext cx="37973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与集成商合作，目标占据15%市场份额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54000" y="4572000"/>
            <a:ext cx="11684000" cy="609600"/>
          </a:xfrm>
          <a:custGeom>
            <a:avLst/>
            <a:gdLst/>
            <a:ahLst/>
            <a:cxnLst/>
            <a:rect l="l" t="t" r="r" b="b"/>
            <a:pathLst>
              <a:path w="11684000" h="609600">
                <a:moveTo>
                  <a:pt x="101602" y="0"/>
                </a:moveTo>
                <a:lnTo>
                  <a:pt x="11582398" y="0"/>
                </a:lnTo>
                <a:cubicBezTo>
                  <a:pt x="11638511" y="0"/>
                  <a:pt x="11684000" y="45489"/>
                  <a:pt x="11684000" y="101602"/>
                </a:cubicBezTo>
                <a:lnTo>
                  <a:pt x="11684000" y="507998"/>
                </a:lnTo>
                <a:cubicBezTo>
                  <a:pt x="11684000" y="564111"/>
                  <a:pt x="11638511" y="609600"/>
                  <a:pt x="115823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0522D">
              <a:alpha val="10196"/>
            </a:srgbClr>
          </a:solidFill>
        </p:spPr>
      </p:sp>
      <p:sp>
        <p:nvSpPr>
          <p:cNvPr id="18" name="Text 15"/>
          <p:cNvSpPr/>
          <p:nvPr/>
        </p:nvSpPr>
        <p:spPr>
          <a:xfrm>
            <a:off x="355600" y="4724400"/>
            <a:ext cx="1148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渠道、政策、资本三方加持，快速复制到化工、电力、地铁等高危场景</a:t>
            </a:r>
            <a:endParaRPr lang="en-US" sz="1600" dirty="0"/>
          </a:p>
        </p:txBody>
      </p:sp>
      <p:grpSp>
        <p:nvGrpSpPr>
          <p:cNvPr id="19" name="组合 18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22" name="标题 1"/>
          <p:cNvSpPr>
            <a:spLocks noGrp="1"/>
          </p:cNvSpPr>
          <p:nvPr/>
        </p:nvSpPr>
        <p:spPr>
          <a:xfrm>
            <a:off x="3185057" y="-2531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商业模式与市场推广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22875" y="1552575"/>
            <a:ext cx="1786255" cy="1786255"/>
          </a:xfrm>
          <a:prstGeom prst="ellipse">
            <a:avLst/>
          </a:prstGeom>
          <a:solidFill>
            <a:srgbClr val="FEE695"/>
          </a:solidFill>
        </p:spPr>
      </p:sp>
      <p:sp>
        <p:nvSpPr>
          <p:cNvPr id="3" name="Text 1"/>
          <p:cNvSpPr/>
          <p:nvPr/>
        </p:nvSpPr>
        <p:spPr>
          <a:xfrm>
            <a:off x="5222875" y="1552575"/>
            <a:ext cx="1786255" cy="17862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70980" y="1552575"/>
            <a:ext cx="527050" cy="527050"/>
          </a:xfrm>
          <a:prstGeom prst="ellipse">
            <a:avLst/>
          </a:prstGeom>
          <a:solidFill>
            <a:srgbClr val="4874CB"/>
          </a:solidFill>
        </p:spPr>
      </p:sp>
      <p:sp>
        <p:nvSpPr>
          <p:cNvPr id="5" name="Text 3"/>
          <p:cNvSpPr/>
          <p:nvPr/>
        </p:nvSpPr>
        <p:spPr>
          <a:xfrm>
            <a:off x="6570980" y="1552575"/>
            <a:ext cx="527050" cy="527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dirty="0">
                <a:solidFill>
                  <a:srgbClr val="FEE5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价值与团队</a:t>
            </a:r>
            <a:endParaRPr lang="en-US" sz="1600" dirty="0"/>
          </a:p>
        </p:txBody>
      </p:sp>
      <p:pic>
        <p:nvPicPr>
          <p:cNvPr id="10" name="Image 0" descr="https://kimi-img.moonshot.cn/pub/slides/slides_tmpl/image/25-10-10-11:40:17-d3k8088s8jdo4os5e6q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045" y="345440"/>
            <a:ext cx="597535" cy="280670"/>
          </a:xfrm>
          <a:prstGeom prst="rect">
            <a:avLst/>
          </a:prstGeom>
        </p:spPr>
      </p:pic>
      <p:pic>
        <p:nvPicPr>
          <p:cNvPr id="11" name="Image 1" descr="https://kimi-img.moonshot.cn/pub/slides/slides_tmpl/image/25-10-10-11:40:17-d3k8088s8jdo4os5e6q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540" y="345440"/>
            <a:ext cx="597535" cy="280670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1:40:18-d3k808gs8jdo4os5e6t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726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02400" y="1701800"/>
            <a:ext cx="56642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社会价值与政策契合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502400" y="2413000"/>
            <a:ext cx="5549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CD853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构建“技术-产业-人才”可持续闭环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584950" y="31242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33350" y="147638"/>
                </a:moveTo>
                <a:cubicBezTo>
                  <a:pt x="172777" y="147638"/>
                  <a:pt x="204787" y="115627"/>
                  <a:pt x="204787" y="76200"/>
                </a:cubicBezTo>
                <a:cubicBezTo>
                  <a:pt x="204787" y="36773"/>
                  <a:pt x="172777" y="4763"/>
                  <a:pt x="133350" y="4763"/>
                </a:cubicBezTo>
                <a:cubicBezTo>
                  <a:pt x="93923" y="4763"/>
                  <a:pt x="61913" y="36773"/>
                  <a:pt x="61912" y="76200"/>
                </a:cubicBezTo>
                <a:cubicBezTo>
                  <a:pt x="61912" y="115627"/>
                  <a:pt x="93923" y="147638"/>
                  <a:pt x="133350" y="147638"/>
                </a:cubicBezTo>
                <a:close/>
                <a:moveTo>
                  <a:pt x="115669" y="180975"/>
                </a:moveTo>
                <a:cubicBezTo>
                  <a:pt x="57031" y="180975"/>
                  <a:pt x="9525" y="228481"/>
                  <a:pt x="9525" y="287119"/>
                </a:cubicBezTo>
                <a:cubicBezTo>
                  <a:pt x="9525" y="296882"/>
                  <a:pt x="17443" y="304800"/>
                  <a:pt x="27206" y="304800"/>
                </a:cubicBezTo>
                <a:lnTo>
                  <a:pt x="176927" y="304800"/>
                </a:lnTo>
                <a:cubicBezTo>
                  <a:pt x="155377" y="279440"/>
                  <a:pt x="142875" y="246757"/>
                  <a:pt x="142875" y="212169"/>
                </a:cubicBezTo>
                <a:lnTo>
                  <a:pt x="142875" y="193655"/>
                </a:lnTo>
                <a:cubicBezTo>
                  <a:pt x="142875" y="189309"/>
                  <a:pt x="143470" y="185023"/>
                  <a:pt x="144601" y="180975"/>
                </a:cubicBezTo>
                <a:lnTo>
                  <a:pt x="115669" y="180975"/>
                </a:lnTo>
                <a:close/>
                <a:moveTo>
                  <a:pt x="265093" y="290810"/>
                </a:moveTo>
                <a:lnTo>
                  <a:pt x="257175" y="294561"/>
                </a:lnTo>
                <a:lnTo>
                  <a:pt x="257175" y="182582"/>
                </a:lnTo>
                <a:lnTo>
                  <a:pt x="314325" y="201632"/>
                </a:lnTo>
                <a:lnTo>
                  <a:pt x="314325" y="213300"/>
                </a:lnTo>
                <a:cubicBezTo>
                  <a:pt x="314325" y="246519"/>
                  <a:pt x="295156" y="276701"/>
                  <a:pt x="265093" y="290870"/>
                </a:cubicBezTo>
                <a:close/>
                <a:moveTo>
                  <a:pt x="251162" y="154484"/>
                </a:moveTo>
                <a:lnTo>
                  <a:pt x="184487" y="176689"/>
                </a:lnTo>
                <a:cubicBezTo>
                  <a:pt x="176689" y="179308"/>
                  <a:pt x="171450" y="186571"/>
                  <a:pt x="171450" y="194786"/>
                </a:cubicBezTo>
                <a:lnTo>
                  <a:pt x="171450" y="213300"/>
                </a:lnTo>
                <a:cubicBezTo>
                  <a:pt x="171450" y="257592"/>
                  <a:pt x="197048" y="297894"/>
                  <a:pt x="237053" y="316706"/>
                </a:cubicBezTo>
                <a:lnTo>
                  <a:pt x="248067" y="321885"/>
                </a:lnTo>
                <a:cubicBezTo>
                  <a:pt x="250924" y="323195"/>
                  <a:pt x="254020" y="323910"/>
                  <a:pt x="257115" y="323910"/>
                </a:cubicBezTo>
                <a:cubicBezTo>
                  <a:pt x="260211" y="323910"/>
                  <a:pt x="263366" y="323195"/>
                  <a:pt x="266164" y="321885"/>
                </a:cubicBezTo>
                <a:lnTo>
                  <a:pt x="277178" y="316706"/>
                </a:lnTo>
                <a:cubicBezTo>
                  <a:pt x="317302" y="297835"/>
                  <a:pt x="342900" y="257532"/>
                  <a:pt x="342900" y="213241"/>
                </a:cubicBezTo>
                <a:lnTo>
                  <a:pt x="342900" y="194727"/>
                </a:lnTo>
                <a:cubicBezTo>
                  <a:pt x="342900" y="186511"/>
                  <a:pt x="337661" y="179249"/>
                  <a:pt x="329863" y="176629"/>
                </a:cubicBezTo>
                <a:lnTo>
                  <a:pt x="263188" y="154424"/>
                </a:lnTo>
                <a:cubicBezTo>
                  <a:pt x="259259" y="153114"/>
                  <a:pt x="255032" y="153114"/>
                  <a:pt x="251162" y="154424"/>
                </a:cubicBezTo>
                <a:close/>
              </a:path>
            </a:pathLst>
          </a:custGeom>
          <a:solidFill>
            <a:srgbClr val="A0522D"/>
          </a:solidFill>
        </p:spPr>
      </p:sp>
      <p:sp>
        <p:nvSpPr>
          <p:cNvPr id="7" name="Text 3"/>
          <p:cNvSpPr/>
          <p:nvPr/>
        </p:nvSpPr>
        <p:spPr>
          <a:xfrm>
            <a:off x="7162800" y="3073400"/>
            <a:ext cx="4546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守护生命安全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162800" y="3378200"/>
            <a:ext cx="4533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替代人员执行高危任务，降低消防员、安保员伤亡风险。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623050" y="38862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38100" y="8513"/>
                  <a:pt x="29587" y="0"/>
                  <a:pt x="19050" y="0"/>
                </a:cubicBezTo>
                <a:cubicBezTo>
                  <a:pt x="8513" y="0"/>
                  <a:pt x="0" y="8513"/>
                  <a:pt x="0" y="19050"/>
                </a:cubicBezTo>
                <a:lnTo>
                  <a:pt x="0" y="285750"/>
                </a:lnTo>
                <a:cubicBezTo>
                  <a:pt x="0" y="296287"/>
                  <a:pt x="8513" y="304800"/>
                  <a:pt x="19050" y="304800"/>
                </a:cubicBezTo>
                <a:cubicBezTo>
                  <a:pt x="29587" y="304800"/>
                  <a:pt x="38100" y="296287"/>
                  <a:pt x="38100" y="285750"/>
                </a:cubicBezTo>
                <a:lnTo>
                  <a:pt x="38100" y="213360"/>
                </a:lnTo>
                <a:lnTo>
                  <a:pt x="75426" y="202168"/>
                </a:lnTo>
                <a:cubicBezTo>
                  <a:pt x="100370" y="194667"/>
                  <a:pt x="127278" y="196989"/>
                  <a:pt x="150555" y="208657"/>
                </a:cubicBezTo>
                <a:cubicBezTo>
                  <a:pt x="175974" y="221397"/>
                  <a:pt x="205621" y="222945"/>
                  <a:pt x="232231" y="212943"/>
                </a:cubicBezTo>
                <a:lnTo>
                  <a:pt x="254318" y="204668"/>
                </a:lnTo>
                <a:cubicBezTo>
                  <a:pt x="261759" y="201870"/>
                  <a:pt x="266700" y="194786"/>
                  <a:pt x="266700" y="186809"/>
                </a:cubicBezTo>
                <a:lnTo>
                  <a:pt x="266700" y="39350"/>
                </a:lnTo>
                <a:cubicBezTo>
                  <a:pt x="266700" y="25658"/>
                  <a:pt x="252293" y="16728"/>
                  <a:pt x="240030" y="22860"/>
                </a:cubicBezTo>
                <a:lnTo>
                  <a:pt x="233005" y="26372"/>
                </a:lnTo>
                <a:cubicBezTo>
                  <a:pt x="206276" y="39767"/>
                  <a:pt x="174784" y="39767"/>
                  <a:pt x="147995" y="26372"/>
                </a:cubicBezTo>
                <a:cubicBezTo>
                  <a:pt x="126325" y="15538"/>
                  <a:pt x="101382" y="13395"/>
                  <a:pt x="78224" y="20360"/>
                </a:cubicBezTo>
                <a:lnTo>
                  <a:pt x="38100" y="32385"/>
                </a:lnTo>
                <a:lnTo>
                  <a:pt x="38100" y="19050"/>
                </a:lnTo>
                <a:close/>
              </a:path>
            </a:pathLst>
          </a:custGeom>
          <a:solidFill>
            <a:srgbClr val="CD853F"/>
          </a:solidFill>
        </p:spPr>
      </p:sp>
      <p:sp>
        <p:nvSpPr>
          <p:cNvPr id="10" name="Text 6"/>
          <p:cNvSpPr/>
          <p:nvPr/>
        </p:nvSpPr>
        <p:spPr>
          <a:xfrm>
            <a:off x="7162800" y="3835400"/>
            <a:ext cx="4229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契合国家战略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162800" y="4140200"/>
            <a:ext cx="4216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响应“</a:t>
            </a:r>
            <a:r>
              <a:rPr lang="en-US" sz="1400" dirty="0">
                <a:solidFill>
                  <a:srgbClr val="333333"/>
                </a:solidFill>
                <a:highlight>
                  <a:srgbClr val="FFD700">
                    <a:alpha val="5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智能制造2025 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”与“</a:t>
            </a:r>
            <a:r>
              <a:rPr lang="en-US" sz="1400" dirty="0">
                <a:solidFill>
                  <a:srgbClr val="333333"/>
                </a:solidFill>
                <a:highlight>
                  <a:srgbClr val="FFD700">
                    <a:alpha val="5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新质生产力 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”发展战略。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604000" y="4648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8513" y="19050"/>
                  <a:pt x="0" y="27563"/>
                  <a:pt x="0" y="38100"/>
                </a:cubicBezTo>
                <a:lnTo>
                  <a:pt x="0" y="257175"/>
                </a:lnTo>
                <a:cubicBezTo>
                  <a:pt x="0" y="272951"/>
                  <a:pt x="12799" y="285750"/>
                  <a:pt x="28575" y="285750"/>
                </a:cubicBezTo>
                <a:lnTo>
                  <a:pt x="276225" y="285750"/>
                </a:lnTo>
                <a:cubicBezTo>
                  <a:pt x="292001" y="285750"/>
                  <a:pt x="304800" y="272951"/>
                  <a:pt x="304800" y="257175"/>
                </a:cubicBezTo>
                <a:lnTo>
                  <a:pt x="304800" y="90607"/>
                </a:lnTo>
                <a:cubicBezTo>
                  <a:pt x="304800" y="79772"/>
                  <a:pt x="293251" y="72926"/>
                  <a:pt x="283726" y="78045"/>
                </a:cubicBezTo>
                <a:lnTo>
                  <a:pt x="190500" y="128230"/>
                </a:lnTo>
                <a:lnTo>
                  <a:pt x="190500" y="90607"/>
                </a:lnTo>
                <a:cubicBezTo>
                  <a:pt x="190500" y="79772"/>
                  <a:pt x="178951" y="72926"/>
                  <a:pt x="169426" y="78045"/>
                </a:cubicBezTo>
                <a:lnTo>
                  <a:pt x="76200" y="128230"/>
                </a:lnTo>
                <a:lnTo>
                  <a:pt x="76200" y="38100"/>
                </a:lnTo>
                <a:cubicBezTo>
                  <a:pt x="76200" y="27563"/>
                  <a:pt x="67687" y="19050"/>
                  <a:pt x="57150" y="19050"/>
                </a:cubicBezTo>
                <a:lnTo>
                  <a:pt x="19050" y="19050"/>
                </a:lnTo>
                <a:close/>
              </a:path>
            </a:pathLst>
          </a:custGeom>
          <a:solidFill>
            <a:srgbClr val="4682B4"/>
          </a:solidFill>
        </p:spPr>
      </p:sp>
      <p:sp>
        <p:nvSpPr>
          <p:cNvPr id="13" name="Text 9"/>
          <p:cNvSpPr/>
          <p:nvPr/>
        </p:nvSpPr>
        <p:spPr>
          <a:xfrm>
            <a:off x="7162800" y="4597400"/>
            <a:ext cx="4368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带动产业升级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162800" y="4902200"/>
            <a:ext cx="4356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联合培养人才，带动本地传感器、通信等产业链升级。</a:t>
            </a:r>
            <a:endParaRPr lang="en-US" sz="1600" dirty="0"/>
          </a:p>
        </p:txBody>
      </p:sp>
      <p:grpSp>
        <p:nvGrpSpPr>
          <p:cNvPr id="15" name="组合 14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18" name="标题 1"/>
          <p:cNvSpPr>
            <a:spLocks noGrp="1"/>
          </p:cNvSpPr>
          <p:nvPr/>
        </p:nvSpPr>
        <p:spPr>
          <a:xfrm>
            <a:off x="3185057" y="-2531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社会价值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1:40:18-d3k808gs8jdo4os5e6t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726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1397000"/>
            <a:ext cx="11912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产学研用一体化团队优势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96850" y="2006600"/>
            <a:ext cx="11798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CD853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校企项目交付成功率100%，具备扎实研发、交付及合规保障能力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2768600"/>
            <a:ext cx="5715000" cy="1219200"/>
          </a:xfrm>
          <a:custGeom>
            <a:avLst/>
            <a:gdLst/>
            <a:ahLst/>
            <a:cxnLst/>
            <a:rect l="l" t="t" r="r" b="b"/>
            <a:pathLst>
              <a:path w="5715000" h="1219200">
                <a:moveTo>
                  <a:pt x="101596" y="0"/>
                </a:moveTo>
                <a:lnTo>
                  <a:pt x="5613404" y="0"/>
                </a:lnTo>
                <a:cubicBezTo>
                  <a:pt x="5669514" y="0"/>
                  <a:pt x="5715000" y="45486"/>
                  <a:pt x="5715000" y="101596"/>
                </a:cubicBezTo>
                <a:lnTo>
                  <a:pt x="5715000" y="1117604"/>
                </a:lnTo>
                <a:cubicBezTo>
                  <a:pt x="5715000" y="1173714"/>
                  <a:pt x="5669514" y="1219200"/>
                  <a:pt x="56134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A0522D">
              <a:alpha val="10196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663575" y="31496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00025" y="221456"/>
                </a:moveTo>
                <a:cubicBezTo>
                  <a:pt x="140884" y="221456"/>
                  <a:pt x="92869" y="173441"/>
                  <a:pt x="92869" y="114300"/>
                </a:cubicBezTo>
                <a:cubicBezTo>
                  <a:pt x="92869" y="55159"/>
                  <a:pt x="140884" y="7144"/>
                  <a:pt x="200025" y="7144"/>
                </a:cubicBezTo>
                <a:cubicBezTo>
                  <a:pt x="259166" y="7144"/>
                  <a:pt x="307181" y="55159"/>
                  <a:pt x="307181" y="114300"/>
                </a:cubicBezTo>
                <a:cubicBezTo>
                  <a:pt x="307181" y="173441"/>
                  <a:pt x="259166" y="221456"/>
                  <a:pt x="200025" y="221456"/>
                </a:cubicBezTo>
                <a:close/>
                <a:moveTo>
                  <a:pt x="172789" y="271463"/>
                </a:moveTo>
                <a:lnTo>
                  <a:pt x="227261" y="271463"/>
                </a:lnTo>
                <a:cubicBezTo>
                  <a:pt x="235922" y="271463"/>
                  <a:pt x="242888" y="278428"/>
                  <a:pt x="242888" y="287089"/>
                </a:cubicBezTo>
                <a:cubicBezTo>
                  <a:pt x="242888" y="290840"/>
                  <a:pt x="241548" y="294412"/>
                  <a:pt x="239137" y="297269"/>
                </a:cubicBezTo>
                <a:lnTo>
                  <a:pt x="214670" y="325844"/>
                </a:lnTo>
                <a:lnTo>
                  <a:pt x="242352" y="428625"/>
                </a:lnTo>
                <a:lnTo>
                  <a:pt x="242888" y="428625"/>
                </a:lnTo>
                <a:lnTo>
                  <a:pt x="273784" y="304949"/>
                </a:lnTo>
                <a:cubicBezTo>
                  <a:pt x="275749" y="297180"/>
                  <a:pt x="283696" y="292447"/>
                  <a:pt x="291197" y="295305"/>
                </a:cubicBezTo>
                <a:cubicBezTo>
                  <a:pt x="346472" y="316379"/>
                  <a:pt x="385763" y="369957"/>
                  <a:pt x="385763" y="432643"/>
                </a:cubicBezTo>
                <a:cubicBezTo>
                  <a:pt x="385763" y="446127"/>
                  <a:pt x="374779" y="457111"/>
                  <a:pt x="361295" y="457111"/>
                </a:cubicBezTo>
                <a:lnTo>
                  <a:pt x="38755" y="457200"/>
                </a:lnTo>
                <a:cubicBezTo>
                  <a:pt x="25271" y="457200"/>
                  <a:pt x="14288" y="446216"/>
                  <a:pt x="14288" y="432733"/>
                </a:cubicBezTo>
                <a:cubicBezTo>
                  <a:pt x="14288" y="370046"/>
                  <a:pt x="53578" y="316468"/>
                  <a:pt x="108853" y="295394"/>
                </a:cubicBezTo>
                <a:cubicBezTo>
                  <a:pt x="116354" y="292537"/>
                  <a:pt x="124301" y="297269"/>
                  <a:pt x="126266" y="305038"/>
                </a:cubicBezTo>
                <a:lnTo>
                  <a:pt x="157163" y="428714"/>
                </a:lnTo>
                <a:lnTo>
                  <a:pt x="157698" y="428714"/>
                </a:lnTo>
                <a:lnTo>
                  <a:pt x="185380" y="325934"/>
                </a:lnTo>
                <a:lnTo>
                  <a:pt x="160913" y="297359"/>
                </a:lnTo>
                <a:cubicBezTo>
                  <a:pt x="158502" y="294501"/>
                  <a:pt x="157163" y="290929"/>
                  <a:pt x="157163" y="287179"/>
                </a:cubicBezTo>
                <a:cubicBezTo>
                  <a:pt x="157163" y="278517"/>
                  <a:pt x="164128" y="271552"/>
                  <a:pt x="172789" y="271552"/>
                </a:cubicBezTo>
                <a:close/>
              </a:path>
            </a:pathLst>
          </a:custGeom>
          <a:solidFill>
            <a:srgbClr val="A0522D"/>
          </a:solidFill>
        </p:spPr>
      </p:sp>
      <p:sp>
        <p:nvSpPr>
          <p:cNvPr id="7" name="Text 4"/>
          <p:cNvSpPr/>
          <p:nvPr/>
        </p:nvSpPr>
        <p:spPr>
          <a:xfrm>
            <a:off x="1473200" y="3073400"/>
            <a:ext cx="3949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李华忠 教授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73200" y="3429000"/>
            <a:ext cx="3924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技术总顾问，主导算法，拥有5项国家发明专利。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23000" y="2768600"/>
            <a:ext cx="5715000" cy="1219200"/>
          </a:xfrm>
          <a:custGeom>
            <a:avLst/>
            <a:gdLst/>
            <a:ahLst/>
            <a:cxnLst/>
            <a:rect l="l" t="t" r="r" b="b"/>
            <a:pathLst>
              <a:path w="5715000" h="1219200">
                <a:moveTo>
                  <a:pt x="101596" y="0"/>
                </a:moveTo>
                <a:lnTo>
                  <a:pt x="5613404" y="0"/>
                </a:lnTo>
                <a:cubicBezTo>
                  <a:pt x="5669514" y="0"/>
                  <a:pt x="5715000" y="45486"/>
                  <a:pt x="5715000" y="101596"/>
                </a:cubicBezTo>
                <a:lnTo>
                  <a:pt x="5715000" y="1117604"/>
                </a:lnTo>
                <a:cubicBezTo>
                  <a:pt x="5715000" y="1173714"/>
                  <a:pt x="5669514" y="1219200"/>
                  <a:pt x="56134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CD853F">
              <a:alpha val="10196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6546850" y="3149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29046" y="7144"/>
                </a:moveTo>
                <a:cubicBezTo>
                  <a:pt x="288188" y="7144"/>
                  <a:pt x="336203" y="55159"/>
                  <a:pt x="336203" y="114300"/>
                </a:cubicBezTo>
                <a:cubicBezTo>
                  <a:pt x="336203" y="173441"/>
                  <a:pt x="288188" y="221456"/>
                  <a:pt x="229046" y="221456"/>
                </a:cubicBezTo>
                <a:cubicBezTo>
                  <a:pt x="169905" y="221456"/>
                  <a:pt x="121890" y="173441"/>
                  <a:pt x="121890" y="114300"/>
                </a:cubicBezTo>
                <a:cubicBezTo>
                  <a:pt x="121890" y="55159"/>
                  <a:pt x="169905" y="7144"/>
                  <a:pt x="229046" y="7144"/>
                </a:cubicBezTo>
                <a:close/>
                <a:moveTo>
                  <a:pt x="202436" y="271463"/>
                </a:moveTo>
                <a:lnTo>
                  <a:pt x="255478" y="271463"/>
                </a:lnTo>
                <a:lnTo>
                  <a:pt x="256818" y="271463"/>
                </a:lnTo>
                <a:cubicBezTo>
                  <a:pt x="245299" y="295394"/>
                  <a:pt x="249853" y="323433"/>
                  <a:pt x="267087" y="342454"/>
                </a:cubicBezTo>
                <a:cubicBezTo>
                  <a:pt x="249049" y="362367"/>
                  <a:pt x="244941" y="392281"/>
                  <a:pt x="258693" y="416927"/>
                </a:cubicBezTo>
                <a:lnTo>
                  <a:pt x="278785" y="453003"/>
                </a:lnTo>
                <a:cubicBezTo>
                  <a:pt x="279589" y="454432"/>
                  <a:pt x="280481" y="455861"/>
                  <a:pt x="281374" y="457200"/>
                </a:cubicBezTo>
                <a:lnTo>
                  <a:pt x="69741" y="457200"/>
                </a:lnTo>
                <a:cubicBezTo>
                  <a:pt x="55096" y="457200"/>
                  <a:pt x="43220" y="445324"/>
                  <a:pt x="43220" y="430679"/>
                </a:cubicBezTo>
                <a:cubicBezTo>
                  <a:pt x="43220" y="342721"/>
                  <a:pt x="114479" y="271462"/>
                  <a:pt x="202436" y="271462"/>
                </a:cubicBezTo>
                <a:close/>
                <a:moveTo>
                  <a:pt x="386298" y="221099"/>
                </a:moveTo>
                <a:cubicBezTo>
                  <a:pt x="386298" y="209223"/>
                  <a:pt x="395853" y="199668"/>
                  <a:pt x="407730" y="199668"/>
                </a:cubicBezTo>
                <a:lnTo>
                  <a:pt x="450592" y="199668"/>
                </a:lnTo>
                <a:cubicBezTo>
                  <a:pt x="462469" y="199668"/>
                  <a:pt x="472023" y="209223"/>
                  <a:pt x="472023" y="221099"/>
                </a:cubicBezTo>
                <a:lnTo>
                  <a:pt x="472023" y="226546"/>
                </a:lnTo>
                <a:cubicBezTo>
                  <a:pt x="472023" y="243423"/>
                  <a:pt x="493544" y="255836"/>
                  <a:pt x="508189" y="247442"/>
                </a:cubicBezTo>
                <a:lnTo>
                  <a:pt x="512653" y="244852"/>
                </a:lnTo>
                <a:cubicBezTo>
                  <a:pt x="523012" y="238869"/>
                  <a:pt x="536317" y="242530"/>
                  <a:pt x="542121" y="252978"/>
                </a:cubicBezTo>
                <a:lnTo>
                  <a:pt x="562124" y="288875"/>
                </a:lnTo>
                <a:cubicBezTo>
                  <a:pt x="567660" y="298877"/>
                  <a:pt x="564446" y="311378"/>
                  <a:pt x="554801" y="317450"/>
                </a:cubicBezTo>
                <a:lnTo>
                  <a:pt x="550605" y="320040"/>
                </a:lnTo>
                <a:cubicBezTo>
                  <a:pt x="536138" y="329059"/>
                  <a:pt x="536138" y="355669"/>
                  <a:pt x="550605" y="364778"/>
                </a:cubicBezTo>
                <a:lnTo>
                  <a:pt x="554712" y="367367"/>
                </a:lnTo>
                <a:cubicBezTo>
                  <a:pt x="564356" y="373440"/>
                  <a:pt x="567660" y="385941"/>
                  <a:pt x="562124" y="395942"/>
                </a:cubicBezTo>
                <a:lnTo>
                  <a:pt x="542032" y="432018"/>
                </a:lnTo>
                <a:cubicBezTo>
                  <a:pt x="536228" y="442466"/>
                  <a:pt x="522922" y="446216"/>
                  <a:pt x="512564" y="440144"/>
                </a:cubicBezTo>
                <a:lnTo>
                  <a:pt x="508189" y="437555"/>
                </a:lnTo>
                <a:cubicBezTo>
                  <a:pt x="493544" y="429071"/>
                  <a:pt x="472023" y="441573"/>
                  <a:pt x="472023" y="458450"/>
                </a:cubicBezTo>
                <a:lnTo>
                  <a:pt x="472023" y="463897"/>
                </a:lnTo>
                <a:cubicBezTo>
                  <a:pt x="472023" y="475774"/>
                  <a:pt x="462469" y="485329"/>
                  <a:pt x="450592" y="485329"/>
                </a:cubicBezTo>
                <a:lnTo>
                  <a:pt x="407730" y="485329"/>
                </a:lnTo>
                <a:cubicBezTo>
                  <a:pt x="395853" y="485329"/>
                  <a:pt x="386298" y="475774"/>
                  <a:pt x="386298" y="463897"/>
                </a:cubicBezTo>
                <a:lnTo>
                  <a:pt x="386298" y="458629"/>
                </a:lnTo>
                <a:cubicBezTo>
                  <a:pt x="386298" y="441662"/>
                  <a:pt x="364688" y="429161"/>
                  <a:pt x="349954" y="437644"/>
                </a:cubicBezTo>
                <a:lnTo>
                  <a:pt x="345668" y="440144"/>
                </a:lnTo>
                <a:cubicBezTo>
                  <a:pt x="335310" y="446127"/>
                  <a:pt x="322094" y="442466"/>
                  <a:pt x="316200" y="432018"/>
                </a:cubicBezTo>
                <a:lnTo>
                  <a:pt x="296019" y="395942"/>
                </a:lnTo>
                <a:cubicBezTo>
                  <a:pt x="290483" y="385941"/>
                  <a:pt x="293697" y="373350"/>
                  <a:pt x="303431" y="367278"/>
                </a:cubicBezTo>
                <a:lnTo>
                  <a:pt x="307360" y="364867"/>
                </a:lnTo>
                <a:cubicBezTo>
                  <a:pt x="321915" y="355848"/>
                  <a:pt x="321915" y="329059"/>
                  <a:pt x="307360" y="320040"/>
                </a:cubicBezTo>
                <a:lnTo>
                  <a:pt x="303341" y="317540"/>
                </a:lnTo>
                <a:cubicBezTo>
                  <a:pt x="293608" y="311468"/>
                  <a:pt x="290393" y="298877"/>
                  <a:pt x="295930" y="288875"/>
                </a:cubicBezTo>
                <a:lnTo>
                  <a:pt x="316022" y="252889"/>
                </a:lnTo>
                <a:cubicBezTo>
                  <a:pt x="321826" y="242441"/>
                  <a:pt x="335131" y="238780"/>
                  <a:pt x="345400" y="244763"/>
                </a:cubicBezTo>
                <a:lnTo>
                  <a:pt x="349687" y="247263"/>
                </a:lnTo>
                <a:cubicBezTo>
                  <a:pt x="364421" y="255746"/>
                  <a:pt x="386030" y="243245"/>
                  <a:pt x="386030" y="226278"/>
                </a:cubicBezTo>
                <a:lnTo>
                  <a:pt x="386030" y="221010"/>
                </a:lnTo>
                <a:close/>
                <a:moveTo>
                  <a:pt x="475506" y="342721"/>
                </a:moveTo>
                <a:cubicBezTo>
                  <a:pt x="475506" y="317094"/>
                  <a:pt x="454699" y="296287"/>
                  <a:pt x="429071" y="296287"/>
                </a:cubicBezTo>
                <a:cubicBezTo>
                  <a:pt x="403444" y="296287"/>
                  <a:pt x="382637" y="317094"/>
                  <a:pt x="382637" y="342721"/>
                </a:cubicBezTo>
                <a:cubicBezTo>
                  <a:pt x="382637" y="368349"/>
                  <a:pt x="403444" y="389156"/>
                  <a:pt x="429071" y="389156"/>
                </a:cubicBezTo>
                <a:cubicBezTo>
                  <a:pt x="454699" y="389156"/>
                  <a:pt x="475506" y="368349"/>
                  <a:pt x="475506" y="342721"/>
                </a:cubicBezTo>
                <a:close/>
              </a:path>
            </a:pathLst>
          </a:custGeom>
          <a:solidFill>
            <a:srgbClr val="CD853F"/>
          </a:solidFill>
        </p:spPr>
      </p:sp>
      <p:sp>
        <p:nvSpPr>
          <p:cNvPr id="11" name="Text 8"/>
          <p:cNvSpPr/>
          <p:nvPr/>
        </p:nvSpPr>
        <p:spPr>
          <a:xfrm>
            <a:off x="7442200" y="3073400"/>
            <a:ext cx="3670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李国栋 老师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442200" y="3429000"/>
            <a:ext cx="3644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项目负责人，负责运动控制算法与系统集成。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54000" y="4241800"/>
            <a:ext cx="5715000" cy="1219200"/>
          </a:xfrm>
          <a:custGeom>
            <a:avLst/>
            <a:gdLst/>
            <a:ahLst/>
            <a:cxnLst/>
            <a:rect l="l" t="t" r="r" b="b"/>
            <a:pathLst>
              <a:path w="5715000" h="1219200">
                <a:moveTo>
                  <a:pt x="101596" y="0"/>
                </a:moveTo>
                <a:lnTo>
                  <a:pt x="5613404" y="0"/>
                </a:lnTo>
                <a:cubicBezTo>
                  <a:pt x="5669514" y="0"/>
                  <a:pt x="5715000" y="45486"/>
                  <a:pt x="5715000" y="101596"/>
                </a:cubicBezTo>
                <a:lnTo>
                  <a:pt x="5715000" y="1117604"/>
                </a:lnTo>
                <a:cubicBezTo>
                  <a:pt x="5715000" y="1173714"/>
                  <a:pt x="5669514" y="1219200"/>
                  <a:pt x="56134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4682B4">
              <a:alpha val="10196"/>
            </a:srgbClr>
          </a:solidFill>
        </p:spPr>
      </p:sp>
      <p:sp>
        <p:nvSpPr>
          <p:cNvPr id="14" name="Shape 11"/>
          <p:cNvSpPr/>
          <p:nvPr/>
        </p:nvSpPr>
        <p:spPr>
          <a:xfrm>
            <a:off x="606425" y="46228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00114" y="86707"/>
                </a:moveTo>
                <a:lnTo>
                  <a:pt x="200114" y="130999"/>
                </a:lnTo>
                <a:lnTo>
                  <a:pt x="200561" y="131445"/>
                </a:lnTo>
                <a:cubicBezTo>
                  <a:pt x="206365" y="57864"/>
                  <a:pt x="267891" y="0"/>
                  <a:pt x="342989" y="0"/>
                </a:cubicBezTo>
                <a:cubicBezTo>
                  <a:pt x="360938" y="0"/>
                  <a:pt x="378172" y="3304"/>
                  <a:pt x="393978" y="9376"/>
                </a:cubicBezTo>
                <a:cubicBezTo>
                  <a:pt x="402908" y="12769"/>
                  <a:pt x="404515" y="24110"/>
                  <a:pt x="397818" y="30897"/>
                </a:cubicBezTo>
                <a:lnTo>
                  <a:pt x="318611" y="110103"/>
                </a:lnTo>
                <a:cubicBezTo>
                  <a:pt x="315932" y="112782"/>
                  <a:pt x="314414" y="116443"/>
                  <a:pt x="314414" y="120194"/>
                </a:cubicBezTo>
                <a:lnTo>
                  <a:pt x="314414" y="157163"/>
                </a:lnTo>
                <a:cubicBezTo>
                  <a:pt x="314414" y="165021"/>
                  <a:pt x="320844" y="171450"/>
                  <a:pt x="328702" y="171450"/>
                </a:cubicBezTo>
                <a:lnTo>
                  <a:pt x="365671" y="171450"/>
                </a:lnTo>
                <a:cubicBezTo>
                  <a:pt x="369421" y="171450"/>
                  <a:pt x="373082" y="169932"/>
                  <a:pt x="375761" y="167253"/>
                </a:cubicBezTo>
                <a:lnTo>
                  <a:pt x="454968" y="88047"/>
                </a:lnTo>
                <a:cubicBezTo>
                  <a:pt x="461754" y="81260"/>
                  <a:pt x="473095" y="82957"/>
                  <a:pt x="476488" y="91886"/>
                </a:cubicBezTo>
                <a:cubicBezTo>
                  <a:pt x="482560" y="107692"/>
                  <a:pt x="485864" y="124926"/>
                  <a:pt x="485864" y="142875"/>
                </a:cubicBezTo>
                <a:cubicBezTo>
                  <a:pt x="485864" y="196989"/>
                  <a:pt x="455771" y="244138"/>
                  <a:pt x="411301" y="268337"/>
                </a:cubicBezTo>
                <a:lnTo>
                  <a:pt x="484078" y="341114"/>
                </a:lnTo>
                <a:cubicBezTo>
                  <a:pt x="500777" y="357813"/>
                  <a:pt x="500777" y="384959"/>
                  <a:pt x="484078" y="401747"/>
                </a:cubicBezTo>
                <a:lnTo>
                  <a:pt x="430411" y="455414"/>
                </a:lnTo>
                <a:cubicBezTo>
                  <a:pt x="413712" y="472113"/>
                  <a:pt x="386566" y="472113"/>
                  <a:pt x="369778" y="455414"/>
                </a:cubicBezTo>
                <a:lnTo>
                  <a:pt x="257264" y="342900"/>
                </a:lnTo>
                <a:cubicBezTo>
                  <a:pt x="232797" y="318433"/>
                  <a:pt x="227261" y="282267"/>
                  <a:pt x="240744" y="252442"/>
                </a:cubicBezTo>
                <a:lnTo>
                  <a:pt x="159752" y="171450"/>
                </a:lnTo>
                <a:lnTo>
                  <a:pt x="115461" y="171450"/>
                </a:lnTo>
                <a:cubicBezTo>
                  <a:pt x="105906" y="171450"/>
                  <a:pt x="96976" y="166717"/>
                  <a:pt x="91708" y="158770"/>
                </a:cubicBezTo>
                <a:lnTo>
                  <a:pt x="20895" y="52596"/>
                </a:lnTo>
                <a:cubicBezTo>
                  <a:pt x="17145" y="46970"/>
                  <a:pt x="17859" y="39380"/>
                  <a:pt x="22681" y="34558"/>
                </a:cubicBezTo>
                <a:lnTo>
                  <a:pt x="63222" y="-5983"/>
                </a:lnTo>
                <a:cubicBezTo>
                  <a:pt x="68044" y="-10805"/>
                  <a:pt x="75545" y="-11519"/>
                  <a:pt x="81260" y="-7769"/>
                </a:cubicBezTo>
                <a:lnTo>
                  <a:pt x="187434" y="62954"/>
                </a:lnTo>
                <a:cubicBezTo>
                  <a:pt x="195382" y="68223"/>
                  <a:pt x="200114" y="77153"/>
                  <a:pt x="200114" y="86707"/>
                </a:cubicBezTo>
                <a:close/>
                <a:moveTo>
                  <a:pt x="192524" y="264855"/>
                </a:moveTo>
                <a:cubicBezTo>
                  <a:pt x="186898" y="297894"/>
                  <a:pt x="194667" y="332809"/>
                  <a:pt x="216098" y="360759"/>
                </a:cubicBezTo>
                <a:lnTo>
                  <a:pt x="131266" y="445502"/>
                </a:lnTo>
                <a:cubicBezTo>
                  <a:pt x="106174" y="470595"/>
                  <a:pt x="65455" y="470595"/>
                  <a:pt x="40362" y="445502"/>
                </a:cubicBezTo>
                <a:cubicBezTo>
                  <a:pt x="15270" y="420410"/>
                  <a:pt x="15270" y="379690"/>
                  <a:pt x="40362" y="354598"/>
                </a:cubicBezTo>
                <a:lnTo>
                  <a:pt x="161270" y="233690"/>
                </a:lnTo>
                <a:lnTo>
                  <a:pt x="192524" y="264944"/>
                </a:lnTo>
                <a:close/>
              </a:path>
            </a:pathLst>
          </a:custGeom>
          <a:solidFill>
            <a:srgbClr val="4682B4"/>
          </a:solidFill>
        </p:spPr>
      </p:sp>
      <p:sp>
        <p:nvSpPr>
          <p:cNvPr id="15" name="Text 12"/>
          <p:cNvSpPr/>
          <p:nvPr/>
        </p:nvSpPr>
        <p:spPr>
          <a:xfrm>
            <a:off x="1473200" y="4546600"/>
            <a:ext cx="3314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蔡泽凯 工程师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73200" y="4902200"/>
            <a:ext cx="3289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提供高精度硬件支持，确保原型机性能。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23000" y="4241800"/>
            <a:ext cx="5715000" cy="1219200"/>
          </a:xfrm>
          <a:custGeom>
            <a:avLst/>
            <a:gdLst/>
            <a:ahLst/>
            <a:cxnLst/>
            <a:rect l="l" t="t" r="r" b="b"/>
            <a:pathLst>
              <a:path w="5715000" h="1219200">
                <a:moveTo>
                  <a:pt x="101596" y="0"/>
                </a:moveTo>
                <a:lnTo>
                  <a:pt x="5613404" y="0"/>
                </a:lnTo>
                <a:cubicBezTo>
                  <a:pt x="5669514" y="0"/>
                  <a:pt x="5715000" y="45486"/>
                  <a:pt x="5715000" y="101596"/>
                </a:cubicBezTo>
                <a:lnTo>
                  <a:pt x="5715000" y="1117604"/>
                </a:lnTo>
                <a:cubicBezTo>
                  <a:pt x="5715000" y="1173714"/>
                  <a:pt x="5669514" y="1219200"/>
                  <a:pt x="56134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FFD700">
              <a:alpha val="20000"/>
            </a:srgbClr>
          </a:solidFill>
        </p:spPr>
      </p:sp>
      <p:sp>
        <p:nvSpPr>
          <p:cNvPr id="18" name="Shape 15"/>
          <p:cNvSpPr/>
          <p:nvPr/>
        </p:nvSpPr>
        <p:spPr>
          <a:xfrm>
            <a:off x="6546850" y="46228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42900" y="28575"/>
                </a:moveTo>
                <a:lnTo>
                  <a:pt x="457200" y="28575"/>
                </a:lnTo>
                <a:cubicBezTo>
                  <a:pt x="473006" y="28575"/>
                  <a:pt x="485775" y="41344"/>
                  <a:pt x="485775" y="57150"/>
                </a:cubicBezTo>
                <a:cubicBezTo>
                  <a:pt x="485775" y="72956"/>
                  <a:pt x="473006" y="85725"/>
                  <a:pt x="457200" y="85725"/>
                </a:cubicBezTo>
                <a:lnTo>
                  <a:pt x="355759" y="85725"/>
                </a:lnTo>
                <a:cubicBezTo>
                  <a:pt x="351115" y="108764"/>
                  <a:pt x="335310" y="127784"/>
                  <a:pt x="314325" y="136892"/>
                </a:cubicBezTo>
                <a:lnTo>
                  <a:pt x="314325" y="400050"/>
                </a:lnTo>
                <a:lnTo>
                  <a:pt x="457200" y="400050"/>
                </a:lnTo>
                <a:cubicBezTo>
                  <a:pt x="473006" y="400050"/>
                  <a:pt x="485775" y="412819"/>
                  <a:pt x="485775" y="428625"/>
                </a:cubicBezTo>
                <a:cubicBezTo>
                  <a:pt x="485775" y="444431"/>
                  <a:pt x="473006" y="457200"/>
                  <a:pt x="457200" y="457200"/>
                </a:cubicBezTo>
                <a:lnTo>
                  <a:pt x="114300" y="457200"/>
                </a:lnTo>
                <a:cubicBezTo>
                  <a:pt x="98494" y="457200"/>
                  <a:pt x="85725" y="444431"/>
                  <a:pt x="85725" y="428625"/>
                </a:cubicBezTo>
                <a:cubicBezTo>
                  <a:pt x="85725" y="412819"/>
                  <a:pt x="98494" y="400050"/>
                  <a:pt x="114300" y="400050"/>
                </a:cubicBezTo>
                <a:lnTo>
                  <a:pt x="257175" y="400050"/>
                </a:lnTo>
                <a:lnTo>
                  <a:pt x="257175" y="136892"/>
                </a:lnTo>
                <a:cubicBezTo>
                  <a:pt x="236190" y="127695"/>
                  <a:pt x="220385" y="108674"/>
                  <a:pt x="215741" y="85725"/>
                </a:cubicBezTo>
                <a:lnTo>
                  <a:pt x="114300" y="85725"/>
                </a:lnTo>
                <a:cubicBezTo>
                  <a:pt x="98494" y="85725"/>
                  <a:pt x="85725" y="72956"/>
                  <a:pt x="85725" y="57150"/>
                </a:cubicBezTo>
                <a:cubicBezTo>
                  <a:pt x="85725" y="41344"/>
                  <a:pt x="98494" y="28575"/>
                  <a:pt x="114300" y="28575"/>
                </a:cubicBezTo>
                <a:lnTo>
                  <a:pt x="228600" y="28575"/>
                </a:lnTo>
                <a:cubicBezTo>
                  <a:pt x="241637" y="11251"/>
                  <a:pt x="262354" y="0"/>
                  <a:pt x="285750" y="0"/>
                </a:cubicBezTo>
                <a:cubicBezTo>
                  <a:pt x="309146" y="0"/>
                  <a:pt x="329863" y="11251"/>
                  <a:pt x="342900" y="28575"/>
                </a:cubicBezTo>
                <a:close/>
                <a:moveTo>
                  <a:pt x="392549" y="285750"/>
                </a:moveTo>
                <a:lnTo>
                  <a:pt x="521851" y="285750"/>
                </a:lnTo>
                <a:lnTo>
                  <a:pt x="457200" y="174843"/>
                </a:lnTo>
                <a:lnTo>
                  <a:pt x="392549" y="285750"/>
                </a:lnTo>
                <a:close/>
                <a:moveTo>
                  <a:pt x="457200" y="371475"/>
                </a:moveTo>
                <a:cubicBezTo>
                  <a:pt x="401032" y="371475"/>
                  <a:pt x="354330" y="341114"/>
                  <a:pt x="344686" y="301020"/>
                </a:cubicBezTo>
                <a:cubicBezTo>
                  <a:pt x="342364" y="291197"/>
                  <a:pt x="345579" y="281107"/>
                  <a:pt x="350669" y="272355"/>
                </a:cubicBezTo>
                <a:lnTo>
                  <a:pt x="435679" y="126623"/>
                </a:lnTo>
                <a:cubicBezTo>
                  <a:pt x="440144" y="118943"/>
                  <a:pt x="448360" y="114300"/>
                  <a:pt x="457200" y="114300"/>
                </a:cubicBezTo>
                <a:cubicBezTo>
                  <a:pt x="466040" y="114300"/>
                  <a:pt x="474256" y="119033"/>
                  <a:pt x="478721" y="126623"/>
                </a:cubicBezTo>
                <a:lnTo>
                  <a:pt x="563731" y="272355"/>
                </a:lnTo>
                <a:cubicBezTo>
                  <a:pt x="568821" y="281107"/>
                  <a:pt x="572036" y="291197"/>
                  <a:pt x="569714" y="301020"/>
                </a:cubicBezTo>
                <a:cubicBezTo>
                  <a:pt x="560070" y="341025"/>
                  <a:pt x="513368" y="371475"/>
                  <a:pt x="457200" y="371475"/>
                </a:cubicBezTo>
                <a:close/>
                <a:moveTo>
                  <a:pt x="113228" y="174843"/>
                </a:moveTo>
                <a:lnTo>
                  <a:pt x="48578" y="285750"/>
                </a:lnTo>
                <a:lnTo>
                  <a:pt x="177969" y="285750"/>
                </a:lnTo>
                <a:lnTo>
                  <a:pt x="113228" y="174843"/>
                </a:lnTo>
                <a:close/>
                <a:moveTo>
                  <a:pt x="804" y="301020"/>
                </a:moveTo>
                <a:cubicBezTo>
                  <a:pt x="-1518" y="291197"/>
                  <a:pt x="1697" y="281107"/>
                  <a:pt x="6787" y="272355"/>
                </a:cubicBezTo>
                <a:lnTo>
                  <a:pt x="91797" y="126623"/>
                </a:lnTo>
                <a:cubicBezTo>
                  <a:pt x="96262" y="118943"/>
                  <a:pt x="104477" y="114300"/>
                  <a:pt x="113318" y="114300"/>
                </a:cubicBezTo>
                <a:cubicBezTo>
                  <a:pt x="122158" y="114300"/>
                  <a:pt x="130373" y="119033"/>
                  <a:pt x="134838" y="126623"/>
                </a:cubicBezTo>
                <a:lnTo>
                  <a:pt x="219849" y="272355"/>
                </a:lnTo>
                <a:cubicBezTo>
                  <a:pt x="224939" y="281107"/>
                  <a:pt x="228154" y="291197"/>
                  <a:pt x="225832" y="301020"/>
                </a:cubicBezTo>
                <a:cubicBezTo>
                  <a:pt x="216188" y="341025"/>
                  <a:pt x="169485" y="371475"/>
                  <a:pt x="113318" y="371475"/>
                </a:cubicBezTo>
                <a:cubicBezTo>
                  <a:pt x="57150" y="371475"/>
                  <a:pt x="10448" y="341114"/>
                  <a:pt x="804" y="301020"/>
                </a:cubicBezTo>
                <a:close/>
              </a:path>
            </a:pathLst>
          </a:custGeom>
          <a:solidFill>
            <a:srgbClr val="A0522D"/>
          </a:solidFill>
        </p:spPr>
      </p:sp>
      <p:sp>
        <p:nvSpPr>
          <p:cNvPr id="19" name="Text 16"/>
          <p:cNvSpPr/>
          <p:nvPr/>
        </p:nvSpPr>
        <p:spPr>
          <a:xfrm>
            <a:off x="7442200" y="4546600"/>
            <a:ext cx="4000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蒋利利 副院长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442200" y="4902200"/>
            <a:ext cx="3975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确保项目合规与进度，已通过ISO9001体系认证。</a:t>
            </a:r>
            <a:endParaRPr lang="en-US" sz="1600" dirty="0"/>
          </a:p>
        </p:txBody>
      </p:sp>
      <p:grpSp>
        <p:nvGrpSpPr>
          <p:cNvPr id="21" name="组合 20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24" name="标题 1"/>
          <p:cNvSpPr>
            <a:spLocks noGrp="1"/>
          </p:cNvSpPr>
          <p:nvPr/>
        </p:nvSpPr>
        <p:spPr>
          <a:xfrm>
            <a:off x="3185057" y="-2531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团队优势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22875" y="1552575"/>
            <a:ext cx="1786255" cy="1786255"/>
          </a:xfrm>
          <a:prstGeom prst="ellipse">
            <a:avLst/>
          </a:prstGeom>
          <a:solidFill>
            <a:srgbClr val="FEE695"/>
          </a:solidFill>
        </p:spPr>
      </p:sp>
      <p:sp>
        <p:nvSpPr>
          <p:cNvPr id="3" name="Text 1"/>
          <p:cNvSpPr/>
          <p:nvPr/>
        </p:nvSpPr>
        <p:spPr>
          <a:xfrm>
            <a:off x="5222875" y="1552575"/>
            <a:ext cx="1786255" cy="17862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70980" y="1552575"/>
            <a:ext cx="527050" cy="527050"/>
          </a:xfrm>
          <a:prstGeom prst="ellipse">
            <a:avLst/>
          </a:prstGeom>
          <a:solidFill>
            <a:srgbClr val="4874CB"/>
          </a:solidFill>
        </p:spPr>
      </p:sp>
      <p:sp>
        <p:nvSpPr>
          <p:cNvPr id="5" name="Text 3"/>
          <p:cNvSpPr/>
          <p:nvPr/>
        </p:nvSpPr>
        <p:spPr>
          <a:xfrm>
            <a:off x="6570980" y="1552575"/>
            <a:ext cx="527050" cy="527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2668905" y="1691640"/>
            <a:ext cx="6854190" cy="15671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749300" y="3372485"/>
            <a:ext cx="10840720" cy="1200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dirty="0">
                <a:solidFill>
                  <a:srgbClr val="FEE5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实证与展望</a:t>
            </a:r>
            <a:endParaRPr lang="en-US" sz="1600" dirty="0"/>
          </a:p>
        </p:txBody>
      </p:sp>
      <p:pic>
        <p:nvPicPr>
          <p:cNvPr id="10" name="Image 0" descr="https://kimi-img.moonshot.cn/pub/slides/slides_tmpl/image/25-10-10-11:40:17-d3k8088s8jdo4os5e6q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045" y="345440"/>
            <a:ext cx="597535" cy="280670"/>
          </a:xfrm>
          <a:prstGeom prst="rect">
            <a:avLst/>
          </a:prstGeom>
        </p:spPr>
      </p:pic>
      <p:pic>
        <p:nvPicPr>
          <p:cNvPr id="11" name="Image 1" descr="https://kimi-img.moonshot.cn/pub/slides/slides_tmpl/image/25-10-10-11:40:17-d3k8088s8jdo4os5e6q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540" y="345440"/>
            <a:ext cx="597535" cy="280670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1:40:18-d3k808gs8jdo4os5e6t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726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1244600"/>
            <a:ext cx="11912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第三方验证与实证资料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96850" y="1854200"/>
            <a:ext cx="11798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CD853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权威报告与真实合作，为规模化推广提供可信实证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4000" y="2616200"/>
            <a:ext cx="3721100" cy="1981200"/>
          </a:xfrm>
          <a:custGeom>
            <a:avLst/>
            <a:gdLst/>
            <a:ahLst/>
            <a:cxnLst/>
            <a:rect l="l" t="t" r="r" b="b"/>
            <a:pathLst>
              <a:path w="3721100" h="1981200">
                <a:moveTo>
                  <a:pt x="101596" y="0"/>
                </a:moveTo>
                <a:lnTo>
                  <a:pt x="3619504" y="0"/>
                </a:lnTo>
                <a:cubicBezTo>
                  <a:pt x="3675614" y="0"/>
                  <a:pt x="3721100" y="45486"/>
                  <a:pt x="3721100" y="101596"/>
                </a:cubicBezTo>
                <a:lnTo>
                  <a:pt x="3721100" y="1879604"/>
                </a:lnTo>
                <a:cubicBezTo>
                  <a:pt x="3721100" y="1935714"/>
                  <a:pt x="3675614" y="1981200"/>
                  <a:pt x="3619504" y="1981200"/>
                </a:cubicBezTo>
                <a:lnTo>
                  <a:pt x="101596" y="1981200"/>
                </a:lnTo>
                <a:cubicBezTo>
                  <a:pt x="45486" y="1981200"/>
                  <a:pt x="0" y="1935714"/>
                  <a:pt x="0" y="1879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A0522D">
              <a:alpha val="10196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1830784" y="29972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57239" y="57150"/>
                </a:moveTo>
                <a:cubicBezTo>
                  <a:pt x="57239" y="25628"/>
                  <a:pt x="82867" y="0"/>
                  <a:pt x="114389" y="0"/>
                </a:cubicBezTo>
                <a:lnTo>
                  <a:pt x="247888" y="0"/>
                </a:lnTo>
                <a:cubicBezTo>
                  <a:pt x="263069" y="0"/>
                  <a:pt x="277624" y="5983"/>
                  <a:pt x="288340" y="16699"/>
                </a:cubicBezTo>
                <a:lnTo>
                  <a:pt x="383351" y="111889"/>
                </a:lnTo>
                <a:cubicBezTo>
                  <a:pt x="394067" y="122605"/>
                  <a:pt x="400050" y="137160"/>
                  <a:pt x="400050" y="152340"/>
                </a:cubicBezTo>
                <a:lnTo>
                  <a:pt x="400050" y="239405"/>
                </a:lnTo>
                <a:lnTo>
                  <a:pt x="282178" y="357277"/>
                </a:lnTo>
                <a:lnTo>
                  <a:pt x="244584" y="357277"/>
                </a:lnTo>
                <a:lnTo>
                  <a:pt x="230207" y="309414"/>
                </a:lnTo>
                <a:cubicBezTo>
                  <a:pt x="226010" y="295394"/>
                  <a:pt x="213152" y="285839"/>
                  <a:pt x="198507" y="285839"/>
                </a:cubicBezTo>
                <a:cubicBezTo>
                  <a:pt x="188416" y="285839"/>
                  <a:pt x="178951" y="290393"/>
                  <a:pt x="172700" y="298252"/>
                </a:cubicBezTo>
                <a:lnTo>
                  <a:pt x="119033" y="365224"/>
                </a:lnTo>
                <a:cubicBezTo>
                  <a:pt x="111621" y="374422"/>
                  <a:pt x="113139" y="387995"/>
                  <a:pt x="122337" y="395317"/>
                </a:cubicBezTo>
                <a:cubicBezTo>
                  <a:pt x="131534" y="402640"/>
                  <a:pt x="145107" y="401211"/>
                  <a:pt x="152430" y="391924"/>
                </a:cubicBezTo>
                <a:lnTo>
                  <a:pt x="194489" y="339417"/>
                </a:lnTo>
                <a:lnTo>
                  <a:pt x="208062" y="384691"/>
                </a:lnTo>
                <a:cubicBezTo>
                  <a:pt x="210741" y="393799"/>
                  <a:pt x="219135" y="399961"/>
                  <a:pt x="228600" y="399961"/>
                </a:cubicBezTo>
                <a:lnTo>
                  <a:pt x="256729" y="399961"/>
                </a:lnTo>
                <a:cubicBezTo>
                  <a:pt x="255925" y="402729"/>
                  <a:pt x="255210" y="405586"/>
                  <a:pt x="254675" y="408444"/>
                </a:cubicBezTo>
                <a:lnTo>
                  <a:pt x="244941" y="457111"/>
                </a:lnTo>
                <a:lnTo>
                  <a:pt x="114389" y="457111"/>
                </a:lnTo>
                <a:cubicBezTo>
                  <a:pt x="82868" y="457111"/>
                  <a:pt x="57239" y="431483"/>
                  <a:pt x="57239" y="399961"/>
                </a:cubicBezTo>
                <a:lnTo>
                  <a:pt x="57239" y="57061"/>
                </a:lnTo>
                <a:close/>
                <a:moveTo>
                  <a:pt x="242977" y="52239"/>
                </a:moveTo>
                <a:lnTo>
                  <a:pt x="242977" y="135731"/>
                </a:lnTo>
                <a:cubicBezTo>
                  <a:pt x="242977" y="147608"/>
                  <a:pt x="252532" y="157163"/>
                  <a:pt x="264408" y="157163"/>
                </a:cubicBezTo>
                <a:lnTo>
                  <a:pt x="347901" y="157163"/>
                </a:lnTo>
                <a:lnTo>
                  <a:pt x="242977" y="52239"/>
                </a:lnTo>
                <a:close/>
                <a:moveTo>
                  <a:pt x="296734" y="416927"/>
                </a:moveTo>
                <a:cubicBezTo>
                  <a:pt x="298966" y="405854"/>
                  <a:pt x="304413" y="395674"/>
                  <a:pt x="312360" y="387727"/>
                </a:cubicBezTo>
                <a:lnTo>
                  <a:pt x="418534" y="281553"/>
                </a:lnTo>
                <a:lnTo>
                  <a:pt x="489972" y="352991"/>
                </a:lnTo>
                <a:lnTo>
                  <a:pt x="383798" y="459165"/>
                </a:lnTo>
                <a:cubicBezTo>
                  <a:pt x="375851" y="467112"/>
                  <a:pt x="365671" y="472559"/>
                  <a:pt x="354598" y="474791"/>
                </a:cubicBezTo>
                <a:lnTo>
                  <a:pt x="301377" y="485418"/>
                </a:lnTo>
                <a:cubicBezTo>
                  <a:pt x="300573" y="485596"/>
                  <a:pt x="299680" y="485686"/>
                  <a:pt x="298787" y="485686"/>
                </a:cubicBezTo>
                <a:cubicBezTo>
                  <a:pt x="291644" y="485686"/>
                  <a:pt x="285750" y="479881"/>
                  <a:pt x="285750" y="472648"/>
                </a:cubicBezTo>
                <a:cubicBezTo>
                  <a:pt x="285750" y="471755"/>
                  <a:pt x="285839" y="470952"/>
                  <a:pt x="286018" y="470059"/>
                </a:cubicBezTo>
                <a:lnTo>
                  <a:pt x="296644" y="416838"/>
                </a:lnTo>
                <a:close/>
                <a:moveTo>
                  <a:pt x="535871" y="307092"/>
                </a:moveTo>
                <a:lnTo>
                  <a:pt x="510153" y="332809"/>
                </a:lnTo>
                <a:lnTo>
                  <a:pt x="438716" y="261372"/>
                </a:lnTo>
                <a:lnTo>
                  <a:pt x="464433" y="235654"/>
                </a:lnTo>
                <a:cubicBezTo>
                  <a:pt x="484168" y="215920"/>
                  <a:pt x="516136" y="215920"/>
                  <a:pt x="535871" y="235654"/>
                </a:cubicBezTo>
                <a:cubicBezTo>
                  <a:pt x="555605" y="255389"/>
                  <a:pt x="555605" y="287357"/>
                  <a:pt x="535871" y="307092"/>
                </a:cubicBezTo>
                <a:close/>
              </a:path>
            </a:pathLst>
          </a:custGeom>
          <a:solidFill>
            <a:srgbClr val="A0522D"/>
          </a:solidFill>
        </p:spPr>
      </p:sp>
      <p:sp>
        <p:nvSpPr>
          <p:cNvPr id="7" name="Text 4"/>
          <p:cNvSpPr/>
          <p:nvPr/>
        </p:nvSpPr>
        <p:spPr>
          <a:xfrm>
            <a:off x="1557734" y="3784600"/>
            <a:ext cx="1117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第三方报告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9684" y="4140200"/>
            <a:ext cx="2933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延迟测试、功能鉴定、安全合规审查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33267" y="2616200"/>
            <a:ext cx="3721100" cy="1981200"/>
          </a:xfrm>
          <a:custGeom>
            <a:avLst/>
            <a:gdLst/>
            <a:ahLst/>
            <a:cxnLst/>
            <a:rect l="l" t="t" r="r" b="b"/>
            <a:pathLst>
              <a:path w="3721100" h="1981200">
                <a:moveTo>
                  <a:pt x="101596" y="0"/>
                </a:moveTo>
                <a:lnTo>
                  <a:pt x="3619504" y="0"/>
                </a:lnTo>
                <a:cubicBezTo>
                  <a:pt x="3675614" y="0"/>
                  <a:pt x="3721100" y="45486"/>
                  <a:pt x="3721100" y="101596"/>
                </a:cubicBezTo>
                <a:lnTo>
                  <a:pt x="3721100" y="1879604"/>
                </a:lnTo>
                <a:cubicBezTo>
                  <a:pt x="3721100" y="1935714"/>
                  <a:pt x="3675614" y="1981200"/>
                  <a:pt x="3619504" y="1981200"/>
                </a:cubicBezTo>
                <a:lnTo>
                  <a:pt x="101596" y="1981200"/>
                </a:lnTo>
                <a:cubicBezTo>
                  <a:pt x="45486" y="1981200"/>
                  <a:pt x="0" y="1935714"/>
                  <a:pt x="0" y="1879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CD853F">
              <a:alpha val="10196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5895777" y="29972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19581" y="-23128"/>
                </a:moveTo>
                <a:cubicBezTo>
                  <a:pt x="207615" y="-30450"/>
                  <a:pt x="192524" y="-30450"/>
                  <a:pt x="180558" y="-23128"/>
                </a:cubicBezTo>
                <a:cubicBezTo>
                  <a:pt x="158770" y="-9823"/>
                  <a:pt x="145286" y="-6251"/>
                  <a:pt x="119747" y="-6787"/>
                </a:cubicBezTo>
                <a:cubicBezTo>
                  <a:pt x="105727" y="-7144"/>
                  <a:pt x="92690" y="446"/>
                  <a:pt x="85904" y="12769"/>
                </a:cubicBezTo>
                <a:cubicBezTo>
                  <a:pt x="73670" y="35183"/>
                  <a:pt x="63758" y="45095"/>
                  <a:pt x="41344" y="57329"/>
                </a:cubicBezTo>
                <a:cubicBezTo>
                  <a:pt x="29021" y="64026"/>
                  <a:pt x="21521" y="77153"/>
                  <a:pt x="21788" y="91172"/>
                </a:cubicBezTo>
                <a:cubicBezTo>
                  <a:pt x="22414" y="116711"/>
                  <a:pt x="18752" y="130195"/>
                  <a:pt x="5447" y="151983"/>
                </a:cubicBezTo>
                <a:cubicBezTo>
                  <a:pt x="-1875" y="163949"/>
                  <a:pt x="-1875" y="179040"/>
                  <a:pt x="5447" y="191006"/>
                </a:cubicBezTo>
                <a:cubicBezTo>
                  <a:pt x="18752" y="212794"/>
                  <a:pt x="22324" y="226278"/>
                  <a:pt x="21788" y="251817"/>
                </a:cubicBezTo>
                <a:cubicBezTo>
                  <a:pt x="21431" y="265837"/>
                  <a:pt x="29021" y="278874"/>
                  <a:pt x="41344" y="285661"/>
                </a:cubicBezTo>
                <a:cubicBezTo>
                  <a:pt x="61079" y="296466"/>
                  <a:pt x="71080" y="305395"/>
                  <a:pt x="81617" y="322719"/>
                </a:cubicBezTo>
                <a:lnTo>
                  <a:pt x="38130" y="409426"/>
                </a:lnTo>
                <a:cubicBezTo>
                  <a:pt x="32861" y="420053"/>
                  <a:pt x="37148" y="432911"/>
                  <a:pt x="47685" y="438180"/>
                </a:cubicBezTo>
                <a:lnTo>
                  <a:pt x="124480" y="476577"/>
                </a:lnTo>
                <a:cubicBezTo>
                  <a:pt x="134749" y="481667"/>
                  <a:pt x="147251" y="477828"/>
                  <a:pt x="152787" y="467826"/>
                </a:cubicBezTo>
                <a:lnTo>
                  <a:pt x="199936" y="382905"/>
                </a:lnTo>
                <a:lnTo>
                  <a:pt x="247084" y="467826"/>
                </a:lnTo>
                <a:cubicBezTo>
                  <a:pt x="252621" y="477828"/>
                  <a:pt x="265122" y="481757"/>
                  <a:pt x="275392" y="476577"/>
                </a:cubicBezTo>
                <a:lnTo>
                  <a:pt x="352187" y="438180"/>
                </a:lnTo>
                <a:cubicBezTo>
                  <a:pt x="362813" y="432911"/>
                  <a:pt x="367099" y="420053"/>
                  <a:pt x="361742" y="409426"/>
                </a:cubicBezTo>
                <a:lnTo>
                  <a:pt x="318343" y="322630"/>
                </a:lnTo>
                <a:cubicBezTo>
                  <a:pt x="328791" y="305306"/>
                  <a:pt x="338882" y="296376"/>
                  <a:pt x="358616" y="285571"/>
                </a:cubicBezTo>
                <a:cubicBezTo>
                  <a:pt x="370939" y="278874"/>
                  <a:pt x="378440" y="265748"/>
                  <a:pt x="378172" y="251728"/>
                </a:cubicBezTo>
                <a:cubicBezTo>
                  <a:pt x="377547" y="226189"/>
                  <a:pt x="381208" y="212705"/>
                  <a:pt x="394514" y="190917"/>
                </a:cubicBezTo>
                <a:cubicBezTo>
                  <a:pt x="401836" y="178951"/>
                  <a:pt x="401836" y="163860"/>
                  <a:pt x="394514" y="151894"/>
                </a:cubicBezTo>
                <a:cubicBezTo>
                  <a:pt x="381208" y="130106"/>
                  <a:pt x="377636" y="116622"/>
                  <a:pt x="378172" y="91083"/>
                </a:cubicBezTo>
                <a:cubicBezTo>
                  <a:pt x="378529" y="77063"/>
                  <a:pt x="370939" y="64026"/>
                  <a:pt x="358616" y="57239"/>
                </a:cubicBezTo>
                <a:cubicBezTo>
                  <a:pt x="336203" y="45006"/>
                  <a:pt x="326291" y="35094"/>
                  <a:pt x="314057" y="12680"/>
                </a:cubicBezTo>
                <a:cubicBezTo>
                  <a:pt x="307360" y="357"/>
                  <a:pt x="294233" y="-7144"/>
                  <a:pt x="280214" y="-6876"/>
                </a:cubicBezTo>
                <a:cubicBezTo>
                  <a:pt x="254675" y="-6251"/>
                  <a:pt x="241191" y="-9912"/>
                  <a:pt x="219402" y="-23217"/>
                </a:cubicBezTo>
                <a:close/>
                <a:moveTo>
                  <a:pt x="200025" y="85725"/>
                </a:moveTo>
                <a:cubicBezTo>
                  <a:pt x="247338" y="85725"/>
                  <a:pt x="285750" y="124137"/>
                  <a:pt x="285750" y="171450"/>
                </a:cubicBezTo>
                <a:cubicBezTo>
                  <a:pt x="285750" y="218763"/>
                  <a:pt x="247338" y="257175"/>
                  <a:pt x="200025" y="257175"/>
                </a:cubicBezTo>
                <a:cubicBezTo>
                  <a:pt x="152712" y="257175"/>
                  <a:pt x="114300" y="218763"/>
                  <a:pt x="114300" y="171450"/>
                </a:cubicBezTo>
                <a:cubicBezTo>
                  <a:pt x="114300" y="124137"/>
                  <a:pt x="152712" y="85725"/>
                  <a:pt x="200025" y="85725"/>
                </a:cubicBezTo>
                <a:close/>
              </a:path>
            </a:pathLst>
          </a:custGeom>
          <a:solidFill>
            <a:srgbClr val="CD853F"/>
          </a:solidFill>
        </p:spPr>
      </p:sp>
      <p:sp>
        <p:nvSpPr>
          <p:cNvPr id="11" name="Text 8"/>
          <p:cNvSpPr/>
          <p:nvPr/>
        </p:nvSpPr>
        <p:spPr>
          <a:xfrm>
            <a:off x="5638602" y="3784600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知识产权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152628" y="4140200"/>
            <a:ext cx="1892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2项专利受理、1项软著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212534" y="2616200"/>
            <a:ext cx="3721100" cy="1981200"/>
          </a:xfrm>
          <a:custGeom>
            <a:avLst/>
            <a:gdLst/>
            <a:ahLst/>
            <a:cxnLst/>
            <a:rect l="l" t="t" r="r" b="b"/>
            <a:pathLst>
              <a:path w="3721100" h="1981200">
                <a:moveTo>
                  <a:pt x="101596" y="0"/>
                </a:moveTo>
                <a:lnTo>
                  <a:pt x="3619504" y="0"/>
                </a:lnTo>
                <a:cubicBezTo>
                  <a:pt x="3675614" y="0"/>
                  <a:pt x="3721100" y="45486"/>
                  <a:pt x="3721100" y="101596"/>
                </a:cubicBezTo>
                <a:lnTo>
                  <a:pt x="3721100" y="1879604"/>
                </a:lnTo>
                <a:cubicBezTo>
                  <a:pt x="3721100" y="1935714"/>
                  <a:pt x="3675614" y="1981200"/>
                  <a:pt x="3619504" y="1981200"/>
                </a:cubicBezTo>
                <a:lnTo>
                  <a:pt x="101596" y="1981200"/>
                </a:lnTo>
                <a:cubicBezTo>
                  <a:pt x="45486" y="1981200"/>
                  <a:pt x="0" y="1935714"/>
                  <a:pt x="0" y="1879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4682B4">
              <a:alpha val="10196"/>
            </a:srgbClr>
          </a:solidFill>
        </p:spPr>
      </p:sp>
      <p:sp>
        <p:nvSpPr>
          <p:cNvPr id="14" name="Shape 11"/>
          <p:cNvSpPr/>
          <p:nvPr/>
        </p:nvSpPr>
        <p:spPr>
          <a:xfrm>
            <a:off x="9818092" y="29972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40119" y="76081"/>
                </a:moveTo>
                <a:lnTo>
                  <a:pt x="135999" y="191810"/>
                </a:lnTo>
                <a:cubicBezTo>
                  <a:pt x="131891" y="196364"/>
                  <a:pt x="132070" y="203418"/>
                  <a:pt x="136446" y="207794"/>
                </a:cubicBezTo>
                <a:cubicBezTo>
                  <a:pt x="163681" y="235029"/>
                  <a:pt x="207883" y="235029"/>
                  <a:pt x="235119" y="207794"/>
                </a:cubicBezTo>
                <a:lnTo>
                  <a:pt x="263515" y="179397"/>
                </a:lnTo>
                <a:cubicBezTo>
                  <a:pt x="267266" y="175647"/>
                  <a:pt x="271998" y="173593"/>
                  <a:pt x="276820" y="173236"/>
                </a:cubicBezTo>
                <a:cubicBezTo>
                  <a:pt x="282893" y="172700"/>
                  <a:pt x="289143" y="174754"/>
                  <a:pt x="293787" y="179397"/>
                </a:cubicBezTo>
                <a:lnTo>
                  <a:pt x="451485" y="335756"/>
                </a:lnTo>
                <a:lnTo>
                  <a:pt x="514350" y="285750"/>
                </a:lnTo>
                <a:lnTo>
                  <a:pt x="514350" y="28575"/>
                </a:lnTo>
                <a:lnTo>
                  <a:pt x="414338" y="85725"/>
                </a:lnTo>
                <a:lnTo>
                  <a:pt x="393085" y="71527"/>
                </a:lnTo>
                <a:cubicBezTo>
                  <a:pt x="378976" y="62151"/>
                  <a:pt x="362456" y="57150"/>
                  <a:pt x="345490" y="57150"/>
                </a:cubicBezTo>
                <a:lnTo>
                  <a:pt x="282625" y="57150"/>
                </a:lnTo>
                <a:cubicBezTo>
                  <a:pt x="281642" y="57150"/>
                  <a:pt x="280571" y="57150"/>
                  <a:pt x="279589" y="57239"/>
                </a:cubicBezTo>
                <a:cubicBezTo>
                  <a:pt x="264497" y="58043"/>
                  <a:pt x="250299" y="64830"/>
                  <a:pt x="240119" y="76081"/>
                </a:cubicBezTo>
                <a:close/>
                <a:moveTo>
                  <a:pt x="104120" y="163145"/>
                </a:moveTo>
                <a:lnTo>
                  <a:pt x="199489" y="57150"/>
                </a:lnTo>
                <a:lnTo>
                  <a:pt x="164128" y="57150"/>
                </a:lnTo>
                <a:cubicBezTo>
                  <a:pt x="141357" y="57150"/>
                  <a:pt x="119569" y="66169"/>
                  <a:pt x="103495" y="82242"/>
                </a:cubicBezTo>
                <a:lnTo>
                  <a:pt x="100013" y="85725"/>
                </a:lnTo>
                <a:lnTo>
                  <a:pt x="0" y="28575"/>
                </a:lnTo>
                <a:lnTo>
                  <a:pt x="0" y="285750"/>
                </a:lnTo>
                <a:lnTo>
                  <a:pt x="139660" y="402104"/>
                </a:lnTo>
                <a:cubicBezTo>
                  <a:pt x="160199" y="419249"/>
                  <a:pt x="186095" y="428625"/>
                  <a:pt x="212794" y="428625"/>
                </a:cubicBezTo>
                <a:lnTo>
                  <a:pt x="226814" y="428625"/>
                </a:lnTo>
                <a:lnTo>
                  <a:pt x="220563" y="422374"/>
                </a:lnTo>
                <a:cubicBezTo>
                  <a:pt x="212169" y="413980"/>
                  <a:pt x="212169" y="400407"/>
                  <a:pt x="220563" y="392103"/>
                </a:cubicBezTo>
                <a:cubicBezTo>
                  <a:pt x="228957" y="383798"/>
                  <a:pt x="242530" y="383709"/>
                  <a:pt x="250835" y="392103"/>
                </a:cubicBezTo>
                <a:lnTo>
                  <a:pt x="287447" y="428714"/>
                </a:lnTo>
                <a:lnTo>
                  <a:pt x="295483" y="428714"/>
                </a:lnTo>
                <a:cubicBezTo>
                  <a:pt x="312539" y="428714"/>
                  <a:pt x="329238" y="424875"/>
                  <a:pt x="344418" y="417731"/>
                </a:cubicBezTo>
                <a:lnTo>
                  <a:pt x="320576" y="393799"/>
                </a:lnTo>
                <a:cubicBezTo>
                  <a:pt x="312182" y="385405"/>
                  <a:pt x="312182" y="371832"/>
                  <a:pt x="320576" y="363528"/>
                </a:cubicBezTo>
                <a:cubicBezTo>
                  <a:pt x="328970" y="355223"/>
                  <a:pt x="342543" y="355134"/>
                  <a:pt x="350847" y="363528"/>
                </a:cubicBezTo>
                <a:lnTo>
                  <a:pt x="379422" y="392103"/>
                </a:lnTo>
                <a:lnTo>
                  <a:pt x="395049" y="376476"/>
                </a:lnTo>
                <a:cubicBezTo>
                  <a:pt x="402997" y="368528"/>
                  <a:pt x="405319" y="357009"/>
                  <a:pt x="401836" y="346918"/>
                </a:cubicBezTo>
                <a:lnTo>
                  <a:pt x="278696" y="224760"/>
                </a:lnTo>
                <a:lnTo>
                  <a:pt x="265390" y="238065"/>
                </a:lnTo>
                <a:cubicBezTo>
                  <a:pt x="221367" y="282089"/>
                  <a:pt x="150108" y="282089"/>
                  <a:pt x="106085" y="238065"/>
                </a:cubicBezTo>
                <a:cubicBezTo>
                  <a:pt x="85546" y="217527"/>
                  <a:pt x="84743" y="184577"/>
                  <a:pt x="104120" y="163056"/>
                </a:cubicBezTo>
                <a:close/>
              </a:path>
            </a:pathLst>
          </a:custGeom>
          <a:solidFill>
            <a:srgbClr val="4682B4"/>
          </a:solidFill>
        </p:spPr>
      </p:sp>
      <p:sp>
        <p:nvSpPr>
          <p:cNvPr id="15" name="Text 12"/>
          <p:cNvSpPr/>
          <p:nvPr/>
        </p:nvSpPr>
        <p:spPr>
          <a:xfrm>
            <a:off x="9618067" y="3784600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试点合作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71483" y="4140200"/>
            <a:ext cx="3403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与深圳某消防支队签约，完成300小时实测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54000" y="4902200"/>
            <a:ext cx="11684000" cy="711200"/>
          </a:xfrm>
          <a:custGeom>
            <a:avLst/>
            <a:gdLst/>
            <a:ahLst/>
            <a:cxnLst/>
            <a:rect l="l" t="t" r="r" b="b"/>
            <a:pathLst>
              <a:path w="11684000" h="711200">
                <a:moveTo>
                  <a:pt x="101602" y="0"/>
                </a:moveTo>
                <a:lnTo>
                  <a:pt x="11582398" y="0"/>
                </a:lnTo>
                <a:cubicBezTo>
                  <a:pt x="11638511" y="0"/>
                  <a:pt x="11684000" y="45489"/>
                  <a:pt x="11684000" y="101602"/>
                </a:cubicBezTo>
                <a:lnTo>
                  <a:pt x="11684000" y="609598"/>
                </a:lnTo>
                <a:cubicBezTo>
                  <a:pt x="11684000" y="665711"/>
                  <a:pt x="11638511" y="711200"/>
                  <a:pt x="115823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0522D">
              <a:alpha val="80000"/>
            </a:srgbClr>
          </a:solidFill>
        </p:spPr>
      </p:sp>
      <p:sp>
        <p:nvSpPr>
          <p:cNvPr id="18" name="Text 15"/>
          <p:cNvSpPr/>
          <p:nvPr/>
        </p:nvSpPr>
        <p:spPr>
          <a:xfrm>
            <a:off x="406400" y="5105400"/>
            <a:ext cx="11379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甲方评价：响应速度与稳定性</a:t>
            </a:r>
            <a:r>
              <a:rPr lang="en-US" sz="1600" b="1" dirty="0">
                <a:solidFill>
                  <a:srgbClr val="FFD7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优于现役进口设备</a:t>
            </a:r>
            <a:endParaRPr lang="en-US" sz="1600" dirty="0"/>
          </a:p>
        </p:txBody>
      </p:sp>
      <p:grpSp>
        <p:nvGrpSpPr>
          <p:cNvPr id="19" name="组合 18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22" name="标题 1"/>
          <p:cNvSpPr>
            <a:spLocks noGrp="1"/>
          </p:cNvSpPr>
          <p:nvPr/>
        </p:nvSpPr>
        <p:spPr>
          <a:xfrm>
            <a:off x="3185057" y="-2531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项目实证</a:t>
            </a:r>
            <a:r>
              <a:rPr lang="zh-CN" altLang="en-US" sz="3200" b="1" dirty="0" smtClean="0">
                <a:latin typeface="微软雅黑" panose="020B0503020204020204" charset="-122"/>
                <a:ea typeface="微软雅黑" panose="020B0503020204020204" charset="-122"/>
              </a:rPr>
              <a:t>资料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0-11:40:18-d3k808gs8jdo4os5e6t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726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524000"/>
            <a:ext cx="56642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下一步计划与融资需求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2336800"/>
            <a:ext cx="5435600" cy="1422400"/>
          </a:xfrm>
          <a:custGeom>
            <a:avLst/>
            <a:gdLst/>
            <a:ahLst/>
            <a:cxnLst/>
            <a:rect l="l" t="t" r="r" b="b"/>
            <a:pathLst>
              <a:path w="5435600" h="1422400">
                <a:moveTo>
                  <a:pt x="101602" y="0"/>
                </a:moveTo>
                <a:lnTo>
                  <a:pt x="5333998" y="0"/>
                </a:lnTo>
                <a:cubicBezTo>
                  <a:pt x="5390111" y="0"/>
                  <a:pt x="5435600" y="45489"/>
                  <a:pt x="5435600" y="101602"/>
                </a:cubicBezTo>
                <a:lnTo>
                  <a:pt x="5435600" y="1320798"/>
                </a:lnTo>
                <a:cubicBezTo>
                  <a:pt x="5435600" y="1376911"/>
                  <a:pt x="5390111" y="1422400"/>
                  <a:pt x="5333998" y="1422400"/>
                </a:cubicBezTo>
                <a:lnTo>
                  <a:pt x="101602" y="1422400"/>
                </a:lnTo>
                <a:cubicBezTo>
                  <a:pt x="45489" y="1422400"/>
                  <a:pt x="0" y="1376911"/>
                  <a:pt x="0" y="13207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0522D">
              <a:alpha val="10196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457200" y="2540000"/>
            <a:ext cx="5143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A0522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近期目标 (6个月)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2997200"/>
            <a:ext cx="51181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完成园区试点，达成延迟</a:t>
            </a:r>
            <a:r>
              <a:rPr lang="en-US" sz="1400" b="1" dirty="0">
                <a:solidFill>
                  <a:srgbClr val="CD853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&lt;180ms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、成功率</a:t>
            </a:r>
            <a:r>
              <a:rPr lang="en-US" sz="1400" b="1" dirty="0">
                <a:solidFill>
                  <a:srgbClr val="CD853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≥95%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的指标。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补充高性能嵌入式板卡与VR设备，预算约</a:t>
            </a:r>
            <a:r>
              <a:rPr lang="en-US" sz="1400" b="1" dirty="0">
                <a:solidFill>
                  <a:srgbClr val="CD853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12万元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4000" y="3962400"/>
            <a:ext cx="5435600" cy="1371600"/>
          </a:xfrm>
          <a:custGeom>
            <a:avLst/>
            <a:gdLst/>
            <a:ahLst/>
            <a:cxnLst/>
            <a:rect l="l" t="t" r="r" b="b"/>
            <a:pathLst>
              <a:path w="5435600" h="1371600">
                <a:moveTo>
                  <a:pt x="101594" y="0"/>
                </a:moveTo>
                <a:lnTo>
                  <a:pt x="5334006" y="0"/>
                </a:lnTo>
                <a:cubicBezTo>
                  <a:pt x="5390115" y="0"/>
                  <a:pt x="5435600" y="45485"/>
                  <a:pt x="5435600" y="101594"/>
                </a:cubicBezTo>
                <a:lnTo>
                  <a:pt x="5435600" y="1270006"/>
                </a:lnTo>
                <a:cubicBezTo>
                  <a:pt x="5435600" y="1326115"/>
                  <a:pt x="5390115" y="1371600"/>
                  <a:pt x="53340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4682B4">
              <a:alpha val="10196"/>
            </a:srgbClr>
          </a:solidFill>
        </p:spPr>
      </p:sp>
      <p:sp>
        <p:nvSpPr>
          <p:cNvPr id="8" name="Text 5"/>
          <p:cNvSpPr/>
          <p:nvPr/>
        </p:nvSpPr>
        <p:spPr>
          <a:xfrm>
            <a:off x="457200" y="4165600"/>
            <a:ext cx="5143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4682B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后续规划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622800"/>
            <a:ext cx="51181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启动Pre-A融资，用于</a:t>
            </a:r>
            <a:r>
              <a:rPr lang="en-US" sz="1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量产供应链建设、全国渠道拓展及下一代AI视觉算法研发</a:t>
            </a: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，目标三年内实现万台级部署。</a:t>
            </a:r>
            <a:endParaRPr lang="en-US" sz="1600" dirty="0"/>
          </a:p>
        </p:txBody>
      </p:sp>
      <p:grpSp>
        <p:nvGrpSpPr>
          <p:cNvPr id="11" name="组合 10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  <p:sp>
        <p:nvSpPr>
          <p:cNvPr id="14" name="标题 1"/>
          <p:cNvSpPr>
            <a:spLocks noGrp="1"/>
          </p:cNvSpPr>
          <p:nvPr/>
        </p:nvSpPr>
        <p:spPr>
          <a:xfrm>
            <a:off x="3185057" y="-2531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项目实证</a:t>
            </a:r>
            <a:r>
              <a:rPr lang="zh-CN" altLang="en-US" sz="3200" b="1" dirty="0" smtClean="0">
                <a:latin typeface="微软雅黑" panose="020B0503020204020204" charset="-122"/>
                <a:ea typeface="微软雅黑" panose="020B0503020204020204" charset="-122"/>
              </a:rPr>
              <a:t>资料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663194" y="1618972"/>
            <a:ext cx="51282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项目名称（居中）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99186" y="2669770"/>
            <a:ext cx="51282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答辩环节</a:t>
            </a:r>
            <a:endParaRPr lang="zh-CN" altLang="en-US" sz="9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531869" y="4238220"/>
            <a:ext cx="51282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Medium" panose="020B0600000000000000" charset="-122"/>
              </a:rPr>
              <a:t>（时间</a:t>
            </a:r>
            <a:r>
              <a:rPr lang="zh-CN" altLang="en-US" sz="32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Medium" panose="020B0600000000000000" charset="-122"/>
              </a:rPr>
              <a:t>：</a:t>
            </a:r>
            <a:r>
              <a:rPr lang="en-US" altLang="zh-CN" sz="32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Medium" panose="020B0600000000000000" charset="-122"/>
              </a:rPr>
              <a:t>3</a:t>
            </a:r>
            <a:r>
              <a:rPr lang="zh-CN" altLang="en-US" sz="32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Medium" panose="020B0600000000000000" charset="-122"/>
              </a:rPr>
              <a:t>分钟</a:t>
            </a:r>
            <a:r>
              <a:rPr lang="zh-CN" alt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Medium" panose="020B0600000000000000" charset="-122"/>
              </a:rPr>
              <a:t>）</a:t>
            </a:r>
            <a:endParaRPr lang="zh-CN" altLang="en-US" sz="3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Medium" panose="020B0600000000000000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57225" y="130746"/>
            <a:ext cx="2688080" cy="542547"/>
            <a:chOff x="357225" y="130746"/>
            <a:chExt cx="2688080" cy="54254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225" y="145987"/>
              <a:ext cx="527306" cy="527306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283" y="130746"/>
              <a:ext cx="2021022" cy="54254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35.59543307086614,&quot;left&quot;:88.3540157480315,&quot;top&quot;:195.27732283464564,&quot;width&quot;:811.6552755905511}"/>
</p:tagLst>
</file>

<file path=ppt/tags/tag2.xml><?xml version="1.0" encoding="utf-8"?>
<p:tagLst xmlns:p="http://schemas.openxmlformats.org/presentationml/2006/main">
  <p:tag name="KSO_WM_DIAGRAM_VIRTUALLY_FRAME" val="{&quot;height&quot;:235.59543307086614,&quot;left&quot;:88.3540157480315,&quot;top&quot;:195.27732283464564,&quot;width&quot;:811.6552755905511}"/>
</p:tagLst>
</file>

<file path=ppt/tags/tag3.xml><?xml version="1.0" encoding="utf-8"?>
<p:tagLst xmlns:p="http://schemas.openxmlformats.org/presentationml/2006/main">
  <p:tag name="KSO_WM_DIAGRAM_VIRTUALLY_FRAME" val="{&quot;height&quot;:235.59543307086614,&quot;left&quot;:88.3540157480315,&quot;top&quot;:195.27732283464564,&quot;width&quot;:811.6552755905511}"/>
</p:tagLst>
</file>

<file path=ppt/tags/tag4.xml><?xml version="1.0" encoding="utf-8"?>
<p:tagLst xmlns:p="http://schemas.openxmlformats.org/presentationml/2006/main">
  <p:tag name="KSO_WM_DIAGRAM_VIRTUALLY_FRAME" val="{&quot;height&quot;:235.59543307086614,&quot;left&quot;:88.3540157480315,&quot;top&quot;:195.27732283464564,&quot;width&quot;:811.6552755905511}"/>
</p:tagLst>
</file>

<file path=ppt/tags/tag5.xml><?xml version="1.0" encoding="utf-8"?>
<p:tagLst xmlns:p="http://schemas.openxmlformats.org/presentationml/2006/main">
  <p:tag name="KSO_WM_DIAGRAM_VIRTUALLY_FRAME" val="{&quot;height&quot;:235.59543307086614,&quot;left&quot;:88.3540157480315,&quot;top&quot;:195.27732283464564,&quot;width&quot;:811.6552755905511}"/>
</p:tagLst>
</file>

<file path=ppt/tags/tag6.xml><?xml version="1.0" encoding="utf-8"?>
<p:tagLst xmlns:p="http://schemas.openxmlformats.org/presentationml/2006/main">
  <p:tag name="KSO_WM_DIAGRAM_VIRTUALLY_FRAME" val="{&quot;height&quot;:235.59543307086614,&quot;left&quot;:88.3540157480315,&quot;top&quot;:195.27732283464564,&quot;width&quot;:811.6552755905511}"/>
</p:tagLst>
</file>

<file path=ppt/tags/tag7.xml><?xml version="1.0" encoding="utf-8"?>
<p:tagLst xmlns:p="http://schemas.openxmlformats.org/presentationml/2006/main">
  <p:tag name="KSO_WM_DIAGRAM_VIRTUALLY_FRAME" val="{&quot;height&quot;:235.59543307086614,&quot;left&quot;:88.3540157480315,&quot;top&quot;:195.27732283464564,&quot;width&quot;:811.6552755905511}"/>
</p:tagLst>
</file>

<file path=ppt/tags/tag8.xml><?xml version="1.0" encoding="utf-8"?>
<p:tagLst xmlns:p="http://schemas.openxmlformats.org/presentationml/2006/main">
  <p:tag name="KSO_WM_DIAGRAM_VIRTUALLY_FRAME" val="{&quot;height&quot;:235.59543307086614,&quot;left&quot;:88.3540157480315,&quot;top&quot;:195.27732283464564,&quot;width&quot;:811.6552755905511}"/>
</p:tagLst>
</file>

<file path=ppt/tags/tag9.xml><?xml version="1.0" encoding="utf-8"?>
<p:tagLst xmlns:p="http://schemas.openxmlformats.org/presentationml/2006/main">
  <p:tag name="KSO_WM_DIAGRAM_VIRTUALLY_FRAME" val="{&quot;height&quot;:235.59543307086614,&quot;left&quot;:88.3540157480315,&quot;top&quot;:195.27732283464564,&quot;width&quot;:811.6552755905511}"/>
</p:tagLst>
</file>

<file path=ppt/tags/tag10.xml><?xml version="1.0" encoding="utf-8"?>
<p:tagLst xmlns:p="http://schemas.openxmlformats.org/presentationml/2006/main">
  <p:tag name="KSO_WM_DIAGRAM_VIRTUALLY_FRAME" val="{&quot;height&quot;:235.59543307086614,&quot;left&quot;:88.3540157480315,&quot;top&quot;:195.27732283464564,&quot;width&quot;:811.6552755905511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2020</Words>
  <Application>WPS 演示</Application>
  <PresentationFormat>On-screen Show (16:9)</PresentationFormat>
  <Paragraphs>359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MiSans</vt:lpstr>
      <vt:lpstr>MiSans</vt:lpstr>
      <vt:lpstr>Noto Sans SC</vt:lpstr>
      <vt:lpstr>Noto Sans SC</vt:lpstr>
      <vt:lpstr>Arial Unicode MS</vt:lpstr>
      <vt:lpstr>等线 Light</vt:lpstr>
      <vt:lpstr>Calibri Light</vt:lpstr>
      <vt:lpstr>等线</vt:lpstr>
      <vt:lpstr>Calibri</vt:lpstr>
      <vt:lpstr>思源黑体 CN Medium</vt:lpstr>
      <vt:lpstr>黑体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驭跃机器人：低延迟高可靠巡检革命</dc:title>
  <dc:creator>Kimi</dc:creator>
  <dc:subject>驭跃机器人：低延迟高可靠巡检革命</dc:subject>
  <cp:lastModifiedBy>果冻</cp:lastModifiedBy>
  <cp:revision>4</cp:revision>
  <dcterms:created xsi:type="dcterms:W3CDTF">2025-12-06T06:53:00Z</dcterms:created>
  <dcterms:modified xsi:type="dcterms:W3CDTF">2025-12-06T07:11:22Z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{"Label":"驭跃机器人：低延迟高可靠巡检革命","ContentProducer":"001191110108MACG2KBH8F10000","ProduceID":"d4psclkpm1t3f8m1no30","ReservedCode1":"","ContentPropagator":"001191110108MACG2KBH8F20000","PropagateID":"d4psclkpm1t3f8m1no30","ReservedCode2":""}</vt:lpwstr>
  </property>
  <property fmtid="{D5CDD505-2E9C-101B-9397-08002B2CF9AE}" pid="3" name="KSOProductBuildVer">
    <vt:lpwstr>2052-12.1.0.24034</vt:lpwstr>
  </property>
  <property fmtid="{D5CDD505-2E9C-101B-9397-08002B2CF9AE}" pid="4" name="ICV">
    <vt:lpwstr>AC9D5D622B4349DBA5EFEC9DC96828F8_12</vt:lpwstr>
  </property>
</Properties>
</file>
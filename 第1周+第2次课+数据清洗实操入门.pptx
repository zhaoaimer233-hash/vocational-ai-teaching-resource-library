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5" r:id="rId4"/>
  </p:sldMasterIdLst>
  <p:notesMasterIdLst>
    <p:notesMasterId r:id="rId6"/>
  </p:notesMasterIdLst>
  <p:handoutMasterIdLst>
    <p:handoutMasterId r:id="rId84"/>
  </p:handoutMasterIdLst>
  <p:sldIdLst>
    <p:sldId id="290" r:id="rId5"/>
    <p:sldId id="327" r:id="rId7"/>
    <p:sldId id="328" r:id="rId8"/>
    <p:sldId id="320" r:id="rId9"/>
    <p:sldId id="32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1" r:id="rId19"/>
    <p:sldId id="370" r:id="rId20"/>
    <p:sldId id="372" r:id="rId21"/>
    <p:sldId id="373" r:id="rId22"/>
    <p:sldId id="374" r:id="rId23"/>
    <p:sldId id="375" r:id="rId24"/>
    <p:sldId id="376" r:id="rId25"/>
    <p:sldId id="377" r:id="rId26"/>
    <p:sldId id="402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98" r:id="rId36"/>
    <p:sldId id="386" r:id="rId37"/>
    <p:sldId id="387" r:id="rId38"/>
    <p:sldId id="388" r:id="rId39"/>
    <p:sldId id="399" r:id="rId40"/>
    <p:sldId id="389" r:id="rId41"/>
    <p:sldId id="390" r:id="rId42"/>
    <p:sldId id="400" r:id="rId43"/>
    <p:sldId id="391" r:id="rId44"/>
    <p:sldId id="401" r:id="rId45"/>
    <p:sldId id="335" r:id="rId46"/>
    <p:sldId id="332" r:id="rId47"/>
    <p:sldId id="392" r:id="rId48"/>
    <p:sldId id="393" r:id="rId49"/>
    <p:sldId id="394" r:id="rId50"/>
    <p:sldId id="395" r:id="rId51"/>
    <p:sldId id="396" r:id="rId52"/>
    <p:sldId id="397" r:id="rId53"/>
    <p:sldId id="403" r:id="rId54"/>
    <p:sldId id="404" r:id="rId55"/>
    <p:sldId id="405" r:id="rId56"/>
    <p:sldId id="406" r:id="rId57"/>
    <p:sldId id="408" r:id="rId58"/>
    <p:sldId id="407" r:id="rId59"/>
    <p:sldId id="409" r:id="rId60"/>
    <p:sldId id="410" r:id="rId61"/>
    <p:sldId id="411" r:id="rId62"/>
    <p:sldId id="412" r:id="rId63"/>
    <p:sldId id="413" r:id="rId64"/>
    <p:sldId id="414" r:id="rId65"/>
    <p:sldId id="415" r:id="rId66"/>
    <p:sldId id="416" r:id="rId67"/>
    <p:sldId id="417" r:id="rId68"/>
    <p:sldId id="418" r:id="rId69"/>
    <p:sldId id="419" r:id="rId70"/>
    <p:sldId id="420" r:id="rId71"/>
    <p:sldId id="421" r:id="rId72"/>
    <p:sldId id="422" r:id="rId73"/>
    <p:sldId id="306" r:id="rId74"/>
    <p:sldId id="423" r:id="rId75"/>
    <p:sldId id="424" r:id="rId76"/>
    <p:sldId id="425" r:id="rId77"/>
    <p:sldId id="428" r:id="rId78"/>
    <p:sldId id="426" r:id="rId79"/>
    <p:sldId id="427" r:id="rId80"/>
    <p:sldId id="307" r:id="rId81"/>
    <p:sldId id="360" r:id="rId82"/>
    <p:sldId id="361" r:id="rId83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晋玉婷" initials="晋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007E"/>
    <a:srgbClr val="D24726"/>
    <a:srgbClr val="6096E6"/>
    <a:srgbClr val="FFFFFF"/>
    <a:srgbClr val="2A8FBD"/>
    <a:srgbClr val="1E6787"/>
    <a:srgbClr val="DEB16E"/>
    <a:srgbClr val="E44860"/>
    <a:srgbClr val="1E8287"/>
    <a:srgbClr val="4352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6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2" y="588"/>
      </p:cViewPr>
      <p:guideLst>
        <p:guide orient="horz" pos="214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8" Type="http://schemas.openxmlformats.org/officeDocument/2006/relationships/commentAuthors" Target="commentAuthors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handoutMaster" Target="handoutMasters/handoutMaster1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12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5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984F66-7BA4-4FEA-898F-5C48D6CDF95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741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741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17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717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17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717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标题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488950" y="363538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lstStyle/>
          <a:p>
            <a:pPr lvl="0"/>
            <a:endParaRPr lang="zh-CN" altLang="en-US" sz="2400" b="1" dirty="0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334080"/>
            <a:ext cx="10969200" cy="705600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210" y="33027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/>
          <p:nvPr userDrawn="1"/>
        </p:nvCxnSpPr>
        <p:spPr>
          <a:xfrm>
            <a:off x="74613" y="1017588"/>
            <a:ext cx="41624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单击此处编辑副标题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标题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488950" y="363538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lstStyle/>
          <a:p>
            <a:pPr lvl="0"/>
            <a:endParaRPr lang="zh-CN" altLang="en-US" sz="2400" b="1" dirty="0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334080"/>
            <a:ext cx="10969200" cy="705600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210" y="33027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/>
          <p:nvPr userDrawn="1"/>
        </p:nvCxnSpPr>
        <p:spPr>
          <a:xfrm>
            <a:off x="74613" y="1017588"/>
            <a:ext cx="41624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4" Type="http://schemas.openxmlformats.org/officeDocument/2006/relationships/theme" Target="../theme/theme3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239713" y="333375"/>
            <a:ext cx="10969625" cy="706438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en-US" altLang="zh-CN" dirty="0"/>
              <a:t>   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1"/>
            </p:custDataLst>
          </p:nvPr>
        </p:nvSpPr>
        <p:spPr>
          <a:xfrm>
            <a:off x="612775" y="1390650"/>
            <a:ext cx="10968038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35" name="直接连接符 34"/>
          <p:cNvCxnSpPr/>
          <p:nvPr userDrawn="1"/>
        </p:nvCxnSpPr>
        <p:spPr>
          <a:xfrm flipV="1">
            <a:off x="0" y="1039813"/>
            <a:ext cx="4140200" cy="158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240463"/>
            <a:ext cx="12071350" cy="2381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延期 10"/>
          <p:cNvSpPr/>
          <p:nvPr/>
        </p:nvSpPr>
        <p:spPr>
          <a:xfrm>
            <a:off x="239713" y="495300"/>
            <a:ext cx="352425" cy="384175"/>
          </a:xfrm>
          <a:prstGeom prst="flowChartDelay">
            <a:avLst/>
          </a:prstGeom>
          <a:solidFill>
            <a:srgbClr val="435258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600" strike="noStrike" noProof="1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>
    <p:push dir="u"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300" normalizeH="0" baseline="0">
          <a:solidFill>
            <a:srgbClr val="435258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239713" y="333375"/>
            <a:ext cx="10969625" cy="706438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en-US" altLang="zh-CN" dirty="0"/>
              <a:t>   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  <p:custDataLst>
              <p:tags r:id="rId8"/>
            </p:custDataLst>
          </p:nvPr>
        </p:nvSpPr>
        <p:spPr>
          <a:xfrm>
            <a:off x="612775" y="1390650"/>
            <a:ext cx="10968038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35" name="直接连接符 34"/>
          <p:cNvCxnSpPr/>
          <p:nvPr userDrawn="1"/>
        </p:nvCxnSpPr>
        <p:spPr>
          <a:xfrm flipV="1">
            <a:off x="0" y="1039813"/>
            <a:ext cx="4140200" cy="158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240463"/>
            <a:ext cx="12071350" cy="2381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延期 10"/>
          <p:cNvSpPr/>
          <p:nvPr/>
        </p:nvSpPr>
        <p:spPr>
          <a:xfrm>
            <a:off x="239713" y="495300"/>
            <a:ext cx="352425" cy="384175"/>
          </a:xfrm>
          <a:prstGeom prst="flowChartDelay">
            <a:avLst/>
          </a:prstGeom>
          <a:solidFill>
            <a:srgbClr val="435258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600" strike="noStrike" noProof="1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transition spd="slow">
    <p:push dir="u"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300" normalizeH="0" baseline="0">
          <a:solidFill>
            <a:srgbClr val="435258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39713" y="333375"/>
            <a:ext cx="10969625" cy="706438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en-US" altLang="zh-CN" dirty="0"/>
              <a:t>   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0"/>
            </p:custDataLst>
          </p:nvPr>
        </p:nvSpPr>
        <p:spPr>
          <a:xfrm>
            <a:off x="612775" y="1390650"/>
            <a:ext cx="10968038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35" name="直接连接符 34"/>
          <p:cNvCxnSpPr/>
          <p:nvPr userDrawn="1"/>
        </p:nvCxnSpPr>
        <p:spPr>
          <a:xfrm flipV="1">
            <a:off x="0" y="1039813"/>
            <a:ext cx="4140200" cy="158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240463"/>
            <a:ext cx="12071350" cy="2381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延期 10"/>
          <p:cNvSpPr/>
          <p:nvPr/>
        </p:nvSpPr>
        <p:spPr>
          <a:xfrm>
            <a:off x="239713" y="495300"/>
            <a:ext cx="352425" cy="384175"/>
          </a:xfrm>
          <a:prstGeom prst="flowChartDelay">
            <a:avLst/>
          </a:prstGeom>
          <a:solidFill>
            <a:srgbClr val="435258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600" strike="noStrike" noProof="1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transition spd="slow">
    <p:push dir="u"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300" normalizeH="0" baseline="0">
          <a:solidFill>
            <a:srgbClr val="435258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slide" Target="slide5.xml"/><Relationship Id="rId3" Type="http://schemas.openxmlformats.org/officeDocument/2006/relationships/slide" Target="slide4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8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084513" y="1030288"/>
            <a:ext cx="6022975" cy="60247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fontAlgn="auto"/>
            <a:r>
              <a:rPr lang="en-US" altLang="zh-CN" sz="3315" b="1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数据分析基础</a:t>
            </a:r>
            <a:endParaRPr lang="zh-CN" altLang="en-US" sz="3315" b="1" noProof="1">
              <a:solidFill>
                <a:srgbClr val="E4007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2" name="图片 1"/>
          <p:cNvPicPr/>
          <p:nvPr/>
        </p:nvPicPr>
        <p:blipFill>
          <a:blip r:embed="rId1"/>
          <a:stretch>
            <a:fillRect/>
          </a:stretch>
        </p:blipFill>
        <p:spPr>
          <a:xfrm flipV="1">
            <a:off x="676275" y="1979613"/>
            <a:ext cx="1169988" cy="19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41488" y="1804988"/>
            <a:ext cx="6022975" cy="52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zh-CN" altLang="en-US" sz="2845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en-US" sz="2845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导读</a:t>
            </a:r>
            <a:endParaRPr lang="zh-CN" sz="2845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6450" y="2747963"/>
            <a:ext cx="10277475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609600" fontAlgn="auto">
              <a:lnSpc>
                <a:spcPct val="150000"/>
              </a:lnSpc>
            </a:pPr>
            <a:r>
              <a:rPr lang="zh-CN" altLang="en-US" sz="2400" noProof="1">
                <a:latin typeface="微软雅黑" panose="020B0503020204020204" pitchFamily="34" charset="-122"/>
              </a:rPr>
              <a:t>在</a:t>
            </a:r>
            <a:r>
              <a:rPr lang="en-US" altLang="zh-CN" sz="2400" noProof="1">
                <a:latin typeface="微软雅黑" panose="020B0503020204020204" pitchFamily="34" charset="-122"/>
              </a:rPr>
              <a:t>Python</a:t>
            </a:r>
            <a:r>
              <a:rPr lang="zh-CN" altLang="en-US" sz="2400" noProof="1">
                <a:latin typeface="微软雅黑" panose="020B0503020204020204" pitchFamily="34" charset="-122"/>
              </a:rPr>
              <a:t>数据分析中，最常用的是</a:t>
            </a:r>
            <a:r>
              <a:rPr lang="en-US" altLang="zh-CN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库和</a:t>
            </a:r>
            <a:r>
              <a:rPr lang="en-US" altLang="zh-CN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Pandas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库</a:t>
            </a:r>
            <a:r>
              <a:rPr lang="zh-CN" altLang="en-US" sz="2400" noProof="1">
                <a:latin typeface="微软雅黑" panose="020B0503020204020204" pitchFamily="34" charset="-122"/>
              </a:rPr>
              <a:t>。</a:t>
            </a:r>
            <a:r>
              <a:rPr lang="en-US" altLang="zh-CN" sz="2400" noProof="1"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latin typeface="微软雅黑" panose="020B0503020204020204" pitchFamily="34" charset="-122"/>
              </a:rPr>
              <a:t>库是</a:t>
            </a:r>
            <a:r>
              <a:rPr lang="en-US" altLang="zh-CN" sz="2400" noProof="1">
                <a:latin typeface="微软雅黑" panose="020B0503020204020204" pitchFamily="34" charset="-122"/>
              </a:rPr>
              <a:t>Python</a:t>
            </a:r>
            <a:r>
              <a:rPr lang="zh-CN" altLang="en-US" sz="2400" noProof="1">
                <a:latin typeface="微软雅黑" panose="020B0503020204020204" pitchFamily="34" charset="-122"/>
              </a:rPr>
              <a:t>的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科学计算库</a:t>
            </a:r>
            <a:r>
              <a:rPr lang="zh-CN" altLang="en-US" sz="2400" noProof="1">
                <a:latin typeface="微软雅黑" panose="020B0503020204020204" pitchFamily="34" charset="-122"/>
              </a:rPr>
              <a:t>，专门用来处理矩阵，其运算效率高。</a:t>
            </a:r>
            <a:r>
              <a:rPr lang="en-US" altLang="zh-CN" sz="2400" noProof="1">
                <a:latin typeface="微软雅黑" panose="020B0503020204020204" pitchFamily="34" charset="-122"/>
              </a:rPr>
              <a:t>Pandas</a:t>
            </a:r>
            <a:r>
              <a:rPr lang="zh-CN" altLang="en-US" sz="2400" noProof="1">
                <a:latin typeface="微软雅黑" panose="020B0503020204020204" pitchFamily="34" charset="-122"/>
              </a:rPr>
              <a:t>库是基于</a:t>
            </a:r>
            <a:r>
              <a:rPr lang="en-US" altLang="zh-CN" sz="2400" noProof="1"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latin typeface="微软雅黑" panose="020B0503020204020204" pitchFamily="34" charset="-122"/>
              </a:rPr>
              <a:t>库的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数据分析工具</a:t>
            </a:r>
            <a:r>
              <a:rPr lang="zh-CN" altLang="en-US" sz="2400" noProof="1">
                <a:latin typeface="微软雅黑" panose="020B0503020204020204" pitchFamily="34" charset="-122"/>
              </a:rPr>
              <a:t>，能方便地操作大型数据集。本章只介绍</a:t>
            </a:r>
            <a:r>
              <a:rPr lang="en-US" altLang="zh-CN" sz="2400" noProof="1"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latin typeface="微软雅黑" panose="020B0503020204020204" pitchFamily="34" charset="-122"/>
              </a:rPr>
              <a:t>库和</a:t>
            </a:r>
            <a:r>
              <a:rPr lang="en-US" altLang="zh-CN" sz="2400" noProof="1">
                <a:latin typeface="微软雅黑" panose="020B0503020204020204" pitchFamily="34" charset="-122"/>
              </a:rPr>
              <a:t>Pandas</a:t>
            </a:r>
            <a:r>
              <a:rPr lang="zh-CN" altLang="en-US" sz="2400" noProof="1">
                <a:latin typeface="微软雅黑" panose="020B0503020204020204" pitchFamily="34" charset="-122"/>
              </a:rPr>
              <a:t>库的基本功能，更多高级功能将在后续章节中进行介绍。</a:t>
            </a:r>
            <a:endParaRPr lang="zh-CN" altLang="en-US" sz="2400" b="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5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8496300" y="-46037"/>
            <a:ext cx="3459163" cy="2220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8950" y="354013"/>
            <a:ext cx="22955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3795" b="1" noProof="1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lang="zh-CN" altLang="en-US" sz="3795" b="1" noProof="1" smtClean="0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第1章</a:t>
            </a:r>
            <a:endParaRPr lang="zh-CN" altLang="en-US" sz="3795" b="1" noProof="1">
              <a:solidFill>
                <a:srgbClr val="1E6787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084513" y="1030288"/>
            <a:ext cx="6022975" cy="60247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fontAlgn="auto"/>
            <a:r>
              <a:rPr lang="en-US" altLang="zh-CN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数据分析基础</a:t>
            </a:r>
            <a:endParaRPr lang="zh-CN" altLang="en-US" sz="3315" b="1" noProof="1">
              <a:solidFill>
                <a:srgbClr val="E4007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2" name="图片 1"/>
          <p:cNvPicPr/>
          <p:nvPr/>
        </p:nvPicPr>
        <p:blipFill>
          <a:blip r:embed="rId1"/>
          <a:stretch>
            <a:fillRect/>
          </a:stretch>
        </p:blipFill>
        <p:spPr>
          <a:xfrm flipV="1">
            <a:off x="676275" y="1979610"/>
            <a:ext cx="1169988" cy="19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41488" y="1804985"/>
            <a:ext cx="6022975" cy="52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zh-CN" altLang="en-US" sz="2845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学习目标</a:t>
            </a:r>
            <a:endParaRPr lang="zh-CN" sz="2845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5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8496300" y="-46037"/>
            <a:ext cx="3459163" cy="2220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8950" y="354013"/>
            <a:ext cx="22955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3795" b="1" noProof="1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lang="zh-CN" altLang="en-US" sz="3795" b="1" noProof="1" smtClean="0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第1章</a:t>
            </a:r>
            <a:endParaRPr lang="zh-CN" altLang="en-US" sz="3795" b="1" noProof="1">
              <a:solidFill>
                <a:srgbClr val="1E6787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79575" y="2511990"/>
            <a:ext cx="10120313" cy="3416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掌握创建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数组的方法。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中数组索引与切片的使用方法。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了解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中数组运算的方法，以及常用的数学运算函数。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理解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中两种主要的数据结构。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中选取数据的方法。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中修改、增加和删除数据的方法</a:t>
            </a:r>
            <a:r>
              <a:rPr lang="zh-CN" altLang="en-US" sz="2400" noProof="1" smtClean="0">
                <a:latin typeface="+mn-lt"/>
                <a:ea typeface="+mn-ea"/>
                <a:cs typeface="方正仿宋_GBK" charset="0"/>
              </a:rPr>
              <a:t>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084513" y="1030288"/>
            <a:ext cx="6022975" cy="60247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fontAlgn="auto"/>
            <a:r>
              <a:rPr lang="en-US" altLang="zh-CN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数据分析基础</a:t>
            </a:r>
            <a:endParaRPr lang="zh-CN" altLang="en-US" sz="3315" b="1" noProof="1">
              <a:solidFill>
                <a:srgbClr val="E4007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2" name="图片 1"/>
          <p:cNvPicPr/>
          <p:nvPr/>
        </p:nvPicPr>
        <p:blipFill>
          <a:blip r:embed="rId1"/>
          <a:stretch>
            <a:fillRect/>
          </a:stretch>
        </p:blipFill>
        <p:spPr>
          <a:xfrm flipV="1">
            <a:off x="676275" y="4486334"/>
            <a:ext cx="1169988" cy="19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41488" y="4311709"/>
            <a:ext cx="6022975" cy="52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zh-CN" altLang="en-US" sz="2845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素质</a:t>
            </a:r>
            <a:r>
              <a:rPr lang="zh-CN" altLang="en-US" sz="2845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目标</a:t>
            </a:r>
            <a:endParaRPr lang="zh-CN" sz="2845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5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8496300" y="-46037"/>
            <a:ext cx="3459163" cy="2220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8950" y="354013"/>
            <a:ext cx="22955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3795" b="1" noProof="1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lang="zh-CN" altLang="en-US" sz="3795" b="1" noProof="1" smtClean="0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第1章</a:t>
            </a:r>
            <a:endParaRPr lang="zh-CN" altLang="en-US" sz="3795" b="1" noProof="1">
              <a:solidFill>
                <a:srgbClr val="1E6787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79575" y="4873059"/>
            <a:ext cx="10120313" cy="11344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提高选择合适方法解决不同问题的能力。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打破惯性思维，提高创新意识。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79575" y="1928664"/>
            <a:ext cx="10120313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中保存和导入数据的方法。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能使用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创建不同形式的数组，并进行索引与切片。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能使用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创建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DataFrame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对象，并对数据进行选取、修改、增加、删除、保存和导入操作。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3175" y="32385"/>
            <a:ext cx="12583795" cy="6925945"/>
            <a:chOff x="-283977" y="779393"/>
            <a:chExt cx="10108415" cy="694383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5753471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4494608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3270471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2046335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779393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1588" y="6446881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5" name="组合 24"/>
          <p:cNvGrpSpPr/>
          <p:nvPr/>
        </p:nvGrpSpPr>
        <p:grpSpPr>
          <a:xfrm>
            <a:off x="80010" y="238125"/>
            <a:ext cx="12115800" cy="6077585"/>
            <a:chOff x="410612" y="490688"/>
            <a:chExt cx="8265845" cy="5962649"/>
          </a:xfrm>
        </p:grpSpPr>
        <p:sp>
          <p:nvSpPr>
            <p:cNvPr id="16" name="圆角矩形 15"/>
            <p:cNvSpPr/>
            <p:nvPr/>
          </p:nvSpPr>
          <p:spPr>
            <a:xfrm>
              <a:off x="467545" y="538783"/>
              <a:ext cx="8208912" cy="5914554"/>
            </a:xfrm>
            <a:prstGeom prst="roundRect">
              <a:avLst>
                <a:gd name="adj" fmla="val 521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410612" y="490688"/>
              <a:ext cx="8208912" cy="5914554"/>
            </a:xfrm>
            <a:prstGeom prst="roundRect">
              <a:avLst>
                <a:gd name="adj" fmla="val 5214"/>
              </a:avLst>
            </a:prstGeom>
            <a:pattFill prst="ltUpDiag">
              <a:fgClr>
                <a:srgbClr val="F4F4F4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" y="32264"/>
            <a:ext cx="4191003" cy="4334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文本框 1"/>
          <p:cNvSpPr>
            <a:spLocks noChangeArrowheads="1"/>
          </p:cNvSpPr>
          <p:nvPr/>
        </p:nvSpPr>
        <p:spPr bwMode="auto">
          <a:xfrm>
            <a:off x="1721223" y="4993762"/>
            <a:ext cx="3316118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Content</a:t>
            </a:r>
            <a:endParaRPr lang="zh-CN" altLang="en-US" sz="5400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文本框 3"/>
          <p:cNvSpPr>
            <a:spLocks noChangeArrowheads="1"/>
          </p:cNvSpPr>
          <p:nvPr/>
        </p:nvSpPr>
        <p:spPr bwMode="auto">
          <a:xfrm>
            <a:off x="1787525" y="3958590"/>
            <a:ext cx="331533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kern="0" dirty="0" smtClean="0">
                <a:cs typeface="+mn-ea"/>
                <a:sym typeface="+mn-lt"/>
              </a:rPr>
              <a:t>第1章</a:t>
            </a:r>
            <a:endParaRPr kumimoji="0" lang="zh-CN" altLang="en-US" sz="4800" b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338871" y="207974"/>
            <a:ext cx="1300157" cy="5195690"/>
            <a:chOff x="6464806" y="422267"/>
            <a:chExt cx="915506" cy="4368077"/>
          </a:xfrm>
        </p:grpSpPr>
        <p:sp>
          <p:nvSpPr>
            <p:cNvPr id="30" name="圆角矩形 29"/>
            <p:cNvSpPr/>
            <p:nvPr/>
          </p:nvSpPr>
          <p:spPr>
            <a:xfrm>
              <a:off x="6516216" y="422267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6464806" y="434469"/>
              <a:ext cx="864096" cy="4323744"/>
            </a:xfrm>
            <a:prstGeom prst="roundRect">
              <a:avLst/>
            </a:prstGeom>
            <a:solidFill>
              <a:srgbClr val="2A8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28" name="TextBox 1">
            <a:hlinkClick r:id="rId3" action="ppaction://hlinksldjump"/>
          </p:cNvPr>
          <p:cNvSpPr txBox="1"/>
          <p:nvPr/>
        </p:nvSpPr>
        <p:spPr>
          <a:xfrm>
            <a:off x="9235607" y="1601547"/>
            <a:ext cx="1466215" cy="1127488"/>
          </a:xfrm>
          <a:prstGeom prst="rect">
            <a:avLst/>
          </a:prstGeom>
          <a:noFill/>
        </p:spPr>
        <p:txBody>
          <a:bodyPr vert="horz"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 extrusionH="57150">
              <a:bevelT w="27940" h="12700" prst="angle"/>
              <a:contourClr>
                <a:srgbClr val="DDDDDD"/>
              </a:contourClr>
            </a:sp3d>
          </a:bodyPr>
          <a:lstStyle>
            <a:defPPr>
              <a:defRPr lang="zh-CN"/>
            </a:defPPr>
            <a:lvl1pPr algn="ctr">
              <a:defRPr sz="4000" b="1" spc="150">
                <a:ln w="11430"/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400" b="0" dirty="0" smtClean="0">
                <a:latin typeface="+mn-lt"/>
                <a:ea typeface="+mn-ea"/>
                <a:cs typeface="+mn-ea"/>
                <a:sym typeface="+mn-lt"/>
              </a:rPr>
              <a:t>Pandas</a:t>
            </a:r>
            <a:endParaRPr lang="en-US" altLang="zh-CN" sz="2400" b="0" dirty="0" smtClean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0" dirty="0" smtClean="0">
                <a:latin typeface="+mn-lt"/>
                <a:ea typeface="+mn-ea"/>
                <a:cs typeface="+mn-ea"/>
                <a:sym typeface="+mn-lt"/>
              </a:rPr>
              <a:t>库</a:t>
            </a:r>
            <a:endParaRPr lang="zh-CN" altLang="en-US" b="0" dirty="0" smtClean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557053" y="221753"/>
            <a:ext cx="1300236" cy="5195690"/>
            <a:chOff x="5312622" y="422268"/>
            <a:chExt cx="915562" cy="4368077"/>
          </a:xfrm>
        </p:grpSpPr>
        <p:sp>
          <p:nvSpPr>
            <p:cNvPr id="35" name="圆角矩形 34"/>
            <p:cNvSpPr/>
            <p:nvPr/>
          </p:nvSpPr>
          <p:spPr>
            <a:xfrm>
              <a:off x="5364088" y="422268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5312622" y="431269"/>
              <a:ext cx="864096" cy="4323744"/>
            </a:xfrm>
            <a:prstGeom prst="roundRect">
              <a:avLst/>
            </a:prstGeom>
            <a:solidFill>
              <a:srgbClr val="1E67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37" name="TextBox 1">
            <a:hlinkClick r:id="rId4" action="ppaction://hlinksldjump"/>
          </p:cNvPr>
          <p:cNvSpPr txBox="1"/>
          <p:nvPr/>
        </p:nvSpPr>
        <p:spPr>
          <a:xfrm>
            <a:off x="6374964" y="1325679"/>
            <a:ext cx="1466215" cy="1446550"/>
          </a:xfrm>
          <a:prstGeom prst="rect">
            <a:avLst/>
          </a:prstGeom>
          <a:noFill/>
        </p:spPr>
        <p:txBody>
          <a:bodyPr vert="horz"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 extrusionH="57150">
              <a:bevelT w="27940" h="12700" prst="angle"/>
              <a:contourClr>
                <a:srgbClr val="DDDDDD"/>
              </a:contourClr>
            </a:sp3d>
          </a:bodyPr>
          <a:lstStyle>
            <a:defPPr>
              <a:defRPr lang="zh-CN"/>
            </a:defPPr>
            <a:lvl1pPr algn="ctr">
              <a:defRPr sz="4000" b="1" spc="150">
                <a:ln w="11430"/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2400" b="0" dirty="0" err="1" smtClean="0">
                <a:latin typeface="+mn-lt"/>
                <a:ea typeface="+mn-ea"/>
                <a:cs typeface="+mn-ea"/>
                <a:sym typeface="+mn-lt"/>
              </a:rPr>
              <a:t>NumPy</a:t>
            </a:r>
            <a:endParaRPr lang="en-US" altLang="zh-CN" sz="2400" b="0" dirty="0" smtClean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0" dirty="0" smtClean="0">
                <a:latin typeface="+mn-lt"/>
                <a:ea typeface="+mn-ea"/>
                <a:cs typeface="+mn-ea"/>
                <a:sym typeface="+mn-lt"/>
              </a:rPr>
              <a:t>库</a:t>
            </a:r>
            <a:endParaRPr lang="zh-CN" altLang="en-US" b="0" dirty="0" smtClean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71676E-6 L -0.06302 -0.1260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0" y="-63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28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8801"/>
            <a:ext cx="12231370" cy="2770495"/>
          </a:xfrm>
          <a:prstGeom prst="rect">
            <a:avLst/>
          </a:prstGeom>
          <a:solidFill>
            <a:srgbClr val="1E67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524000" y="2684780"/>
            <a:ext cx="9583420" cy="1106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fontAlgn="auto"/>
            <a:r>
              <a:rPr lang="en-US" altLang="zh-CN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  NumPy</a:t>
            </a:r>
            <a:r>
              <a:rPr lang="zh-CN" altLang="en-US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sz="6600" b="1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5828" y="454968"/>
            <a:ext cx="41871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第1章  </a:t>
            </a:r>
            <a:r>
              <a:rPr lang="en-US" altLang="zh-CN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Python</a:t>
            </a:r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数据分析基础</a:t>
            </a:r>
            <a:endParaRPr lang="zh-CN" altLang="en-US" sz="2400" b="1" dirty="0">
              <a:solidFill>
                <a:srgbClr val="000000">
                  <a:lumMod val="65000"/>
                  <a:lumOff val="35000"/>
                </a:srgbClr>
              </a:solidFill>
              <a:latin typeface="专业字体设计服务/WWW.ZTSGC.COM/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158505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了一个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维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数组对象，简称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ndarray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对象，它是一个由一系列相同数据类型的元素组成的数据集合。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提供了多种函数用于创建数组，下面介绍比较常用的几种。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1.1.1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创建数组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357922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4256435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array()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1682" y="489756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numpy.array(object, dtype=None)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988" y="4760924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提供了比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更丰富的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数据类型，它由一个类型名（如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）和位长组成，常用的数据类型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863" y="3263318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2" name="文本框 4"/>
          <p:cNvSpPr txBox="1"/>
          <p:nvPr/>
        </p:nvSpPr>
        <p:spPr>
          <a:xfrm>
            <a:off x="997527" y="3351014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当序列中包含字符时，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dtype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只能默认为字符型，或设置为字符型，不能设置为其他数据类型。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Freeform 10"/>
          <p:cNvSpPr>
            <a:spLocks noEditPoints="1"/>
          </p:cNvSpPr>
          <p:nvPr/>
        </p:nvSpPr>
        <p:spPr bwMode="auto">
          <a:xfrm>
            <a:off x="10093107" y="3480613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1058" y="1582110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object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表示序列，如列表、元组等，序列的维度决定了数组的维度；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表示数组元素的数据类型，如果设置了数据类型，则序列中元素的数据类型会自动转换为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类型，默认为传入序列的数据类型。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 animBg="1"/>
      <p:bldP spid="12" grpId="0"/>
      <p:bldP spid="14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97" y="1159353"/>
            <a:ext cx="10972800" cy="502750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136038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2-1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创建一维数组和二维数组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39098" y="1623724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7" name="文本框 6"/>
          <p:cNvSpPr txBox="1"/>
          <p:nvPr/>
        </p:nvSpPr>
        <p:spPr>
          <a:xfrm>
            <a:off x="1239098" y="2203033"/>
            <a:ext cx="10270853" cy="4510209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np.array([1, 2, 3])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使用列表创建一维数组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使用元组创建一维数组，并设置数据类型为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np.array((4.5, 5.6, 6.8), dtype='int32')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arr2)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使用二维列表创建二维数组，并设置数据类型为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float32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np.array([[1, 2, 3], [4, 5, 6]], dtype='float32')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 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arr3)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56285"/>
            <a:ext cx="533577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如右图所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23331" y="3223938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720" y="592372"/>
            <a:ext cx="2495755" cy="256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905828" y="3744924"/>
            <a:ext cx="10270853" cy="22631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从上图可以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看出，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数组使用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方括号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将空格分隔的元素括起来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zh-CN" altLang="en-US" sz="2135" b="1" noProof="1" smtClean="0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没有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设置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的数据类型与输入列表的相同；创建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时，设置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为“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，虽然输入元组的数据类型为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浮点型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的数据类型被转换成了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时，设置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为“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float32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，虽然输入列表的数据类型为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的数据类型被转换成了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浮点型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（元素后面跟着一个小数点）。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zeros()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2080783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zeros()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函数用于创建元素值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都为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1682" y="3762440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数组形状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默认为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6128" y="2928253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numpy.zeros(shape, dtype='float')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6634" y="4562622"/>
            <a:ext cx="10270853" cy="102348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np.zeros(3)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np.zeros((2, 3))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的二维数组，其元素值都为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9" grpId="0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ones()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201771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ones()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函数用于创建元素值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都为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363702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empty()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4314235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empty()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函数用于创建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未初始化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的数组，即只分配了内存空间，数组中的元素值是随机的，其一般格式如下。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6128" y="278635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numpy.ones(shape, dtype='float')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2400" y="5398185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numpy.empty(shape, dtype='float')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9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56285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2-2】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元素值都为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、元素值都为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和未初始化的一维数组和二维数组。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23331" y="2045378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950056" y="2560389"/>
            <a:ext cx="10270853" cy="404777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np.zeros(2)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个元素，其值都为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np.zeros((2, 3))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创建元素值都为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arr2)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np.ones(3)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个元素，其值都为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的一维数</a:t>
            </a:r>
            <a:r>
              <a:rPr lang="zh-CN" altLang="en-US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0415" y="1161703"/>
            <a:ext cx="10270853" cy="505587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arr3)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 = np.ones((3, 3))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创建元素值都为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arr4)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 = np.empty(4)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创建未初始化的包含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个元素的一维数组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arr5)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创建未初始化的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的二维整型数组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arr6 = np.empty((3, 4), dtype='int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')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输出二维整型数组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arr6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二维整型数组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arr6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arr6)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7401" y="1545468"/>
            <a:ext cx="3716234" cy="94859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右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97"/>
          <a:stretch>
            <a:fillRect/>
          </a:stretch>
        </p:blipFill>
        <p:spPr bwMode="auto">
          <a:xfrm>
            <a:off x="4512544" y="825877"/>
            <a:ext cx="7504973" cy="333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03"/>
          <a:stretch>
            <a:fillRect/>
          </a:stretch>
        </p:blipFill>
        <p:spPr bwMode="auto">
          <a:xfrm>
            <a:off x="4512544" y="4192006"/>
            <a:ext cx="7504973" cy="1877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955312" y="2814027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14" name="文本框 13"/>
          <p:cNvSpPr txBox="1"/>
          <p:nvPr/>
        </p:nvSpPr>
        <p:spPr>
          <a:xfrm>
            <a:off x="637810" y="3335013"/>
            <a:ext cx="3555825" cy="26549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右图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可以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看出，未初始化的数组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arr5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中的元素值都是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的，而未初始化的数组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arr6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的数据类型设置为了“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，所以数组元素值都为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arange()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2017719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arange()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函数用于在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指定数值区间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创建一个数组，类似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的内置函数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range()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3904330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start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表示起始值，默认为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表示终止值（不含）；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表示步长，默认为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6128" y="313320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numpy.arange(start, stop, step,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5197152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np.arange(1, 12, 3)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[1,12)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区间，步长为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9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linspace()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193888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linspace()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函数用于在指定数值区间创建一个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等差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3636316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表示数值区间内等差的元素个数，默认为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endpoint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表示数组是否包含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的值，如果为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则包含，否则不包含，默认为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retstep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表示数组中是否显示公差，如果为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则显示，否则不显示，默认为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3214" y="2589816"/>
            <a:ext cx="10270853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numpy.linspace(start, stop, num=50, endpoint=True, retstep=False,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5119759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[0,10]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区间，元素个数为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的等差数组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np.linspace(0, 10, num=6)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9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logspace()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193888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logspace()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函数用于在指定数值区间创建一个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等比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3667848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start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表示起始值的指数；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表示终止值的指数；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base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表示对数函数的底数，默认为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3214" y="2589816"/>
            <a:ext cx="10270853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numpy.logspace(start, stop, num=50, endpoint=True, base=10.0,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4787659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创建指数区间为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[0,5)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，元素个数为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，底数为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的等比数组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np.logspace(0, 5, num=5, endpoint=False)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9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277453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2-3】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创建成绩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数组、身高等差数组和棋盘麦粒等比数组。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682" y="1776698"/>
            <a:ext cx="10270853" cy="13767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问题分析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成绩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数组的区间为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[0,150]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，步长为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；身高等差数组的区间为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[1.5,2.5]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，公差为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0.1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（单位为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），通过计算可得元素个数为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；棋盘麦粒等比数组的指数区间为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[0,63]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，元素个数为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64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，底数为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3214" y="3747125"/>
            <a:ext cx="10270853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创建成绩数组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 = np.arange(0, 160, 10, dtype='int')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成绩数组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score)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创建身高等差数组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23331" y="3196270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5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8980" y="1319235"/>
            <a:ext cx="10270853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 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= np.linspace(1.5, 2.5, 11, retstep=True)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身高等差数组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height)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创建棋盘麦粒等比数组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 = np.logspace(0, 63, 64, base=2, dtype='uint64')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棋盘麦粒等比数组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wheat)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3924" y="4101417"/>
            <a:ext cx="5580374" cy="5204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15"/>
          <a:stretch>
            <a:fillRect/>
          </a:stretch>
        </p:blipFill>
        <p:spPr bwMode="auto">
          <a:xfrm>
            <a:off x="2427889" y="4758079"/>
            <a:ext cx="7714594" cy="148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6"/>
          <a:stretch>
            <a:fillRect/>
          </a:stretch>
        </p:blipFill>
        <p:spPr bwMode="auto">
          <a:xfrm>
            <a:off x="2427891" y="110362"/>
            <a:ext cx="7714594" cy="6669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0254" y="1857158"/>
            <a:ext cx="9314532" cy="13767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logspace()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函数生成等比数组时，由于后面生成的数据太大，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须设置为“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uint64”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类型，否则会出现溢出现象，输出重复的大负数。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228533" y="4035830"/>
            <a:ext cx="7281013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0" name="文本框 4"/>
          <p:cNvSpPr txBox="1"/>
          <p:nvPr/>
        </p:nvSpPr>
        <p:spPr>
          <a:xfrm>
            <a:off x="1532144" y="4123526"/>
            <a:ext cx="5988012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除上述函数外，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NumPy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还提供了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rand()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函数、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randint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函数和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randn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函数用于生成随机数数组。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7554859" y="4253125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12" name="Picture 3" descr="2-1-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754" y="3573686"/>
            <a:ext cx="1872922" cy="193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10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158505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数组的基本属性如表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1.1.2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查看数组属性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" y="2893335"/>
            <a:ext cx="10445476" cy="305536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277457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2-4】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查看数组的基本属性。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3331" y="1998085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945104" y="2541074"/>
            <a:ext cx="10270853" cy="404777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的整数数组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np.array([[1, 2, 3], [4, 5, 6], [7, 8, 9], [10, 11, 12]])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print('4×3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的整数数组：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arr)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ndim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arr.ndim)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ndim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arr.shape)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size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arr.size)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size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arr.dtype)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1987" y="1571756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如下图所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212" y="2362689"/>
            <a:ext cx="3346978" cy="3618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158505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中，如果想要访问或修改数组中的元素，可以采用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索引或切片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的方式。索引与切片的区别是索引只能获取单个元素，而切片可以获取一定范围的元素。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1.1.3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数组的索引与切片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3248142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．一维数组的索引与切片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3893825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一维数组的索引与切片和列表类似，其一般格式如下。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1687" y="5370529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表示索引，从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start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表示起始索引，默认为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表示终止索引（不含）；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表示索引步长，默认为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，不能为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7" y="4394246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array[index]	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一维数组的索引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array[start:stop:step]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一维数组的切片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6" grpId="0"/>
      <p:bldP spid="9" grpId="0"/>
      <p:bldP spid="10" grpId="0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12459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．二维数组的索引与切片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1891594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二维数组包含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行索引和列索引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，在访问时，须使用逗号隔开，先访问行索引再访问列索引。二维数组的索引与切片的一般格式如下。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1687" y="5307470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数组还能通过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整数数组索引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布尔型索引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获取数据。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5" y="4614498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．高级索引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1685" y="3003302"/>
            <a:ext cx="10270853" cy="1527534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array[row_index, column_index]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二维数组的索引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二维数组的</a:t>
            </a:r>
            <a:r>
              <a:rPr lang="zh-CN" altLang="en-US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切片</a:t>
            </a:r>
            <a:endParaRPr lang="en-US" altLang="zh-CN" sz="2135" noProof="1" smtClean="0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array[row_start:row_stop:row_step,column_start:column_stop:column_step]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1435100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）整数数组索引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2080783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整数数组索引是指将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整型数组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作为索引，获取二维数组中的任意行或元素，按索引顺序返回新的数组。例如：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1687" y="4755671"/>
            <a:ext cx="10270853" cy="13320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上述代码中，将整数数组作为索引时，如“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[1, 0, 2]”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，分别获取索引数组中元素对应的行；将以逗号“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,”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分隔的整数数组作为索引时，如“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[0, 1, 2], [1, 3, 2]”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，可以将其组合得到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(0, 1)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(1, 3)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(2, 2)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，分别获取行、列索引对应位置的元素。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5" y="3113664"/>
            <a:ext cx="10270853" cy="1485920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arr[[1, 0, 2]]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列、第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列、第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arr[[0, 1, 2], [1, 3, 2]]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984" y="113555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）布尔型索引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1984" y="1639345"/>
            <a:ext cx="10779179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布尔型索引是指将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布尔表达式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作为索引，获取数组中布尔表达式为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的位置对应的元素，返回新的一维数组。例如：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1264" y="5704321"/>
            <a:ext cx="10999899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上述代码中，通过逻辑运算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符和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关系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运算符组成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布尔表达式，返回满足条件的所有元素。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5" y="2593401"/>
            <a:ext cx="10270853" cy="299806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arr[arr == 5]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获取数组中等于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arr[arr &gt; 5]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获取数组中大于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获取数组中大于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且小于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arr[(arr &gt; 5) &amp; (arr &lt; 10)]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获取数组中大于等于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或小于等于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arr[(arr &gt;= 10) | (arr &lt;= 5)]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1.1.4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数组的运算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225491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．算术运算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2900596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相同形状的数组在进行算术运算时，即将数组中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对应位置的元素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值进行算术运算，如加（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）、减（−）、乘（*）、除（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）、幂（**）运算等。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2" y="4236124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．数组广播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1682" y="4881807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中的广播机制用于解决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不同形状数组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之间的算术运算问题，它是将形状较小的数组，在横向或纵向上进行一定次数的重复，使其形状与形状较大的数组相同。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119800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2-8】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广播。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3331" y="1651243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1717614" y="2182344"/>
            <a:ext cx="10270853" cy="4510209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np.array([[10, 20, 30], [40, 50, 60]])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np.array([1, 2, 3])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 + arr2)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np.array([[1], [2]])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 + arr3)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 = np.array(5)	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1×1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 + arr4)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1987" y="1571756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如右图所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067" y="73380"/>
            <a:ext cx="1763353" cy="2996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56728" y="3411077"/>
            <a:ext cx="10584086" cy="22329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相加时，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在纵向上重复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次，从而生成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的数组，再与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进行加法运算；当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相加时，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在横向上重复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次，从而生成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的数组，再与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进行加法运算；当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1×1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相加时，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在横向上重复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次、在纵向上重复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次，从而生成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的数组，再与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进行加法运算。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2188" y="1235416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．数组转置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2188" y="1881099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数组转置是指将数组的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行与列转换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，即第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行变成第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列，第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行变成第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列，依次类推，如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4×3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的数组转置为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的数组。在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中，数组转置可以使用数组的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属性实现，其一般格式如下。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6931" y="4194075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．数组变形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31" y="4839758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数组变形就是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改变数组的形状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2×6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的数组变为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的数组。需要注意的是，数组变形是基于数组元素不发生改变的情况下实现的，变形后数组元素的个数必须与原数组元素的个数相同，否则会出现错误。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55007" y="330970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array2 = array1.T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7" grpId="0"/>
      <p:bldP spid="9" grpId="0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6941" y="1211703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中，数组变形可以使用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reshape()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988" y="2383314"/>
            <a:ext cx="10270853" cy="9049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array1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表示原数组，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array2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表示变形后的数组，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表示变形后数组的行数和列数。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3331" y="1810030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array2 = array1.reshape(m, n)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6942" y="3390038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2-9】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数组转置和变形。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3331" y="4031843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97348" y="4610239"/>
            <a:ext cx="10270853" cy="1527534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[1,100)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np.random.randint(1, 100, size=(3, 4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  <p:bldP spid="6" grpId="0" animBg="1"/>
      <p:bldP spid="7" grpId="0"/>
      <p:bldP spid="10" grpId="0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4743" y="3806210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如右图所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535" y="1988166"/>
            <a:ext cx="2785734" cy="415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834743" y="1350527"/>
            <a:ext cx="6496219" cy="1527534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('3×4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的原数组：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转置后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arr.T)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变形后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2×6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arr.reshape(2, 6))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572" y="1650673"/>
            <a:ext cx="8644594" cy="4524845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1.1.5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常用的数学运算函数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5995" y="2372064"/>
            <a:ext cx="2123913" cy="30820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提供了丰富的函数用于数学运算，包括算术运算函数、舍入函数、三角函数等，如表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277457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2-10】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的数学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运算。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3331" y="1998085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1559959" y="2619904"/>
            <a:ext cx="10270853" cy="3543727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np.random.randint(1, 10, size=(3, 3))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随机生成的二维整数数组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np.random.randint(1, 10, size=3)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随机生成的一维整数数组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arr2)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np.random.rand(3, 3) * 10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随机生成的二维小数数组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arr3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069" y="1201008"/>
            <a:ext cx="10270853" cy="346678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np.add(arr1, arr2))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相乘：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np.multiply(arr1, arr3))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为底数，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为指数的幂：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np.power(arr1,  arr2, dtype='int64'))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的倒数：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np.reciprocal(arr1, dtype='float'))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四舍五入，小数点后保留一位：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np.around(arr3, decimals=1))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的余弦值：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np.cos(arr1 * np.pi / 180))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0867" y="5083217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如下图所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22"/>
          <a:stretch>
            <a:fillRect/>
          </a:stretch>
        </p:blipFill>
        <p:spPr bwMode="auto">
          <a:xfrm>
            <a:off x="740814" y="126124"/>
            <a:ext cx="5265688" cy="658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78"/>
          <a:stretch>
            <a:fillRect/>
          </a:stretch>
        </p:blipFill>
        <p:spPr bwMode="auto">
          <a:xfrm>
            <a:off x="6589980" y="694382"/>
            <a:ext cx="5265688" cy="577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1224" y="2149821"/>
            <a:ext cx="9653921" cy="26611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en-US" altLang="zh-CN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power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函数中，幂运算的结果数值很大，远远超过了默认的数据类型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所能包含的最大整数，因此在计算时须设置数据类型为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int64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reciprocal()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函数中，倒数计算的结果默认的数据类型也为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，而结果都为小于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的小数，因此在计算时须设置数据类型为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around()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decimals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参数表示小数点后保留的位数；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cos()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函数中，将数组中的元素转化为弧度，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pi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中的常量。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8801"/>
            <a:ext cx="12231370" cy="2770495"/>
          </a:xfrm>
          <a:prstGeom prst="rect">
            <a:avLst/>
          </a:prstGeom>
          <a:solidFill>
            <a:srgbClr val="1E67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524000" y="2684780"/>
            <a:ext cx="9583420" cy="11079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fontAlgn="auto"/>
            <a:r>
              <a:rPr lang="en-US" altLang="zh-CN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  Pandas</a:t>
            </a:r>
            <a:r>
              <a:rPr lang="zh-CN" altLang="en-US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sz="6600" b="1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5828" y="454968"/>
            <a:ext cx="41871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第1章  </a:t>
            </a:r>
            <a:r>
              <a:rPr lang="en-US" altLang="zh-CN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Python</a:t>
            </a:r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数据分析基础</a:t>
            </a:r>
            <a:endParaRPr lang="zh-CN" altLang="en-US" sz="2400" b="1" dirty="0">
              <a:solidFill>
                <a:srgbClr val="000000">
                  <a:lumMod val="65000"/>
                  <a:lumOff val="35000"/>
                </a:srgbClr>
              </a:solidFill>
              <a:latin typeface="专业字体设计服务/WWW.ZTSGC.COM/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有两个主要的数据结构：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2.1.1  Pandas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的数据结构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26175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3673099"/>
            <a:ext cx="7657609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对象是一个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类似一维数组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的数据结构，可以存储整数、浮点数、字符串等。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对象的结构（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见右图）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由一组索引和与之对应的数据组成，其中，索引默认为整数，从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829207" y="3302930"/>
          <a:ext cx="2216316" cy="2238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" r:id="rId1" imgW="952500" imgH="962025" progId="Visio.Drawing.11">
                  <p:embed/>
                </p:oleObj>
              </mc:Choice>
              <mc:Fallback>
                <p:oleObj name="" r:id="rId1" imgW="952500" imgH="96202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9207" y="3302930"/>
                        <a:ext cx="2216316" cy="22387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792863" y="4887168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文本框 4"/>
          <p:cNvSpPr txBox="1"/>
          <p:nvPr/>
        </p:nvSpPr>
        <p:spPr>
          <a:xfrm>
            <a:off x="997527" y="4906694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index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设置索引的标签相当于索引的命名，以便于阅读和理解，不影响默认的索引值。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4670" y="1480581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类的构造函数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来创建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61988" y="2872737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表示传入的数据，可以是列表、字典、数组等，如果默认，则创建一个空的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表示索引的标签，其长度必须与数据的长度相同；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表示数据类型，与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中的数据类型相同。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Freeform 10"/>
          <p:cNvSpPr>
            <a:spLocks noEditPoints="1"/>
          </p:cNvSpPr>
          <p:nvPr/>
        </p:nvSpPr>
        <p:spPr bwMode="auto">
          <a:xfrm>
            <a:off x="10093107" y="5036293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65821" y="2070416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pandas.Series(data=None, index=None, dtype=None, copy=False)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7" grpId="0"/>
      <p:bldP spid="9" grpId="0"/>
      <p:bldP spid="14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3" y="1327646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3" y="2060174"/>
            <a:ext cx="7499954" cy="18007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对象是一个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类似二维数组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的数据结构，每列是一个</a:t>
            </a: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，不同的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对象可以是不同的数据类型。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结构（见下图）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也是由索引与数据组成，不仅有行索引，还有列索引。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3074" name="Picture 2" descr="2-2-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105" y="1225169"/>
            <a:ext cx="1678207" cy="173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220165" y="4067794"/>
            <a:ext cx="196597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818835" y="3860924"/>
          <a:ext cx="4010372" cy="206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" imgW="1857375" imgH="962025" progId="Visio.Drawing.11">
                  <p:embed/>
                </p:oleObj>
              </mc:Choice>
              <mc:Fallback>
                <p:oleObj name="" r:id="rId2" imgW="1857375" imgH="96202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835" y="3860924"/>
                        <a:ext cx="4010372" cy="2067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69" y="1681166"/>
            <a:ext cx="10270853" cy="187769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在图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2-13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c1”“c2”“c3”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为列标签，其对应的列索引为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i1”“i2”“i3”“i4”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为行标签，其对应的行索引为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135" noProof="1" smtClean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类的构造函数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来创建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4669" y="4644209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表示传入的数据，可以是列表、数组、字典、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对象等，如果默认，则创建一个空的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表示行标签和列标签，其长度必须与数据的行和列的长度相同；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表示数据类型。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4669" y="3841815"/>
            <a:ext cx="10500662" cy="51943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pandas.DataFrame(data=None, index=None, columns=None,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61988" y="1212567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对象有很多属性和函数，其中常用的属性和函数如表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72" y="1789897"/>
            <a:ext cx="9132743" cy="486980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中，可以按标签或索引选取数据。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2.2.2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数据的选取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26175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．按标签选取数据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3" y="3673099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直接使用列标签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选取对应的列数据，其一般格式如下。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6942" y="3153546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）直接选取数据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4670" y="5051109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可以是单个列标签，表示选取单列数据；也可以是多个列标签组成的列表，表示选取多列数据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146" name="Picture 2" descr="2-2-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621" y="547300"/>
            <a:ext cx="1749972" cy="1809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1241878" y="433168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DataFrame[columns]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  <p:bldP spid="9" grpId="0"/>
      <p:bldP spid="12" grpId="0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997527" y="5134719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7" name="文本框 6"/>
          <p:cNvSpPr txBox="1"/>
          <p:nvPr/>
        </p:nvSpPr>
        <p:spPr>
          <a:xfrm>
            <a:off x="774670" y="2401052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还可以直接切片选取数据，其一般格式如下。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8629" y="3529309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是连续的行标签，中间使用“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:”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隔开，切片方法与一维数组类似（区别是含右侧数据）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4"/>
          <p:cNvSpPr txBox="1"/>
          <p:nvPr/>
        </p:nvSpPr>
        <p:spPr>
          <a:xfrm>
            <a:off x="1184351" y="5191182"/>
            <a:ext cx="8910830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当选取单列数据时，还可以使用不连续的行标签选取指定行的数据。例如：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df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['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c1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'][['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', '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i3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']]			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#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选取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行和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行的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c1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列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数据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Freeform 10"/>
          <p:cNvSpPr>
            <a:spLocks noEditPoints="1"/>
          </p:cNvSpPr>
          <p:nvPr/>
        </p:nvSpPr>
        <p:spPr bwMode="auto">
          <a:xfrm>
            <a:off x="10282005" y="5315379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7527" y="1354758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		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df[['c1', 'c3']]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97527" y="2941192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DataFrame[columns][index]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7527" y="4485297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df['c1']['i1': 'i3']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行（含）的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" grpId="0"/>
      <p:bldP spid="11" grpId="0"/>
      <p:bldP spid="14" grpId="0"/>
      <p:bldP spid="15" grpId="0" animBg="1"/>
      <p:bldP spid="10" grpId="0" animBg="1"/>
      <p:bldP spid="12" grpId="0" animBg="1"/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0006" y="1860064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通过行标签选取对应的行数据，其一般格式如下。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0005" y="134051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7733" y="3238074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可以是单个行标签，表示选取单行数据；也可以是多个行标签组成的列表，表示选取多行数据；还可以是连续的行标签，中间使用“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:”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隔开。例如：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04941" y="2518654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DataFrame.loc[index]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4940" y="4384599"/>
            <a:ext cx="10270853" cy="1485920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df.loc['i1']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df.loc[['i1', 'i3']]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df.loc['i1': 'i3']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行（含）数据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2" grpId="0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0005" y="1268854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也可以切片选取数据，其一般格式如下。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7732" y="2583800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的取值与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04940" y="1927444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DataFrame.loc[index, columns]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4939" y="3203113"/>
            <a:ext cx="10270853" cy="299806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df.loc[['i1', 'i3'], ['c1', 'c2']]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df.loc['i1': 'i3', ['c1', 'c3']]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df.loc['i1': 'i3', 'c1': 'c3']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988" y="140333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．按索引选取数据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988" y="2407104"/>
            <a:ext cx="10511167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对象可以使用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通过行索引选取对应的行数据，其一般语法格式如下。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59716" y="3785114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的使用方法与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类似，不同的是参数为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整数索引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。还需要注意的是，使用“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:”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连接起始和终止索引时，不包含终止索引。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26924" y="3065694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DataFrame.iloc[index]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97527" y="4898232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8" name="文本框 4"/>
          <p:cNvSpPr txBox="1"/>
          <p:nvPr/>
        </p:nvSpPr>
        <p:spPr>
          <a:xfrm>
            <a:off x="1184351" y="4954695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DataFrame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对象还可以使用列索引直接选取对应的列数据，其方法与使用列标签选取数据类似。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Freeform 10"/>
          <p:cNvSpPr>
            <a:spLocks noEditPoints="1"/>
          </p:cNvSpPr>
          <p:nvPr/>
        </p:nvSpPr>
        <p:spPr bwMode="auto">
          <a:xfrm>
            <a:off x="10282005" y="5078892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7" grpId="0" animBg="1"/>
      <p:bldP spid="18" grpId="0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本节主要介绍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中数据的操作，包括数据的修改、增加和删除。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2.2.3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数据的改、增、删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26175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．数据的修改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4423021"/>
            <a:ext cx="10268580" cy="1023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修改索引可以通过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对象的属性和函数两种方法实现。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直接赋值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6942" y="3768402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）修改索引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194" name="Picture 2" descr="2-2-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244" y="622656"/>
            <a:ext cx="1320488" cy="1365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774669" y="3184000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对象中数据的修改包括修改索引和数据。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  <p:bldP spid="9" grpId="0"/>
      <p:bldP spid="1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05395" y="2592287"/>
            <a:ext cx="10268580" cy="9049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columns_new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表示修改后的行和列标签列表，它们的长度必须和行数和列数相同。例如：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395" y="1417158"/>
            <a:ext cx="10268581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DataFrame.index = index_new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DataFrame.columns = columns_new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5395" y="3694484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df.index = ['index1', 'index2', 'index3']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修改行标签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df.columns = ['column1', 'column2', 'column3']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修改列标签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1988" y="4783279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）通过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rename()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5395" y="5439212"/>
            <a:ext cx="10268581" cy="51943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DataFrame.rename(dict, axis='index', inplace=False)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07668" y="1335327"/>
            <a:ext cx="10268580" cy="22278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dict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表示字典，键为原标签，值为修改后的标签，可以设置一个或多个；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axis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表示修改行标签或列标签，如果取“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则修改行标签，如果取“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columns”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则修改列标签，默认为“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inplace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表示是否修改原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对象的标签，如果为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则修改，不返回一个新对象，如果为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则不修改，返回一个新对象，默认为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5395" y="3694484"/>
            <a:ext cx="10270853" cy="198996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行标签修改为“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，并返回修改后的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df1 = df.rename({'i1':'index1'})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将原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对象的“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列标签修改为“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df.rename({'c1':'column1'}, axis='columns',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8473" y="2105490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修改数据即将选取的数据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直接赋新值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。新值如果为单个数据，则赋重复值，如果为列表、元组或数组等，则须与选取的数据形状相同。例如：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473" y="145087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）修改数据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6926" y="3186316"/>
            <a:ext cx="10270853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 = 11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列的数据都赋重复值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 = [11, 44, 77, 1010]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列的数据赋值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df.loc['i1'] = [11, 22, 33]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行的数据赋值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列的数据赋值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df.iloc[[0, 1], [0, 1]] = [[11, 22], [44, 55]]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2708" y="181347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．数据的增加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3618983"/>
            <a:ext cx="10268580" cy="1450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按列增加数据可以通过以下两种方法来实现。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直接赋值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对象最后增加一列。此种方法最为简单，其一般格式如下。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2964364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）按列增加数据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0435" y="2379962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对象中数据的增加包括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按列和按行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增加数据。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395" y="5185129"/>
            <a:ext cx="10268581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DataFrame[column_new] = value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9" grpId="0"/>
      <p:bldP spid="14" grpId="0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07668" y="1222394"/>
            <a:ext cx="10268580" cy="13320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表示增加列的标签，如果与已经存在的列标签相同，则会修改数据；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表示增加的数据。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可以为单个数据，表示增加重复值；也可以为列表、元组或数组等，其数据形状必须与原数据列相同。例如：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5395" y="2612296"/>
            <a:ext cx="10270853" cy="102348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df['c4'] = 11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增加重复值的列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df['c5'] = [11, 12, 13, 14]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增加列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4678" y="3763683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在指定位置插入一列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。此种方法通过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insert()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05395" y="4318995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DataFrame.insert(loc, column, value, allow_duplicates=False)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05395" y="4902586"/>
            <a:ext cx="10268580" cy="13320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表示第几列，取整数，从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表示列标签；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allow_duplicates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表示是否允许列标签重复，如果为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则允许，否则不允许，默认为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6" grpId="0"/>
      <p:bldP spid="17" grpId="0" animBg="1"/>
      <p:bldP spid="1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05395" y="1779768"/>
            <a:ext cx="10268581" cy="198996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列插入标签为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的列，且不允许列标签重复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df.insert(0, 'c4', 11, allow_duplicates=False)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列插入标签为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的列，且允许列标签重复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df.insert(0, 'c1', [11, 12, 13, 14], allow_duplicates=True)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997527" y="4330671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0" name="文本框 4"/>
          <p:cNvSpPr txBox="1"/>
          <p:nvPr/>
        </p:nvSpPr>
        <p:spPr>
          <a:xfrm>
            <a:off x="1371175" y="4550444"/>
            <a:ext cx="8910830" cy="49962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</a:rPr>
              <a:t>allow_duplicates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时，如果列标签重复，程序会报错。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10282005" y="4511331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 animBg="1"/>
      <p:bldP spid="10" grpId="0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2152788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按行增加数据是在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末尾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增加一行，可以通过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来实现增加一行数据，其一般格式如下。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1498169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）按行增加数据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395" y="3230200"/>
            <a:ext cx="10268581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DataFrame.loc[index_new] = value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3897510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表示增加的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行标签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。此方法与通过直接赋值按列增加数据类似。例如：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5901" y="4974922"/>
            <a:ext cx="10268581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pl-PL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df.loc['i5'] = 11</a:t>
            </a:r>
            <a:endParaRPr lang="pl-PL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pl-PL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df.loc['i6'] = [11, 12, 13]</a:t>
            </a:r>
            <a:endParaRPr lang="pl-PL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3" grpId="0" animBg="1"/>
      <p:bldP spid="12" grpId="0"/>
      <p:bldP spid="1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36926" y="2648519"/>
            <a:ext cx="10268581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DataFrame.drop(labels=None, axis=0, index=None, columns=None, inplace=False)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2708" y="127744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．数据的删除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0435" y="3754089"/>
            <a:ext cx="10268580" cy="22278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labels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表示行标签或列标签；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axis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表示按行或列删除数据，如果为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，则按行删除，如果为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，则按列删除，默认为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表示行标签，即按行删除；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表示列标签，即按列删除；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inplace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表示是否删除原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对象的数据，如果为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，则删除，不返回一个新对象，如果为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，则不删除，返回一个新对象，存储删除后的数据，默认为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90435" y="1970054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对象中数据的删除主要通过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drop()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/>
      <p:bldP spid="11" grpId="0"/>
      <p:bldP spid="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05395" y="1779768"/>
            <a:ext cx="10268581" cy="400616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在原数据上删除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df.drop(['i1'],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行，返回新对象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df1 = df.drop(index=['i1', 'i2'])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在原数据上删除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df.drop('c1', axis=1,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列，返回新对象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df2 = df.drop(columns=['c1', 'c2'])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针对不同的文件，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保存和导入数据的方式是不同的，下面主要介绍文本数据和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数据的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保存与导入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2.2.4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数据的保存与导入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310624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．保存和导入文本数据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74669" y="3893456"/>
            <a:ext cx="10270853" cy="18007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文本文件由于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结构简单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，广泛用于存储信息。它一般使用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Tab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键、空格、逗号、分号等分隔符来分隔数据。常见的文本文件格式有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TXT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文件是一种纯文本文件，默认的分隔符为逗号，可以使用任何文本编辑器进行编辑，它支持追加模式。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2152788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函数用于将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中的数据保存到文本文件中，其一般格式如下。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1498169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）保存文本数据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15900" y="2789156"/>
            <a:ext cx="10268581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DataFrame.to_csv(filepath_or_buffer=None, sep=',', columns=None, header=True, index=True, mode='w', encoding=None)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3897510"/>
            <a:ext cx="10268580" cy="22278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filepath_or_buffer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表示文件路径，默认返回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格式的字符串；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表示分隔符，默认为“</a:t>
            </a: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,”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表示要保存列的标签，为列表，默认保存所有列；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header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表示是否保存列标签，如果为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则保存列标签，否则不保存，默认为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表示是否保存行标签，使用方法与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header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类似；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mode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表示写入文件模式，如“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w”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（写）、“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（追加）等；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encoding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表示编码方式，默认为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UTF-8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3" grpId="0" animBg="1"/>
      <p:bldP spid="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2152788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read_csv()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函数用于从文本文件中导入数据，并返回一个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1498169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）导入文本数据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5180" y="3182591"/>
            <a:ext cx="10745176" cy="51943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pandas.read_csv(filepath_or_buffer, sep=',', index_col=None, encoding=None)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2708" y="3869273"/>
            <a:ext cx="10268580" cy="1450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index_col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表示指定行标签，如果为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则指定文件的第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列为行标签。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例如，从“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test.csv”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文件中导入数据，并将返回的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对象赋给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df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，代码如下。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180" y="5497641"/>
            <a:ext cx="10745176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pd.read_csv('test.csv', index_col=0)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3" grpId="0" animBg="1"/>
      <p:bldP spid="12" grpId="0"/>
      <p:bldP spid="1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988" y="1226855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．保存和导入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92708" y="1807246"/>
            <a:ext cx="8810766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是比较常见的以二维表格存储数据的工具，它的文件扩展名有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.xls”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和“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两种，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同时支持这两种格式。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218" name="Picture 2" descr="2-2-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416" y="590085"/>
            <a:ext cx="1670535" cy="172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790435" y="3373540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to_excel()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中的数据保存到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0435" y="280852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）保存</a:t>
            </a: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0435" y="3937661"/>
            <a:ext cx="10745176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DataFrame.to_excel(excel_writer, sheet_name='Sheet1', na_sep='', columns=None, header=True, index=True)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22068" y="4915493"/>
            <a:ext cx="10481909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excel_writer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表示文件路径或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ExcelWriter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sheet_name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表示指定的工作表名，默认为“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Sheet1”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na_sep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表示缺失数据的表示方式，默认为空；其他参数可参考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1" grpId="0"/>
      <p:bldP spid="12" grpId="0"/>
      <p:bldP spid="13" grpId="0" animBg="1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24341" y="1284103"/>
            <a:ext cx="10481909" cy="187769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将数据保存在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文件的一个工作表中，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to_excel()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函数的使用方法与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函数类似；如果将数据保存在多个工作表中，则需要使用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ExcelWriter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例如，将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df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中的数据分别保存到“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文件的“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Sheet1”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工作表中，代码如下。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92707" y="3339550"/>
            <a:ext cx="10921072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writer = pd.ExcelWriter('test.xlsx')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ExcelWriter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df.to_excel(writer)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将数据保存到默认的“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将数据保存到“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df.to_excel(writer, sheet_name='Sheet2')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writer.save()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保存数据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8162" y="2010941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read_excel()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文件中导入数据，并返回一个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8162" y="1360686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）导入</a:t>
            </a: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8162" y="3086877"/>
            <a:ext cx="10745176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pandas.read_excel(io, sheet_name=0, index_col=None)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8162" y="3780753"/>
            <a:ext cx="10481909" cy="2304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表示文件路径或文件对象；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sheet_name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表示指定的工作表名或索引（从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开始），可以为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None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、字符串、整数、字符串列表或整数列表，默认为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，当为列表时，表示导入多个工作表的数据，返回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对象组成的字典。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例如，从“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文件中导入数据，并将返回的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对象赋给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df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，代码如下。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05395" y="1227970"/>
            <a:ext cx="10268581" cy="299806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文件中的数据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pd.read_excel('test.xlsx')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文件的“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工作表中的数据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pd.read_excel('test.xlsx', sheet_name='Sheet2')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文件的第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个工作表和“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工作表中的数据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pd.read_excel('test.xlsx', sheet_name=[0, 'Sheet2'])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97527" y="4535626"/>
            <a:ext cx="10254932" cy="2007069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8" name="文本框 4"/>
          <p:cNvSpPr txBox="1"/>
          <p:nvPr/>
        </p:nvSpPr>
        <p:spPr>
          <a:xfrm>
            <a:off x="1184351" y="4592089"/>
            <a:ext cx="8910830" cy="188461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操作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xlsx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格式的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文件时需要用到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openpyxl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库，操作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格式的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文件时需要用到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xlwt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xlrd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库，因此保存和导入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数据时，应先安装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openpyxl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库或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xlwt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及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xlrd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库，但使用时无须导入。由于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xlwt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库已经停止维护，因此尽量避免操作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格式的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文件。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Freeform 10"/>
          <p:cNvSpPr>
            <a:spLocks noEditPoints="1"/>
          </p:cNvSpPr>
          <p:nvPr/>
        </p:nvSpPr>
        <p:spPr bwMode="auto">
          <a:xfrm>
            <a:off x="10282005" y="4716286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18" grpId="0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28638" y="1355110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．案例内容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22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 </a:t>
            </a:r>
            <a:r>
              <a:rPr lang="en-US" altLang="zh-CN" sz="2400" b="1" spc="300" noProof="1" smtClean="0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——</a:t>
            </a:r>
            <a:r>
              <a:rPr lang="zh-CN" altLang="en-US" sz="2400" b="1" spc="300" noProof="1" smtClean="0">
                <a:solidFill>
                  <a:srgbClr val="435258"/>
                </a:solidFill>
                <a:cs typeface="+mj-cs"/>
                <a:sym typeface="+mn-lt"/>
              </a:rPr>
              <a:t>按</a:t>
            </a: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4670" y="2074902"/>
            <a:ext cx="10475221" cy="21862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行业的平均工资，是一项反映各行业税前工资总体水平的指标。它不仅是制定各地区、各行业工资标准和进行劳动力成本核算的依据，也是征缴和支付各项社会保险的重要依据，还可作为赔偿制度的基础数据等。对求职者而言，各行业就业人员的平均工资也是他们选择哪个行业的重要参考指标。本案例将按行业分析城镇单位就业人员年平均工资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997527" y="4661750"/>
            <a:ext cx="10254932" cy="1203026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文本框 4"/>
          <p:cNvSpPr txBox="1"/>
          <p:nvPr/>
        </p:nvSpPr>
        <p:spPr>
          <a:xfrm>
            <a:off x="1184351" y="4718212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城镇单位是指城镇地区全部非私营法人单位，包括国有单位、城镇集体单位、联营单位、有限责任公司、股份有限公司、港澳台投资和外商投资等单位。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Freeform 10"/>
          <p:cNvSpPr>
            <a:spLocks noEditPoints="1"/>
          </p:cNvSpPr>
          <p:nvPr/>
        </p:nvSpPr>
        <p:spPr bwMode="auto">
          <a:xfrm>
            <a:off x="10282005" y="4842409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9" grpId="0"/>
      <p:bldP spid="12" grpId="0" animBg="1"/>
      <p:bldP spid="13" grpId="0"/>
      <p:bldP spid="1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22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 </a:t>
            </a:r>
            <a:r>
              <a:rPr lang="en-US" altLang="zh-CN" sz="2400" b="1" spc="300" noProof="1" smtClean="0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——</a:t>
            </a:r>
            <a:r>
              <a:rPr lang="zh-CN" altLang="en-US" sz="2400" b="1" spc="300" noProof="1" smtClean="0">
                <a:solidFill>
                  <a:srgbClr val="435258"/>
                </a:solidFill>
                <a:cs typeface="+mj-cs"/>
                <a:sym typeface="+mn-lt"/>
              </a:rPr>
              <a:t>按</a:t>
            </a: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8633" y="1401455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．案例分析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4665" y="2026651"/>
            <a:ext cx="10475221" cy="381694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）导入“城镇单位就业人员年平均工资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文件“按行业”工作表中的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数据，内容详见教材。</a:t>
            </a:r>
            <a:endParaRPr lang="en-US" altLang="zh-CN" sz="2135" noProof="1" smtClean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drop()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函数删除“城镇单位”行的数据，以及“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2001 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年”和“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2002 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年”列的数据。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年的数据。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年教育业和房地产业的平均工资并输出。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和布尔型索引选取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年平均工资大于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120 000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和小于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的行业并输出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28638" y="1244748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．案例实施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1046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988" y="1884598"/>
            <a:ext cx="6021388" cy="42165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8691" y="2484438"/>
            <a:ext cx="10268581" cy="346678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pandas as pd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pd.set_option('display.unicode.east_asian_width', 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城镇单位就业人员年平均工资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.xlsx', sheet_name='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按行业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index_col=0)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城镇单位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df.drop(columns=['2001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'2002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删除数据后的城镇单位就业人员年平均工资：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" grpId="0"/>
      <p:bldP spid="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9585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8691" y="1581577"/>
            <a:ext cx="10268581" cy="2885790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df1 = df.iloc[:, 0:5]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教育业和房地产业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年的平均工资：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df1.loc[['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教育业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房地产业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年平均工资大于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120000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的行业：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df1.loc[df1['2020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 &gt; 120000])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年平均工资小于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50000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的行业：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df1.loc[df1['2020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 &lt; 50000])</a:t>
            </a:r>
            <a:endParaRPr lang="en-US" altLang="zh-CN" sz="2135" noProof="1" smtClean="0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7810" y="4949090"/>
            <a:ext cx="6317537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159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10242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217"/>
          <a:stretch>
            <a:fillRect/>
          </a:stretch>
        </p:blipFill>
        <p:spPr bwMode="auto">
          <a:xfrm>
            <a:off x="963285" y="1106017"/>
            <a:ext cx="9511200" cy="4366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83" b="53173"/>
          <a:stretch>
            <a:fillRect/>
          </a:stretch>
        </p:blipFill>
        <p:spPr bwMode="auto">
          <a:xfrm>
            <a:off x="963285" y="5526626"/>
            <a:ext cx="9511200" cy="904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10243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58" b="-1"/>
          <a:stretch>
            <a:fillRect/>
          </a:stretch>
        </p:blipFill>
        <p:spPr bwMode="auto">
          <a:xfrm>
            <a:off x="1498038" y="348432"/>
            <a:ext cx="9511200" cy="596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159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96746" y="1820798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结果分析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12" name="文本框 11"/>
          <p:cNvSpPr txBox="1"/>
          <p:nvPr/>
        </p:nvSpPr>
        <p:spPr>
          <a:xfrm>
            <a:off x="1079244" y="2341784"/>
            <a:ext cx="9609777" cy="30820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从教育业和房地产业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年的平均工资可以看出，这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年两个行业城镇单位的平均工资都在增长，但教育业的涨幅比较明显。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年平均工资大于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120 000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的行业有信息传输、计算机服务和软件业，金融业，科学研究、技术服务和地质勘查业；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2020 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年平均工资小于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行业有农、林、牧、渔业，以及住宿和餐饮业。从这两项数据可以看出，行业之间平均工资差距较大，信息传输、计算机服务和软件业最高，住宿和餐饮业最低，除了住宿和餐饮业，其他行业都有不同程度的增长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27050" y="-19050"/>
            <a:ext cx="2897188" cy="104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911224" y="357188"/>
            <a:ext cx="1984375" cy="502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/>
            <a:r>
              <a:rPr lang="zh-CN" altLang="en-US" sz="2665" b="1" noProof="1" smtClean="0">
                <a:solidFill>
                  <a:srgbClr val="E4007F"/>
                </a:solidFill>
                <a:ea typeface="+mn-ea"/>
                <a:cs typeface="汉仪大宋简" charset="0"/>
                <a:sym typeface="+mn-ea"/>
              </a:rPr>
              <a:t>课堂实训</a:t>
            </a:r>
            <a:r>
              <a:rPr lang="en-US" altLang="zh-CN" sz="2665" b="1" noProof="1">
                <a:solidFill>
                  <a:srgbClr val="E4007F"/>
                </a:solidFill>
                <a:ea typeface="+mn-ea"/>
                <a:cs typeface="汉仪大宋简" charset="0"/>
                <a:sym typeface="+mn-ea"/>
              </a:rPr>
              <a:t>2</a:t>
            </a:r>
            <a:endParaRPr lang="zh-CN" altLang="en-US" sz="2665" b="1" noProof="1">
              <a:solidFill>
                <a:srgbClr val="E4007F"/>
              </a:solidFill>
              <a:latin typeface="Arial" panose="020B0604020202020204" pitchFamily="34" charset="0"/>
              <a:cs typeface="汉仪大宋简" charset="0"/>
              <a:sym typeface="+mn-ea"/>
            </a:endParaRPr>
          </a:p>
        </p:txBody>
      </p:sp>
      <p:sp>
        <p:nvSpPr>
          <p:cNvPr id="10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8638" y="1244748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．实训目标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7050" y="1863130"/>
            <a:ext cx="10475221" cy="98187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）练习导入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文件中的数据，以及将数据保存到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）练习使用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删除和增加数据。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8633" y="2929748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．实训内容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1271" y="3466310"/>
            <a:ext cx="11417335" cy="33128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）导入“城镇单位就业人员年平均工资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文件“按登记注册类型”工作表中的数据，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内容详见教材。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）删除“数据来源：国家统计局”行的数据。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）在最后增加一行数据，数据为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2001—2020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年外商投资单位就业人员的年平均工资列表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[112089, 106604, 99367, 90064, 82902, 76302, 69826, 63171, 55888, 48869, 41739, 37101, 34250, 29594, 26552, 23625, 22250, 21016, 19409, 17553]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）将修改后的数据保存到“按登记注册类型城镇单位就业人员年平均工资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5" name="组合 75"/>
          <p:cNvGrpSpPr/>
          <p:nvPr/>
        </p:nvGrpSpPr>
        <p:grpSpPr>
          <a:xfrm>
            <a:off x="211138" y="-33337"/>
            <a:ext cx="11801475" cy="6892925"/>
            <a:chOff x="410612" y="490688"/>
            <a:chExt cx="8265845" cy="5962649"/>
          </a:xfrm>
        </p:grpSpPr>
        <p:sp>
          <p:nvSpPr>
            <p:cNvPr id="77" name="圆角矩形 76"/>
            <p:cNvSpPr/>
            <p:nvPr/>
          </p:nvSpPr>
          <p:spPr>
            <a:xfrm>
              <a:off x="467545" y="538783"/>
              <a:ext cx="8208912" cy="5914554"/>
            </a:xfrm>
            <a:prstGeom prst="roundRect">
              <a:avLst>
                <a:gd name="adj" fmla="val 521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2135" strike="noStrike" noProof="1">
                <a:cs typeface="+mn-ea"/>
                <a:sym typeface="+mn-lt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410612" y="490688"/>
              <a:ext cx="8208912" cy="5914554"/>
            </a:xfrm>
            <a:prstGeom prst="roundRect">
              <a:avLst>
                <a:gd name="adj" fmla="val 5214"/>
              </a:avLst>
            </a:prstGeom>
            <a:pattFill prst="ltUpDiag">
              <a:fgClr>
                <a:srgbClr val="F4F4F4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2135" strike="noStrike" noProof="1">
                <a:cs typeface="+mn-ea"/>
                <a:sym typeface="+mn-lt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-207010" y="-33020"/>
            <a:ext cx="12138025" cy="6723380"/>
          </a:xfrm>
          <a:prstGeom prst="roundRect">
            <a:avLst/>
          </a:prstGeom>
          <a:solidFill>
            <a:schemeClr val="bg2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135" strike="noStrike" noProof="1"/>
          </a:p>
        </p:txBody>
      </p:sp>
      <p:cxnSp>
        <p:nvCxnSpPr>
          <p:cNvPr id="792" name="直接连接符 791"/>
          <p:cNvCxnSpPr/>
          <p:nvPr/>
        </p:nvCxnSpPr>
        <p:spPr>
          <a:xfrm>
            <a:off x="889000" y="5899150"/>
            <a:ext cx="102250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圆角矩形 55"/>
          <p:cNvSpPr/>
          <p:nvPr/>
        </p:nvSpPr>
        <p:spPr>
          <a:xfrm>
            <a:off x="5999163" y="-795337"/>
            <a:ext cx="1454150" cy="1601788"/>
          </a:xfrm>
          <a:prstGeom prst="roundRect">
            <a:avLst/>
          </a:prstGeom>
          <a:solidFill>
            <a:srgbClr val="1E6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153" name="组合 39"/>
          <p:cNvGrpSpPr/>
          <p:nvPr/>
        </p:nvGrpSpPr>
        <p:grpSpPr>
          <a:xfrm>
            <a:off x="8172450" y="-795337"/>
            <a:ext cx="1524000" cy="1652587"/>
            <a:chOff x="6475026" y="329329"/>
            <a:chExt cx="905286" cy="4461015"/>
          </a:xfrm>
        </p:grpSpPr>
        <p:sp>
          <p:nvSpPr>
            <p:cNvPr id="43" name="圆角矩形 42"/>
            <p:cNvSpPr/>
            <p:nvPr/>
          </p:nvSpPr>
          <p:spPr>
            <a:xfrm>
              <a:off x="6516216" y="422267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圆角矩形 43"/>
            <p:cNvSpPr/>
            <p:nvPr/>
          </p:nvSpPr>
          <p:spPr>
            <a:xfrm>
              <a:off x="6475026" y="329329"/>
              <a:ext cx="864096" cy="4323744"/>
            </a:xfrm>
            <a:prstGeom prst="roundRect">
              <a:avLst/>
            </a:prstGeom>
            <a:solidFill>
              <a:srgbClr val="2A8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156" name="组合 45"/>
          <p:cNvGrpSpPr/>
          <p:nvPr/>
        </p:nvGrpSpPr>
        <p:grpSpPr>
          <a:xfrm>
            <a:off x="10155545" y="-760908"/>
            <a:ext cx="1516063" cy="1651000"/>
            <a:chOff x="7631852" y="336928"/>
            <a:chExt cx="900588" cy="4460224"/>
          </a:xfrm>
        </p:grpSpPr>
        <p:sp>
          <p:nvSpPr>
            <p:cNvPr id="49" name="圆角矩形 48"/>
            <p:cNvSpPr/>
            <p:nvPr/>
          </p:nvSpPr>
          <p:spPr>
            <a:xfrm>
              <a:off x="7668344" y="429075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圆角矩形 49"/>
            <p:cNvSpPr/>
            <p:nvPr/>
          </p:nvSpPr>
          <p:spPr>
            <a:xfrm>
              <a:off x="7631852" y="336928"/>
              <a:ext cx="864096" cy="4323744"/>
            </a:xfrm>
            <a:prstGeom prst="roundRec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" name="文本框 13"/>
          <p:cNvSpPr txBox="1"/>
          <p:nvPr/>
        </p:nvSpPr>
        <p:spPr>
          <a:xfrm>
            <a:off x="1115193" y="290295"/>
            <a:ext cx="5774482" cy="738688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latin typeface="+mn-ea"/>
                <a:cs typeface="+mn-ea"/>
                <a:sym typeface="+mn-lt"/>
              </a:rPr>
              <a:t>作业</a:t>
            </a:r>
            <a:r>
              <a:rPr lang="zh-CN" altLang="en-US" sz="4000" b="1" dirty="0" smtClean="0">
                <a:solidFill>
                  <a:schemeClr val="accent1"/>
                </a:solidFill>
                <a:latin typeface="+mn-ea"/>
                <a:cs typeface="+mn-ea"/>
                <a:sym typeface="+mn-lt"/>
              </a:rPr>
              <a:t>布置</a:t>
            </a:r>
            <a:endParaRPr lang="en-US" altLang="zh-CN" sz="4000" b="1" dirty="0">
              <a:solidFill>
                <a:schemeClr val="accent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5" name="Text Placeholder 8"/>
          <p:cNvSpPr txBox="1"/>
          <p:nvPr/>
        </p:nvSpPr>
        <p:spPr>
          <a:xfrm>
            <a:off x="2675593" y="4437906"/>
            <a:ext cx="6854602" cy="336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老师在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APP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中生成作业布置二维码，放在此处即可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29435" y="1845618"/>
            <a:ext cx="2304256" cy="2232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二维码放置处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5" name="组合 75"/>
          <p:cNvGrpSpPr/>
          <p:nvPr/>
        </p:nvGrpSpPr>
        <p:grpSpPr>
          <a:xfrm>
            <a:off x="211138" y="-33337"/>
            <a:ext cx="11801475" cy="6892925"/>
            <a:chOff x="410612" y="490688"/>
            <a:chExt cx="8265845" cy="5962649"/>
          </a:xfrm>
        </p:grpSpPr>
        <p:sp>
          <p:nvSpPr>
            <p:cNvPr id="77" name="圆角矩形 76"/>
            <p:cNvSpPr/>
            <p:nvPr/>
          </p:nvSpPr>
          <p:spPr>
            <a:xfrm>
              <a:off x="467545" y="538783"/>
              <a:ext cx="8208912" cy="5914554"/>
            </a:xfrm>
            <a:prstGeom prst="roundRect">
              <a:avLst>
                <a:gd name="adj" fmla="val 521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2135" strike="noStrike" noProof="1">
                <a:cs typeface="+mn-ea"/>
                <a:sym typeface="+mn-lt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410612" y="490688"/>
              <a:ext cx="8208912" cy="5914554"/>
            </a:xfrm>
            <a:prstGeom prst="roundRect">
              <a:avLst>
                <a:gd name="adj" fmla="val 5214"/>
              </a:avLst>
            </a:prstGeom>
            <a:pattFill prst="ltUpDiag">
              <a:fgClr>
                <a:srgbClr val="F4F4F4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2135" strike="noStrike" noProof="1">
                <a:cs typeface="+mn-ea"/>
                <a:sym typeface="+mn-lt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-207010" y="-33020"/>
            <a:ext cx="12138025" cy="6723380"/>
          </a:xfrm>
          <a:prstGeom prst="roundRect">
            <a:avLst/>
          </a:prstGeom>
          <a:solidFill>
            <a:schemeClr val="bg2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135" strike="noStrike" noProof="1"/>
          </a:p>
        </p:txBody>
      </p:sp>
      <p:sp>
        <p:nvSpPr>
          <p:cNvPr id="791" name="TextBox 790"/>
          <p:cNvSpPr txBox="1"/>
          <p:nvPr/>
        </p:nvSpPr>
        <p:spPr>
          <a:xfrm>
            <a:off x="5398452" y="3328670"/>
            <a:ext cx="6838950" cy="89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5220" b="1" noProof="1" smtClean="0">
                <a:latin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Thank you</a:t>
            </a:r>
            <a:endParaRPr lang="zh-CN" altLang="en-US" sz="5220" b="1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cxnSp>
        <p:nvCxnSpPr>
          <p:cNvPr id="792" name="直接连接符 791"/>
          <p:cNvCxnSpPr/>
          <p:nvPr/>
        </p:nvCxnSpPr>
        <p:spPr>
          <a:xfrm>
            <a:off x="889000" y="5899150"/>
            <a:ext cx="102250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-44450"/>
            <a:ext cx="4596130" cy="4772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" name="圆角矩形 55"/>
          <p:cNvSpPr/>
          <p:nvPr/>
        </p:nvSpPr>
        <p:spPr>
          <a:xfrm>
            <a:off x="5999163" y="-795337"/>
            <a:ext cx="1454150" cy="1601788"/>
          </a:xfrm>
          <a:prstGeom prst="roundRect">
            <a:avLst/>
          </a:prstGeom>
          <a:solidFill>
            <a:srgbClr val="1E6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153" name="组合 39"/>
          <p:cNvGrpSpPr/>
          <p:nvPr/>
        </p:nvGrpSpPr>
        <p:grpSpPr>
          <a:xfrm>
            <a:off x="8172450" y="-795337"/>
            <a:ext cx="1524000" cy="1652587"/>
            <a:chOff x="6475026" y="329329"/>
            <a:chExt cx="905286" cy="4461015"/>
          </a:xfrm>
        </p:grpSpPr>
        <p:sp>
          <p:nvSpPr>
            <p:cNvPr id="43" name="圆角矩形 42"/>
            <p:cNvSpPr/>
            <p:nvPr/>
          </p:nvSpPr>
          <p:spPr>
            <a:xfrm>
              <a:off x="6516216" y="422267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圆角矩形 43"/>
            <p:cNvSpPr/>
            <p:nvPr/>
          </p:nvSpPr>
          <p:spPr>
            <a:xfrm>
              <a:off x="6475026" y="329329"/>
              <a:ext cx="864096" cy="4323744"/>
            </a:xfrm>
            <a:prstGeom prst="roundRect">
              <a:avLst/>
            </a:prstGeom>
            <a:solidFill>
              <a:srgbClr val="2A8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156" name="组合 45"/>
          <p:cNvGrpSpPr/>
          <p:nvPr/>
        </p:nvGrpSpPr>
        <p:grpSpPr>
          <a:xfrm>
            <a:off x="10128250" y="-744537"/>
            <a:ext cx="1516063" cy="1651000"/>
            <a:chOff x="7631852" y="336928"/>
            <a:chExt cx="900588" cy="4460224"/>
          </a:xfrm>
        </p:grpSpPr>
        <p:sp>
          <p:nvSpPr>
            <p:cNvPr id="49" name="圆角矩形 48"/>
            <p:cNvSpPr/>
            <p:nvPr/>
          </p:nvSpPr>
          <p:spPr>
            <a:xfrm>
              <a:off x="7668344" y="429075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圆角矩形 49"/>
            <p:cNvSpPr/>
            <p:nvPr/>
          </p:nvSpPr>
          <p:spPr>
            <a:xfrm>
              <a:off x="7631852" y="336928"/>
              <a:ext cx="864096" cy="4323744"/>
            </a:xfrm>
            <a:prstGeom prst="roundRec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16438</Words>
  <Application>WPS 演示</Application>
  <PresentationFormat>宽屏</PresentationFormat>
  <Paragraphs>798</Paragraphs>
  <Slides>78</Slides>
  <Notes>79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94" baseType="lpstr">
      <vt:lpstr>Arial</vt:lpstr>
      <vt:lpstr>宋体</vt:lpstr>
      <vt:lpstr>Wingdings</vt:lpstr>
      <vt:lpstr>微软雅黑</vt:lpstr>
      <vt:lpstr>Wingdings</vt:lpstr>
      <vt:lpstr>Calibri</vt:lpstr>
      <vt:lpstr>方正仿宋_GBK</vt:lpstr>
      <vt:lpstr>专业字体设计服务/WWW.ZTSGC.COM/</vt:lpstr>
      <vt:lpstr>Segoe Print</vt:lpstr>
      <vt:lpstr>Arial Unicode MS</vt:lpstr>
      <vt:lpstr>汉仪大宋简</vt:lpstr>
      <vt:lpstr>Office 主题​​</vt:lpstr>
      <vt:lpstr>1_Office 主题​​</vt:lpstr>
      <vt:lpstr>2_Office 主题​​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果冻</cp:lastModifiedBy>
  <cp:revision>305</cp:revision>
  <dcterms:created xsi:type="dcterms:W3CDTF">2019-06-19T02:08:00Z</dcterms:created>
  <dcterms:modified xsi:type="dcterms:W3CDTF">2025-09-07T15:11:51Z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8042FABF5E504B3DBF5152A41F32B80B</vt:lpwstr>
  </property>
</Properties>
</file>